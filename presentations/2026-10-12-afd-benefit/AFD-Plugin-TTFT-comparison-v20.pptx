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charts/chart18.xml" ContentType="application/vnd.openxmlformats-officedocument.drawingml.chart+xml"/>
  <Override PartName="/ppt/charts/chart19.xml" ContentType="application/vnd.openxmlformats-officedocument.drawingml.chart+xml"/>
  <Override PartName="/ppt/charts/chart2.xml" ContentType="application/vnd.openxmlformats-officedocument.drawingml.chart+xml"/>
  <Override PartName="/ppt/charts/chart20.xml" ContentType="application/vnd.openxmlformats-officedocument.drawingml.chart+xml"/>
  <Override PartName="/ppt/charts/chart21.xml" ContentType="application/vnd.openxmlformats-officedocument.drawingml.chart+xml"/>
  <Override PartName="/ppt/charts/chart22.xml" ContentType="application/vnd.openxmlformats-officedocument.drawingml.chart+xml"/>
  <Override PartName="/ppt/charts/chart23.xml" ContentType="application/vnd.openxmlformats-officedocument.drawingml.chart+xml"/>
  <Override PartName="/ppt/charts/chart24.xml" ContentType="application/vnd.openxmlformats-officedocument.drawingml.chart+xml"/>
  <Override PartName="/ppt/charts/chart25.xml" ContentType="application/vnd.openxmlformats-officedocument.drawingml.chart+xml"/>
  <Override PartName="/ppt/charts/chart26.xml" ContentType="application/vnd.openxmlformats-officedocument.drawingml.chart+xml"/>
  <Override PartName="/ppt/charts/chart27.xml" ContentType="application/vnd.openxmlformats-officedocument.drawingml.chart+xml"/>
  <Override PartName="/ppt/charts/chart28.xml" ContentType="application/vnd.openxmlformats-officedocument.drawingml.chart+xml"/>
  <Override PartName="/ppt/charts/chart29.xml" ContentType="application/vnd.openxmlformats-officedocument.drawingml.chart+xml"/>
  <Override PartName="/ppt/charts/chart3.xml" ContentType="application/vnd.openxmlformats-officedocument.drawingml.chart+xml"/>
  <Override PartName="/ppt/charts/chart30.xml" ContentType="application/vnd.openxmlformats-officedocument.drawingml.chart+xml"/>
  <Override PartName="/ppt/charts/chart31.xml" ContentType="application/vnd.openxmlformats-officedocument.drawingml.chart+xml"/>
  <Override PartName="/ppt/charts/chart32.xml" ContentType="application/vnd.openxmlformats-officedocument.drawingml.chart+xml"/>
  <Override PartName="/ppt/charts/chart33.xml" ContentType="application/vnd.openxmlformats-officedocument.drawingml.chart+xml"/>
  <Override PartName="/ppt/charts/chart34.xml" ContentType="application/vnd.openxmlformats-officedocument.drawingml.chart+xml"/>
  <Override PartName="/ppt/charts/chart35.xml" ContentType="application/vnd.openxmlformats-officedocument.drawingml.chart+xml"/>
  <Override PartName="/ppt/charts/chart36.xml" ContentType="application/vnd.openxmlformats-officedocument.drawingml.chart+xml"/>
  <Override PartName="/ppt/charts/chart37.xml" ContentType="application/vnd.openxmlformats-officedocument.drawingml.chart+xml"/>
  <Override PartName="/ppt/charts/chart38.xml" ContentType="application/vnd.openxmlformats-officedocument.drawingml.chart+xml"/>
  <Override PartName="/ppt/charts/chart39.xml" ContentType="application/vnd.openxmlformats-officedocument.drawingml.chart+xml"/>
  <Override PartName="/ppt/charts/chart4.xml" ContentType="application/vnd.openxmlformats-officedocument.drawingml.chart+xml"/>
  <Override PartName="/ppt/charts/chart40.xml" ContentType="application/vnd.openxmlformats-officedocument.drawingml.chart+xml"/>
  <Override PartName="/ppt/charts/chart41.xml" ContentType="application/vnd.openxmlformats-officedocument.drawingml.chart+xml"/>
  <Override PartName="/ppt/charts/chart42.xml" ContentType="application/vnd.openxmlformats-officedocument.drawingml.chart+xml"/>
  <Override PartName="/ppt/charts/chart43.xml" ContentType="application/vnd.openxmlformats-officedocument.drawingml.chart+xml"/>
  <Override PartName="/ppt/charts/chart44.xml" ContentType="application/vnd.openxmlformats-officedocument.drawingml.chart+xml"/>
  <Override PartName="/ppt/charts/chart45.xml" ContentType="application/vnd.openxmlformats-officedocument.drawingml.chart+xml"/>
  <Override PartName="/ppt/charts/chart46.xml" ContentType="application/vnd.openxmlformats-officedocument.drawingml.chart+xml"/>
  <Override PartName="/ppt/charts/chart47.xml" ContentType="application/vnd.openxmlformats-officedocument.drawingml.chart+xml"/>
  <Override PartName="/ppt/charts/chart48.xml" ContentType="application/vnd.openxmlformats-officedocument.drawingml.chart+xml"/>
  <Override PartName="/ppt/charts/chart49.xml" ContentType="application/vnd.openxmlformats-officedocument.drawingml.chart+xml"/>
  <Override PartName="/ppt/charts/chart5.xml" ContentType="application/vnd.openxmlformats-officedocument.drawingml.chart+xml"/>
  <Override PartName="/ppt/charts/chart50.xml" ContentType="application/vnd.openxmlformats-officedocument.drawingml.chart+xml"/>
  <Override PartName="/ppt/charts/chart51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  <Override PartName="/ppt/charts/chart52.xml" ContentType="application/vnd.openxmlformats-officedocument.drawingml.chart+xml"/>
  <Override PartName="/ppt/charts/chart53.xml" ContentType="application/vnd.openxmlformats-officedocument.drawingml.chart+xml"/>
  <Override PartName="/ppt/charts/chart54.xml" ContentType="application/vnd.openxmlformats-officedocument.drawingml.chart+xml"/>
  <Override PartName="/ppt/charts/chart55.xml" ContentType="application/vnd.openxmlformats-officedocument.drawingml.chart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v20/presentation.xml" ContentType="application/vnd.openxmlformats-officedocument.presentationml.presentation.main+xml"/>
  <Override PartName="/ppt/slides/v20/theme/theme1.xml" ContentType="application/vnd.openxmlformats-officedocument.theme+xml"/>
  <Override PartName="/ppt/slides/v20/slideMasters/slideMaster1.xml" ContentType="application/vnd.openxmlformats-officedocument.presentationml.slideMaster+xml"/>
  <Override PartName="/ppt/slides/v20/slideMasters/theme/theme2.xml" ContentType="application/vnd.openxmlformats-officedocument.theme+xml"/>
  <Override PartName="/ppt/slides/v20/slideLayouts/slideLayout1.xml" ContentType="application/vnd.openxmlformats-officedocument.presentationml.slideLayout+xml"/>
  <Override PartName="/ppt/slides/v20/slideLayouts/slideLayout2.xml" ContentType="application/vnd.openxmlformats-officedocument.presentationml.slideLayout+xml"/>
  <Override PartName="/ppt/slides/v20/slideLayouts/slideLayout3.xml" ContentType="application/vnd.openxmlformats-officedocument.presentationml.slideLayout+xml"/>
  <Override PartName="/ppt/slides/v20/slideLayouts/slideLayout4.xml" ContentType="application/vnd.openxmlformats-officedocument.presentationml.slideLayout+xml"/>
  <Override PartName="/ppt/slides/v20/slideLayouts/slideLayout5.xml" ContentType="application/vnd.openxmlformats-officedocument.presentationml.slideLayout+xml"/>
  <Override PartName="/ppt/slides/v20/slideLayouts/slideLayout6.xml" ContentType="application/vnd.openxmlformats-officedocument.presentationml.slideLayout+xml"/>
  <Override PartName="/ppt/slides/v20/notesMasters/notesMaster1.xml" ContentType="application/vnd.openxmlformats-officedocument.presentationml.notesMaster+xml"/>
  <Override PartName="/ppt/slides/v20/notesMasters/theme/theme3.xml" ContentType="application/vnd.openxmlformats-officedocument.theme+xml"/>
  <Override PartName="/ppt/slides/v20/presProps.xml" ContentType="application/vnd.openxmlformats-officedocument.presentationml.presProps+xml"/>
  <Override PartName="/ppt/slides/v20/tableStyles.xml" ContentType="application/vnd.openxmlformats-officedocument.presentationml.tableStyles+xml"/>
  <Override PartName="/ppt/slides/v20/slides/slide1.xml" ContentType="application/vnd.openxmlformats-officedocument.presentationml.slide+xml"/>
  <Override PartName="/ppt/slides/v20/notesSlides/notesSlide1.xml" ContentType="application/vnd.openxmlformats-officedocument.presentationml.notesSlide+xml"/>
  <Override PartName="/ppt/slides/v20/slides/slide2.xml" ContentType="application/vnd.openxmlformats-officedocument.presentationml.slide+xml"/>
  <Override PartName="/ppt/slides/v20/notesSlides/notesSlide2.xml" ContentType="application/vnd.openxmlformats-officedocument.presentationml.notesSlide+xml"/>
  <Override PartName="/ppt/slides/v20/slides/slide3.xml" ContentType="application/vnd.openxmlformats-officedocument.presentationml.slide+xml"/>
  <Override PartName="/ppt/slides/v20/notesSlides/notesSlide3.xml" ContentType="application/vnd.openxmlformats-officedocument.presentationml.notesSlide+xml"/>
  <Override PartName="/ppt/slides/v20/slides/slide4.xml" ContentType="application/vnd.openxmlformats-officedocument.presentationml.slide+xml"/>
  <Override PartName="/ppt/slides/v20/slides/charts/chart1.xml" ContentType="application/vnd.openxmlformats-officedocument.drawingml.chart+xml"/>
  <Override PartName="/ppt/slides/v20/notesSlides/notesSlide4.xml" ContentType="application/vnd.openxmlformats-officedocument.presentationml.notesSlide+xml"/>
  <Override PartName="/ppt/slides/v20/slides/slide5.xml" ContentType="application/vnd.openxmlformats-officedocument.presentationml.slide+xml"/>
  <Override PartName="/ppt/slides/v20/notesSlides/notesSlide5.xml" ContentType="application/vnd.openxmlformats-officedocument.presentationml.notesSlide+xml"/>
  <Override PartName="/ppt/slides/v20/slides/slide6.xml" ContentType="application/vnd.openxmlformats-officedocument.presentationml.slide+xml"/>
  <Override PartName="/ppt/slides/v20/slides/charts/chart2.xml" ContentType="application/vnd.openxmlformats-officedocument.drawingml.chart+xml"/>
  <Override PartName="/ppt/slides/v20/notesSlides/notesSlide6.xml" ContentType="application/vnd.openxmlformats-officedocument.presentationml.notesSlide+xml"/>
  <Override PartName="/ppt/slides/v20/slides/slide7.xml" ContentType="application/vnd.openxmlformats-officedocument.presentationml.slide+xml"/>
  <Override PartName="/ppt/slides/v20/notesSlides/notesSlide7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1" r:id="rId3"/>
    <p:sldMasterId id="2147483652" r:id="rIdV201001"/>
  </p:sldMasterIdLst>
  <p:notesMasterIdLst>
    <p:notesMasterId r:id="rId5"/>
    <p:notesMasterId r:id="rIdV201002"/>
  </p:notesMasterIdLst>
  <p:sldIdLst>
    <p:sldId id="257" r:id="rId4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98" r:id="rId23"/>
    <p:sldId id="294" r:id="rId24"/>
    <p:sldId id="295" r:id="rId25"/>
    <p:sldId id="296" r:id="rId26"/>
    <p:sldId id="297" r:id="rId27"/>
    <p:sldId id="292" r:id="rId28"/>
    <p:sldId id="289" r:id="rId29"/>
    <p:sldId id="290" r:id="rId30"/>
    <p:sldId id="291" r:id="rId31"/>
    <p:sldId id="275" r:id="rId32"/>
    <p:sldId id="276" r:id="rId33"/>
    <p:sldId id="277" r:id="rId34"/>
    <p:sldId id="278" r:id="rId35"/>
    <p:sldId id="279" r:id="rId36"/>
    <p:sldId id="280" r:id="rId37"/>
    <p:sldId id="281" r:id="rId38"/>
    <p:sldId id="282" r:id="rId39"/>
    <p:sldId id="283" r:id="rId40"/>
    <p:sldId id="293" r:id="rId41"/>
    <p:sldId id="299" r:id="rId42"/>
    <p:sldId id="307" r:id="rIdV201003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8" r:id="rIdV201004"/>
    <p:sldId id="309" r:id="rIdV201005"/>
    <p:sldId id="310" r:id="rIdV201006"/>
    <p:sldId id="311" r:id="rIdV201007"/>
    <p:sldId id="312" r:id="rIdV201008"/>
    <p:sldId id="313" r:id="rIdV201009"/>
  </p:sldIdLst>
  <p:sldSz cx="12192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821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5" Type="http://schemas.openxmlformats.org/officeDocument/2006/relationships/tableStyles" Target="tableStyles.xml"/><Relationship Id="rId44" Type="http://schemas.openxmlformats.org/officeDocument/2006/relationships/viewProps" Target="viewProps.xml"/><Relationship Id="rId43" Type="http://schemas.openxmlformats.org/officeDocument/2006/relationships/presProps" Target="presProps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0" Type="http://schemas.openxmlformats.org/officeDocument/2006/relationships/slide" Target="slides/slide36.xml"/><Relationship Id="rId4" Type="http://schemas.openxmlformats.org/officeDocument/2006/relationships/slide" Target="slides/slide1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V201001" Type="http://schemas.openxmlformats.org/officeDocument/2006/relationships/slideMaster" Target="slides/v20/slideMasters/slideMaster1.xml"/><Relationship Id="rIdV201002" Type="http://schemas.openxmlformats.org/officeDocument/2006/relationships/notesMaster" Target="slides/v20/notesMasters/notesMaster1.xml"/><Relationship Id="rIdV201003" Type="http://schemas.openxmlformats.org/officeDocument/2006/relationships/slide" Target="slides/v20/slides/slide1.xml"/><Relationship Id="rIdV201004" Type="http://schemas.openxmlformats.org/officeDocument/2006/relationships/slide" Target="slides/v20/slides/slide2.xml"/><Relationship Id="rIdV201005" Type="http://schemas.openxmlformats.org/officeDocument/2006/relationships/slide" Target="slides/v20/slides/slide3.xml"/><Relationship Id="rIdV201006" Type="http://schemas.openxmlformats.org/officeDocument/2006/relationships/slide" Target="slides/v20/slides/slide4.xml"/><Relationship Id="rIdV201007" Type="http://schemas.openxmlformats.org/officeDocument/2006/relationships/slide" Target="slides/v20/slides/slide5.xml"/><Relationship Id="rIdV201008" Type="http://schemas.openxmlformats.org/officeDocument/2006/relationships/slide" Target="slides/v20/slides/slide6.xml"/><Relationship Id="rIdV201009" Type="http://schemas.openxmlformats.org/officeDocument/2006/relationships/slide" Target="slides/v20/slides/slide7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NULL" TargetMode="Externa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oleObject" Target="NULL" TargetMode="External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oleObject" Target="NULL" TargetMode="External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oleObject" Target="NULL" TargetMode="External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oleObject" Target="NULL" TargetMode="External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oleObject" Target="NULL" TargetMode="External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oleObject" Target="NULL" TargetMode="External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oleObject" Target="NULL" TargetMode="External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oleObject" Target="NULL" TargetMode="External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oleObject" Target="NULL" TargetMode="External"/></Relationships>
</file>

<file path=ppt/charts/_rels/chart11.xml.rels><?xml version="1.0" encoding="UTF-8" standalone="yes"?>
<Relationships xmlns="http://schemas.openxmlformats.org/package/2006/relationships"><Relationship Id="rId1" Type="http://schemas.openxmlformats.org/officeDocument/2006/relationships/oleObject" Target="NULL" TargetMode="External"/></Relationships>
</file>

<file path=ppt/charts/_rels/chart12.xml.rels><?xml version="1.0" encoding="UTF-8" standalone="yes"?>
<Relationships xmlns="http://schemas.openxmlformats.org/package/2006/relationships"><Relationship Id="rId1" Type="http://schemas.openxmlformats.org/officeDocument/2006/relationships/oleObject" Target="NULL" TargetMode="External"/></Relationships>
</file>

<file path=ppt/charts/_rels/chart13.xml.rels><?xml version="1.0" encoding="UTF-8" standalone="yes"?>
<Relationships xmlns="http://schemas.openxmlformats.org/package/2006/relationships"><Relationship Id="rId1" Type="http://schemas.openxmlformats.org/officeDocument/2006/relationships/oleObject" Target="NULL" TargetMode="External"/></Relationships>
</file>

<file path=ppt/charts/_rels/chart14.xml.rels><?xml version="1.0" encoding="UTF-8" standalone="yes"?>
<Relationships xmlns="http://schemas.openxmlformats.org/package/2006/relationships"><Relationship Id="rId1" Type="http://schemas.openxmlformats.org/officeDocument/2006/relationships/oleObject" Target="NULL" TargetMode="External"/></Relationships>
</file>

<file path=ppt/charts/_rels/chart15.xml.rels><?xml version="1.0" encoding="UTF-8" standalone="yes"?>
<Relationships xmlns="http://schemas.openxmlformats.org/package/2006/relationships"><Relationship Id="rId1" Type="http://schemas.openxmlformats.org/officeDocument/2006/relationships/oleObject" Target="NULL" TargetMode="External"/></Relationships>
</file>

<file path=ppt/charts/_rels/chart16.xml.rels><?xml version="1.0" encoding="UTF-8" standalone="yes"?>
<Relationships xmlns="http://schemas.openxmlformats.org/package/2006/relationships"><Relationship Id="rId1" Type="http://schemas.openxmlformats.org/officeDocument/2006/relationships/oleObject" Target="NULL" TargetMode="External"/></Relationships>
</file>

<file path=ppt/charts/_rels/chart1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_rels/chart1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2.xlsx"/></Relationships>
</file>

<file path=ppt/charts/_rels/chart1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3.xlsx"/></Relationships>
</file>

<file path=ppt/charts/_rels/chart2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4.xlsx"/></Relationships>
</file>

<file path=ppt/charts/_rels/chart2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5.xlsx"/></Relationships>
</file>

<file path=ppt/charts/_rels/chart2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6.xlsx"/></Relationships>
</file>

<file path=ppt/charts/_rels/chart23.xml.rels><?xml version="1.0" encoding="UTF-8" standalone="yes"?>
<Relationships xmlns="http://schemas.openxmlformats.org/package/2006/relationships"><Relationship Id="rId1" Type="http://schemas.openxmlformats.org/officeDocument/2006/relationships/oleObject" Target="NULL" TargetMode="External"/></Relationships>
</file>

<file path=ppt/charts/_rels/chart24.xml.rels><?xml version="1.0" encoding="UTF-8" standalone="yes"?>
<Relationships xmlns="http://schemas.openxmlformats.org/package/2006/relationships"><Relationship Id="rId1" Type="http://schemas.openxmlformats.org/officeDocument/2006/relationships/oleObject" Target="NULL" TargetMode="External"/></Relationships>
</file>

<file path=ppt/charts/_rels/chart25.xml.rels><?xml version="1.0" encoding="UTF-8" standalone="yes"?>
<Relationships xmlns="http://schemas.openxmlformats.org/package/2006/relationships"><Relationship Id="rId1" Type="http://schemas.openxmlformats.org/officeDocument/2006/relationships/oleObject" Target="NULL" TargetMode="External"/></Relationships>
</file>

<file path=ppt/charts/_rels/chart26.xml.rels><?xml version="1.0" encoding="UTF-8" standalone="yes"?>
<Relationships xmlns="http://schemas.openxmlformats.org/package/2006/relationships"><Relationship Id="rId1" Type="http://schemas.openxmlformats.org/officeDocument/2006/relationships/oleObject" Target="NULL" TargetMode="External"/></Relationships>
</file>

<file path=ppt/charts/_rels/chart27.xml.rels><?xml version="1.0" encoding="UTF-8" standalone="yes"?>
<Relationships xmlns="http://schemas.openxmlformats.org/package/2006/relationships"><Relationship Id="rId1" Type="http://schemas.openxmlformats.org/officeDocument/2006/relationships/oleObject" Target="NULL" TargetMode="External"/></Relationships>
</file>

<file path=ppt/charts/_rels/chart28.xml.rels><?xml version="1.0" encoding="UTF-8" standalone="yes"?>
<Relationships xmlns="http://schemas.openxmlformats.org/package/2006/relationships"><Relationship Id="rId1" Type="http://schemas.openxmlformats.org/officeDocument/2006/relationships/oleObject" Target="NULL" TargetMode="External"/></Relationships>
</file>

<file path=ppt/charts/_rels/chart29.xml.rels><?xml version="1.0" encoding="UTF-8" standalone="yes"?>
<Relationships xmlns="http://schemas.openxmlformats.org/package/2006/relationships"><Relationship Id="rId1" Type="http://schemas.openxmlformats.org/officeDocument/2006/relationships/oleObject" Target="NULL" TargetMode="External"/></Relationships>
</file>

<file path=ppt/charts/_rels/chart30.xml.rels><?xml version="1.0" encoding="UTF-8" standalone="yes"?>
<Relationships xmlns="http://schemas.openxmlformats.org/package/2006/relationships"><Relationship Id="rId1" Type="http://schemas.openxmlformats.org/officeDocument/2006/relationships/oleObject" Target="NULL" TargetMode="External"/></Relationships>
</file>

<file path=ppt/charts/_rels/chart31.xml.rels><?xml version="1.0" encoding="UTF-8" standalone="yes"?>
<Relationships xmlns="http://schemas.openxmlformats.org/package/2006/relationships"><Relationship Id="rId1" Type="http://schemas.openxmlformats.org/officeDocument/2006/relationships/oleObject" Target="NULL" TargetMode="External"/></Relationships>
</file>

<file path=ppt/charts/_rels/chart32.xml.rels><?xml version="1.0" encoding="UTF-8" standalone="yes"?>
<Relationships xmlns="http://schemas.openxmlformats.org/package/2006/relationships"><Relationship Id="rId1" Type="http://schemas.openxmlformats.org/officeDocument/2006/relationships/oleObject" Target="NULL" TargetMode="External"/></Relationships>
</file>

<file path=ppt/charts/_rels/chart33.xml.rels><?xml version="1.0" encoding="UTF-8" standalone="yes"?>
<Relationships xmlns="http://schemas.openxmlformats.org/package/2006/relationships"><Relationship Id="rId1" Type="http://schemas.openxmlformats.org/officeDocument/2006/relationships/oleObject" Target="NULL" TargetMode="External"/></Relationships>
</file>

<file path=ppt/charts/_rels/chart34.xml.rels><?xml version="1.0" encoding="UTF-8" standalone="yes"?>
<Relationships xmlns="http://schemas.openxmlformats.org/package/2006/relationships"><Relationship Id="rId1" Type="http://schemas.openxmlformats.org/officeDocument/2006/relationships/oleObject" Target="NULL" TargetMode="External"/></Relationships>
</file>

<file path=ppt/charts/_rels/chart35.xml.rels><?xml version="1.0" encoding="UTF-8" standalone="yes"?>
<Relationships xmlns="http://schemas.openxmlformats.org/package/2006/relationships"><Relationship Id="rId1" Type="http://schemas.openxmlformats.org/officeDocument/2006/relationships/oleObject" Target="NULL" TargetMode="External"/></Relationships>
</file>

<file path=ppt/charts/_rels/chart36.xml.rels><?xml version="1.0" encoding="UTF-8" standalone="yes"?>
<Relationships xmlns="http://schemas.openxmlformats.org/package/2006/relationships"><Relationship Id="rId1" Type="http://schemas.openxmlformats.org/officeDocument/2006/relationships/oleObject" Target="NULL" TargetMode="External"/></Relationships>
</file>

<file path=ppt/charts/_rels/chart37.xml.rels><?xml version="1.0" encoding="UTF-8" standalone="yes"?>
<Relationships xmlns="http://schemas.openxmlformats.org/package/2006/relationships"><Relationship Id="rId1" Type="http://schemas.openxmlformats.org/officeDocument/2006/relationships/oleObject" Target="NULL" TargetMode="External"/></Relationships>
</file>

<file path=ppt/charts/_rels/chart38.xml.rels><?xml version="1.0" encoding="UTF-8" standalone="yes"?>
<Relationships xmlns="http://schemas.openxmlformats.org/package/2006/relationships"><Relationship Id="rId1" Type="http://schemas.openxmlformats.org/officeDocument/2006/relationships/oleObject" Target="NULL" TargetMode="External"/></Relationships>
</file>

<file path=ppt/charts/_rels/chart39.xml.rels><?xml version="1.0" encoding="UTF-8" standalone="yes"?>
<Relationships xmlns="http://schemas.openxmlformats.org/package/2006/relationships"><Relationship Id="rId1" Type="http://schemas.openxmlformats.org/officeDocument/2006/relationships/oleObject" Target="NULL" TargetMode="External"/></Relationships>
</file>

<file path=ppt/charts/_rels/chart4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7.xlsx"/></Relationships>
</file>

<file path=ppt/charts/_rels/chart4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8.xlsx"/></Relationships>
</file>

<file path=ppt/charts/_rels/chart4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9.xlsx"/></Relationships>
</file>

<file path=ppt/charts/_rels/chart4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0.xlsx"/></Relationships>
</file>

<file path=ppt/charts/_rels/chart4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1.xlsx"/></Relationships>
</file>

<file path=ppt/charts/_rels/chart4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2.xlsx"/></Relationships>
</file>

<file path=ppt/charts/_rels/chart4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3.xlsx"/></Relationships>
</file>

<file path=ppt/charts/_rels/chart4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4.xlsx"/></Relationships>
</file>

<file path=ppt/charts/_rels/chart4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5.xlsx"/></Relationships>
</file>

<file path=ppt/charts/_rels/chart4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6.xlsx"/></Relationships>
</file>

<file path=ppt/charts/_rels/chart5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7.xlsx"/></Relationships>
</file>

<file path=ppt/charts/_rels/chart5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8.xlsx"/></Relationships>
</file>

<file path=ppt/charts/_rels/chart5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5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5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5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请求占比</c:f>
              <c:strCache>
                <c:ptCount val="1"/>
                <c:pt idx="0">
                  <c:v>请求占比</c:v>
                </c:pt>
              </c:strCache>
            </c:strRef>
          </c:tx>
          <c:spPr>
            <a:solidFill>
              <a:srgbClr val="4472C4"/>
            </a:solidFill>
            <a:ln w="9525">
              <a:solidFill>
                <a:srgbClr val="4472C4"/>
              </a:solidFill>
              <a:prstDash val="solid"/>
            </a:ln>
          </c:spPr>
          <c:invertIfNegative val="0"/>
          <c:dPt>
            <c:idx val="0"/>
            <c:invertIfNegative val="0"/>
            <c:bubble3D val="0"/>
            <c:spPr>
              <a:solidFill>
                <a:srgbClr val="4472C4"/>
              </a:solidFill>
            </c:spPr>
          </c:dPt>
          <c:dPt>
            <c:idx val="1"/>
            <c:invertIfNegative val="0"/>
            <c:bubble3D val="0"/>
            <c:spPr>
              <a:solidFill>
                <a:srgbClr val="4472C4"/>
              </a:solidFill>
            </c:spPr>
          </c:dPt>
          <c:dPt>
            <c:idx val="2"/>
            <c:invertIfNegative val="0"/>
            <c:bubble3D val="0"/>
            <c:spPr>
              <a:solidFill>
                <a:srgbClr val="4472C4"/>
              </a:solidFill>
            </c:spPr>
          </c:dPt>
          <c:dPt>
            <c:idx val="3"/>
            <c:invertIfNegative val="0"/>
            <c:bubble3D val="0"/>
            <c:spPr>
              <a:solidFill>
                <a:srgbClr val="F2A900"/>
              </a:solidFill>
            </c:spPr>
          </c:dPt>
          <c:dPt>
            <c:idx val="4"/>
            <c:invertIfNegative val="0"/>
            <c:bubble3D val="0"/>
            <c:spPr>
              <a:solidFill>
                <a:srgbClr val="F2A900"/>
              </a:solidFill>
            </c:spPr>
          </c:dPt>
          <c:dPt>
            <c:idx val="5"/>
            <c:invertIfNegative val="0"/>
            <c:bubble3D val="0"/>
            <c:spPr>
              <a:solidFill>
                <a:srgbClr val="F2A900"/>
              </a:solidFill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975" b="1" i="0" u="none" strike="noStrike" kern="1200" baseline="0">
                    <a:solidFill>
                      <a:srgbClr val="222222"/>
                    </a:solidFill>
                    <a:latin typeface="Calibri"/>
                    <a:ea typeface="Calibri"/>
                    <a:cs typeface="Calibri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'Chart Data'!$A$2:$A$7</c:f>
              <c:strCache>
                <c:ptCount val="6"/>
                <c:pt idx="0">
                  <c:v>1–1K</c:v>
                </c:pt>
                <c:pt idx="1">
                  <c:v>1K–4K</c:v>
                </c:pt>
                <c:pt idx="2">
                  <c:v>4K–8K</c:v>
                </c:pt>
                <c:pt idx="3">
                  <c:v>8K–16K</c:v>
                </c:pt>
                <c:pt idx="4">
                  <c:v>16K–32K</c:v>
                </c:pt>
                <c:pt idx="5">
                  <c:v>32K–64K</c:v>
                </c:pt>
              </c:strCache>
            </c:strRef>
          </c:cat>
          <c:val>
            <c:numRef>
              <c:f>'Chart Data'!$B$2:$B$7</c:f>
              <c:numCache>
                <c:formatCode>0"%"</c:formatCode>
                <c:ptCount val="6"/>
                <c:pt idx="0">
                  <c:v>11.7</c:v>
                </c:pt>
                <c:pt idx="1">
                  <c:v>23.1</c:v>
                </c:pt>
                <c:pt idx="2">
                  <c:v>22.3</c:v>
                </c:pt>
                <c:pt idx="3">
                  <c:v>22.7</c:v>
                </c:pt>
                <c:pt idx="4">
                  <c:v>15.5</c:v>
                </c:pt>
                <c:pt idx="5">
                  <c:v>4.8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8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9D9D9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75" b="0" i="0" u="none" strike="noStrike" kern="1200" baseline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ax val="30"/>
          <c:min val="0"/>
        </c:scaling>
        <c:delete val="0"/>
        <c:axPos val="l"/>
        <c:majorGridlines>
          <c:spPr>
            <a:ln w="9525">
              <a:solidFill>
                <a:srgbClr val="E8E8E8"/>
              </a:solidFill>
              <a:prstDash val="solid"/>
              <a:round/>
            </a:ln>
          </c:spPr>
        </c:majorGridlines>
        <c:numFmt formatCode="0&quot;%&quot;" sourceLinked="1"/>
        <c:majorTickMark val="none"/>
        <c:minorTickMark val="none"/>
        <c:tickLblPos val="nextTo"/>
        <c:spPr>
          <a:ln w="9525">
            <a:solidFill>
              <a:srgbClr val="D9D9D9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</a:p>
        </c:txPr>
        <c:crossAx val="48650112"/>
        <c:crosses val="autoZero"/>
        <c:crossBetween val="between"/>
        <c:majorUnit val="5"/>
      </c:valAx>
      <c:spPr>
        <a:solidFill>
          <a:srgbClr val="FFFFFF"/>
        </a:solidFill>
        <a:ln w="9525">
          <a:solidFill>
            <a:srgbClr val="ECECEC"/>
          </a:solidFill>
          <a:prstDash val="solid"/>
        </a:ln>
      </c:spPr>
    </c:plotArea>
    <c:plotVisOnly val="1"/>
    <c:dispBlanksAs val="gap"/>
    <c:showDLblsOverMax val="0"/>
    <c:extLst>
      <c:ext uri="{0b15fc19-7d7d-44ad-8c2d-2c3a37ce22c3}">
        <chartProps xmlns="https://web.wps.cn/et/2018/main" chartId="{04dfaeae-c6c8-442f-be57-79ef3fa9af97}"/>
      </c:ext>
    </c:extLst>
  </c:chart>
  <c:spPr>
    <a:solidFill>
      <a:srgbClr val="FFFFFF"/>
    </a:solidFill>
    <a:ln w="9525">
      <a:solidFill>
        <a:srgbClr val="D0D0D0"/>
      </a:solidFill>
      <a:prstDash val="solid"/>
    </a:ln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zh-CN" sz="18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sz="1275" b="1">
                <a:latin typeface="微软雅黑"/>
                <a:ea typeface="微软雅黑"/>
                <a:cs typeface="微软雅黑"/>
              </a:rPr>
              <a:t>P25 TTFT</a:t>
            </a:r>
            <a:endParaRPr sz="1275" b="1">
              <a:latin typeface="微软雅黑"/>
              <a:ea typeface="微软雅黑"/>
              <a:cs typeface="微软雅黑"/>
            </a:endParaRPr>
          </a:p>
        </c:rich>
      </c:tx>
      <c:layout/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AFD</c:f>
              <c:strCache>
                <c:ptCount val="1"/>
                <c:pt idx="0">
                  <c:v>AFD</c:v>
                </c:pt>
              </c:strCache>
            </c:strRef>
          </c:tx>
          <c:spPr>
            <a:ln w="19050" cap="rnd">
              <a:solidFill>
                <a:srgbClr val="F2A300"/>
              </a:solidFill>
              <a:prstDash val="solid"/>
              <a:round/>
            </a:ln>
          </c:spPr>
          <c:marker>
            <c:symbol val="circle"/>
            <c:size val="5"/>
            <c:spPr>
              <a:solidFill>
                <a:srgbClr val="F2A300"/>
              </a:solidFill>
            </c:spPr>
          </c:marker>
          <c:dLbls>
            <c:delete val="1"/>
          </c:dLbls>
          <c:cat>
            <c:numRef>
              <c:f>'Chart Data'!$A$2:$A$4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4</c:v>
                </c:pt>
              </c:numCache>
            </c:numRef>
          </c:cat>
          <c:val>
            <c:numRef>
              <c:f>'Chart Data'!$B$2:$B$4</c:f>
              <c:numCache>
                <c:formatCode>0</c:formatCode>
                <c:ptCount val="3"/>
                <c:pt idx="0">
                  <c:v>0.65</c:v>
                </c:pt>
                <c:pt idx="1">
                  <c:v>1.024</c:v>
                </c:pt>
                <c:pt idx="2">
                  <c:v>4.81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DP4TP4</c:f>
              <c:strCache>
                <c:ptCount val="1"/>
                <c:pt idx="0">
                  <c:v>DP4TP4</c:v>
                </c:pt>
              </c:strCache>
            </c:strRef>
          </c:tx>
          <c:spPr>
            <a:ln w="19050" cap="rnd">
              <a:solidFill>
                <a:srgbClr val="548235"/>
              </a:solidFill>
              <a:prstDash val="solid"/>
              <a:round/>
            </a:ln>
          </c:spPr>
          <c:marker>
            <c:symbol val="circle"/>
            <c:size val="5"/>
            <c:spPr>
              <a:solidFill>
                <a:srgbClr val="548235"/>
              </a:solidFill>
            </c:spPr>
          </c:marker>
          <c:dLbls>
            <c:delete val="1"/>
          </c:dLbls>
          <c:cat>
            <c:numRef>
              <c:f>'Chart Data'!$C$2:$C$4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4</c:v>
                </c:pt>
              </c:numCache>
            </c:numRef>
          </c:cat>
          <c:val>
            <c:numRef>
              <c:f>'Chart Data'!$D$2:$D$4</c:f>
              <c:numCache>
                <c:formatCode>0</c:formatCode>
                <c:ptCount val="3"/>
                <c:pt idx="0">
                  <c:v>1.111</c:v>
                </c:pt>
                <c:pt idx="1">
                  <c:v>1.838</c:v>
                </c:pt>
                <c:pt idx="2">
                  <c:v>22.172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DP8TP2</c:f>
              <c:strCache>
                <c:ptCount val="1"/>
                <c:pt idx="0">
                  <c:v>DP8TP2</c:v>
                </c:pt>
              </c:strCache>
            </c:strRef>
          </c:tx>
          <c:spPr>
            <a:ln w="19050" cap="rnd">
              <a:solidFill>
                <a:srgbClr val="4472C4"/>
              </a:solidFill>
              <a:prstDash val="solid"/>
              <a:round/>
            </a:ln>
          </c:spPr>
          <c:marker>
            <c:symbol val="circle"/>
            <c:size val="5"/>
            <c:spPr>
              <a:solidFill>
                <a:srgbClr val="4472C4"/>
              </a:solidFill>
            </c:spPr>
          </c:marker>
          <c:dLbls>
            <c:delete val="1"/>
          </c:dLbls>
          <c:cat>
            <c:numRef>
              <c:f>'Chart Data'!$E$2:$E$4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4</c:v>
                </c:pt>
              </c:numCache>
            </c:numRef>
          </c:cat>
          <c:val>
            <c:numRef>
              <c:f>'Chart Data'!$F$2:$F$4</c:f>
              <c:numCache>
                <c:formatCode>0</c:formatCode>
                <c:ptCount val="3"/>
                <c:pt idx="0">
                  <c:v>1.23</c:v>
                </c:pt>
                <c:pt idx="1">
                  <c:v>1.596</c:v>
                </c:pt>
                <c:pt idx="2">
                  <c:v>2.168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5715">
            <a:solidFill>
              <a:srgbClr val="CCCCCC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75" b="0" i="0" u="none" strike="noStrike" kern="1200" baseline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ax val="30"/>
          <c:min val="0"/>
        </c:scaling>
        <c:delete val="0"/>
        <c:axPos val="l"/>
        <c:majorGridlines>
          <c:spPr>
            <a:ln w="4763">
              <a:solidFill>
                <a:srgbClr val="DDDDDD"/>
              </a:solidFill>
              <a:prstDash val="solid"/>
              <a:round/>
            </a:ln>
          </c:spPr>
        </c:majorGridlines>
        <c:numFmt formatCode="0" sourceLinked="1"/>
        <c:majorTickMark val="none"/>
        <c:minorTickMark val="none"/>
        <c:tickLblPos val="nextTo"/>
        <c:spPr>
          <a:ln w="4763">
            <a:solidFill>
              <a:srgbClr val="CCCCCC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</a:p>
        </c:txPr>
        <c:crossAx val="48650112"/>
        <c:crosses val="autoZero"/>
        <c:crossBetween val="between"/>
        <c:majorUnit val="10"/>
      </c:valAx>
      <c:spPr>
        <a:solidFill>
          <a:srgbClr val="FFFFFF"/>
        </a:solidFill>
      </c:spPr>
    </c:plotArea>
    <c:plotVisOnly val="1"/>
    <c:dispBlanksAs val="gap"/>
    <c:showDLblsOverMax val="0"/>
    <c:extLst>
      <c:ext uri="{0b15fc19-7d7d-44ad-8c2d-2c3a37ce22c3}">
        <chartProps xmlns="https://web.wps.cn/et/2018/main" chartId="{e625de33-97b9-4e15-86da-c1ff105f38ea}"/>
      </c:ext>
    </c:extLst>
  </c:chart>
  <c:spPr>
    <a:solidFill>
      <a:srgbClr val="FFFFFF"/>
    </a:solidFill>
    <a:ln w="0">
      <a:noFill/>
    </a:ln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zh-CN" sz="18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sz="1275" b="1">
                <a:latin typeface="微软雅黑"/>
                <a:ea typeface="微软雅黑"/>
                <a:cs typeface="微软雅黑"/>
              </a:rPr>
              <a:t>P50 TTFT</a:t>
            </a:r>
            <a:endParaRPr sz="1275" b="1">
              <a:latin typeface="微软雅黑"/>
              <a:ea typeface="微软雅黑"/>
              <a:cs typeface="微软雅黑"/>
            </a:endParaRPr>
          </a:p>
        </c:rich>
      </c:tx>
      <c:layout/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AFD</c:f>
              <c:strCache>
                <c:ptCount val="1"/>
                <c:pt idx="0">
                  <c:v>AFD</c:v>
                </c:pt>
              </c:strCache>
            </c:strRef>
          </c:tx>
          <c:spPr>
            <a:ln w="19050" cap="rnd">
              <a:solidFill>
                <a:srgbClr val="F2A300"/>
              </a:solidFill>
              <a:prstDash val="solid"/>
              <a:round/>
            </a:ln>
          </c:spPr>
          <c:marker>
            <c:symbol val="circle"/>
            <c:size val="5"/>
            <c:spPr>
              <a:solidFill>
                <a:srgbClr val="F2A300"/>
              </a:solidFill>
            </c:spPr>
          </c:marker>
          <c:dLbls>
            <c:delete val="1"/>
          </c:dLbls>
          <c:cat>
            <c:numRef>
              <c:f>'Chart Data'!$A$2:$A$4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4</c:v>
                </c:pt>
              </c:numCache>
            </c:numRef>
          </c:cat>
          <c:val>
            <c:numRef>
              <c:f>'Chart Data'!$B$2:$B$4</c:f>
              <c:numCache>
                <c:formatCode>0</c:formatCode>
                <c:ptCount val="3"/>
                <c:pt idx="0">
                  <c:v>1.107</c:v>
                </c:pt>
                <c:pt idx="1">
                  <c:v>1.971</c:v>
                </c:pt>
                <c:pt idx="2">
                  <c:v>8.407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DP4TP4</c:f>
              <c:strCache>
                <c:ptCount val="1"/>
                <c:pt idx="0">
                  <c:v>DP4TP4</c:v>
                </c:pt>
              </c:strCache>
            </c:strRef>
          </c:tx>
          <c:spPr>
            <a:ln w="19050" cap="rnd">
              <a:solidFill>
                <a:srgbClr val="548235"/>
              </a:solidFill>
              <a:prstDash val="solid"/>
              <a:round/>
            </a:ln>
          </c:spPr>
          <c:marker>
            <c:symbol val="circle"/>
            <c:size val="5"/>
            <c:spPr>
              <a:solidFill>
                <a:srgbClr val="548235"/>
              </a:solidFill>
            </c:spPr>
          </c:marker>
          <c:dLbls>
            <c:delete val="1"/>
          </c:dLbls>
          <c:cat>
            <c:numRef>
              <c:f>'Chart Data'!$C$2:$C$4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4</c:v>
                </c:pt>
              </c:numCache>
            </c:numRef>
          </c:cat>
          <c:val>
            <c:numRef>
              <c:f>'Chart Data'!$D$2:$D$4</c:f>
              <c:numCache>
                <c:formatCode>0</c:formatCode>
                <c:ptCount val="3"/>
                <c:pt idx="0">
                  <c:v>1.816</c:v>
                </c:pt>
                <c:pt idx="1">
                  <c:v>3.187</c:v>
                </c:pt>
                <c:pt idx="2">
                  <c:v>30.074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DP8TP2</c:f>
              <c:strCache>
                <c:ptCount val="1"/>
                <c:pt idx="0">
                  <c:v>DP8TP2</c:v>
                </c:pt>
              </c:strCache>
            </c:strRef>
          </c:tx>
          <c:spPr>
            <a:ln w="19050" cap="rnd">
              <a:solidFill>
                <a:srgbClr val="4472C4"/>
              </a:solidFill>
              <a:prstDash val="solid"/>
              <a:round/>
            </a:ln>
          </c:spPr>
          <c:marker>
            <c:symbol val="circle"/>
            <c:size val="5"/>
            <c:spPr>
              <a:solidFill>
                <a:srgbClr val="4472C4"/>
              </a:solidFill>
            </c:spPr>
          </c:marker>
          <c:dLbls>
            <c:delete val="1"/>
          </c:dLbls>
          <c:cat>
            <c:numRef>
              <c:f>'Chart Data'!$E$2:$E$4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4</c:v>
                </c:pt>
              </c:numCache>
            </c:numRef>
          </c:cat>
          <c:val>
            <c:numRef>
              <c:f>'Chart Data'!$F$2:$F$4</c:f>
              <c:numCache>
                <c:formatCode>0</c:formatCode>
                <c:ptCount val="3"/>
                <c:pt idx="0">
                  <c:v>1.975</c:v>
                </c:pt>
                <c:pt idx="1">
                  <c:v>2.532</c:v>
                </c:pt>
                <c:pt idx="2">
                  <c:v>3.489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5715">
            <a:solidFill>
              <a:srgbClr val="CCCCCC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75" b="0" i="0" u="none" strike="noStrike" kern="1200" baseline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ax val="40"/>
          <c:min val="0"/>
        </c:scaling>
        <c:delete val="0"/>
        <c:axPos val="l"/>
        <c:majorGridlines>
          <c:spPr>
            <a:ln w="4763">
              <a:solidFill>
                <a:srgbClr val="DDDDDD"/>
              </a:solidFill>
              <a:prstDash val="solid"/>
              <a:round/>
            </a:ln>
          </c:spPr>
        </c:majorGridlines>
        <c:numFmt formatCode="0" sourceLinked="1"/>
        <c:majorTickMark val="none"/>
        <c:minorTickMark val="none"/>
        <c:tickLblPos val="nextTo"/>
        <c:spPr>
          <a:ln w="4763">
            <a:solidFill>
              <a:srgbClr val="CCCCCC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</a:p>
        </c:txPr>
        <c:crossAx val="48650112"/>
        <c:crosses val="autoZero"/>
        <c:crossBetween val="between"/>
        <c:majorUnit val="10"/>
      </c:valAx>
      <c:spPr>
        <a:solidFill>
          <a:srgbClr val="FFFFFF"/>
        </a:solidFill>
      </c:spPr>
    </c:plotArea>
    <c:plotVisOnly val="1"/>
    <c:dispBlanksAs val="gap"/>
    <c:showDLblsOverMax val="0"/>
    <c:extLst>
      <c:ext uri="{0b15fc19-7d7d-44ad-8c2d-2c3a37ce22c3}">
        <chartProps xmlns="https://web.wps.cn/et/2018/main" chartId="{e605e75c-7c00-46a7-ad6f-61979dd3b7fb}"/>
      </c:ext>
    </c:extLst>
  </c:chart>
  <c:spPr>
    <a:solidFill>
      <a:srgbClr val="FFFFFF"/>
    </a:solidFill>
    <a:ln w="0">
      <a:noFill/>
    </a:ln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zh-CN" sz="18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sz="1275" b="1">
                <a:latin typeface="微软雅黑"/>
                <a:ea typeface="微软雅黑"/>
                <a:cs typeface="微软雅黑"/>
              </a:rPr>
              <a:t>P90 TTFT</a:t>
            </a:r>
            <a:endParaRPr sz="1275" b="1">
              <a:latin typeface="微软雅黑"/>
              <a:ea typeface="微软雅黑"/>
              <a:cs typeface="微软雅黑"/>
            </a:endParaRPr>
          </a:p>
        </c:rich>
      </c:tx>
      <c:layout/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AFD</c:f>
              <c:strCache>
                <c:ptCount val="1"/>
                <c:pt idx="0">
                  <c:v>AFD</c:v>
                </c:pt>
              </c:strCache>
            </c:strRef>
          </c:tx>
          <c:spPr>
            <a:ln w="19050" cap="rnd">
              <a:solidFill>
                <a:srgbClr val="F2A300"/>
              </a:solidFill>
              <a:prstDash val="solid"/>
              <a:round/>
            </a:ln>
          </c:spPr>
          <c:marker>
            <c:symbol val="circle"/>
            <c:size val="5"/>
            <c:spPr>
              <a:solidFill>
                <a:srgbClr val="F2A300"/>
              </a:solidFill>
            </c:spPr>
          </c:marker>
          <c:dLbls>
            <c:delete val="1"/>
          </c:dLbls>
          <c:cat>
            <c:numRef>
              <c:f>'Chart Data'!$A$2:$A$4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4</c:v>
                </c:pt>
              </c:numCache>
            </c:numRef>
          </c:cat>
          <c:val>
            <c:numRef>
              <c:f>'Chart Data'!$B$2:$B$4</c:f>
              <c:numCache>
                <c:formatCode>0</c:formatCode>
                <c:ptCount val="3"/>
                <c:pt idx="0">
                  <c:v>3.438</c:v>
                </c:pt>
                <c:pt idx="1">
                  <c:v>6.584</c:v>
                </c:pt>
                <c:pt idx="2">
                  <c:v>14.76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DP4TP4</c:f>
              <c:strCache>
                <c:ptCount val="1"/>
                <c:pt idx="0">
                  <c:v>DP4TP4</c:v>
                </c:pt>
              </c:strCache>
            </c:strRef>
          </c:tx>
          <c:spPr>
            <a:ln w="19050" cap="rnd">
              <a:solidFill>
                <a:srgbClr val="548235"/>
              </a:solidFill>
              <a:prstDash val="solid"/>
              <a:round/>
            </a:ln>
          </c:spPr>
          <c:marker>
            <c:symbol val="circle"/>
            <c:size val="5"/>
            <c:spPr>
              <a:solidFill>
                <a:srgbClr val="548235"/>
              </a:solidFill>
            </c:spPr>
          </c:marker>
          <c:dLbls>
            <c:delete val="1"/>
          </c:dLbls>
          <c:cat>
            <c:numRef>
              <c:f>'Chart Data'!$C$2:$C$4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4</c:v>
                </c:pt>
              </c:numCache>
            </c:numRef>
          </c:cat>
          <c:val>
            <c:numRef>
              <c:f>'Chart Data'!$D$2:$D$4</c:f>
              <c:numCache>
                <c:formatCode>0</c:formatCode>
                <c:ptCount val="3"/>
                <c:pt idx="0">
                  <c:v>4.633</c:v>
                </c:pt>
                <c:pt idx="1">
                  <c:v>7.616</c:v>
                </c:pt>
                <c:pt idx="2">
                  <c:v>47.337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DP8TP2</c:f>
              <c:strCache>
                <c:ptCount val="1"/>
                <c:pt idx="0">
                  <c:v>DP8TP2</c:v>
                </c:pt>
              </c:strCache>
            </c:strRef>
          </c:tx>
          <c:spPr>
            <a:ln w="19050" cap="rnd">
              <a:solidFill>
                <a:srgbClr val="4472C4"/>
              </a:solidFill>
              <a:prstDash val="solid"/>
              <a:round/>
            </a:ln>
          </c:spPr>
          <c:marker>
            <c:symbol val="circle"/>
            <c:size val="5"/>
            <c:spPr>
              <a:solidFill>
                <a:srgbClr val="4472C4"/>
              </a:solidFill>
            </c:spPr>
          </c:marker>
          <c:dLbls>
            <c:delete val="1"/>
          </c:dLbls>
          <c:cat>
            <c:numRef>
              <c:f>'Chart Data'!$E$2:$E$4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4</c:v>
                </c:pt>
              </c:numCache>
            </c:numRef>
          </c:cat>
          <c:val>
            <c:numRef>
              <c:f>'Chart Data'!$F$2:$F$4</c:f>
              <c:numCache>
                <c:formatCode>0</c:formatCode>
                <c:ptCount val="3"/>
                <c:pt idx="0">
                  <c:v>5.125</c:v>
                </c:pt>
                <c:pt idx="1">
                  <c:v>6.215</c:v>
                </c:pt>
                <c:pt idx="2">
                  <c:v>8.144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5715">
            <a:solidFill>
              <a:srgbClr val="CCCCCC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75" b="0" i="0" u="none" strike="noStrike" kern="1200" baseline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ax val="60"/>
          <c:min val="0"/>
        </c:scaling>
        <c:delete val="0"/>
        <c:axPos val="l"/>
        <c:majorGridlines>
          <c:spPr>
            <a:ln w="4763">
              <a:solidFill>
                <a:srgbClr val="DDDDDD"/>
              </a:solidFill>
              <a:prstDash val="solid"/>
              <a:round/>
            </a:ln>
          </c:spPr>
        </c:majorGridlines>
        <c:numFmt formatCode="0" sourceLinked="1"/>
        <c:majorTickMark val="none"/>
        <c:minorTickMark val="none"/>
        <c:tickLblPos val="nextTo"/>
        <c:spPr>
          <a:ln w="4763">
            <a:solidFill>
              <a:srgbClr val="CCCCCC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</a:p>
        </c:txPr>
        <c:crossAx val="48650112"/>
        <c:crosses val="autoZero"/>
        <c:crossBetween val="between"/>
        <c:majorUnit val="20"/>
      </c:valAx>
      <c:spPr>
        <a:solidFill>
          <a:srgbClr val="FFFFFF"/>
        </a:solidFill>
      </c:spPr>
    </c:plotArea>
    <c:plotVisOnly val="1"/>
    <c:dispBlanksAs val="gap"/>
    <c:showDLblsOverMax val="0"/>
    <c:extLst>
      <c:ext uri="{0b15fc19-7d7d-44ad-8c2d-2c3a37ce22c3}">
        <chartProps xmlns="https://web.wps.cn/et/2018/main" chartId="{fe422872-0fcb-41a6-8164-94440b652c1e}"/>
      </c:ext>
    </c:extLst>
  </c:chart>
  <c:spPr>
    <a:solidFill>
      <a:srgbClr val="FFFFFF"/>
    </a:solidFill>
    <a:ln w="0">
      <a:noFill/>
    </a:ln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zh-CN" sz="18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sz="1275" b="1">
                <a:latin typeface="微软雅黑"/>
                <a:ea typeface="微软雅黑"/>
                <a:cs typeface="微软雅黑"/>
              </a:rPr>
              <a:t>P95 TTFT</a:t>
            </a:r>
            <a:endParaRPr sz="1275" b="1">
              <a:latin typeface="微软雅黑"/>
              <a:ea typeface="微软雅黑"/>
              <a:cs typeface="微软雅黑"/>
            </a:endParaRPr>
          </a:p>
        </c:rich>
      </c:tx>
      <c:layout/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AFD</c:f>
              <c:strCache>
                <c:ptCount val="1"/>
                <c:pt idx="0">
                  <c:v>AFD</c:v>
                </c:pt>
              </c:strCache>
            </c:strRef>
          </c:tx>
          <c:spPr>
            <a:ln w="19050" cap="rnd">
              <a:solidFill>
                <a:srgbClr val="F2A300"/>
              </a:solidFill>
              <a:prstDash val="solid"/>
              <a:round/>
            </a:ln>
          </c:spPr>
          <c:marker>
            <c:symbol val="circle"/>
            <c:size val="5"/>
            <c:spPr>
              <a:solidFill>
                <a:srgbClr val="F2A300"/>
              </a:solidFill>
            </c:spPr>
          </c:marker>
          <c:dLbls>
            <c:delete val="1"/>
          </c:dLbls>
          <c:cat>
            <c:numRef>
              <c:f>'Chart Data'!$A$2:$A$4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4</c:v>
                </c:pt>
              </c:numCache>
            </c:numRef>
          </c:cat>
          <c:val>
            <c:numRef>
              <c:f>'Chart Data'!$B$2:$B$4</c:f>
              <c:numCache>
                <c:formatCode>0</c:formatCode>
                <c:ptCount val="3"/>
                <c:pt idx="0">
                  <c:v>4.798</c:v>
                </c:pt>
                <c:pt idx="1">
                  <c:v>8.42</c:v>
                </c:pt>
                <c:pt idx="2">
                  <c:v>16.804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DP4TP4</c:f>
              <c:strCache>
                <c:ptCount val="1"/>
                <c:pt idx="0">
                  <c:v>DP4TP4</c:v>
                </c:pt>
              </c:strCache>
            </c:strRef>
          </c:tx>
          <c:spPr>
            <a:ln w="19050" cap="rnd">
              <a:solidFill>
                <a:srgbClr val="548235"/>
              </a:solidFill>
              <a:prstDash val="solid"/>
              <a:round/>
            </a:ln>
          </c:spPr>
          <c:marker>
            <c:symbol val="circle"/>
            <c:size val="5"/>
            <c:spPr>
              <a:solidFill>
                <a:srgbClr val="548235"/>
              </a:solidFill>
            </c:spPr>
          </c:marker>
          <c:dLbls>
            <c:delete val="1"/>
          </c:dLbls>
          <c:cat>
            <c:numRef>
              <c:f>'Chart Data'!$C$2:$C$4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4</c:v>
                </c:pt>
              </c:numCache>
            </c:numRef>
          </c:cat>
          <c:val>
            <c:numRef>
              <c:f>'Chart Data'!$D$2:$D$4</c:f>
              <c:numCache>
                <c:formatCode>0</c:formatCode>
                <c:ptCount val="3"/>
                <c:pt idx="0">
                  <c:v>6.009</c:v>
                </c:pt>
                <c:pt idx="1">
                  <c:v>9.197</c:v>
                </c:pt>
                <c:pt idx="2">
                  <c:v>51.255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DP8TP2</c:f>
              <c:strCache>
                <c:ptCount val="1"/>
                <c:pt idx="0">
                  <c:v>DP8TP2</c:v>
                </c:pt>
              </c:strCache>
            </c:strRef>
          </c:tx>
          <c:spPr>
            <a:ln w="19050" cap="rnd">
              <a:solidFill>
                <a:srgbClr val="4472C4"/>
              </a:solidFill>
              <a:prstDash val="solid"/>
              <a:round/>
            </a:ln>
          </c:spPr>
          <c:marker>
            <c:symbol val="circle"/>
            <c:size val="5"/>
            <c:spPr>
              <a:solidFill>
                <a:srgbClr val="4472C4"/>
              </a:solidFill>
            </c:spPr>
          </c:marker>
          <c:dLbls>
            <c:delete val="1"/>
          </c:dLbls>
          <c:cat>
            <c:numRef>
              <c:f>'Chart Data'!$E$2:$E$4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4</c:v>
                </c:pt>
              </c:numCache>
            </c:numRef>
          </c:cat>
          <c:val>
            <c:numRef>
              <c:f>'Chart Data'!$F$2:$F$4</c:f>
              <c:numCache>
                <c:formatCode>0</c:formatCode>
                <c:ptCount val="3"/>
                <c:pt idx="0">
                  <c:v>6.484</c:v>
                </c:pt>
                <c:pt idx="1">
                  <c:v>8.024</c:v>
                </c:pt>
                <c:pt idx="2">
                  <c:v>10.185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5715">
            <a:solidFill>
              <a:srgbClr val="CCCCCC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75" b="0" i="0" u="none" strike="noStrike" kern="1200" baseline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ax val="60"/>
          <c:min val="0"/>
        </c:scaling>
        <c:delete val="0"/>
        <c:axPos val="l"/>
        <c:majorGridlines>
          <c:spPr>
            <a:ln w="4763">
              <a:solidFill>
                <a:srgbClr val="DDDDDD"/>
              </a:solidFill>
              <a:prstDash val="solid"/>
              <a:round/>
            </a:ln>
          </c:spPr>
        </c:majorGridlines>
        <c:numFmt formatCode="0" sourceLinked="1"/>
        <c:majorTickMark val="none"/>
        <c:minorTickMark val="none"/>
        <c:tickLblPos val="nextTo"/>
        <c:spPr>
          <a:ln w="4763">
            <a:solidFill>
              <a:srgbClr val="CCCCCC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</a:p>
        </c:txPr>
        <c:crossAx val="48650112"/>
        <c:crosses val="autoZero"/>
        <c:crossBetween val="between"/>
        <c:majorUnit val="20"/>
      </c:valAx>
      <c:spPr>
        <a:solidFill>
          <a:srgbClr val="FFFFFF"/>
        </a:solidFill>
      </c:spPr>
    </c:plotArea>
    <c:plotVisOnly val="1"/>
    <c:dispBlanksAs val="gap"/>
    <c:showDLblsOverMax val="0"/>
    <c:extLst>
      <c:ext uri="{0b15fc19-7d7d-44ad-8c2d-2c3a37ce22c3}">
        <chartProps xmlns="https://web.wps.cn/et/2018/main" chartId="{8082297e-b5dd-42b1-99de-1c002a64867c}"/>
      </c:ext>
    </c:extLst>
  </c:chart>
  <c:spPr>
    <a:solidFill>
      <a:srgbClr val="FFFFFF"/>
    </a:solidFill>
    <a:ln w="0">
      <a:noFill/>
    </a:ln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zh-CN" sz="18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sz="1275" b="1">
                <a:latin typeface="微软雅黑"/>
                <a:ea typeface="微软雅黑"/>
                <a:cs typeface="微软雅黑"/>
              </a:rPr>
              <a:t>P99 TTFT</a:t>
            </a:r>
            <a:endParaRPr sz="1275" b="1">
              <a:latin typeface="微软雅黑"/>
              <a:ea typeface="微软雅黑"/>
              <a:cs typeface="微软雅黑"/>
            </a:endParaRPr>
          </a:p>
        </c:rich>
      </c:tx>
      <c:layout/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AFD</c:f>
              <c:strCache>
                <c:ptCount val="1"/>
                <c:pt idx="0">
                  <c:v>AFD</c:v>
                </c:pt>
              </c:strCache>
            </c:strRef>
          </c:tx>
          <c:spPr>
            <a:ln w="19050" cap="rnd">
              <a:solidFill>
                <a:srgbClr val="F2A300"/>
              </a:solidFill>
              <a:prstDash val="solid"/>
              <a:round/>
            </a:ln>
          </c:spPr>
          <c:marker>
            <c:symbol val="circle"/>
            <c:size val="5"/>
            <c:spPr>
              <a:solidFill>
                <a:srgbClr val="F2A300"/>
              </a:solidFill>
            </c:spPr>
          </c:marker>
          <c:dLbls>
            <c:delete val="1"/>
          </c:dLbls>
          <c:cat>
            <c:numRef>
              <c:f>'Chart Data'!$A$2:$A$4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4</c:v>
                </c:pt>
              </c:numCache>
            </c:numRef>
          </c:cat>
          <c:val>
            <c:numRef>
              <c:f>'Chart Data'!$B$2:$B$4</c:f>
              <c:numCache>
                <c:formatCode>0</c:formatCode>
                <c:ptCount val="3"/>
                <c:pt idx="0">
                  <c:v>6.977</c:v>
                </c:pt>
                <c:pt idx="1">
                  <c:v>11.06</c:v>
                </c:pt>
                <c:pt idx="2">
                  <c:v>20.285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DP4TP4</c:f>
              <c:strCache>
                <c:ptCount val="1"/>
                <c:pt idx="0">
                  <c:v>DP4TP4</c:v>
                </c:pt>
              </c:strCache>
            </c:strRef>
          </c:tx>
          <c:spPr>
            <a:ln w="19050" cap="rnd">
              <a:solidFill>
                <a:srgbClr val="548235"/>
              </a:solidFill>
              <a:prstDash val="solid"/>
              <a:round/>
            </a:ln>
          </c:spPr>
          <c:marker>
            <c:symbol val="circle"/>
            <c:size val="5"/>
            <c:spPr>
              <a:solidFill>
                <a:srgbClr val="548235"/>
              </a:solidFill>
            </c:spPr>
          </c:marker>
          <c:dLbls>
            <c:delete val="1"/>
          </c:dLbls>
          <c:cat>
            <c:numRef>
              <c:f>'Chart Data'!$C$2:$C$4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4</c:v>
                </c:pt>
              </c:numCache>
            </c:numRef>
          </c:cat>
          <c:val>
            <c:numRef>
              <c:f>'Chart Data'!$D$2:$D$4</c:f>
              <c:numCache>
                <c:formatCode>0</c:formatCode>
                <c:ptCount val="3"/>
                <c:pt idx="0">
                  <c:v>8.302</c:v>
                </c:pt>
                <c:pt idx="1">
                  <c:v>12.909</c:v>
                </c:pt>
                <c:pt idx="2">
                  <c:v>56.95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DP8TP2</c:f>
              <c:strCache>
                <c:ptCount val="1"/>
                <c:pt idx="0">
                  <c:v>DP8TP2</c:v>
                </c:pt>
              </c:strCache>
            </c:strRef>
          </c:tx>
          <c:spPr>
            <a:ln w="19050" cap="rnd">
              <a:solidFill>
                <a:srgbClr val="4472C4"/>
              </a:solidFill>
              <a:prstDash val="solid"/>
              <a:round/>
            </a:ln>
          </c:spPr>
          <c:marker>
            <c:symbol val="circle"/>
            <c:size val="5"/>
            <c:spPr>
              <a:solidFill>
                <a:srgbClr val="4472C4"/>
              </a:solidFill>
            </c:spPr>
          </c:marker>
          <c:dLbls>
            <c:delete val="1"/>
          </c:dLbls>
          <c:cat>
            <c:numRef>
              <c:f>'Chart Data'!$E$2:$E$4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4</c:v>
                </c:pt>
              </c:numCache>
            </c:numRef>
          </c:cat>
          <c:val>
            <c:numRef>
              <c:f>'Chart Data'!$F$2:$F$4</c:f>
              <c:numCache>
                <c:formatCode>0</c:formatCode>
                <c:ptCount val="3"/>
                <c:pt idx="0">
                  <c:v>10.238</c:v>
                </c:pt>
                <c:pt idx="1">
                  <c:v>11.163</c:v>
                </c:pt>
                <c:pt idx="2">
                  <c:v>12.986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5715">
            <a:solidFill>
              <a:srgbClr val="CCCCCC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75" b="0" i="0" u="none" strike="noStrike" kern="1200" baseline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ax val="60"/>
          <c:min val="0"/>
        </c:scaling>
        <c:delete val="0"/>
        <c:axPos val="l"/>
        <c:majorGridlines>
          <c:spPr>
            <a:ln w="4763">
              <a:solidFill>
                <a:srgbClr val="DDDDDD"/>
              </a:solidFill>
              <a:prstDash val="solid"/>
              <a:round/>
            </a:ln>
          </c:spPr>
        </c:majorGridlines>
        <c:numFmt formatCode="0" sourceLinked="1"/>
        <c:majorTickMark val="none"/>
        <c:minorTickMark val="none"/>
        <c:tickLblPos val="nextTo"/>
        <c:spPr>
          <a:ln w="4763">
            <a:solidFill>
              <a:srgbClr val="CCCCCC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</a:p>
        </c:txPr>
        <c:crossAx val="48650112"/>
        <c:crosses val="autoZero"/>
        <c:crossBetween val="between"/>
        <c:majorUnit val="20"/>
      </c:valAx>
      <c:spPr>
        <a:solidFill>
          <a:srgbClr val="FFFFFF"/>
        </a:solidFill>
      </c:spPr>
    </c:plotArea>
    <c:plotVisOnly val="1"/>
    <c:dispBlanksAs val="gap"/>
    <c:showDLblsOverMax val="0"/>
    <c:extLst>
      <c:ext uri="{0b15fc19-7d7d-44ad-8c2d-2c3a37ce22c3}">
        <chartProps xmlns="https://web.wps.cn/et/2018/main" chartId="{03d6bfd6-091f-4777-8d8a-c1161c86cf36}"/>
      </c:ext>
    </c:extLst>
  </c:chart>
  <c:spPr>
    <a:solidFill>
      <a:srgbClr val="FFFFFF"/>
    </a:solidFill>
    <a:ln w="0">
      <a:noFill/>
    </a:ln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zh-CN" sz="18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sz="1275" b="1">
                <a:latin typeface="微软雅黑"/>
                <a:ea typeface="微软雅黑"/>
                <a:cs typeface="微软雅黑"/>
              </a:rPr>
              <a:t>P25 TTFT</a:t>
            </a:r>
            <a:endParaRPr sz="1275" b="1">
              <a:latin typeface="微软雅黑"/>
              <a:ea typeface="微软雅黑"/>
              <a:cs typeface="微软雅黑"/>
            </a:endParaRPr>
          </a:p>
        </c:rich>
      </c:tx>
      <c:layout/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AFD</c:f>
              <c:strCache>
                <c:ptCount val="1"/>
                <c:pt idx="0">
                  <c:v>AFD</c:v>
                </c:pt>
              </c:strCache>
            </c:strRef>
          </c:tx>
          <c:spPr>
            <a:ln w="19050" cap="rnd">
              <a:solidFill>
                <a:srgbClr val="F2A300"/>
              </a:solidFill>
              <a:prstDash val="solid"/>
              <a:round/>
            </a:ln>
          </c:spPr>
          <c:marker>
            <c:symbol val="circle"/>
            <c:size val="5"/>
            <c:spPr>
              <a:solidFill>
                <a:srgbClr val="F2A300"/>
              </a:solidFill>
            </c:spPr>
          </c:marker>
          <c:dLbls>
            <c:delete val="1"/>
          </c:dLbls>
          <c:cat>
            <c:numRef>
              <c:f>'Chart Data'!$A$2:$A$4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4</c:v>
                </c:pt>
              </c:numCache>
            </c:numRef>
          </c:cat>
          <c:val>
            <c:numRef>
              <c:f>'Chart Data'!$B$2:$B$4</c:f>
              <c:numCache>
                <c:formatCode>0</c:formatCode>
                <c:ptCount val="3"/>
                <c:pt idx="0">
                  <c:v>0.65</c:v>
                </c:pt>
                <c:pt idx="1">
                  <c:v>1.024</c:v>
                </c:pt>
                <c:pt idx="2">
                  <c:v>4.81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DP4TP4</c:f>
              <c:strCache>
                <c:ptCount val="1"/>
                <c:pt idx="0">
                  <c:v>DP4TP4</c:v>
                </c:pt>
              </c:strCache>
            </c:strRef>
          </c:tx>
          <c:spPr>
            <a:ln w="19050" cap="rnd">
              <a:solidFill>
                <a:srgbClr val="548235"/>
              </a:solidFill>
              <a:prstDash val="solid"/>
              <a:round/>
            </a:ln>
          </c:spPr>
          <c:marker>
            <c:symbol val="circle"/>
            <c:size val="5"/>
            <c:spPr>
              <a:solidFill>
                <a:srgbClr val="548235"/>
              </a:solidFill>
            </c:spPr>
          </c:marker>
          <c:dLbls>
            <c:delete val="1"/>
          </c:dLbls>
          <c:cat>
            <c:numRef>
              <c:f>'Chart Data'!$C$2:$C$4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4</c:v>
                </c:pt>
              </c:numCache>
            </c:numRef>
          </c:cat>
          <c:val>
            <c:numRef>
              <c:f>'Chart Data'!$D$2:$D$4</c:f>
              <c:numCache>
                <c:formatCode>0</c:formatCode>
                <c:ptCount val="3"/>
                <c:pt idx="0">
                  <c:v>1.791</c:v>
                </c:pt>
                <c:pt idx="1">
                  <c:v>2.578</c:v>
                </c:pt>
                <c:pt idx="2">
                  <c:v>5.96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DP8TP2</c:f>
              <c:strCache>
                <c:ptCount val="1"/>
                <c:pt idx="0">
                  <c:v>DP8TP2</c:v>
                </c:pt>
              </c:strCache>
            </c:strRef>
          </c:tx>
          <c:spPr>
            <a:ln w="19050" cap="rnd">
              <a:solidFill>
                <a:srgbClr val="4472C4"/>
              </a:solidFill>
              <a:prstDash val="solid"/>
              <a:round/>
            </a:ln>
          </c:spPr>
          <c:marker>
            <c:symbol val="circle"/>
            <c:size val="5"/>
            <c:spPr>
              <a:solidFill>
                <a:srgbClr val="4472C4"/>
              </a:solidFill>
            </c:spPr>
          </c:marker>
          <c:dLbls>
            <c:delete val="1"/>
          </c:dLbls>
          <c:cat>
            <c:numRef>
              <c:f>'Chart Data'!$E$2:$E$4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4</c:v>
                </c:pt>
              </c:numCache>
            </c:numRef>
          </c:cat>
          <c:val>
            <c:numRef>
              <c:f>'Chart Data'!$F$2:$F$4</c:f>
              <c:numCache>
                <c:formatCode>0</c:formatCode>
                <c:ptCount val="3"/>
                <c:pt idx="0">
                  <c:v>2.294</c:v>
                </c:pt>
                <c:pt idx="1">
                  <c:v>3.117</c:v>
                </c:pt>
                <c:pt idx="2">
                  <c:v>3.734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5715">
            <a:solidFill>
              <a:srgbClr val="CCCCCC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75" b="0" i="0" u="none" strike="noStrike" kern="1200" baseline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ax val="30"/>
          <c:min val="0"/>
        </c:scaling>
        <c:delete val="0"/>
        <c:axPos val="l"/>
        <c:majorGridlines>
          <c:spPr>
            <a:ln w="4763">
              <a:solidFill>
                <a:srgbClr val="DDDDDD"/>
              </a:solidFill>
              <a:prstDash val="solid"/>
              <a:round/>
            </a:ln>
          </c:spPr>
        </c:majorGridlines>
        <c:numFmt formatCode="0" sourceLinked="1"/>
        <c:majorTickMark val="none"/>
        <c:minorTickMark val="none"/>
        <c:tickLblPos val="nextTo"/>
        <c:spPr>
          <a:ln w="4763">
            <a:solidFill>
              <a:srgbClr val="CCCCCC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</a:p>
        </c:txPr>
        <c:crossAx val="48650112"/>
        <c:crosses val="autoZero"/>
        <c:crossBetween val="between"/>
        <c:majorUnit val="10"/>
      </c:valAx>
      <c:spPr>
        <a:solidFill>
          <a:srgbClr val="FFFFFF"/>
        </a:solidFill>
      </c:spPr>
    </c:plotArea>
    <c:plotVisOnly val="1"/>
    <c:dispBlanksAs val="gap"/>
    <c:showDLblsOverMax val="0"/>
    <c:extLst>
      <c:ext uri="{0b15fc19-7d7d-44ad-8c2d-2c3a37ce22c3}">
        <chartProps xmlns="https://web.wps.cn/et/2018/main" chartId="{637dc868-ddc5-418b-a592-cdff26f6991c}"/>
      </c:ext>
    </c:extLst>
  </c:chart>
  <c:spPr>
    <a:solidFill>
      <a:srgbClr val="FFFFFF"/>
    </a:solidFill>
    <a:ln w="0">
      <a:noFill/>
    </a:ln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zh-CN" sz="18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sz="1275" b="1">
                <a:latin typeface="微软雅黑"/>
                <a:ea typeface="微软雅黑"/>
                <a:cs typeface="微软雅黑"/>
              </a:rPr>
              <a:t>P50 TTFT</a:t>
            </a:r>
            <a:endParaRPr sz="1275" b="1">
              <a:latin typeface="微软雅黑"/>
              <a:ea typeface="微软雅黑"/>
              <a:cs typeface="微软雅黑"/>
            </a:endParaRPr>
          </a:p>
        </c:rich>
      </c:tx>
      <c:layout/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AFD</c:f>
              <c:strCache>
                <c:ptCount val="1"/>
                <c:pt idx="0">
                  <c:v>AFD</c:v>
                </c:pt>
              </c:strCache>
            </c:strRef>
          </c:tx>
          <c:spPr>
            <a:ln w="19050" cap="rnd">
              <a:solidFill>
                <a:srgbClr val="F2A300"/>
              </a:solidFill>
              <a:prstDash val="solid"/>
              <a:round/>
            </a:ln>
          </c:spPr>
          <c:marker>
            <c:symbol val="circle"/>
            <c:size val="5"/>
            <c:spPr>
              <a:solidFill>
                <a:srgbClr val="F2A300"/>
              </a:solidFill>
            </c:spPr>
          </c:marker>
          <c:dLbls>
            <c:delete val="1"/>
          </c:dLbls>
          <c:cat>
            <c:numRef>
              <c:f>'Chart Data'!$A$2:$A$4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4</c:v>
                </c:pt>
              </c:numCache>
            </c:numRef>
          </c:cat>
          <c:val>
            <c:numRef>
              <c:f>'Chart Data'!$B$2:$B$4</c:f>
              <c:numCache>
                <c:formatCode>0</c:formatCode>
                <c:ptCount val="3"/>
                <c:pt idx="0">
                  <c:v>1.107</c:v>
                </c:pt>
                <c:pt idx="1">
                  <c:v>1.971</c:v>
                </c:pt>
                <c:pt idx="2">
                  <c:v>8.407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DP4TP4</c:f>
              <c:strCache>
                <c:ptCount val="1"/>
                <c:pt idx="0">
                  <c:v>DP4TP4</c:v>
                </c:pt>
              </c:strCache>
            </c:strRef>
          </c:tx>
          <c:spPr>
            <a:ln w="19050" cap="rnd">
              <a:solidFill>
                <a:srgbClr val="548235"/>
              </a:solidFill>
              <a:prstDash val="solid"/>
              <a:round/>
            </a:ln>
          </c:spPr>
          <c:marker>
            <c:symbol val="circle"/>
            <c:size val="5"/>
            <c:spPr>
              <a:solidFill>
                <a:srgbClr val="548235"/>
              </a:solidFill>
            </c:spPr>
          </c:marker>
          <c:dLbls>
            <c:delete val="1"/>
          </c:dLbls>
          <c:cat>
            <c:numRef>
              <c:f>'Chart Data'!$C$2:$C$4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4</c:v>
                </c:pt>
              </c:numCache>
            </c:numRef>
          </c:cat>
          <c:val>
            <c:numRef>
              <c:f>'Chart Data'!$D$2:$D$4</c:f>
              <c:numCache>
                <c:formatCode>0</c:formatCode>
                <c:ptCount val="3"/>
                <c:pt idx="0">
                  <c:v>2.572</c:v>
                </c:pt>
                <c:pt idx="1">
                  <c:v>3.653</c:v>
                </c:pt>
                <c:pt idx="2">
                  <c:v>8.624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DP8TP2</c:f>
              <c:strCache>
                <c:ptCount val="1"/>
                <c:pt idx="0">
                  <c:v>DP8TP2</c:v>
                </c:pt>
              </c:strCache>
            </c:strRef>
          </c:tx>
          <c:spPr>
            <a:ln w="19050" cap="rnd">
              <a:solidFill>
                <a:srgbClr val="4472C4"/>
              </a:solidFill>
              <a:prstDash val="solid"/>
              <a:round/>
            </a:ln>
          </c:spPr>
          <c:marker>
            <c:symbol val="circle"/>
            <c:size val="5"/>
            <c:spPr>
              <a:solidFill>
                <a:srgbClr val="4472C4"/>
              </a:solidFill>
            </c:spPr>
          </c:marker>
          <c:dLbls>
            <c:delete val="1"/>
          </c:dLbls>
          <c:cat>
            <c:numRef>
              <c:f>'Chart Data'!$E$2:$E$4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4</c:v>
                </c:pt>
              </c:numCache>
            </c:numRef>
          </c:cat>
          <c:val>
            <c:numRef>
              <c:f>'Chart Data'!$F$2:$F$4</c:f>
              <c:numCache>
                <c:formatCode>0</c:formatCode>
                <c:ptCount val="3"/>
                <c:pt idx="0">
                  <c:v>3.253</c:v>
                </c:pt>
                <c:pt idx="1">
                  <c:v>4.208</c:v>
                </c:pt>
                <c:pt idx="2">
                  <c:v>5.152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5715">
            <a:solidFill>
              <a:srgbClr val="CCCCCC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75" b="0" i="0" u="none" strike="noStrike" kern="1200" baseline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ax val="30"/>
          <c:min val="0"/>
        </c:scaling>
        <c:delete val="0"/>
        <c:axPos val="l"/>
        <c:majorGridlines>
          <c:spPr>
            <a:ln w="4763">
              <a:solidFill>
                <a:srgbClr val="DDDDDD"/>
              </a:solidFill>
              <a:prstDash val="solid"/>
              <a:round/>
            </a:ln>
          </c:spPr>
        </c:majorGridlines>
        <c:numFmt formatCode="0" sourceLinked="1"/>
        <c:majorTickMark val="none"/>
        <c:minorTickMark val="none"/>
        <c:tickLblPos val="nextTo"/>
        <c:spPr>
          <a:ln w="4763">
            <a:solidFill>
              <a:srgbClr val="CCCCCC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</a:p>
        </c:txPr>
        <c:crossAx val="48650112"/>
        <c:crosses val="autoZero"/>
        <c:crossBetween val="between"/>
        <c:majorUnit val="10"/>
      </c:valAx>
      <c:spPr>
        <a:solidFill>
          <a:srgbClr val="FFFFFF"/>
        </a:solidFill>
      </c:spPr>
    </c:plotArea>
    <c:plotVisOnly val="1"/>
    <c:dispBlanksAs val="gap"/>
    <c:showDLblsOverMax val="0"/>
    <c:extLst>
      <c:ext uri="{0b15fc19-7d7d-44ad-8c2d-2c3a37ce22c3}">
        <chartProps xmlns="https://web.wps.cn/et/2018/main" chartId="{176649f0-116d-47c3-b318-1b845f46ac80}"/>
      </c:ext>
    </c:extLst>
  </c:chart>
  <c:spPr>
    <a:solidFill>
      <a:srgbClr val="FFFFFF"/>
    </a:solidFill>
    <a:ln w="0">
      <a:noFill/>
    </a:ln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zh-CN" sz="18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sz="1275" b="1">
                <a:latin typeface="微软雅黑"/>
                <a:ea typeface="微软雅黑"/>
                <a:cs typeface="微软雅黑"/>
              </a:rPr>
              <a:t>P90 TTFT</a:t>
            </a:r>
            <a:endParaRPr sz="1275" b="1">
              <a:latin typeface="微软雅黑"/>
              <a:ea typeface="微软雅黑"/>
              <a:cs typeface="微软雅黑"/>
            </a:endParaRPr>
          </a:p>
        </c:rich>
      </c:tx>
      <c:layout/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AFD</c:f>
              <c:strCache>
                <c:ptCount val="1"/>
                <c:pt idx="0">
                  <c:v>AFD</c:v>
                </c:pt>
              </c:strCache>
            </c:strRef>
          </c:tx>
          <c:spPr>
            <a:ln w="19050" cap="rnd">
              <a:solidFill>
                <a:srgbClr val="F2A300"/>
              </a:solidFill>
              <a:prstDash val="solid"/>
              <a:round/>
            </a:ln>
          </c:spPr>
          <c:marker>
            <c:symbol val="circle"/>
            <c:size val="5"/>
            <c:spPr>
              <a:solidFill>
                <a:srgbClr val="F2A300"/>
              </a:solidFill>
            </c:spPr>
          </c:marker>
          <c:dLbls>
            <c:delete val="1"/>
          </c:dLbls>
          <c:cat>
            <c:numRef>
              <c:f>'Chart Data'!$A$2:$A$4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4</c:v>
                </c:pt>
              </c:numCache>
            </c:numRef>
          </c:cat>
          <c:val>
            <c:numRef>
              <c:f>'Chart Data'!$B$2:$B$4</c:f>
              <c:numCache>
                <c:formatCode>0</c:formatCode>
                <c:ptCount val="3"/>
                <c:pt idx="0">
                  <c:v>3.438</c:v>
                </c:pt>
                <c:pt idx="1">
                  <c:v>6.584</c:v>
                </c:pt>
                <c:pt idx="2">
                  <c:v>14.76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DP4TP4</c:f>
              <c:strCache>
                <c:ptCount val="1"/>
                <c:pt idx="0">
                  <c:v>DP4TP4</c:v>
                </c:pt>
              </c:strCache>
            </c:strRef>
          </c:tx>
          <c:spPr>
            <a:ln w="19050" cap="rnd">
              <a:solidFill>
                <a:srgbClr val="548235"/>
              </a:solidFill>
              <a:prstDash val="solid"/>
              <a:round/>
            </a:ln>
          </c:spPr>
          <c:marker>
            <c:symbol val="circle"/>
            <c:size val="5"/>
            <c:spPr>
              <a:solidFill>
                <a:srgbClr val="548235"/>
              </a:solidFill>
            </c:spPr>
          </c:marker>
          <c:dLbls>
            <c:delete val="1"/>
          </c:dLbls>
          <c:cat>
            <c:numRef>
              <c:f>'Chart Data'!$C$2:$C$4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4</c:v>
                </c:pt>
              </c:numCache>
            </c:numRef>
          </c:cat>
          <c:val>
            <c:numRef>
              <c:f>'Chart Data'!$D$2:$D$4</c:f>
              <c:numCache>
                <c:formatCode>0</c:formatCode>
                <c:ptCount val="3"/>
                <c:pt idx="0">
                  <c:v>5.294</c:v>
                </c:pt>
                <c:pt idx="1">
                  <c:v>7.249</c:v>
                </c:pt>
                <c:pt idx="2">
                  <c:v>15.063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DP8TP2</c:f>
              <c:strCache>
                <c:ptCount val="1"/>
                <c:pt idx="0">
                  <c:v>DP8TP2</c:v>
                </c:pt>
              </c:strCache>
            </c:strRef>
          </c:tx>
          <c:spPr>
            <a:ln w="19050" cap="rnd">
              <a:solidFill>
                <a:srgbClr val="4472C4"/>
              </a:solidFill>
              <a:prstDash val="solid"/>
              <a:round/>
            </a:ln>
          </c:spPr>
          <c:marker>
            <c:symbol val="circle"/>
            <c:size val="5"/>
            <c:spPr>
              <a:solidFill>
                <a:srgbClr val="4472C4"/>
              </a:solidFill>
            </c:spPr>
          </c:marker>
          <c:dLbls>
            <c:delete val="1"/>
          </c:dLbls>
          <c:cat>
            <c:numRef>
              <c:f>'Chart Data'!$E$2:$E$4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4</c:v>
                </c:pt>
              </c:numCache>
            </c:numRef>
          </c:cat>
          <c:val>
            <c:numRef>
              <c:f>'Chart Data'!$F$2:$F$4</c:f>
              <c:numCache>
                <c:formatCode>0</c:formatCode>
                <c:ptCount val="3"/>
                <c:pt idx="0">
                  <c:v>6.664</c:v>
                </c:pt>
                <c:pt idx="1">
                  <c:v>8.354</c:v>
                </c:pt>
                <c:pt idx="2">
                  <c:v>10.12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5715">
            <a:solidFill>
              <a:srgbClr val="CCCCCC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75" b="0" i="0" u="none" strike="noStrike" kern="1200" baseline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ax val="30"/>
          <c:min val="0"/>
        </c:scaling>
        <c:delete val="0"/>
        <c:axPos val="l"/>
        <c:majorGridlines>
          <c:spPr>
            <a:ln w="4763">
              <a:solidFill>
                <a:srgbClr val="DDDDDD"/>
              </a:solidFill>
              <a:prstDash val="solid"/>
              <a:round/>
            </a:ln>
          </c:spPr>
        </c:majorGridlines>
        <c:numFmt formatCode="0" sourceLinked="1"/>
        <c:majorTickMark val="none"/>
        <c:minorTickMark val="none"/>
        <c:tickLblPos val="nextTo"/>
        <c:spPr>
          <a:ln w="4763">
            <a:solidFill>
              <a:srgbClr val="CCCCCC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</a:p>
        </c:txPr>
        <c:crossAx val="48650112"/>
        <c:crosses val="autoZero"/>
        <c:crossBetween val="between"/>
        <c:majorUnit val="10"/>
      </c:valAx>
      <c:spPr>
        <a:solidFill>
          <a:srgbClr val="FFFFFF"/>
        </a:solidFill>
      </c:spPr>
    </c:plotArea>
    <c:plotVisOnly val="1"/>
    <c:dispBlanksAs val="gap"/>
    <c:showDLblsOverMax val="0"/>
    <c:extLst>
      <c:ext uri="{0b15fc19-7d7d-44ad-8c2d-2c3a37ce22c3}">
        <chartProps xmlns="https://web.wps.cn/et/2018/main" chartId="{8f5f1739-79f6-4bb3-b6cf-8eee5ced26f8}"/>
      </c:ext>
    </c:extLst>
  </c:chart>
  <c:spPr>
    <a:solidFill>
      <a:srgbClr val="FFFFFF"/>
    </a:solidFill>
    <a:ln w="0">
      <a:noFill/>
    </a:ln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zh-CN" sz="18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sz="1275" b="1">
                <a:latin typeface="微软雅黑"/>
                <a:ea typeface="微软雅黑"/>
                <a:cs typeface="微软雅黑"/>
              </a:rPr>
              <a:t>P95 TTFT</a:t>
            </a:r>
            <a:endParaRPr sz="1275" b="1">
              <a:latin typeface="微软雅黑"/>
              <a:ea typeface="微软雅黑"/>
              <a:cs typeface="微软雅黑"/>
            </a:endParaRPr>
          </a:p>
        </c:rich>
      </c:tx>
      <c:layout/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AFD</c:f>
              <c:strCache>
                <c:ptCount val="1"/>
                <c:pt idx="0">
                  <c:v>AFD</c:v>
                </c:pt>
              </c:strCache>
            </c:strRef>
          </c:tx>
          <c:spPr>
            <a:ln w="19050" cap="rnd">
              <a:solidFill>
                <a:srgbClr val="F2A300"/>
              </a:solidFill>
              <a:prstDash val="solid"/>
              <a:round/>
            </a:ln>
          </c:spPr>
          <c:marker>
            <c:symbol val="circle"/>
            <c:size val="5"/>
            <c:spPr>
              <a:solidFill>
                <a:srgbClr val="F2A300"/>
              </a:solidFill>
            </c:spPr>
          </c:marker>
          <c:dLbls>
            <c:delete val="1"/>
          </c:dLbls>
          <c:cat>
            <c:numRef>
              <c:f>'Chart Data'!$A$2:$A$4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4</c:v>
                </c:pt>
              </c:numCache>
            </c:numRef>
          </c:cat>
          <c:val>
            <c:numRef>
              <c:f>'Chart Data'!$B$2:$B$4</c:f>
              <c:numCache>
                <c:formatCode>0</c:formatCode>
                <c:ptCount val="3"/>
                <c:pt idx="0">
                  <c:v>4.798</c:v>
                </c:pt>
                <c:pt idx="1">
                  <c:v>8.42</c:v>
                </c:pt>
                <c:pt idx="2">
                  <c:v>16.804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DP4TP4</c:f>
              <c:strCache>
                <c:ptCount val="1"/>
                <c:pt idx="0">
                  <c:v>DP4TP4</c:v>
                </c:pt>
              </c:strCache>
            </c:strRef>
          </c:tx>
          <c:spPr>
            <a:ln w="19050" cap="rnd">
              <a:solidFill>
                <a:srgbClr val="548235"/>
              </a:solidFill>
              <a:prstDash val="solid"/>
              <a:round/>
            </a:ln>
          </c:spPr>
          <c:marker>
            <c:symbol val="circle"/>
            <c:size val="5"/>
            <c:spPr>
              <a:solidFill>
                <a:srgbClr val="548235"/>
              </a:solidFill>
            </c:spPr>
          </c:marker>
          <c:dLbls>
            <c:delete val="1"/>
          </c:dLbls>
          <c:cat>
            <c:numRef>
              <c:f>'Chart Data'!$C$2:$C$4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4</c:v>
                </c:pt>
              </c:numCache>
            </c:numRef>
          </c:cat>
          <c:val>
            <c:numRef>
              <c:f>'Chart Data'!$D$2:$D$4</c:f>
              <c:numCache>
                <c:formatCode>0</c:formatCode>
                <c:ptCount val="3"/>
                <c:pt idx="0">
                  <c:v>6.622</c:v>
                </c:pt>
                <c:pt idx="1">
                  <c:v>8.578</c:v>
                </c:pt>
                <c:pt idx="2">
                  <c:v>16.847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DP8TP2</c:f>
              <c:strCache>
                <c:ptCount val="1"/>
                <c:pt idx="0">
                  <c:v>DP8TP2</c:v>
                </c:pt>
              </c:strCache>
            </c:strRef>
          </c:tx>
          <c:spPr>
            <a:ln w="19050" cap="rnd">
              <a:solidFill>
                <a:srgbClr val="4472C4"/>
              </a:solidFill>
              <a:prstDash val="solid"/>
              <a:round/>
            </a:ln>
          </c:spPr>
          <c:marker>
            <c:symbol val="circle"/>
            <c:size val="5"/>
            <c:spPr>
              <a:solidFill>
                <a:srgbClr val="4472C4"/>
              </a:solidFill>
            </c:spPr>
          </c:marker>
          <c:dLbls>
            <c:delete val="1"/>
          </c:dLbls>
          <c:cat>
            <c:numRef>
              <c:f>'Chart Data'!$E$2:$E$4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4</c:v>
                </c:pt>
              </c:numCache>
            </c:numRef>
          </c:cat>
          <c:val>
            <c:numRef>
              <c:f>'Chart Data'!$F$2:$F$4</c:f>
              <c:numCache>
                <c:formatCode>0</c:formatCode>
                <c:ptCount val="3"/>
                <c:pt idx="0">
                  <c:v>8.251</c:v>
                </c:pt>
                <c:pt idx="1">
                  <c:v>10.072</c:v>
                </c:pt>
                <c:pt idx="2">
                  <c:v>12.025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5715">
            <a:solidFill>
              <a:srgbClr val="CCCCCC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75" b="0" i="0" u="none" strike="noStrike" kern="1200" baseline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ax val="30"/>
          <c:min val="0"/>
        </c:scaling>
        <c:delete val="0"/>
        <c:axPos val="l"/>
        <c:majorGridlines>
          <c:spPr>
            <a:ln w="4763">
              <a:solidFill>
                <a:srgbClr val="DDDDDD"/>
              </a:solidFill>
              <a:prstDash val="solid"/>
              <a:round/>
            </a:ln>
          </c:spPr>
        </c:majorGridlines>
        <c:numFmt formatCode="0" sourceLinked="1"/>
        <c:majorTickMark val="none"/>
        <c:minorTickMark val="none"/>
        <c:tickLblPos val="nextTo"/>
        <c:spPr>
          <a:ln w="4763">
            <a:solidFill>
              <a:srgbClr val="CCCCCC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</a:p>
        </c:txPr>
        <c:crossAx val="48650112"/>
        <c:crosses val="autoZero"/>
        <c:crossBetween val="between"/>
        <c:majorUnit val="10"/>
      </c:valAx>
      <c:spPr>
        <a:solidFill>
          <a:srgbClr val="FFFFFF"/>
        </a:solidFill>
      </c:spPr>
    </c:plotArea>
    <c:plotVisOnly val="1"/>
    <c:dispBlanksAs val="gap"/>
    <c:showDLblsOverMax val="0"/>
    <c:extLst>
      <c:ext uri="{0b15fc19-7d7d-44ad-8c2d-2c3a37ce22c3}">
        <chartProps xmlns="https://web.wps.cn/et/2018/main" chartId="{7e07d98c-0d43-4bcf-a72f-8097d9ede3a1}"/>
      </c:ext>
    </c:extLst>
  </c:chart>
  <c:spPr>
    <a:solidFill>
      <a:srgbClr val="FFFFFF"/>
    </a:solidFill>
    <a:ln w="0">
      <a:noFill/>
    </a:ln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zh-CN" sz="18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sz="1275" b="1">
                <a:latin typeface="微软雅黑"/>
                <a:ea typeface="微软雅黑"/>
                <a:cs typeface="微软雅黑"/>
              </a:rPr>
              <a:t>P99 TTFT</a:t>
            </a:r>
            <a:endParaRPr sz="1275" b="1">
              <a:latin typeface="微软雅黑"/>
              <a:ea typeface="微软雅黑"/>
              <a:cs typeface="微软雅黑"/>
            </a:endParaRPr>
          </a:p>
        </c:rich>
      </c:tx>
      <c:layout/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AFD</c:f>
              <c:strCache>
                <c:ptCount val="1"/>
                <c:pt idx="0">
                  <c:v>AFD</c:v>
                </c:pt>
              </c:strCache>
            </c:strRef>
          </c:tx>
          <c:spPr>
            <a:ln w="19050" cap="rnd">
              <a:solidFill>
                <a:srgbClr val="F2A300"/>
              </a:solidFill>
              <a:prstDash val="solid"/>
              <a:round/>
            </a:ln>
          </c:spPr>
          <c:marker>
            <c:symbol val="circle"/>
            <c:size val="5"/>
            <c:spPr>
              <a:solidFill>
                <a:srgbClr val="F2A300"/>
              </a:solidFill>
            </c:spPr>
          </c:marker>
          <c:dLbls>
            <c:delete val="1"/>
          </c:dLbls>
          <c:cat>
            <c:numRef>
              <c:f>'Chart Data'!$A$2:$A$4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4</c:v>
                </c:pt>
              </c:numCache>
            </c:numRef>
          </c:cat>
          <c:val>
            <c:numRef>
              <c:f>'Chart Data'!$B$2:$B$4</c:f>
              <c:numCache>
                <c:formatCode>0</c:formatCode>
                <c:ptCount val="3"/>
                <c:pt idx="0">
                  <c:v>6.977</c:v>
                </c:pt>
                <c:pt idx="1">
                  <c:v>11.06</c:v>
                </c:pt>
                <c:pt idx="2">
                  <c:v>20.285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DP4TP4</c:f>
              <c:strCache>
                <c:ptCount val="1"/>
                <c:pt idx="0">
                  <c:v>DP4TP4</c:v>
                </c:pt>
              </c:strCache>
            </c:strRef>
          </c:tx>
          <c:spPr>
            <a:ln w="19050" cap="rnd">
              <a:solidFill>
                <a:srgbClr val="548235"/>
              </a:solidFill>
              <a:prstDash val="solid"/>
              <a:round/>
            </a:ln>
          </c:spPr>
          <c:marker>
            <c:symbol val="circle"/>
            <c:size val="5"/>
            <c:spPr>
              <a:solidFill>
                <a:srgbClr val="548235"/>
              </a:solidFill>
            </c:spPr>
          </c:marker>
          <c:dLbls>
            <c:delete val="1"/>
          </c:dLbls>
          <c:cat>
            <c:numRef>
              <c:f>'Chart Data'!$C$2:$C$4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4</c:v>
                </c:pt>
              </c:numCache>
            </c:numRef>
          </c:cat>
          <c:val>
            <c:numRef>
              <c:f>'Chart Data'!$D$2:$D$4</c:f>
              <c:numCache>
                <c:formatCode>0</c:formatCode>
                <c:ptCount val="3"/>
                <c:pt idx="0">
                  <c:v>8.892</c:v>
                </c:pt>
                <c:pt idx="1">
                  <c:v>11.058</c:v>
                </c:pt>
                <c:pt idx="2">
                  <c:v>20.386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DP8TP2</c:f>
              <c:strCache>
                <c:ptCount val="1"/>
                <c:pt idx="0">
                  <c:v>DP8TP2</c:v>
                </c:pt>
              </c:strCache>
            </c:strRef>
          </c:tx>
          <c:spPr>
            <a:ln w="19050" cap="rnd">
              <a:solidFill>
                <a:srgbClr val="4472C4"/>
              </a:solidFill>
              <a:prstDash val="solid"/>
              <a:round/>
            </a:ln>
          </c:spPr>
          <c:marker>
            <c:symbol val="circle"/>
            <c:size val="5"/>
            <c:spPr>
              <a:solidFill>
                <a:srgbClr val="4472C4"/>
              </a:solidFill>
            </c:spPr>
          </c:marker>
          <c:dLbls>
            <c:delete val="1"/>
          </c:dLbls>
          <c:cat>
            <c:numRef>
              <c:f>'Chart Data'!$E$2:$E$4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4</c:v>
                </c:pt>
              </c:numCache>
            </c:numRef>
          </c:cat>
          <c:val>
            <c:numRef>
              <c:f>'Chart Data'!$F$2:$F$4</c:f>
              <c:numCache>
                <c:formatCode>0</c:formatCode>
                <c:ptCount val="3"/>
                <c:pt idx="0">
                  <c:v>11.976</c:v>
                </c:pt>
                <c:pt idx="1">
                  <c:v>13.45</c:v>
                </c:pt>
                <c:pt idx="2">
                  <c:v>15.901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5715">
            <a:solidFill>
              <a:srgbClr val="CCCCCC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75" b="0" i="0" u="none" strike="noStrike" kern="1200" baseline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ax val="30"/>
          <c:min val="0"/>
        </c:scaling>
        <c:delete val="0"/>
        <c:axPos val="l"/>
        <c:majorGridlines>
          <c:spPr>
            <a:ln w="4763">
              <a:solidFill>
                <a:srgbClr val="DDDDDD"/>
              </a:solidFill>
              <a:prstDash val="solid"/>
              <a:round/>
            </a:ln>
          </c:spPr>
        </c:majorGridlines>
        <c:numFmt formatCode="0" sourceLinked="1"/>
        <c:majorTickMark val="none"/>
        <c:minorTickMark val="none"/>
        <c:tickLblPos val="nextTo"/>
        <c:spPr>
          <a:ln w="4763">
            <a:solidFill>
              <a:srgbClr val="CCCCCC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</a:p>
        </c:txPr>
        <c:crossAx val="48650112"/>
        <c:crosses val="autoZero"/>
        <c:crossBetween val="between"/>
        <c:majorUnit val="10"/>
      </c:valAx>
      <c:spPr>
        <a:solidFill>
          <a:srgbClr val="FFFFFF"/>
        </a:solidFill>
      </c:spPr>
    </c:plotArea>
    <c:plotVisOnly val="1"/>
    <c:dispBlanksAs val="gap"/>
    <c:showDLblsOverMax val="0"/>
    <c:extLst>
      <c:ext uri="{0b15fc19-7d7d-44ad-8c2d-2c3a37ce22c3}">
        <chartProps xmlns="https://web.wps.cn/et/2018/main" chartId="{5972e544-3a88-470a-a033-696469baf3bc}"/>
      </c:ext>
    </c:extLst>
  </c:chart>
  <c:spPr>
    <a:solidFill>
      <a:srgbClr val="FFFFFF"/>
    </a:solidFill>
    <a:ln w="0">
      <a:noFill/>
    </a:ln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zh-CN" sz="18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sz="1275" b="1">
                <a:latin typeface="微软雅黑"/>
                <a:ea typeface="微软雅黑"/>
                <a:cs typeface="微软雅黑"/>
              </a:rPr>
              <a:t>P25 TTFT</a:t>
            </a:r>
            <a:endParaRPr sz="1275" b="1">
              <a:latin typeface="微软雅黑"/>
              <a:ea typeface="微软雅黑"/>
              <a:cs typeface="微软雅黑"/>
            </a:endParaRPr>
          </a:p>
        </c:rich>
      </c:tx>
      <c:layout/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AFD</c:f>
              <c:strCache>
                <c:ptCount val="1"/>
                <c:pt idx="0">
                  <c:v>AFD</c:v>
                </c:pt>
              </c:strCache>
            </c:strRef>
          </c:tx>
          <c:spPr>
            <a:ln w="19050" cap="rnd">
              <a:solidFill>
                <a:srgbClr val="F2A300"/>
              </a:solidFill>
              <a:prstDash val="solid"/>
              <a:round/>
            </a:ln>
          </c:spPr>
          <c:marker>
            <c:symbol val="circle"/>
            <c:size val="5"/>
            <c:spPr>
              <a:solidFill>
                <a:srgbClr val="F2A300"/>
              </a:solidFill>
            </c:spPr>
          </c:marker>
          <c:dLbls>
            <c:delete val="1"/>
          </c:dLbls>
          <c:cat>
            <c:numRef>
              <c:f>'Chart Data'!$A$2:$A$4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4</c:v>
                </c:pt>
              </c:numCache>
            </c:numRef>
          </c:cat>
          <c:val>
            <c:numRef>
              <c:f>'Chart Data'!$B$2:$B$4</c:f>
              <c:numCache>
                <c:formatCode>0</c:formatCode>
                <c:ptCount val="3"/>
                <c:pt idx="0">
                  <c:v>0.65</c:v>
                </c:pt>
                <c:pt idx="1">
                  <c:v>1.024</c:v>
                </c:pt>
                <c:pt idx="2">
                  <c:v>4.81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DP4TP4</c:f>
              <c:strCache>
                <c:ptCount val="1"/>
                <c:pt idx="0">
                  <c:v>DP4TP4</c:v>
                </c:pt>
              </c:strCache>
            </c:strRef>
          </c:tx>
          <c:spPr>
            <a:ln w="19050" cap="rnd">
              <a:solidFill>
                <a:srgbClr val="548235"/>
              </a:solidFill>
              <a:prstDash val="solid"/>
              <a:round/>
            </a:ln>
          </c:spPr>
          <c:marker>
            <c:symbol val="circle"/>
            <c:size val="5"/>
            <c:spPr>
              <a:solidFill>
                <a:srgbClr val="548235"/>
              </a:solidFill>
            </c:spPr>
          </c:marker>
          <c:dLbls>
            <c:delete val="1"/>
          </c:dLbls>
          <c:cat>
            <c:numRef>
              <c:f>'Chart Data'!$C$2:$C$4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4</c:v>
                </c:pt>
              </c:numCache>
            </c:numRef>
          </c:cat>
          <c:val>
            <c:numRef>
              <c:f>'Chart Data'!$D$2:$D$4</c:f>
              <c:numCache>
                <c:formatCode>0</c:formatCode>
                <c:ptCount val="3"/>
                <c:pt idx="0">
                  <c:v>3.552</c:v>
                </c:pt>
                <c:pt idx="1">
                  <c:v>4.689</c:v>
                </c:pt>
                <c:pt idx="2">
                  <c:v>6.089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DP8TP2</c:f>
              <c:strCache>
                <c:ptCount val="1"/>
                <c:pt idx="0">
                  <c:v>DP8TP2</c:v>
                </c:pt>
              </c:strCache>
            </c:strRef>
          </c:tx>
          <c:spPr>
            <a:ln w="19050" cap="rnd">
              <a:solidFill>
                <a:srgbClr val="4472C4"/>
              </a:solidFill>
              <a:prstDash val="solid"/>
              <a:round/>
            </a:ln>
          </c:spPr>
          <c:marker>
            <c:symbol val="circle"/>
            <c:size val="5"/>
            <c:spPr>
              <a:solidFill>
                <a:srgbClr val="4472C4"/>
              </a:solidFill>
            </c:spPr>
          </c:marker>
          <c:dLbls>
            <c:delete val="1"/>
          </c:dLbls>
          <c:cat>
            <c:numRef>
              <c:f>'Chart Data'!$E$2:$E$4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4</c:v>
                </c:pt>
              </c:numCache>
            </c:numRef>
          </c:cat>
          <c:val>
            <c:numRef>
              <c:f>'Chart Data'!$F$2:$F$4</c:f>
              <c:numCache>
                <c:formatCode>0</c:formatCode>
                <c:ptCount val="3"/>
                <c:pt idx="0">
                  <c:v>5.426</c:v>
                </c:pt>
                <c:pt idx="1">
                  <c:v>7.346</c:v>
                </c:pt>
                <c:pt idx="2">
                  <c:v>7.482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5715">
            <a:solidFill>
              <a:srgbClr val="CCCCCC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75" b="0" i="0" u="none" strike="noStrike" kern="1200" baseline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ax val="30"/>
          <c:min val="0"/>
        </c:scaling>
        <c:delete val="0"/>
        <c:axPos val="l"/>
        <c:majorGridlines>
          <c:spPr>
            <a:ln w="4763">
              <a:solidFill>
                <a:srgbClr val="DDDDDD"/>
              </a:solidFill>
              <a:prstDash val="solid"/>
              <a:round/>
            </a:ln>
          </c:spPr>
        </c:majorGridlines>
        <c:numFmt formatCode="0" sourceLinked="1"/>
        <c:majorTickMark val="none"/>
        <c:minorTickMark val="none"/>
        <c:tickLblPos val="nextTo"/>
        <c:spPr>
          <a:ln w="4763">
            <a:solidFill>
              <a:srgbClr val="CCCCCC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</a:p>
        </c:txPr>
        <c:crossAx val="48650112"/>
        <c:crosses val="autoZero"/>
        <c:crossBetween val="between"/>
        <c:majorUnit val="10"/>
      </c:valAx>
      <c:spPr>
        <a:solidFill>
          <a:srgbClr val="FFFFFF"/>
        </a:solidFill>
      </c:spPr>
    </c:plotArea>
    <c:plotVisOnly val="1"/>
    <c:dispBlanksAs val="gap"/>
    <c:showDLblsOverMax val="0"/>
    <c:extLst>
      <c:ext uri="{0b15fc19-7d7d-44ad-8c2d-2c3a37ce22c3}">
        <chartProps xmlns="https://web.wps.cn/et/2018/main" chartId="{ef326043-2c29-4664-b4fc-b65448917573}"/>
      </c:ext>
    </c:extLst>
  </c:chart>
  <c:spPr>
    <a:solidFill>
      <a:srgbClr val="FFFFFF"/>
    </a:solidFill>
    <a:ln w="0">
      <a:noFill/>
    </a:ln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zh-CN" sz="18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sz="1275" b="1">
                <a:latin typeface="微软雅黑"/>
                <a:ea typeface="微软雅黑"/>
                <a:cs typeface="微软雅黑"/>
              </a:rPr>
              <a:t>P50 TTFT</a:t>
            </a:r>
            <a:endParaRPr sz="1275" b="1">
              <a:latin typeface="微软雅黑"/>
              <a:ea typeface="微软雅黑"/>
              <a:cs typeface="微软雅黑"/>
            </a:endParaRPr>
          </a:p>
        </c:rich>
      </c:tx>
      <c:layout/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AFD</c:f>
              <c:strCache>
                <c:ptCount val="1"/>
                <c:pt idx="0">
                  <c:v>AFD</c:v>
                </c:pt>
              </c:strCache>
            </c:strRef>
          </c:tx>
          <c:spPr>
            <a:ln w="19050" cap="rnd">
              <a:solidFill>
                <a:srgbClr val="F2A300"/>
              </a:solidFill>
              <a:prstDash val="solid"/>
              <a:round/>
            </a:ln>
          </c:spPr>
          <c:marker>
            <c:symbol val="circle"/>
            <c:size val="5"/>
            <c:spPr>
              <a:solidFill>
                <a:srgbClr val="F2A300"/>
              </a:solidFill>
            </c:spPr>
          </c:marker>
          <c:dLbls>
            <c:delete val="1"/>
          </c:dLbls>
          <c:cat>
            <c:numRef>
              <c:f>'Chart Data'!$A$2:$A$4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4</c:v>
                </c:pt>
              </c:numCache>
            </c:numRef>
          </c:cat>
          <c:val>
            <c:numRef>
              <c:f>'Chart Data'!$B$2:$B$4</c:f>
              <c:numCache>
                <c:formatCode>0</c:formatCode>
                <c:ptCount val="3"/>
                <c:pt idx="0">
                  <c:v>1.107</c:v>
                </c:pt>
                <c:pt idx="1">
                  <c:v>1.971</c:v>
                </c:pt>
                <c:pt idx="2">
                  <c:v>8.407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DP4TP4</c:f>
              <c:strCache>
                <c:ptCount val="1"/>
                <c:pt idx="0">
                  <c:v>DP4TP4</c:v>
                </c:pt>
              </c:strCache>
            </c:strRef>
          </c:tx>
          <c:spPr>
            <a:ln w="19050" cap="rnd">
              <a:solidFill>
                <a:srgbClr val="548235"/>
              </a:solidFill>
              <a:prstDash val="solid"/>
              <a:round/>
            </a:ln>
          </c:spPr>
          <c:marker>
            <c:symbol val="circle"/>
            <c:size val="5"/>
            <c:spPr>
              <a:solidFill>
                <a:srgbClr val="548235"/>
              </a:solidFill>
            </c:spPr>
          </c:marker>
          <c:dLbls>
            <c:delete val="1"/>
          </c:dLbls>
          <c:cat>
            <c:numRef>
              <c:f>'Chart Data'!$C$2:$C$4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4</c:v>
                </c:pt>
              </c:numCache>
            </c:numRef>
          </c:cat>
          <c:val>
            <c:numRef>
              <c:f>'Chart Data'!$D$2:$D$4</c:f>
              <c:numCache>
                <c:formatCode>0</c:formatCode>
                <c:ptCount val="3"/>
                <c:pt idx="0">
                  <c:v>4.689</c:v>
                </c:pt>
                <c:pt idx="1">
                  <c:v>5.823</c:v>
                </c:pt>
                <c:pt idx="2">
                  <c:v>8.402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DP8TP2</c:f>
              <c:strCache>
                <c:ptCount val="1"/>
                <c:pt idx="0">
                  <c:v>DP8TP2</c:v>
                </c:pt>
              </c:strCache>
            </c:strRef>
          </c:tx>
          <c:spPr>
            <a:ln w="19050" cap="rnd">
              <a:solidFill>
                <a:srgbClr val="4472C4"/>
              </a:solidFill>
              <a:prstDash val="solid"/>
              <a:round/>
            </a:ln>
          </c:spPr>
          <c:marker>
            <c:symbol val="circle"/>
            <c:size val="5"/>
            <c:spPr>
              <a:solidFill>
                <a:srgbClr val="4472C4"/>
              </a:solidFill>
            </c:spPr>
          </c:marker>
          <c:dLbls>
            <c:delete val="1"/>
          </c:dLbls>
          <c:cat>
            <c:numRef>
              <c:f>'Chart Data'!$E$2:$E$4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4</c:v>
                </c:pt>
              </c:numCache>
            </c:numRef>
          </c:cat>
          <c:val>
            <c:numRef>
              <c:f>'Chart Data'!$F$2:$F$4</c:f>
              <c:numCache>
                <c:formatCode>0</c:formatCode>
                <c:ptCount val="3"/>
                <c:pt idx="0">
                  <c:v>7.062</c:v>
                </c:pt>
                <c:pt idx="1">
                  <c:v>8.874</c:v>
                </c:pt>
                <c:pt idx="2">
                  <c:v>9.211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5715">
            <a:solidFill>
              <a:srgbClr val="CCCCCC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75" b="0" i="0" u="none" strike="noStrike" kern="1200" baseline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ax val="30"/>
          <c:min val="0"/>
        </c:scaling>
        <c:delete val="0"/>
        <c:axPos val="l"/>
        <c:majorGridlines>
          <c:spPr>
            <a:ln w="4763">
              <a:solidFill>
                <a:srgbClr val="DDDDDD"/>
              </a:solidFill>
              <a:prstDash val="solid"/>
              <a:round/>
            </a:ln>
          </c:spPr>
        </c:majorGridlines>
        <c:numFmt formatCode="0" sourceLinked="1"/>
        <c:majorTickMark val="none"/>
        <c:minorTickMark val="none"/>
        <c:tickLblPos val="nextTo"/>
        <c:spPr>
          <a:ln w="4763">
            <a:solidFill>
              <a:srgbClr val="CCCCCC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</a:p>
        </c:txPr>
        <c:crossAx val="48650112"/>
        <c:crosses val="autoZero"/>
        <c:crossBetween val="between"/>
        <c:majorUnit val="10"/>
      </c:valAx>
      <c:spPr>
        <a:solidFill>
          <a:srgbClr val="FFFFFF"/>
        </a:solidFill>
      </c:spPr>
    </c:plotArea>
    <c:plotVisOnly val="1"/>
    <c:dispBlanksAs val="gap"/>
    <c:showDLblsOverMax val="0"/>
    <c:extLst>
      <c:ext uri="{0b15fc19-7d7d-44ad-8c2d-2c3a37ce22c3}">
        <chartProps xmlns="https://web.wps.cn/et/2018/main" chartId="{93a51928-a0f6-4d6d-90b1-6c887b507a8f}"/>
      </c:ext>
    </c:extLst>
  </c:chart>
  <c:spPr>
    <a:solidFill>
      <a:srgbClr val="FFFFFF"/>
    </a:solidFill>
    <a:ln w="0">
      <a:noFill/>
    </a:ln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zh-CN" sz="18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sz="1275" b="1">
                <a:latin typeface="微软雅黑"/>
                <a:ea typeface="微软雅黑"/>
                <a:cs typeface="微软雅黑"/>
              </a:rPr>
              <a:t>P90 TTFT</a:t>
            </a:r>
            <a:endParaRPr sz="1275" b="1">
              <a:latin typeface="微软雅黑"/>
              <a:ea typeface="微软雅黑"/>
              <a:cs typeface="微软雅黑"/>
            </a:endParaRPr>
          </a:p>
        </c:rich>
      </c:tx>
      <c:layout/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AFD</c:f>
              <c:strCache>
                <c:ptCount val="1"/>
                <c:pt idx="0">
                  <c:v>AFD</c:v>
                </c:pt>
              </c:strCache>
            </c:strRef>
          </c:tx>
          <c:spPr>
            <a:ln w="19050" cap="rnd">
              <a:solidFill>
                <a:srgbClr val="F2A300"/>
              </a:solidFill>
              <a:prstDash val="solid"/>
              <a:round/>
            </a:ln>
          </c:spPr>
          <c:marker>
            <c:symbol val="circle"/>
            <c:size val="5"/>
            <c:spPr>
              <a:solidFill>
                <a:srgbClr val="F2A300"/>
              </a:solidFill>
            </c:spPr>
          </c:marker>
          <c:dLbls>
            <c:delete val="1"/>
          </c:dLbls>
          <c:cat>
            <c:numRef>
              <c:f>'Chart Data'!$A$2:$A$4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4</c:v>
                </c:pt>
              </c:numCache>
            </c:numRef>
          </c:cat>
          <c:val>
            <c:numRef>
              <c:f>'Chart Data'!$B$2:$B$4</c:f>
              <c:numCache>
                <c:formatCode>0</c:formatCode>
                <c:ptCount val="3"/>
                <c:pt idx="0">
                  <c:v>3.438</c:v>
                </c:pt>
                <c:pt idx="1">
                  <c:v>6.584</c:v>
                </c:pt>
                <c:pt idx="2">
                  <c:v>14.76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DP4TP4</c:f>
              <c:strCache>
                <c:ptCount val="1"/>
                <c:pt idx="0">
                  <c:v>DP4TP4</c:v>
                </c:pt>
              </c:strCache>
            </c:strRef>
          </c:tx>
          <c:spPr>
            <a:ln w="19050" cap="rnd">
              <a:solidFill>
                <a:srgbClr val="548235"/>
              </a:solidFill>
              <a:prstDash val="solid"/>
              <a:round/>
            </a:ln>
          </c:spPr>
          <c:marker>
            <c:symbol val="circle"/>
            <c:size val="5"/>
            <c:spPr>
              <a:solidFill>
                <a:srgbClr val="548235"/>
              </a:solidFill>
            </c:spPr>
          </c:marker>
          <c:dLbls>
            <c:delete val="1"/>
          </c:dLbls>
          <c:cat>
            <c:numRef>
              <c:f>'Chart Data'!$C$2:$C$4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4</c:v>
                </c:pt>
              </c:numCache>
            </c:numRef>
          </c:cat>
          <c:val>
            <c:numRef>
              <c:f>'Chart Data'!$D$2:$D$4</c:f>
              <c:numCache>
                <c:formatCode>0</c:formatCode>
                <c:ptCount val="3"/>
                <c:pt idx="0">
                  <c:v>7.84</c:v>
                </c:pt>
                <c:pt idx="1">
                  <c:v>9.599</c:v>
                </c:pt>
                <c:pt idx="2">
                  <c:v>13.611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DP8TP2</c:f>
              <c:strCache>
                <c:ptCount val="1"/>
                <c:pt idx="0">
                  <c:v>DP8TP2</c:v>
                </c:pt>
              </c:strCache>
            </c:strRef>
          </c:tx>
          <c:spPr>
            <a:ln w="19050" cap="rnd">
              <a:solidFill>
                <a:srgbClr val="4472C4"/>
              </a:solidFill>
              <a:prstDash val="solid"/>
              <a:round/>
            </a:ln>
          </c:spPr>
          <c:marker>
            <c:symbol val="circle"/>
            <c:size val="5"/>
            <c:spPr>
              <a:solidFill>
                <a:srgbClr val="4472C4"/>
              </a:solidFill>
            </c:spPr>
          </c:marker>
          <c:dLbls>
            <c:delete val="1"/>
          </c:dLbls>
          <c:cat>
            <c:numRef>
              <c:f>'Chart Data'!$E$2:$E$4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4</c:v>
                </c:pt>
              </c:numCache>
            </c:numRef>
          </c:cat>
          <c:val>
            <c:numRef>
              <c:f>'Chart Data'!$F$2:$F$4</c:f>
              <c:numCache>
                <c:formatCode>0</c:formatCode>
                <c:ptCount val="3"/>
                <c:pt idx="0">
                  <c:v>11.338</c:v>
                </c:pt>
                <c:pt idx="1">
                  <c:v>14.125</c:v>
                </c:pt>
                <c:pt idx="2">
                  <c:v>14.688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5715">
            <a:solidFill>
              <a:srgbClr val="CCCCCC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75" b="0" i="0" u="none" strike="noStrike" kern="1200" baseline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ax val="30"/>
          <c:min val="0"/>
        </c:scaling>
        <c:delete val="0"/>
        <c:axPos val="l"/>
        <c:majorGridlines>
          <c:spPr>
            <a:ln w="4763">
              <a:solidFill>
                <a:srgbClr val="DDDDDD"/>
              </a:solidFill>
              <a:prstDash val="solid"/>
              <a:round/>
            </a:ln>
          </c:spPr>
        </c:majorGridlines>
        <c:numFmt formatCode="0" sourceLinked="1"/>
        <c:majorTickMark val="none"/>
        <c:minorTickMark val="none"/>
        <c:tickLblPos val="nextTo"/>
        <c:spPr>
          <a:ln w="4763">
            <a:solidFill>
              <a:srgbClr val="CCCCCC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</a:p>
        </c:txPr>
        <c:crossAx val="48650112"/>
        <c:crosses val="autoZero"/>
        <c:crossBetween val="between"/>
        <c:majorUnit val="10"/>
      </c:valAx>
      <c:spPr>
        <a:solidFill>
          <a:srgbClr val="FFFFFF"/>
        </a:solidFill>
      </c:spPr>
    </c:plotArea>
    <c:plotVisOnly val="1"/>
    <c:dispBlanksAs val="gap"/>
    <c:showDLblsOverMax val="0"/>
    <c:extLst>
      <c:ext uri="{0b15fc19-7d7d-44ad-8c2d-2c3a37ce22c3}">
        <chartProps xmlns="https://web.wps.cn/et/2018/main" chartId="{89daf9ae-61f1-4bd1-870f-b9fa18aaa26f}"/>
      </c:ext>
    </c:extLst>
  </c:chart>
  <c:spPr>
    <a:solidFill>
      <a:srgbClr val="FFFFFF"/>
    </a:solidFill>
    <a:ln w="0">
      <a:noFill/>
    </a:ln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zh-CN" sz="18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sz="1275" b="1">
                <a:latin typeface="微软雅黑"/>
                <a:ea typeface="微软雅黑"/>
                <a:cs typeface="微软雅黑"/>
              </a:rPr>
              <a:t>P95 TTFT</a:t>
            </a:r>
            <a:endParaRPr sz="1275" b="1">
              <a:latin typeface="微软雅黑"/>
              <a:ea typeface="微软雅黑"/>
              <a:cs typeface="微软雅黑"/>
            </a:endParaRPr>
          </a:p>
        </c:rich>
      </c:tx>
      <c:layout/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AFD</c:f>
              <c:strCache>
                <c:ptCount val="1"/>
                <c:pt idx="0">
                  <c:v>AFD</c:v>
                </c:pt>
              </c:strCache>
            </c:strRef>
          </c:tx>
          <c:spPr>
            <a:ln w="19050" cap="rnd">
              <a:solidFill>
                <a:srgbClr val="F2A300"/>
              </a:solidFill>
              <a:prstDash val="solid"/>
              <a:round/>
            </a:ln>
          </c:spPr>
          <c:marker>
            <c:symbol val="circle"/>
            <c:size val="5"/>
            <c:spPr>
              <a:solidFill>
                <a:srgbClr val="F2A300"/>
              </a:solidFill>
            </c:spPr>
          </c:marker>
          <c:dLbls>
            <c:delete val="1"/>
          </c:dLbls>
          <c:cat>
            <c:numRef>
              <c:f>'Chart Data'!$A$2:$A$4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4</c:v>
                </c:pt>
              </c:numCache>
            </c:numRef>
          </c:cat>
          <c:val>
            <c:numRef>
              <c:f>'Chart Data'!$B$2:$B$4</c:f>
              <c:numCache>
                <c:formatCode>0</c:formatCode>
                <c:ptCount val="3"/>
                <c:pt idx="0">
                  <c:v>4.798</c:v>
                </c:pt>
                <c:pt idx="1">
                  <c:v>8.42</c:v>
                </c:pt>
                <c:pt idx="2">
                  <c:v>16.804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DP4TP4</c:f>
              <c:strCache>
                <c:ptCount val="1"/>
                <c:pt idx="0">
                  <c:v>DP4TP4</c:v>
                </c:pt>
              </c:strCache>
            </c:strRef>
          </c:tx>
          <c:spPr>
            <a:ln w="19050" cap="rnd">
              <a:solidFill>
                <a:srgbClr val="548235"/>
              </a:solidFill>
              <a:prstDash val="solid"/>
              <a:round/>
            </a:ln>
          </c:spPr>
          <c:marker>
            <c:symbol val="circle"/>
            <c:size val="5"/>
            <c:spPr>
              <a:solidFill>
                <a:srgbClr val="548235"/>
              </a:solidFill>
            </c:spPr>
          </c:marker>
          <c:dLbls>
            <c:delete val="1"/>
          </c:dLbls>
          <c:cat>
            <c:numRef>
              <c:f>'Chart Data'!$C$2:$C$4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4</c:v>
                </c:pt>
              </c:numCache>
            </c:numRef>
          </c:cat>
          <c:val>
            <c:numRef>
              <c:f>'Chart Data'!$D$2:$D$4</c:f>
              <c:numCache>
                <c:formatCode>0</c:formatCode>
                <c:ptCount val="3"/>
                <c:pt idx="0">
                  <c:v>9.162</c:v>
                </c:pt>
                <c:pt idx="1">
                  <c:v>11.048</c:v>
                </c:pt>
                <c:pt idx="2">
                  <c:v>15.119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DP8TP2</c:f>
              <c:strCache>
                <c:ptCount val="1"/>
                <c:pt idx="0">
                  <c:v>DP8TP2</c:v>
                </c:pt>
              </c:strCache>
            </c:strRef>
          </c:tx>
          <c:spPr>
            <a:ln w="19050" cap="rnd">
              <a:solidFill>
                <a:srgbClr val="4472C4"/>
              </a:solidFill>
              <a:prstDash val="solid"/>
              <a:round/>
            </a:ln>
          </c:spPr>
          <c:marker>
            <c:symbol val="circle"/>
            <c:size val="5"/>
            <c:spPr>
              <a:solidFill>
                <a:srgbClr val="4472C4"/>
              </a:solidFill>
            </c:spPr>
          </c:marker>
          <c:dLbls>
            <c:delete val="1"/>
          </c:dLbls>
          <c:cat>
            <c:numRef>
              <c:f>'Chart Data'!$E$2:$E$4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4</c:v>
                </c:pt>
              </c:numCache>
            </c:numRef>
          </c:cat>
          <c:val>
            <c:numRef>
              <c:f>'Chart Data'!$F$2:$F$4</c:f>
              <c:numCache>
                <c:formatCode>0</c:formatCode>
                <c:ptCount val="3"/>
                <c:pt idx="0">
                  <c:v>13.313</c:v>
                </c:pt>
                <c:pt idx="1">
                  <c:v>16.088</c:v>
                </c:pt>
                <c:pt idx="2">
                  <c:v>16.659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5715">
            <a:solidFill>
              <a:srgbClr val="CCCCCC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75" b="0" i="0" u="none" strike="noStrike" kern="1200" baseline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ax val="30"/>
          <c:min val="0"/>
        </c:scaling>
        <c:delete val="0"/>
        <c:axPos val="l"/>
        <c:majorGridlines>
          <c:spPr>
            <a:ln w="4763">
              <a:solidFill>
                <a:srgbClr val="DDDDDD"/>
              </a:solidFill>
              <a:prstDash val="solid"/>
              <a:round/>
            </a:ln>
          </c:spPr>
        </c:majorGridlines>
        <c:numFmt formatCode="0" sourceLinked="1"/>
        <c:majorTickMark val="none"/>
        <c:minorTickMark val="none"/>
        <c:tickLblPos val="nextTo"/>
        <c:spPr>
          <a:ln w="4763">
            <a:solidFill>
              <a:srgbClr val="CCCCCC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</a:p>
        </c:txPr>
        <c:crossAx val="48650112"/>
        <c:crosses val="autoZero"/>
        <c:crossBetween val="between"/>
        <c:majorUnit val="10"/>
      </c:valAx>
      <c:spPr>
        <a:solidFill>
          <a:srgbClr val="FFFFFF"/>
        </a:solidFill>
      </c:spPr>
    </c:plotArea>
    <c:plotVisOnly val="1"/>
    <c:dispBlanksAs val="gap"/>
    <c:showDLblsOverMax val="0"/>
    <c:extLst>
      <c:ext uri="{0b15fc19-7d7d-44ad-8c2d-2c3a37ce22c3}">
        <chartProps xmlns="https://web.wps.cn/et/2018/main" chartId="{c28eb5a0-a226-4a0b-9f8d-a3a390397321}"/>
      </c:ext>
    </c:extLst>
  </c:chart>
  <c:spPr>
    <a:solidFill>
      <a:srgbClr val="FFFFFF"/>
    </a:solidFill>
    <a:ln w="0">
      <a:noFill/>
    </a:ln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zh-CN" sz="18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sz="1275" b="1">
                <a:latin typeface="微软雅黑"/>
                <a:ea typeface="微软雅黑"/>
                <a:cs typeface="微软雅黑"/>
              </a:rPr>
              <a:t>P99 TTFT</a:t>
            </a:r>
            <a:endParaRPr sz="1275" b="1">
              <a:latin typeface="微软雅黑"/>
              <a:ea typeface="微软雅黑"/>
              <a:cs typeface="微软雅黑"/>
            </a:endParaRPr>
          </a:p>
        </c:rich>
      </c:tx>
      <c:layout/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AFD</c:f>
              <c:strCache>
                <c:ptCount val="1"/>
                <c:pt idx="0">
                  <c:v>AFD</c:v>
                </c:pt>
              </c:strCache>
            </c:strRef>
          </c:tx>
          <c:spPr>
            <a:ln w="19050" cap="rnd">
              <a:solidFill>
                <a:srgbClr val="F2A300"/>
              </a:solidFill>
              <a:prstDash val="solid"/>
              <a:round/>
            </a:ln>
          </c:spPr>
          <c:marker>
            <c:symbol val="circle"/>
            <c:size val="5"/>
            <c:spPr>
              <a:solidFill>
                <a:srgbClr val="F2A300"/>
              </a:solidFill>
            </c:spPr>
          </c:marker>
          <c:dLbls>
            <c:delete val="1"/>
          </c:dLbls>
          <c:cat>
            <c:numRef>
              <c:f>'Chart Data'!$A$2:$A$4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4</c:v>
                </c:pt>
              </c:numCache>
            </c:numRef>
          </c:cat>
          <c:val>
            <c:numRef>
              <c:f>'Chart Data'!$B$2:$B$4</c:f>
              <c:numCache>
                <c:formatCode>0</c:formatCode>
                <c:ptCount val="3"/>
                <c:pt idx="0">
                  <c:v>6.977</c:v>
                </c:pt>
                <c:pt idx="1">
                  <c:v>11.06</c:v>
                </c:pt>
                <c:pt idx="2">
                  <c:v>20.285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DP4TP4</c:f>
              <c:strCache>
                <c:ptCount val="1"/>
                <c:pt idx="0">
                  <c:v>DP4TP4</c:v>
                </c:pt>
              </c:strCache>
            </c:strRef>
          </c:tx>
          <c:spPr>
            <a:ln w="19050" cap="rnd">
              <a:solidFill>
                <a:srgbClr val="548235"/>
              </a:solidFill>
              <a:prstDash val="solid"/>
              <a:round/>
            </a:ln>
          </c:spPr>
          <c:marker>
            <c:symbol val="circle"/>
            <c:size val="5"/>
            <c:spPr>
              <a:solidFill>
                <a:srgbClr val="548235"/>
              </a:solidFill>
            </c:spPr>
          </c:marker>
          <c:dLbls>
            <c:delete val="1"/>
          </c:dLbls>
          <c:cat>
            <c:numRef>
              <c:f>'Chart Data'!$C$2:$C$4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4</c:v>
                </c:pt>
              </c:numCache>
            </c:numRef>
          </c:cat>
          <c:val>
            <c:numRef>
              <c:f>'Chart Data'!$D$2:$D$4</c:f>
              <c:numCache>
                <c:formatCode>0</c:formatCode>
                <c:ptCount val="3"/>
                <c:pt idx="0">
                  <c:v>12.012</c:v>
                </c:pt>
                <c:pt idx="1">
                  <c:v>14.082</c:v>
                </c:pt>
                <c:pt idx="2">
                  <c:v>18.246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DP8TP2</c:f>
              <c:strCache>
                <c:ptCount val="1"/>
                <c:pt idx="0">
                  <c:v>DP8TP2</c:v>
                </c:pt>
              </c:strCache>
            </c:strRef>
          </c:tx>
          <c:spPr>
            <a:ln w="19050" cap="rnd">
              <a:solidFill>
                <a:srgbClr val="4472C4"/>
              </a:solidFill>
              <a:prstDash val="solid"/>
              <a:round/>
            </a:ln>
          </c:spPr>
          <c:marker>
            <c:symbol val="circle"/>
            <c:size val="5"/>
            <c:spPr>
              <a:solidFill>
                <a:srgbClr val="4472C4"/>
              </a:solidFill>
            </c:spPr>
          </c:marker>
          <c:dLbls>
            <c:delete val="1"/>
          </c:dLbls>
          <c:cat>
            <c:numRef>
              <c:f>'Chart Data'!$E$2:$E$4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4</c:v>
                </c:pt>
              </c:numCache>
            </c:numRef>
          </c:cat>
          <c:val>
            <c:numRef>
              <c:f>'Chart Data'!$F$2:$F$4</c:f>
              <c:numCache>
                <c:formatCode>0</c:formatCode>
                <c:ptCount val="3"/>
                <c:pt idx="0">
                  <c:v>16.565</c:v>
                </c:pt>
                <c:pt idx="1">
                  <c:v>19.753</c:v>
                </c:pt>
                <c:pt idx="2">
                  <c:v>20.542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5715">
            <a:solidFill>
              <a:srgbClr val="CCCCCC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75" b="0" i="0" u="none" strike="noStrike" kern="1200" baseline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ax val="30"/>
          <c:min val="0"/>
        </c:scaling>
        <c:delete val="0"/>
        <c:axPos val="l"/>
        <c:majorGridlines>
          <c:spPr>
            <a:ln w="4763">
              <a:solidFill>
                <a:srgbClr val="DDDDDD"/>
              </a:solidFill>
              <a:prstDash val="solid"/>
              <a:round/>
            </a:ln>
          </c:spPr>
        </c:majorGridlines>
        <c:numFmt formatCode="0" sourceLinked="1"/>
        <c:majorTickMark val="none"/>
        <c:minorTickMark val="none"/>
        <c:tickLblPos val="nextTo"/>
        <c:spPr>
          <a:ln w="4763">
            <a:solidFill>
              <a:srgbClr val="CCCCCC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</a:p>
        </c:txPr>
        <c:crossAx val="48650112"/>
        <c:crosses val="autoZero"/>
        <c:crossBetween val="between"/>
        <c:majorUnit val="10"/>
      </c:valAx>
      <c:spPr>
        <a:solidFill>
          <a:srgbClr val="FFFFFF"/>
        </a:solidFill>
      </c:spPr>
    </c:plotArea>
    <c:plotVisOnly val="1"/>
    <c:dispBlanksAs val="gap"/>
    <c:showDLblsOverMax val="0"/>
    <c:extLst>
      <c:ext uri="{0b15fc19-7d7d-44ad-8c2d-2c3a37ce22c3}">
        <chartProps xmlns="https://web.wps.cn/et/2018/main" chartId="{366a06d1-0c34-4df2-af85-f52bff704f3e}"/>
      </c:ext>
    </c:extLst>
  </c:chart>
  <c:spPr>
    <a:solidFill>
      <a:srgbClr val="FFFFFF"/>
    </a:solidFill>
    <a:ln w="0">
      <a:noFill/>
    </a:ln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zh-CN" sz="18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sz="1425" b="1">
                <a:latin typeface="微软雅黑"/>
                <a:ea typeface="微软雅黑"/>
                <a:cs typeface="微软雅黑"/>
              </a:rPr>
              <a:t>固定 TTFT≤10s，增加请求速率</a:t>
            </a:r>
            <a:endParaRPr sz="1425" b="1">
              <a:latin typeface="微软雅黑"/>
              <a:ea typeface="微软雅黑"/>
              <a:cs typeface="微软雅黑"/>
            </a:endParaRPr>
          </a:p>
        </c:rich>
      </c:tx>
      <c:layout/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AFD DP4TP2 64K</c:f>
              <c:strCache>
                <c:ptCount val="1"/>
                <c:pt idx="0">
                  <c:v>AFD DP4TP2 64K</c:v>
                </c:pt>
              </c:strCache>
            </c:strRef>
          </c:tx>
          <c:spPr>
            <a:ln w="23813" cap="rnd">
              <a:solidFill>
                <a:srgbClr val="F0A000"/>
              </a:solidFill>
              <a:prstDash val="solid"/>
              <a:round/>
            </a:ln>
          </c:spPr>
          <c:marker>
            <c:symbol val="triangle"/>
            <c:size val="6"/>
            <c:spPr>
              <a:solidFill>
                <a:srgbClr val="F0A000"/>
              </a:solidFill>
            </c:spPr>
          </c:marker>
          <c:dLbls>
            <c:delete val="1"/>
          </c:dLbls>
          <c:cat>
            <c:numRef>
              <c:f>'Chart Data'!$A$2:$A$4</c:f>
              <c:numCache>
                <c:formatCode>General</c:formatCode>
                <c:ptCount val="3"/>
                <c:pt idx="0">
                  <c:v>0.125</c:v>
                </c:pt>
                <c:pt idx="1">
                  <c:v>0.1875</c:v>
                </c:pt>
                <c:pt idx="2">
                  <c:v>0.25</c:v>
                </c:pt>
              </c:numCache>
            </c:numRef>
          </c:cat>
          <c:val>
            <c:numRef>
              <c:f>'Chart Data'!$B$2:$B$4</c:f>
              <c:numCache>
                <c:formatCode>0</c:formatCode>
                <c:ptCount val="3"/>
                <c:pt idx="0">
                  <c:v>99.891493</c:v>
                </c:pt>
                <c:pt idx="1">
                  <c:v>97.829861</c:v>
                </c:pt>
                <c:pt idx="2">
                  <c:v>62.999132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EP16 DP4TP4 4K</c:f>
              <c:strCache>
                <c:ptCount val="1"/>
                <c:pt idx="0">
                  <c:v>EP16 DP4TP4 4K</c:v>
                </c:pt>
              </c:strCache>
            </c:strRef>
          </c:tx>
          <c:spPr>
            <a:ln w="23813" cap="rnd">
              <a:solidFill>
                <a:srgbClr val="548235"/>
              </a:solidFill>
              <a:prstDash val="solid"/>
              <a:round/>
            </a:ln>
          </c:spPr>
          <c:marker>
            <c:symbol val="diamond"/>
            <c:size val="6"/>
            <c:spPr>
              <a:solidFill>
                <a:srgbClr val="548235"/>
              </a:solidFill>
            </c:spPr>
          </c:marker>
          <c:dLbls>
            <c:delete val="1"/>
          </c:dLbls>
          <c:cat>
            <c:numRef>
              <c:f>'Chart Data'!$C$2:$C$4</c:f>
              <c:numCache>
                <c:formatCode>General</c:formatCode>
                <c:ptCount val="3"/>
                <c:pt idx="0">
                  <c:v>0.125</c:v>
                </c:pt>
                <c:pt idx="1">
                  <c:v>0.1875</c:v>
                </c:pt>
                <c:pt idx="2">
                  <c:v>0.25</c:v>
                </c:pt>
              </c:numCache>
            </c:numRef>
          </c:cat>
          <c:val>
            <c:numRef>
              <c:f>'Chart Data'!$D$2:$D$4</c:f>
              <c:numCache>
                <c:formatCode>0</c:formatCode>
                <c:ptCount val="3"/>
                <c:pt idx="0">
                  <c:v>99.761285</c:v>
                </c:pt>
                <c:pt idx="1">
                  <c:v>96.24566</c:v>
                </c:pt>
                <c:pt idx="2">
                  <c:v>9.179688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EP16 DP8TP2 4K</c:f>
              <c:strCache>
                <c:ptCount val="1"/>
                <c:pt idx="0">
                  <c:v>EP16 DP8TP2 4K</c:v>
                </c:pt>
              </c:strCache>
            </c:strRef>
          </c:tx>
          <c:spPr>
            <a:ln w="23813" cap="rnd">
              <a:solidFill>
                <a:srgbClr val="4472C4"/>
              </a:solidFill>
              <a:prstDash val="solid"/>
              <a:round/>
            </a:ln>
          </c:spPr>
          <c:marker>
            <c:symbol val="circle"/>
            <c:size val="6"/>
            <c:spPr>
              <a:solidFill>
                <a:srgbClr val="4472C4"/>
              </a:solidFill>
            </c:spPr>
          </c:marker>
          <c:dLbls>
            <c:delete val="1"/>
          </c:dLbls>
          <c:cat>
            <c:numRef>
              <c:f>'Chart Data'!$E$2:$E$4</c:f>
              <c:numCache>
                <c:formatCode>General</c:formatCode>
                <c:ptCount val="3"/>
                <c:pt idx="0">
                  <c:v>0.125</c:v>
                </c:pt>
                <c:pt idx="1">
                  <c:v>0.1875</c:v>
                </c:pt>
                <c:pt idx="2">
                  <c:v>0.25</c:v>
                </c:pt>
              </c:numCache>
            </c:numRef>
          </c:cat>
          <c:val>
            <c:numRef>
              <c:f>'Chart Data'!$F$2:$F$4</c:f>
              <c:numCache>
                <c:formatCode>0</c:formatCode>
                <c:ptCount val="3"/>
                <c:pt idx="0">
                  <c:v>98.741319</c:v>
                </c:pt>
                <c:pt idx="1">
                  <c:v>97.699653</c:v>
                </c:pt>
                <c:pt idx="2">
                  <c:v>94.726563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90% target</c:f>
              <c:strCache>
                <c:ptCount val="1"/>
                <c:pt idx="0">
                  <c:v>90% target</c:v>
                </c:pt>
              </c:strCache>
            </c:strRef>
          </c:tx>
          <c:spPr>
            <a:ln w="14288" cap="rnd">
              <a:solidFill>
                <a:srgbClr val="888888"/>
              </a:solidFill>
              <a:prstDash val="dash"/>
              <a:round/>
            </a:ln>
          </c:spPr>
          <c:marker>
            <c:symbol val="none"/>
          </c:marker>
          <c:dLbls>
            <c:delete val="1"/>
          </c:dLbls>
          <c:cat>
            <c:numRef>
              <c:f>'Chart Data'!$G$2:$G$4</c:f>
              <c:numCache>
                <c:formatCode>General</c:formatCode>
                <c:ptCount val="3"/>
                <c:pt idx="0">
                  <c:v>0.125</c:v>
                </c:pt>
                <c:pt idx="1">
                  <c:v>0.1875</c:v>
                </c:pt>
                <c:pt idx="2">
                  <c:v>0.25</c:v>
                </c:pt>
              </c:numCache>
            </c:numRef>
          </c:cat>
          <c:val>
            <c:numRef>
              <c:f>'Chart Data'!$H$2:$H$4</c:f>
              <c:numCache>
                <c:formatCode>0</c:formatCode>
                <c:ptCount val="3"/>
                <c:pt idx="0">
                  <c:v>90</c:v>
                </c:pt>
                <c:pt idx="1">
                  <c:v>90</c:v>
                </c:pt>
                <c:pt idx="2">
                  <c:v>90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rot="0" spcFirstLastPara="0" vertOverflow="ellipsis" vert="horz" wrap="square" anchor="ctr" anchorCtr="1"/>
              <a:lstStyle/>
              <a:p>
                <a:pPr>
                  <a:defRPr lang="zh-CN" sz="10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sz="1125">
                    <a:latin typeface="Calibri"/>
                    <a:ea typeface="Calibri"/>
                    <a:cs typeface="Calibri"/>
                  </a:rPr>
                  <a:t>Offered rate (req/s per NPU die)</a:t>
                </a:r>
                <a:endParaRPr sz="1125">
                  <a:latin typeface="Calibri"/>
                  <a:ea typeface="Calibri"/>
                  <a:cs typeface="Calibri"/>
                </a:endParaRPr>
              </a:p>
            </c:rich>
          </c:tx>
          <c:layout/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pPr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w="9525">
              <a:solidFill>
                <a:srgbClr val="E5E7EB"/>
              </a:solidFill>
              <a:prstDash val="solid"/>
              <a:round/>
            </a:ln>
          </c:spPr>
        </c:majorGridlines>
        <c:title>
          <c:tx>
            <c:rich>
              <a:bodyPr rot="-5400000" spcFirstLastPara="0" vertOverflow="ellipsis" vert="horz" wrap="square" anchor="ctr" anchorCtr="1"/>
              <a:lstStyle/>
              <a:p>
                <a:pPr>
                  <a:defRPr lang="zh-CN" sz="10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sz="1125">
                    <a:latin typeface="Calibri"/>
                    <a:ea typeface="Calibri"/>
                    <a:cs typeface="Calibri"/>
                  </a:rPr>
                  <a:t>SLO attainment (%)</a:t>
                </a:r>
                <a:endParaRPr sz="1125">
                  <a:latin typeface="Calibri"/>
                  <a:ea typeface="Calibri"/>
                  <a:cs typeface="Calibri"/>
                </a:endParaRPr>
              </a:p>
            </c:rich>
          </c:tx>
          <c:layout/>
          <c:overlay val="0"/>
        </c:title>
        <c:numFmt formatCode="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75" b="0" i="0" u="none" strike="noStrike" kern="1200" baseline="0"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pPr>
          </a:p>
        </c:txPr>
        <c:crossAx val="48650112"/>
        <c:crosses val="autoZero"/>
        <c:crossBetween val="between"/>
        <c:majorUnit val="25"/>
      </c:valAx>
      <c:spPr>
        <a:solidFill>
          <a:srgbClr val="FFFFFF"/>
        </a:solidFill>
      </c:spPr>
    </c:plotArea>
    <c:plotVisOnly val="1"/>
    <c:dispBlanksAs val="gap"/>
    <c:showDLblsOverMax val="0"/>
    <c:extLst>
      <c:ext uri="{0b15fc19-7d7d-44ad-8c2d-2c3a37ce22c3}">
        <chartProps xmlns="https://web.wps.cn/et/2018/main" chartId="{13f1f24b-cf3b-474a-bbc1-f335b3c96b9b}"/>
      </c:ext>
    </c:extLst>
  </c:chart>
  <c:spPr>
    <a:solidFill>
      <a:srgbClr val="FFFFFF"/>
    </a:solidFill>
    <a:ln w="0">
      <a:noFill/>
    </a:ln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zh-CN" sz="18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sz="1425" b="1">
                <a:latin typeface="微软雅黑"/>
                <a:ea typeface="微软雅黑"/>
                <a:cs typeface="微软雅黑"/>
              </a:rPr>
              <a:t>固定 RPS=4，收紧 TTFT 门槛</a:t>
            </a:r>
            <a:endParaRPr sz="1425" b="1">
              <a:latin typeface="微软雅黑"/>
              <a:ea typeface="微软雅黑"/>
              <a:cs typeface="微软雅黑"/>
            </a:endParaRPr>
          </a:p>
        </c:rich>
      </c:tx>
      <c:layout/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AFD DP4TP2 64K</c:f>
              <c:strCache>
                <c:ptCount val="1"/>
                <c:pt idx="0">
                  <c:v>AFD DP4TP2 64K</c:v>
                </c:pt>
              </c:strCache>
            </c:strRef>
          </c:tx>
          <c:spPr>
            <a:ln w="23813" cap="rnd">
              <a:solidFill>
                <a:srgbClr val="F0A000"/>
              </a:solidFill>
              <a:prstDash val="solid"/>
              <a:round/>
            </a:ln>
          </c:spPr>
          <c:marker>
            <c:symbol val="triangle"/>
            <c:size val="6"/>
            <c:spPr>
              <a:solidFill>
                <a:srgbClr val="F0A000"/>
              </a:solidFill>
            </c:spPr>
          </c:marker>
          <c:dLbls>
            <c:delete val="1"/>
          </c:dLbls>
          <c:cat>
            <c:numRef>
              <c:f>'Chart Data'!$A$2:$A$13</c:f>
              <c:numCache>
                <c:formatCode>General</c:formatCode>
                <c:ptCount val="12"/>
                <c:pt idx="0">
                  <c:v>6</c:v>
                </c:pt>
                <c:pt idx="1">
                  <c:v>5.5</c:v>
                </c:pt>
                <c:pt idx="2">
                  <c:v>5</c:v>
                </c:pt>
                <c:pt idx="3">
                  <c:v>4.5</c:v>
                </c:pt>
                <c:pt idx="4">
                  <c:v>4</c:v>
                </c:pt>
                <c:pt idx="5">
                  <c:v>3.5</c:v>
                </c:pt>
                <c:pt idx="6">
                  <c:v>3</c:v>
                </c:pt>
                <c:pt idx="7">
                  <c:v>2.5</c:v>
                </c:pt>
                <c:pt idx="8">
                  <c:v>2</c:v>
                </c:pt>
                <c:pt idx="9">
                  <c:v>1.5</c:v>
                </c:pt>
                <c:pt idx="10">
                  <c:v>1</c:v>
                </c:pt>
                <c:pt idx="11">
                  <c:v>0.5</c:v>
                </c:pt>
              </c:numCache>
            </c:numRef>
          </c:cat>
          <c:val>
            <c:numRef>
              <c:f>'Chart Data'!$B$2:$B$13</c:f>
              <c:numCache>
                <c:formatCode>0</c:formatCode>
                <c:ptCount val="12"/>
                <c:pt idx="0">
                  <c:v>99.978299</c:v>
                </c:pt>
                <c:pt idx="1">
                  <c:v>99.978299</c:v>
                </c:pt>
                <c:pt idx="2">
                  <c:v>99.978299</c:v>
                </c:pt>
                <c:pt idx="3">
                  <c:v>99.978299</c:v>
                </c:pt>
                <c:pt idx="4">
                  <c:v>99.978299</c:v>
                </c:pt>
                <c:pt idx="5">
                  <c:v>99.978299</c:v>
                </c:pt>
                <c:pt idx="6">
                  <c:v>99.978299</c:v>
                </c:pt>
                <c:pt idx="7">
                  <c:v>99.869792</c:v>
                </c:pt>
                <c:pt idx="8">
                  <c:v>98.415799</c:v>
                </c:pt>
                <c:pt idx="9">
                  <c:v>90.256076</c:v>
                </c:pt>
                <c:pt idx="10">
                  <c:v>62.999132</c:v>
                </c:pt>
                <c:pt idx="11">
                  <c:v>26.71441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EP16 DP4TP4 4K</c:f>
              <c:strCache>
                <c:ptCount val="1"/>
                <c:pt idx="0">
                  <c:v>EP16 DP4TP4 4K</c:v>
                </c:pt>
              </c:strCache>
            </c:strRef>
          </c:tx>
          <c:spPr>
            <a:ln w="23813" cap="rnd">
              <a:solidFill>
                <a:srgbClr val="548235"/>
              </a:solidFill>
              <a:prstDash val="solid"/>
              <a:round/>
            </a:ln>
          </c:spPr>
          <c:marker>
            <c:symbol val="diamond"/>
            <c:size val="6"/>
            <c:spPr>
              <a:solidFill>
                <a:srgbClr val="548235"/>
              </a:solidFill>
            </c:spPr>
          </c:marker>
          <c:dLbls>
            <c:delete val="1"/>
          </c:dLbls>
          <c:cat>
            <c:numRef>
              <c:f>'Chart Data'!$C$2:$C$13</c:f>
              <c:numCache>
                <c:formatCode>General</c:formatCode>
                <c:ptCount val="12"/>
                <c:pt idx="0">
                  <c:v>6</c:v>
                </c:pt>
                <c:pt idx="1">
                  <c:v>5.5</c:v>
                </c:pt>
                <c:pt idx="2">
                  <c:v>5</c:v>
                </c:pt>
                <c:pt idx="3">
                  <c:v>4.5</c:v>
                </c:pt>
                <c:pt idx="4">
                  <c:v>4</c:v>
                </c:pt>
                <c:pt idx="5">
                  <c:v>3.5</c:v>
                </c:pt>
                <c:pt idx="6">
                  <c:v>3</c:v>
                </c:pt>
                <c:pt idx="7">
                  <c:v>2.5</c:v>
                </c:pt>
                <c:pt idx="8">
                  <c:v>2</c:v>
                </c:pt>
                <c:pt idx="9">
                  <c:v>1.5</c:v>
                </c:pt>
                <c:pt idx="10">
                  <c:v>1</c:v>
                </c:pt>
                <c:pt idx="11">
                  <c:v>0.5</c:v>
                </c:pt>
              </c:numCache>
            </c:numRef>
          </c:cat>
          <c:val>
            <c:numRef>
              <c:f>'Chart Data'!$D$2:$D$13</c:f>
              <c:numCache>
                <c:formatCode>0</c:formatCode>
                <c:ptCount val="12"/>
                <c:pt idx="0">
                  <c:v>99.631076</c:v>
                </c:pt>
                <c:pt idx="1">
                  <c:v>98.003472</c:v>
                </c:pt>
                <c:pt idx="2">
                  <c:v>93.489583</c:v>
                </c:pt>
                <c:pt idx="3">
                  <c:v>85.30816</c:v>
                </c:pt>
                <c:pt idx="4">
                  <c:v>76.280382</c:v>
                </c:pt>
                <c:pt idx="5">
                  <c:v>65.429688</c:v>
                </c:pt>
                <c:pt idx="6">
                  <c:v>49.696181</c:v>
                </c:pt>
                <c:pt idx="7">
                  <c:v>32.443576</c:v>
                </c:pt>
                <c:pt idx="8">
                  <c:v>21.571181</c:v>
                </c:pt>
                <c:pt idx="9">
                  <c:v>15.668403</c:v>
                </c:pt>
                <c:pt idx="10">
                  <c:v>9.179688</c:v>
                </c:pt>
                <c:pt idx="11">
                  <c:v>3.103299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EP16 DP8TP2 4K</c:f>
              <c:strCache>
                <c:ptCount val="1"/>
                <c:pt idx="0">
                  <c:v>EP16 DP8TP2 4K</c:v>
                </c:pt>
              </c:strCache>
            </c:strRef>
          </c:tx>
          <c:spPr>
            <a:ln w="23813" cap="rnd">
              <a:solidFill>
                <a:srgbClr val="4472C4"/>
              </a:solidFill>
              <a:prstDash val="solid"/>
              <a:round/>
            </a:ln>
          </c:spPr>
          <c:marker>
            <c:symbol val="circle"/>
            <c:size val="6"/>
            <c:spPr>
              <a:solidFill>
                <a:srgbClr val="4472C4"/>
              </a:solidFill>
            </c:spPr>
          </c:marker>
          <c:dLbls>
            <c:delete val="1"/>
          </c:dLbls>
          <c:cat>
            <c:numRef>
              <c:f>'Chart Data'!$E$2:$E$13</c:f>
              <c:numCache>
                <c:formatCode>General</c:formatCode>
                <c:ptCount val="12"/>
                <c:pt idx="0">
                  <c:v>6</c:v>
                </c:pt>
                <c:pt idx="1">
                  <c:v>5.5</c:v>
                </c:pt>
                <c:pt idx="2">
                  <c:v>5</c:v>
                </c:pt>
                <c:pt idx="3">
                  <c:v>4.5</c:v>
                </c:pt>
                <c:pt idx="4">
                  <c:v>4</c:v>
                </c:pt>
                <c:pt idx="5">
                  <c:v>3.5</c:v>
                </c:pt>
                <c:pt idx="6">
                  <c:v>3</c:v>
                </c:pt>
                <c:pt idx="7">
                  <c:v>2.5</c:v>
                </c:pt>
                <c:pt idx="8">
                  <c:v>2</c:v>
                </c:pt>
                <c:pt idx="9">
                  <c:v>1.5</c:v>
                </c:pt>
                <c:pt idx="10">
                  <c:v>1</c:v>
                </c:pt>
                <c:pt idx="11">
                  <c:v>0.5</c:v>
                </c:pt>
              </c:numCache>
            </c:numRef>
          </c:cat>
          <c:val>
            <c:numRef>
              <c:f>'Chart Data'!$F$2:$F$13</c:f>
              <c:numCache>
                <c:formatCode>0</c:formatCode>
                <c:ptCount val="12"/>
                <c:pt idx="0">
                  <c:v>100</c:v>
                </c:pt>
                <c:pt idx="1">
                  <c:v>100</c:v>
                </c:pt>
                <c:pt idx="2">
                  <c:v>100</c:v>
                </c:pt>
                <c:pt idx="3">
                  <c:v>100</c:v>
                </c:pt>
                <c:pt idx="4">
                  <c:v>100</c:v>
                </c:pt>
                <c:pt idx="5">
                  <c:v>100</c:v>
                </c:pt>
                <c:pt idx="6">
                  <c:v>100</c:v>
                </c:pt>
                <c:pt idx="7">
                  <c:v>100</c:v>
                </c:pt>
                <c:pt idx="8">
                  <c:v>99.978299</c:v>
                </c:pt>
                <c:pt idx="9">
                  <c:v>99.500868</c:v>
                </c:pt>
                <c:pt idx="10">
                  <c:v>94.726563</c:v>
                </c:pt>
                <c:pt idx="11">
                  <c:v>69.37934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90% target</c:f>
              <c:strCache>
                <c:ptCount val="1"/>
                <c:pt idx="0">
                  <c:v>90% target</c:v>
                </c:pt>
              </c:strCache>
            </c:strRef>
          </c:tx>
          <c:spPr>
            <a:ln w="14288" cap="rnd">
              <a:solidFill>
                <a:srgbClr val="888888"/>
              </a:solidFill>
              <a:prstDash val="dash"/>
              <a:round/>
            </a:ln>
          </c:spPr>
          <c:marker>
            <c:symbol val="none"/>
          </c:marker>
          <c:dLbls>
            <c:delete val="1"/>
          </c:dLbls>
          <c:cat>
            <c:numRef>
              <c:f>'Chart Data'!$G$2:$G$13</c:f>
              <c:numCache>
                <c:formatCode>General</c:formatCode>
                <c:ptCount val="12"/>
                <c:pt idx="0">
                  <c:v>6</c:v>
                </c:pt>
                <c:pt idx="1">
                  <c:v>5.5</c:v>
                </c:pt>
                <c:pt idx="2">
                  <c:v>5</c:v>
                </c:pt>
                <c:pt idx="3">
                  <c:v>4.5</c:v>
                </c:pt>
                <c:pt idx="4">
                  <c:v>4</c:v>
                </c:pt>
                <c:pt idx="5">
                  <c:v>3.5</c:v>
                </c:pt>
                <c:pt idx="6">
                  <c:v>3</c:v>
                </c:pt>
                <c:pt idx="7">
                  <c:v>2.5</c:v>
                </c:pt>
                <c:pt idx="8">
                  <c:v>2</c:v>
                </c:pt>
                <c:pt idx="9">
                  <c:v>1.5</c:v>
                </c:pt>
                <c:pt idx="10">
                  <c:v>1</c:v>
                </c:pt>
                <c:pt idx="11">
                  <c:v>0.5</c:v>
                </c:pt>
              </c:numCache>
            </c:numRef>
          </c:cat>
          <c:val>
            <c:numRef>
              <c:f>'Chart Data'!$H$2:$H$13</c:f>
              <c:numCache>
                <c:formatCode>0</c:formatCode>
                <c:ptCount val="12"/>
                <c:pt idx="0">
                  <c:v>90</c:v>
                </c:pt>
                <c:pt idx="1">
                  <c:v>90</c:v>
                </c:pt>
                <c:pt idx="2">
                  <c:v>90</c:v>
                </c:pt>
                <c:pt idx="3">
                  <c:v>90</c:v>
                </c:pt>
                <c:pt idx="4">
                  <c:v>90</c:v>
                </c:pt>
                <c:pt idx="5">
                  <c:v>90</c:v>
                </c:pt>
                <c:pt idx="6">
                  <c:v>90</c:v>
                </c:pt>
                <c:pt idx="7">
                  <c:v>90</c:v>
                </c:pt>
                <c:pt idx="8">
                  <c:v>90</c:v>
                </c:pt>
                <c:pt idx="9">
                  <c:v>90</c:v>
                </c:pt>
                <c:pt idx="10">
                  <c:v>90</c:v>
                </c:pt>
                <c:pt idx="11">
                  <c:v>90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rot="0" spcFirstLastPara="0" vertOverflow="ellipsis" vert="horz" wrap="square" anchor="ctr" anchorCtr="1"/>
              <a:lstStyle/>
              <a:p>
                <a:pPr>
                  <a:defRPr lang="zh-CN" sz="10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sz="1125">
                    <a:latin typeface="Calibri"/>
                    <a:ea typeface="Calibri"/>
                    <a:cs typeface="Calibri"/>
                  </a:rPr>
                  <a:t>SLO Scale (TTFT = 10s × scale)</a:t>
                </a:r>
                <a:endParaRPr sz="1125">
                  <a:latin typeface="Calibri"/>
                  <a:ea typeface="Calibri"/>
                  <a:cs typeface="Calibri"/>
                </a:endParaRPr>
              </a:p>
            </c:rich>
          </c:tx>
          <c:layout/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pPr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w="9525">
              <a:solidFill>
                <a:srgbClr val="E5E7EB"/>
              </a:solidFill>
              <a:prstDash val="solid"/>
              <a:round/>
            </a:ln>
          </c:spPr>
        </c:majorGridlines>
        <c:title>
          <c:tx>
            <c:rich>
              <a:bodyPr rot="-5400000" spcFirstLastPara="0" vertOverflow="ellipsis" vert="horz" wrap="square" anchor="ctr" anchorCtr="1"/>
              <a:lstStyle/>
              <a:p>
                <a:pPr>
                  <a:defRPr lang="zh-CN" sz="10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sz="1125">
                    <a:latin typeface="Calibri"/>
                    <a:ea typeface="Calibri"/>
                    <a:cs typeface="Calibri"/>
                  </a:rPr>
                  <a:t>SLO attainment (%)</a:t>
                </a:r>
                <a:endParaRPr sz="1125">
                  <a:latin typeface="Calibri"/>
                  <a:ea typeface="Calibri"/>
                  <a:cs typeface="Calibri"/>
                </a:endParaRPr>
              </a:p>
            </c:rich>
          </c:tx>
          <c:layout/>
          <c:overlay val="0"/>
        </c:title>
        <c:numFmt formatCode="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75" b="0" i="0" u="none" strike="noStrike" kern="1200" baseline="0"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pPr>
          </a:p>
        </c:txPr>
        <c:crossAx val="48650112"/>
        <c:crosses val="autoZero"/>
        <c:crossBetween val="between"/>
        <c:majorUnit val="25"/>
      </c:valAx>
      <c:spPr>
        <a:solidFill>
          <a:srgbClr val="FFFFFF"/>
        </a:solidFill>
      </c:spPr>
    </c:plotArea>
    <c:plotVisOnly val="1"/>
    <c:dispBlanksAs val="gap"/>
    <c:showDLblsOverMax val="0"/>
    <c:extLst>
      <c:ext uri="{0b15fc19-7d7d-44ad-8c2d-2c3a37ce22c3}">
        <chartProps xmlns="https://web.wps.cn/et/2018/main" chartId="{c353e88b-b0de-4d3a-9ece-efae3cdb2a06}"/>
      </c:ext>
    </c:extLst>
  </c:chart>
  <c:spPr>
    <a:solidFill>
      <a:srgbClr val="FFFFFF"/>
    </a:solidFill>
    <a:ln w="0">
      <a:noFill/>
    </a:ln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zh-CN" sz="18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sz="1425" b="1">
                <a:latin typeface="微软雅黑"/>
                <a:ea typeface="微软雅黑"/>
                <a:cs typeface="微软雅黑"/>
              </a:rPr>
              <a:t>固定 TTFT≤10s，增加请求速率</a:t>
            </a:r>
            <a:endParaRPr sz="1425" b="1">
              <a:latin typeface="微软雅黑"/>
              <a:ea typeface="微软雅黑"/>
              <a:cs typeface="微软雅黑"/>
            </a:endParaRPr>
          </a:p>
        </c:rich>
      </c:tx>
      <c:layout/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AFD DP4TP2 64K</c:f>
              <c:strCache>
                <c:ptCount val="1"/>
                <c:pt idx="0">
                  <c:v>AFD DP4TP2 64K</c:v>
                </c:pt>
              </c:strCache>
            </c:strRef>
          </c:tx>
          <c:spPr>
            <a:ln w="23813" cap="rnd">
              <a:solidFill>
                <a:srgbClr val="F0A000"/>
              </a:solidFill>
              <a:prstDash val="solid"/>
              <a:round/>
            </a:ln>
          </c:spPr>
          <c:marker>
            <c:symbol val="triangle"/>
            <c:size val="6"/>
            <c:spPr>
              <a:solidFill>
                <a:srgbClr val="F0A000"/>
              </a:solidFill>
            </c:spPr>
          </c:marker>
          <c:dLbls>
            <c:delete val="1"/>
          </c:dLbls>
          <c:cat>
            <c:numRef>
              <c:f>'Chart Data'!$A$2:$A$4</c:f>
              <c:numCache>
                <c:formatCode>General</c:formatCode>
                <c:ptCount val="3"/>
                <c:pt idx="0">
                  <c:v>0.125</c:v>
                </c:pt>
                <c:pt idx="1">
                  <c:v>0.1875</c:v>
                </c:pt>
                <c:pt idx="2">
                  <c:v>0.25</c:v>
                </c:pt>
              </c:numCache>
            </c:numRef>
          </c:cat>
          <c:val>
            <c:numRef>
              <c:f>'Chart Data'!$B$2:$B$4</c:f>
              <c:numCache>
                <c:formatCode>0</c:formatCode>
                <c:ptCount val="3"/>
                <c:pt idx="0">
                  <c:v>99.891493</c:v>
                </c:pt>
                <c:pt idx="1">
                  <c:v>97.829861</c:v>
                </c:pt>
                <c:pt idx="2">
                  <c:v>62.999132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EP16 DP4TP4 8K</c:f>
              <c:strCache>
                <c:ptCount val="1"/>
                <c:pt idx="0">
                  <c:v>EP16 DP4TP4 8K</c:v>
                </c:pt>
              </c:strCache>
            </c:strRef>
          </c:tx>
          <c:spPr>
            <a:ln w="23813" cap="rnd">
              <a:solidFill>
                <a:srgbClr val="548235"/>
              </a:solidFill>
              <a:prstDash val="solid"/>
              <a:round/>
            </a:ln>
          </c:spPr>
          <c:marker>
            <c:symbol val="diamond"/>
            <c:size val="6"/>
            <c:spPr>
              <a:solidFill>
                <a:srgbClr val="548235"/>
              </a:solidFill>
            </c:spPr>
          </c:marker>
          <c:dLbls>
            <c:delete val="1"/>
          </c:dLbls>
          <c:cat>
            <c:numRef>
              <c:f>'Chart Data'!$C$2:$C$4</c:f>
              <c:numCache>
                <c:formatCode>General</c:formatCode>
                <c:ptCount val="3"/>
                <c:pt idx="0">
                  <c:v>0.125</c:v>
                </c:pt>
                <c:pt idx="1">
                  <c:v>0.1875</c:v>
                </c:pt>
                <c:pt idx="2">
                  <c:v>0.25</c:v>
                </c:pt>
              </c:numCache>
            </c:numRef>
          </c:cat>
          <c:val>
            <c:numRef>
              <c:f>'Chart Data'!$D$2:$D$4</c:f>
              <c:numCache>
                <c:formatCode>0</c:formatCode>
                <c:ptCount val="3"/>
                <c:pt idx="0">
                  <c:v>99.717882</c:v>
                </c:pt>
                <c:pt idx="1">
                  <c:v>98.046875</c:v>
                </c:pt>
                <c:pt idx="2">
                  <c:v>62.521701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EP16 DP8TP2 8K</c:f>
              <c:strCache>
                <c:ptCount val="1"/>
                <c:pt idx="0">
                  <c:v>EP16 DP8TP2 8K</c:v>
                </c:pt>
              </c:strCache>
            </c:strRef>
          </c:tx>
          <c:spPr>
            <a:ln w="23813" cap="rnd">
              <a:solidFill>
                <a:srgbClr val="4472C4"/>
              </a:solidFill>
              <a:prstDash val="solid"/>
              <a:round/>
            </a:ln>
          </c:spPr>
          <c:marker>
            <c:symbol val="circle"/>
            <c:size val="6"/>
            <c:spPr>
              <a:solidFill>
                <a:srgbClr val="4472C4"/>
              </a:solidFill>
            </c:spPr>
          </c:marker>
          <c:dLbls>
            <c:delete val="1"/>
          </c:dLbls>
          <c:cat>
            <c:numRef>
              <c:f>'Chart Data'!$E$2:$E$4</c:f>
              <c:numCache>
                <c:formatCode>General</c:formatCode>
                <c:ptCount val="3"/>
                <c:pt idx="0">
                  <c:v>0.125</c:v>
                </c:pt>
                <c:pt idx="1">
                  <c:v>0.1875</c:v>
                </c:pt>
                <c:pt idx="2">
                  <c:v>0.25</c:v>
                </c:pt>
              </c:numCache>
            </c:numRef>
          </c:cat>
          <c:val>
            <c:numRef>
              <c:f>'Chart Data'!$F$2:$F$4</c:f>
              <c:numCache>
                <c:formatCode>0</c:formatCode>
                <c:ptCount val="3"/>
                <c:pt idx="0">
                  <c:v>97.395833</c:v>
                </c:pt>
                <c:pt idx="1">
                  <c:v>94.835069</c:v>
                </c:pt>
                <c:pt idx="2">
                  <c:v>89.561632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90% target</c:f>
              <c:strCache>
                <c:ptCount val="1"/>
                <c:pt idx="0">
                  <c:v>90% target</c:v>
                </c:pt>
              </c:strCache>
            </c:strRef>
          </c:tx>
          <c:spPr>
            <a:ln w="14288" cap="rnd">
              <a:solidFill>
                <a:srgbClr val="888888"/>
              </a:solidFill>
              <a:prstDash val="dash"/>
              <a:round/>
            </a:ln>
          </c:spPr>
          <c:marker>
            <c:symbol val="none"/>
          </c:marker>
          <c:dLbls>
            <c:delete val="1"/>
          </c:dLbls>
          <c:cat>
            <c:numRef>
              <c:f>'Chart Data'!$G$2:$G$4</c:f>
              <c:numCache>
                <c:formatCode>General</c:formatCode>
                <c:ptCount val="3"/>
                <c:pt idx="0">
                  <c:v>0.125</c:v>
                </c:pt>
                <c:pt idx="1">
                  <c:v>0.1875</c:v>
                </c:pt>
                <c:pt idx="2">
                  <c:v>0.25</c:v>
                </c:pt>
              </c:numCache>
            </c:numRef>
          </c:cat>
          <c:val>
            <c:numRef>
              <c:f>'Chart Data'!$H$2:$H$4</c:f>
              <c:numCache>
                <c:formatCode>0</c:formatCode>
                <c:ptCount val="3"/>
                <c:pt idx="0">
                  <c:v>90</c:v>
                </c:pt>
                <c:pt idx="1">
                  <c:v>90</c:v>
                </c:pt>
                <c:pt idx="2">
                  <c:v>90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rot="0" spcFirstLastPara="0" vertOverflow="ellipsis" vert="horz" wrap="square" anchor="ctr" anchorCtr="1"/>
              <a:lstStyle/>
              <a:p>
                <a:pPr>
                  <a:defRPr lang="zh-CN" sz="10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sz="1125">
                    <a:latin typeface="Calibri"/>
                    <a:ea typeface="Calibri"/>
                    <a:cs typeface="Calibri"/>
                  </a:rPr>
                  <a:t>Offered rate (req/s per NPU die)</a:t>
                </a:r>
                <a:endParaRPr sz="1125">
                  <a:latin typeface="Calibri"/>
                  <a:ea typeface="Calibri"/>
                  <a:cs typeface="Calibri"/>
                </a:endParaRPr>
              </a:p>
            </c:rich>
          </c:tx>
          <c:layout/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pPr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w="9525">
              <a:solidFill>
                <a:srgbClr val="E5E7EB"/>
              </a:solidFill>
              <a:prstDash val="solid"/>
              <a:round/>
            </a:ln>
          </c:spPr>
        </c:majorGridlines>
        <c:title>
          <c:tx>
            <c:rich>
              <a:bodyPr rot="-5400000" spcFirstLastPara="0" vertOverflow="ellipsis" vert="horz" wrap="square" anchor="ctr" anchorCtr="1"/>
              <a:lstStyle/>
              <a:p>
                <a:pPr>
                  <a:defRPr lang="zh-CN" sz="10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sz="1125">
                    <a:latin typeface="Calibri"/>
                    <a:ea typeface="Calibri"/>
                    <a:cs typeface="Calibri"/>
                  </a:rPr>
                  <a:t>SLO attainment (%)</a:t>
                </a:r>
                <a:endParaRPr sz="1125">
                  <a:latin typeface="Calibri"/>
                  <a:ea typeface="Calibri"/>
                  <a:cs typeface="Calibri"/>
                </a:endParaRPr>
              </a:p>
            </c:rich>
          </c:tx>
          <c:layout/>
          <c:overlay val="0"/>
        </c:title>
        <c:numFmt formatCode="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75" b="0" i="0" u="none" strike="noStrike" kern="1200" baseline="0"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pPr>
          </a:p>
        </c:txPr>
        <c:crossAx val="48650112"/>
        <c:crosses val="autoZero"/>
        <c:crossBetween val="between"/>
        <c:majorUnit val="25"/>
      </c:valAx>
      <c:spPr>
        <a:solidFill>
          <a:srgbClr val="FFFFFF"/>
        </a:solidFill>
      </c:spPr>
    </c:plotArea>
    <c:plotVisOnly val="1"/>
    <c:dispBlanksAs val="gap"/>
    <c:showDLblsOverMax val="0"/>
    <c:extLst>
      <c:ext uri="{0b15fc19-7d7d-44ad-8c2d-2c3a37ce22c3}">
        <chartProps xmlns="https://web.wps.cn/et/2018/main" chartId="{9187a1cc-a7c2-46d6-bba9-6fbe0be64bb5}"/>
      </c:ext>
    </c:extLst>
  </c:chart>
  <c:spPr>
    <a:solidFill>
      <a:srgbClr val="FFFFFF"/>
    </a:solidFill>
    <a:ln w="0">
      <a:noFill/>
    </a:ln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zh-CN" sz="18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sz="1425" b="1">
                <a:latin typeface="微软雅黑"/>
                <a:ea typeface="微软雅黑"/>
                <a:cs typeface="微软雅黑"/>
              </a:rPr>
              <a:t>固定 RPS=4，收紧 TTFT 门槛</a:t>
            </a:r>
            <a:endParaRPr sz="1425" b="1">
              <a:latin typeface="微软雅黑"/>
              <a:ea typeface="微软雅黑"/>
              <a:cs typeface="微软雅黑"/>
            </a:endParaRPr>
          </a:p>
        </c:rich>
      </c:tx>
      <c:layout/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AFD DP4TP2 64K</c:f>
              <c:strCache>
                <c:ptCount val="1"/>
                <c:pt idx="0">
                  <c:v>AFD DP4TP2 64K</c:v>
                </c:pt>
              </c:strCache>
            </c:strRef>
          </c:tx>
          <c:spPr>
            <a:ln w="23813" cap="rnd">
              <a:solidFill>
                <a:srgbClr val="F0A000"/>
              </a:solidFill>
              <a:prstDash val="solid"/>
              <a:round/>
            </a:ln>
          </c:spPr>
          <c:marker>
            <c:symbol val="triangle"/>
            <c:size val="6"/>
            <c:spPr>
              <a:solidFill>
                <a:srgbClr val="F0A000"/>
              </a:solidFill>
            </c:spPr>
          </c:marker>
          <c:dLbls>
            <c:delete val="1"/>
          </c:dLbls>
          <c:cat>
            <c:numRef>
              <c:f>'Chart Data'!$A$2:$A$13</c:f>
              <c:numCache>
                <c:formatCode>General</c:formatCode>
                <c:ptCount val="12"/>
                <c:pt idx="0">
                  <c:v>6</c:v>
                </c:pt>
                <c:pt idx="1">
                  <c:v>5.5</c:v>
                </c:pt>
                <c:pt idx="2">
                  <c:v>5</c:v>
                </c:pt>
                <c:pt idx="3">
                  <c:v>4.5</c:v>
                </c:pt>
                <c:pt idx="4">
                  <c:v>4</c:v>
                </c:pt>
                <c:pt idx="5">
                  <c:v>3.5</c:v>
                </c:pt>
                <c:pt idx="6">
                  <c:v>3</c:v>
                </c:pt>
                <c:pt idx="7">
                  <c:v>2.5</c:v>
                </c:pt>
                <c:pt idx="8">
                  <c:v>2</c:v>
                </c:pt>
                <c:pt idx="9">
                  <c:v>1.5</c:v>
                </c:pt>
                <c:pt idx="10">
                  <c:v>1</c:v>
                </c:pt>
                <c:pt idx="11">
                  <c:v>0.5</c:v>
                </c:pt>
              </c:numCache>
            </c:numRef>
          </c:cat>
          <c:val>
            <c:numRef>
              <c:f>'Chart Data'!$B$2:$B$13</c:f>
              <c:numCache>
                <c:formatCode>0</c:formatCode>
                <c:ptCount val="12"/>
                <c:pt idx="0">
                  <c:v>99.978299</c:v>
                </c:pt>
                <c:pt idx="1">
                  <c:v>99.978299</c:v>
                </c:pt>
                <c:pt idx="2">
                  <c:v>99.978299</c:v>
                </c:pt>
                <c:pt idx="3">
                  <c:v>99.978299</c:v>
                </c:pt>
                <c:pt idx="4">
                  <c:v>99.978299</c:v>
                </c:pt>
                <c:pt idx="5">
                  <c:v>99.978299</c:v>
                </c:pt>
                <c:pt idx="6">
                  <c:v>99.978299</c:v>
                </c:pt>
                <c:pt idx="7">
                  <c:v>99.869792</c:v>
                </c:pt>
                <c:pt idx="8">
                  <c:v>98.415799</c:v>
                </c:pt>
                <c:pt idx="9">
                  <c:v>90.256076</c:v>
                </c:pt>
                <c:pt idx="10">
                  <c:v>62.999132</c:v>
                </c:pt>
                <c:pt idx="11">
                  <c:v>26.71441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EP16 DP4TP4 8K</c:f>
              <c:strCache>
                <c:ptCount val="1"/>
                <c:pt idx="0">
                  <c:v>EP16 DP4TP4 8K</c:v>
                </c:pt>
              </c:strCache>
            </c:strRef>
          </c:tx>
          <c:spPr>
            <a:ln w="23813" cap="rnd">
              <a:solidFill>
                <a:srgbClr val="548235"/>
              </a:solidFill>
              <a:prstDash val="solid"/>
              <a:round/>
            </a:ln>
          </c:spPr>
          <c:marker>
            <c:symbol val="diamond"/>
            <c:size val="6"/>
            <c:spPr>
              <a:solidFill>
                <a:srgbClr val="548235"/>
              </a:solidFill>
            </c:spPr>
          </c:marker>
          <c:dLbls>
            <c:delete val="1"/>
          </c:dLbls>
          <c:cat>
            <c:numRef>
              <c:f>'Chart Data'!$C$2:$C$13</c:f>
              <c:numCache>
                <c:formatCode>General</c:formatCode>
                <c:ptCount val="12"/>
                <c:pt idx="0">
                  <c:v>6</c:v>
                </c:pt>
                <c:pt idx="1">
                  <c:v>5.5</c:v>
                </c:pt>
                <c:pt idx="2">
                  <c:v>5</c:v>
                </c:pt>
                <c:pt idx="3">
                  <c:v>4.5</c:v>
                </c:pt>
                <c:pt idx="4">
                  <c:v>4</c:v>
                </c:pt>
                <c:pt idx="5">
                  <c:v>3.5</c:v>
                </c:pt>
                <c:pt idx="6">
                  <c:v>3</c:v>
                </c:pt>
                <c:pt idx="7">
                  <c:v>2.5</c:v>
                </c:pt>
                <c:pt idx="8">
                  <c:v>2</c:v>
                </c:pt>
                <c:pt idx="9">
                  <c:v>1.5</c:v>
                </c:pt>
                <c:pt idx="10">
                  <c:v>1</c:v>
                </c:pt>
                <c:pt idx="11">
                  <c:v>0.5</c:v>
                </c:pt>
              </c:numCache>
            </c:numRef>
          </c:cat>
          <c:val>
            <c:numRef>
              <c:f>'Chart Data'!$D$2:$D$13</c:f>
              <c:numCache>
                <c:formatCode>0</c:formatCode>
                <c:ptCount val="12"/>
                <c:pt idx="0">
                  <c:v>100</c:v>
                </c:pt>
                <c:pt idx="1">
                  <c:v>100</c:v>
                </c:pt>
                <c:pt idx="2">
                  <c:v>100</c:v>
                </c:pt>
                <c:pt idx="3">
                  <c:v>100</c:v>
                </c:pt>
                <c:pt idx="4">
                  <c:v>100</c:v>
                </c:pt>
                <c:pt idx="5">
                  <c:v>100</c:v>
                </c:pt>
                <c:pt idx="6">
                  <c:v>100</c:v>
                </c:pt>
                <c:pt idx="7">
                  <c:v>100</c:v>
                </c:pt>
                <c:pt idx="8">
                  <c:v>98.567708</c:v>
                </c:pt>
                <c:pt idx="9">
                  <c:v>89.735243</c:v>
                </c:pt>
                <c:pt idx="10">
                  <c:v>62.521701</c:v>
                </c:pt>
                <c:pt idx="11">
                  <c:v>17.1875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EP16 DP8TP2 8K</c:f>
              <c:strCache>
                <c:ptCount val="1"/>
                <c:pt idx="0">
                  <c:v>EP16 DP8TP2 8K</c:v>
                </c:pt>
              </c:strCache>
            </c:strRef>
          </c:tx>
          <c:spPr>
            <a:ln w="23813" cap="rnd">
              <a:solidFill>
                <a:srgbClr val="4472C4"/>
              </a:solidFill>
              <a:prstDash val="solid"/>
              <a:round/>
            </a:ln>
          </c:spPr>
          <c:marker>
            <c:symbol val="circle"/>
            <c:size val="6"/>
            <c:spPr>
              <a:solidFill>
                <a:srgbClr val="4472C4"/>
              </a:solidFill>
            </c:spPr>
          </c:marker>
          <c:dLbls>
            <c:delete val="1"/>
          </c:dLbls>
          <c:cat>
            <c:numRef>
              <c:f>'Chart Data'!$E$2:$E$13</c:f>
              <c:numCache>
                <c:formatCode>General</c:formatCode>
                <c:ptCount val="12"/>
                <c:pt idx="0">
                  <c:v>6</c:v>
                </c:pt>
                <c:pt idx="1">
                  <c:v>5.5</c:v>
                </c:pt>
                <c:pt idx="2">
                  <c:v>5</c:v>
                </c:pt>
                <c:pt idx="3">
                  <c:v>4.5</c:v>
                </c:pt>
                <c:pt idx="4">
                  <c:v>4</c:v>
                </c:pt>
                <c:pt idx="5">
                  <c:v>3.5</c:v>
                </c:pt>
                <c:pt idx="6">
                  <c:v>3</c:v>
                </c:pt>
                <c:pt idx="7">
                  <c:v>2.5</c:v>
                </c:pt>
                <c:pt idx="8">
                  <c:v>2</c:v>
                </c:pt>
                <c:pt idx="9">
                  <c:v>1.5</c:v>
                </c:pt>
                <c:pt idx="10">
                  <c:v>1</c:v>
                </c:pt>
                <c:pt idx="11">
                  <c:v>0.5</c:v>
                </c:pt>
              </c:numCache>
            </c:numRef>
          </c:cat>
          <c:val>
            <c:numRef>
              <c:f>'Chart Data'!$F$2:$F$13</c:f>
              <c:numCache>
                <c:formatCode>0</c:formatCode>
                <c:ptCount val="12"/>
                <c:pt idx="0">
                  <c:v>100</c:v>
                </c:pt>
                <c:pt idx="1">
                  <c:v>100</c:v>
                </c:pt>
                <c:pt idx="2">
                  <c:v>100</c:v>
                </c:pt>
                <c:pt idx="3">
                  <c:v>100</c:v>
                </c:pt>
                <c:pt idx="4">
                  <c:v>100</c:v>
                </c:pt>
                <c:pt idx="5">
                  <c:v>100</c:v>
                </c:pt>
                <c:pt idx="6">
                  <c:v>100</c:v>
                </c:pt>
                <c:pt idx="7">
                  <c:v>100</c:v>
                </c:pt>
                <c:pt idx="8">
                  <c:v>99.956597</c:v>
                </c:pt>
                <c:pt idx="9">
                  <c:v>98.524306</c:v>
                </c:pt>
                <c:pt idx="10">
                  <c:v>89.561632</c:v>
                </c:pt>
                <c:pt idx="11">
                  <c:v>48.003472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90% target</c:f>
              <c:strCache>
                <c:ptCount val="1"/>
                <c:pt idx="0">
                  <c:v>90% target</c:v>
                </c:pt>
              </c:strCache>
            </c:strRef>
          </c:tx>
          <c:spPr>
            <a:ln w="14288" cap="rnd">
              <a:solidFill>
                <a:srgbClr val="888888"/>
              </a:solidFill>
              <a:prstDash val="dash"/>
              <a:round/>
            </a:ln>
          </c:spPr>
          <c:marker>
            <c:symbol val="none"/>
          </c:marker>
          <c:dLbls>
            <c:delete val="1"/>
          </c:dLbls>
          <c:cat>
            <c:numRef>
              <c:f>'Chart Data'!$G$2:$G$13</c:f>
              <c:numCache>
                <c:formatCode>General</c:formatCode>
                <c:ptCount val="12"/>
                <c:pt idx="0">
                  <c:v>6</c:v>
                </c:pt>
                <c:pt idx="1">
                  <c:v>5.5</c:v>
                </c:pt>
                <c:pt idx="2">
                  <c:v>5</c:v>
                </c:pt>
                <c:pt idx="3">
                  <c:v>4.5</c:v>
                </c:pt>
                <c:pt idx="4">
                  <c:v>4</c:v>
                </c:pt>
                <c:pt idx="5">
                  <c:v>3.5</c:v>
                </c:pt>
                <c:pt idx="6">
                  <c:v>3</c:v>
                </c:pt>
                <c:pt idx="7">
                  <c:v>2.5</c:v>
                </c:pt>
                <c:pt idx="8">
                  <c:v>2</c:v>
                </c:pt>
                <c:pt idx="9">
                  <c:v>1.5</c:v>
                </c:pt>
                <c:pt idx="10">
                  <c:v>1</c:v>
                </c:pt>
                <c:pt idx="11">
                  <c:v>0.5</c:v>
                </c:pt>
              </c:numCache>
            </c:numRef>
          </c:cat>
          <c:val>
            <c:numRef>
              <c:f>'Chart Data'!$H$2:$H$13</c:f>
              <c:numCache>
                <c:formatCode>0</c:formatCode>
                <c:ptCount val="12"/>
                <c:pt idx="0">
                  <c:v>90</c:v>
                </c:pt>
                <c:pt idx="1">
                  <c:v>90</c:v>
                </c:pt>
                <c:pt idx="2">
                  <c:v>90</c:v>
                </c:pt>
                <c:pt idx="3">
                  <c:v>90</c:v>
                </c:pt>
                <c:pt idx="4">
                  <c:v>90</c:v>
                </c:pt>
                <c:pt idx="5">
                  <c:v>90</c:v>
                </c:pt>
                <c:pt idx="6">
                  <c:v>90</c:v>
                </c:pt>
                <c:pt idx="7">
                  <c:v>90</c:v>
                </c:pt>
                <c:pt idx="8">
                  <c:v>90</c:v>
                </c:pt>
                <c:pt idx="9">
                  <c:v>90</c:v>
                </c:pt>
                <c:pt idx="10">
                  <c:v>90</c:v>
                </c:pt>
                <c:pt idx="11">
                  <c:v>90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rot="0" spcFirstLastPara="0" vertOverflow="ellipsis" vert="horz" wrap="square" anchor="ctr" anchorCtr="1"/>
              <a:lstStyle/>
              <a:p>
                <a:pPr>
                  <a:defRPr lang="zh-CN" sz="10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sz="1125">
                    <a:latin typeface="Calibri"/>
                    <a:ea typeface="Calibri"/>
                    <a:cs typeface="Calibri"/>
                  </a:rPr>
                  <a:t>SLO Scale (TTFT = 10s × scale)</a:t>
                </a:r>
                <a:endParaRPr sz="1125">
                  <a:latin typeface="Calibri"/>
                  <a:ea typeface="Calibri"/>
                  <a:cs typeface="Calibri"/>
                </a:endParaRPr>
              </a:p>
            </c:rich>
          </c:tx>
          <c:layout/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pPr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w="9525">
              <a:solidFill>
                <a:srgbClr val="E5E7EB"/>
              </a:solidFill>
              <a:prstDash val="solid"/>
              <a:round/>
            </a:ln>
          </c:spPr>
        </c:majorGridlines>
        <c:title>
          <c:tx>
            <c:rich>
              <a:bodyPr rot="-5400000" spcFirstLastPara="0" vertOverflow="ellipsis" vert="horz" wrap="square" anchor="ctr" anchorCtr="1"/>
              <a:lstStyle/>
              <a:p>
                <a:pPr>
                  <a:defRPr lang="zh-CN" sz="10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sz="1125">
                    <a:latin typeface="Calibri"/>
                    <a:ea typeface="Calibri"/>
                    <a:cs typeface="Calibri"/>
                  </a:rPr>
                  <a:t>SLO attainment (%)</a:t>
                </a:r>
                <a:endParaRPr sz="1125">
                  <a:latin typeface="Calibri"/>
                  <a:ea typeface="Calibri"/>
                  <a:cs typeface="Calibri"/>
                </a:endParaRPr>
              </a:p>
            </c:rich>
          </c:tx>
          <c:layout/>
          <c:overlay val="0"/>
        </c:title>
        <c:numFmt formatCode="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75" b="0" i="0" u="none" strike="noStrike" kern="1200" baseline="0"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pPr>
          </a:p>
        </c:txPr>
        <c:crossAx val="48650112"/>
        <c:crosses val="autoZero"/>
        <c:crossBetween val="between"/>
        <c:majorUnit val="25"/>
      </c:valAx>
      <c:spPr>
        <a:solidFill>
          <a:srgbClr val="FFFFFF"/>
        </a:solidFill>
      </c:spPr>
    </c:plotArea>
    <c:plotVisOnly val="1"/>
    <c:dispBlanksAs val="gap"/>
    <c:showDLblsOverMax val="0"/>
    <c:extLst>
      <c:ext uri="{0b15fc19-7d7d-44ad-8c2d-2c3a37ce22c3}">
        <chartProps xmlns="https://web.wps.cn/et/2018/main" chartId="{ab216873-509e-457e-a7f9-79786b96e903}"/>
      </c:ext>
    </c:extLst>
  </c:chart>
  <c:spPr>
    <a:solidFill>
      <a:srgbClr val="FFFFFF"/>
    </a:solidFill>
    <a:ln w="0">
      <a:noFill/>
    </a:ln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zh-CN" sz="18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sz="1425" b="1">
                <a:latin typeface="微软雅黑"/>
                <a:ea typeface="微软雅黑"/>
                <a:cs typeface="微软雅黑"/>
              </a:rPr>
              <a:t>固定 TTFT≤10s，增加请求速率</a:t>
            </a:r>
            <a:endParaRPr sz="1425" b="1">
              <a:latin typeface="微软雅黑"/>
              <a:ea typeface="微软雅黑"/>
              <a:cs typeface="微软雅黑"/>
            </a:endParaRPr>
          </a:p>
        </c:rich>
      </c:tx>
      <c:layout/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AFD DP4TP2 64K</c:f>
              <c:strCache>
                <c:ptCount val="1"/>
                <c:pt idx="0">
                  <c:v>AFD DP4TP2 64K</c:v>
                </c:pt>
              </c:strCache>
            </c:strRef>
          </c:tx>
          <c:spPr>
            <a:ln w="23813" cap="rnd">
              <a:solidFill>
                <a:srgbClr val="F0A000"/>
              </a:solidFill>
              <a:prstDash val="solid"/>
              <a:round/>
            </a:ln>
          </c:spPr>
          <c:marker>
            <c:symbol val="triangle"/>
            <c:size val="6"/>
            <c:spPr>
              <a:solidFill>
                <a:srgbClr val="F0A000"/>
              </a:solidFill>
            </c:spPr>
          </c:marker>
          <c:dLbls>
            <c:delete val="1"/>
          </c:dLbls>
          <c:cat>
            <c:numRef>
              <c:f>'Chart Data'!$A$2:$A$4</c:f>
              <c:numCache>
                <c:formatCode>General</c:formatCode>
                <c:ptCount val="3"/>
                <c:pt idx="0">
                  <c:v>0.125</c:v>
                </c:pt>
                <c:pt idx="1">
                  <c:v>0.1875</c:v>
                </c:pt>
                <c:pt idx="2">
                  <c:v>0.25</c:v>
                </c:pt>
              </c:numCache>
            </c:numRef>
          </c:cat>
          <c:val>
            <c:numRef>
              <c:f>'Chart Data'!$B$2:$B$4</c:f>
              <c:numCache>
                <c:formatCode>0</c:formatCode>
                <c:ptCount val="3"/>
                <c:pt idx="0">
                  <c:v>99.891493</c:v>
                </c:pt>
                <c:pt idx="1">
                  <c:v>97.829861</c:v>
                </c:pt>
                <c:pt idx="2">
                  <c:v>62.999132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EP16 DP4TP4 16K</c:f>
              <c:strCache>
                <c:ptCount val="1"/>
                <c:pt idx="0">
                  <c:v>EP16 DP4TP4 16K</c:v>
                </c:pt>
              </c:strCache>
            </c:strRef>
          </c:tx>
          <c:spPr>
            <a:ln w="23813" cap="rnd">
              <a:solidFill>
                <a:srgbClr val="548235"/>
              </a:solidFill>
              <a:prstDash val="solid"/>
              <a:round/>
            </a:ln>
          </c:spPr>
          <c:marker>
            <c:symbol val="diamond"/>
            <c:size val="6"/>
            <c:spPr>
              <a:solidFill>
                <a:srgbClr val="548235"/>
              </a:solidFill>
            </c:spPr>
          </c:marker>
          <c:dLbls>
            <c:delete val="1"/>
          </c:dLbls>
          <c:cat>
            <c:numRef>
              <c:f>'Chart Data'!$C$2:$C$4</c:f>
              <c:numCache>
                <c:formatCode>General</c:formatCode>
                <c:ptCount val="3"/>
                <c:pt idx="0">
                  <c:v>0.125</c:v>
                </c:pt>
                <c:pt idx="1">
                  <c:v>0.1875</c:v>
                </c:pt>
                <c:pt idx="2">
                  <c:v>0.25</c:v>
                </c:pt>
              </c:numCache>
            </c:numRef>
          </c:cat>
          <c:val>
            <c:numRef>
              <c:f>'Chart Data'!$D$2:$D$4</c:f>
              <c:numCache>
                <c:formatCode>0</c:formatCode>
                <c:ptCount val="3"/>
                <c:pt idx="0">
                  <c:v>96.744792</c:v>
                </c:pt>
                <c:pt idx="1">
                  <c:v>91.601563</c:v>
                </c:pt>
                <c:pt idx="2">
                  <c:v>66.297743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EP16 DP8TP2 16K</c:f>
              <c:strCache>
                <c:ptCount val="1"/>
                <c:pt idx="0">
                  <c:v>EP16 DP8TP2 16K</c:v>
                </c:pt>
              </c:strCache>
            </c:strRef>
          </c:tx>
          <c:spPr>
            <a:ln w="23813" cap="rnd">
              <a:solidFill>
                <a:srgbClr val="4472C4"/>
              </a:solidFill>
              <a:prstDash val="solid"/>
              <a:round/>
            </a:ln>
          </c:spPr>
          <c:marker>
            <c:symbol val="circle"/>
            <c:size val="6"/>
            <c:spPr>
              <a:solidFill>
                <a:srgbClr val="4472C4"/>
              </a:solidFill>
            </c:spPr>
          </c:marker>
          <c:dLbls>
            <c:delete val="1"/>
          </c:dLbls>
          <c:cat>
            <c:numRef>
              <c:f>'Chart Data'!$E$2:$E$4</c:f>
              <c:numCache>
                <c:formatCode>General</c:formatCode>
                <c:ptCount val="3"/>
                <c:pt idx="0">
                  <c:v>0.125</c:v>
                </c:pt>
                <c:pt idx="1">
                  <c:v>0.1875</c:v>
                </c:pt>
                <c:pt idx="2">
                  <c:v>0.25</c:v>
                </c:pt>
              </c:numCache>
            </c:numRef>
          </c:cat>
          <c:val>
            <c:numRef>
              <c:f>'Chart Data'!$F$2:$F$4</c:f>
              <c:numCache>
                <c:formatCode>0</c:formatCode>
                <c:ptCount val="3"/>
                <c:pt idx="0">
                  <c:v>84.309896</c:v>
                </c:pt>
                <c:pt idx="1">
                  <c:v>63.975694</c:v>
                </c:pt>
                <c:pt idx="2">
                  <c:v>59.592014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90% target</c:f>
              <c:strCache>
                <c:ptCount val="1"/>
                <c:pt idx="0">
                  <c:v>90% target</c:v>
                </c:pt>
              </c:strCache>
            </c:strRef>
          </c:tx>
          <c:spPr>
            <a:ln w="14288" cap="rnd">
              <a:solidFill>
                <a:srgbClr val="888888"/>
              </a:solidFill>
              <a:prstDash val="dash"/>
              <a:round/>
            </a:ln>
          </c:spPr>
          <c:marker>
            <c:symbol val="none"/>
          </c:marker>
          <c:dLbls>
            <c:delete val="1"/>
          </c:dLbls>
          <c:cat>
            <c:numRef>
              <c:f>'Chart Data'!$G$2:$G$4</c:f>
              <c:numCache>
                <c:formatCode>General</c:formatCode>
                <c:ptCount val="3"/>
                <c:pt idx="0">
                  <c:v>0.125</c:v>
                </c:pt>
                <c:pt idx="1">
                  <c:v>0.1875</c:v>
                </c:pt>
                <c:pt idx="2">
                  <c:v>0.25</c:v>
                </c:pt>
              </c:numCache>
            </c:numRef>
          </c:cat>
          <c:val>
            <c:numRef>
              <c:f>'Chart Data'!$H$2:$H$4</c:f>
              <c:numCache>
                <c:formatCode>0</c:formatCode>
                <c:ptCount val="3"/>
                <c:pt idx="0">
                  <c:v>90</c:v>
                </c:pt>
                <c:pt idx="1">
                  <c:v>90</c:v>
                </c:pt>
                <c:pt idx="2">
                  <c:v>90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rot="0" spcFirstLastPara="0" vertOverflow="ellipsis" vert="horz" wrap="square" anchor="ctr" anchorCtr="1"/>
              <a:lstStyle/>
              <a:p>
                <a:pPr>
                  <a:defRPr lang="zh-CN" sz="10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sz="1125">
                    <a:latin typeface="Calibri"/>
                    <a:ea typeface="Calibri"/>
                    <a:cs typeface="Calibri"/>
                  </a:rPr>
                  <a:t>Offered rate (req/s per NPU die)</a:t>
                </a:r>
                <a:endParaRPr sz="1125">
                  <a:latin typeface="Calibri"/>
                  <a:ea typeface="Calibri"/>
                  <a:cs typeface="Calibri"/>
                </a:endParaRPr>
              </a:p>
            </c:rich>
          </c:tx>
          <c:layout/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pPr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w="9525">
              <a:solidFill>
                <a:srgbClr val="E5E7EB"/>
              </a:solidFill>
              <a:prstDash val="solid"/>
              <a:round/>
            </a:ln>
          </c:spPr>
        </c:majorGridlines>
        <c:title>
          <c:tx>
            <c:rich>
              <a:bodyPr rot="-5400000" spcFirstLastPara="0" vertOverflow="ellipsis" vert="horz" wrap="square" anchor="ctr" anchorCtr="1"/>
              <a:lstStyle/>
              <a:p>
                <a:pPr>
                  <a:defRPr lang="zh-CN" sz="10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sz="1125">
                    <a:latin typeface="Calibri"/>
                    <a:ea typeface="Calibri"/>
                    <a:cs typeface="Calibri"/>
                  </a:rPr>
                  <a:t>SLO attainment (%)</a:t>
                </a:r>
                <a:endParaRPr sz="1125">
                  <a:latin typeface="Calibri"/>
                  <a:ea typeface="Calibri"/>
                  <a:cs typeface="Calibri"/>
                </a:endParaRPr>
              </a:p>
            </c:rich>
          </c:tx>
          <c:layout/>
          <c:overlay val="0"/>
        </c:title>
        <c:numFmt formatCode="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75" b="0" i="0" u="none" strike="noStrike" kern="1200" baseline="0"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pPr>
          </a:p>
        </c:txPr>
        <c:crossAx val="48650112"/>
        <c:crosses val="autoZero"/>
        <c:crossBetween val="between"/>
        <c:majorUnit val="25"/>
      </c:valAx>
      <c:spPr>
        <a:solidFill>
          <a:srgbClr val="FFFFFF"/>
        </a:solidFill>
      </c:spPr>
    </c:plotArea>
    <c:plotVisOnly val="1"/>
    <c:dispBlanksAs val="gap"/>
    <c:showDLblsOverMax val="0"/>
    <c:extLst>
      <c:ext uri="{0b15fc19-7d7d-44ad-8c2d-2c3a37ce22c3}">
        <chartProps xmlns="https://web.wps.cn/et/2018/main" chartId="{636d9438-47e2-4ca0-b11a-67c18c5aa2dd}"/>
      </c:ext>
    </c:extLst>
  </c:chart>
  <c:spPr>
    <a:solidFill>
      <a:srgbClr val="FFFFFF"/>
    </a:solidFill>
    <a:ln w="0">
      <a:noFill/>
    </a:ln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zh-CN" sz="18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sz="1425" b="1">
                <a:latin typeface="微软雅黑"/>
                <a:ea typeface="微软雅黑"/>
                <a:cs typeface="微软雅黑"/>
              </a:rPr>
              <a:t>固定 RPS=4，收紧 TTFT 门槛</a:t>
            </a:r>
            <a:endParaRPr sz="1425" b="1">
              <a:latin typeface="微软雅黑"/>
              <a:ea typeface="微软雅黑"/>
              <a:cs typeface="微软雅黑"/>
            </a:endParaRPr>
          </a:p>
        </c:rich>
      </c:tx>
      <c:layout/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AFD DP4TP2 64K</c:f>
              <c:strCache>
                <c:ptCount val="1"/>
                <c:pt idx="0">
                  <c:v>AFD DP4TP2 64K</c:v>
                </c:pt>
              </c:strCache>
            </c:strRef>
          </c:tx>
          <c:spPr>
            <a:ln w="23813" cap="rnd">
              <a:solidFill>
                <a:srgbClr val="F0A000"/>
              </a:solidFill>
              <a:prstDash val="solid"/>
              <a:round/>
            </a:ln>
          </c:spPr>
          <c:marker>
            <c:symbol val="triangle"/>
            <c:size val="6"/>
            <c:spPr>
              <a:solidFill>
                <a:srgbClr val="F0A000"/>
              </a:solidFill>
            </c:spPr>
          </c:marker>
          <c:dLbls>
            <c:delete val="1"/>
          </c:dLbls>
          <c:cat>
            <c:numRef>
              <c:f>'Chart Data'!$A$2:$A$13</c:f>
              <c:numCache>
                <c:formatCode>General</c:formatCode>
                <c:ptCount val="12"/>
                <c:pt idx="0">
                  <c:v>6</c:v>
                </c:pt>
                <c:pt idx="1">
                  <c:v>5.5</c:v>
                </c:pt>
                <c:pt idx="2">
                  <c:v>5</c:v>
                </c:pt>
                <c:pt idx="3">
                  <c:v>4.5</c:v>
                </c:pt>
                <c:pt idx="4">
                  <c:v>4</c:v>
                </c:pt>
                <c:pt idx="5">
                  <c:v>3.5</c:v>
                </c:pt>
                <c:pt idx="6">
                  <c:v>3</c:v>
                </c:pt>
                <c:pt idx="7">
                  <c:v>2.5</c:v>
                </c:pt>
                <c:pt idx="8">
                  <c:v>2</c:v>
                </c:pt>
                <c:pt idx="9">
                  <c:v>1.5</c:v>
                </c:pt>
                <c:pt idx="10">
                  <c:v>1</c:v>
                </c:pt>
                <c:pt idx="11">
                  <c:v>0.5</c:v>
                </c:pt>
              </c:numCache>
            </c:numRef>
          </c:cat>
          <c:val>
            <c:numRef>
              <c:f>'Chart Data'!$B$2:$B$13</c:f>
              <c:numCache>
                <c:formatCode>0</c:formatCode>
                <c:ptCount val="12"/>
                <c:pt idx="0">
                  <c:v>99.978299</c:v>
                </c:pt>
                <c:pt idx="1">
                  <c:v>99.978299</c:v>
                </c:pt>
                <c:pt idx="2">
                  <c:v>99.978299</c:v>
                </c:pt>
                <c:pt idx="3">
                  <c:v>99.978299</c:v>
                </c:pt>
                <c:pt idx="4">
                  <c:v>99.978299</c:v>
                </c:pt>
                <c:pt idx="5">
                  <c:v>99.978299</c:v>
                </c:pt>
                <c:pt idx="6">
                  <c:v>99.978299</c:v>
                </c:pt>
                <c:pt idx="7">
                  <c:v>99.869792</c:v>
                </c:pt>
                <c:pt idx="8">
                  <c:v>98.415799</c:v>
                </c:pt>
                <c:pt idx="9">
                  <c:v>90.256076</c:v>
                </c:pt>
                <c:pt idx="10">
                  <c:v>62.999132</c:v>
                </c:pt>
                <c:pt idx="11">
                  <c:v>26.71441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EP16 DP4TP4 16K</c:f>
              <c:strCache>
                <c:ptCount val="1"/>
                <c:pt idx="0">
                  <c:v>EP16 DP4TP4 16K</c:v>
                </c:pt>
              </c:strCache>
            </c:strRef>
          </c:tx>
          <c:spPr>
            <a:ln w="23813" cap="rnd">
              <a:solidFill>
                <a:srgbClr val="548235"/>
              </a:solidFill>
              <a:prstDash val="solid"/>
              <a:round/>
            </a:ln>
          </c:spPr>
          <c:marker>
            <c:symbol val="diamond"/>
            <c:size val="6"/>
            <c:spPr>
              <a:solidFill>
                <a:srgbClr val="548235"/>
              </a:solidFill>
            </c:spPr>
          </c:marker>
          <c:dLbls>
            <c:delete val="1"/>
          </c:dLbls>
          <c:cat>
            <c:numRef>
              <c:f>'Chart Data'!$C$2:$C$13</c:f>
              <c:numCache>
                <c:formatCode>General</c:formatCode>
                <c:ptCount val="12"/>
                <c:pt idx="0">
                  <c:v>6</c:v>
                </c:pt>
                <c:pt idx="1">
                  <c:v>5.5</c:v>
                </c:pt>
                <c:pt idx="2">
                  <c:v>5</c:v>
                </c:pt>
                <c:pt idx="3">
                  <c:v>4.5</c:v>
                </c:pt>
                <c:pt idx="4">
                  <c:v>4</c:v>
                </c:pt>
                <c:pt idx="5">
                  <c:v>3.5</c:v>
                </c:pt>
                <c:pt idx="6">
                  <c:v>3</c:v>
                </c:pt>
                <c:pt idx="7">
                  <c:v>2.5</c:v>
                </c:pt>
                <c:pt idx="8">
                  <c:v>2</c:v>
                </c:pt>
                <c:pt idx="9">
                  <c:v>1.5</c:v>
                </c:pt>
                <c:pt idx="10">
                  <c:v>1</c:v>
                </c:pt>
                <c:pt idx="11">
                  <c:v>0.5</c:v>
                </c:pt>
              </c:numCache>
            </c:numRef>
          </c:cat>
          <c:val>
            <c:numRef>
              <c:f>'Chart Data'!$D$2:$D$13</c:f>
              <c:numCache>
                <c:formatCode>0</c:formatCode>
                <c:ptCount val="12"/>
                <c:pt idx="0">
                  <c:v>100</c:v>
                </c:pt>
                <c:pt idx="1">
                  <c:v>100</c:v>
                </c:pt>
                <c:pt idx="2">
                  <c:v>100</c:v>
                </c:pt>
                <c:pt idx="3">
                  <c:v>100</c:v>
                </c:pt>
                <c:pt idx="4">
                  <c:v>100</c:v>
                </c:pt>
                <c:pt idx="5">
                  <c:v>100</c:v>
                </c:pt>
                <c:pt idx="6">
                  <c:v>100</c:v>
                </c:pt>
                <c:pt idx="7">
                  <c:v>99.956597</c:v>
                </c:pt>
                <c:pt idx="8">
                  <c:v>99.674479</c:v>
                </c:pt>
                <c:pt idx="9">
                  <c:v>94.68316</c:v>
                </c:pt>
                <c:pt idx="10">
                  <c:v>66.297743</c:v>
                </c:pt>
                <c:pt idx="11">
                  <c:v>12.999132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EP16 DP8TP2 16K</c:f>
              <c:strCache>
                <c:ptCount val="1"/>
                <c:pt idx="0">
                  <c:v>EP16 DP8TP2 16K</c:v>
                </c:pt>
              </c:strCache>
            </c:strRef>
          </c:tx>
          <c:spPr>
            <a:ln w="23813" cap="rnd">
              <a:solidFill>
                <a:srgbClr val="4472C4"/>
              </a:solidFill>
              <a:prstDash val="solid"/>
              <a:round/>
            </a:ln>
          </c:spPr>
          <c:marker>
            <c:symbol val="circle"/>
            <c:size val="6"/>
            <c:spPr>
              <a:solidFill>
                <a:srgbClr val="4472C4"/>
              </a:solidFill>
            </c:spPr>
          </c:marker>
          <c:dLbls>
            <c:delete val="1"/>
          </c:dLbls>
          <c:cat>
            <c:numRef>
              <c:f>'Chart Data'!$E$2:$E$13</c:f>
              <c:numCache>
                <c:formatCode>General</c:formatCode>
                <c:ptCount val="12"/>
                <c:pt idx="0">
                  <c:v>6</c:v>
                </c:pt>
                <c:pt idx="1">
                  <c:v>5.5</c:v>
                </c:pt>
                <c:pt idx="2">
                  <c:v>5</c:v>
                </c:pt>
                <c:pt idx="3">
                  <c:v>4.5</c:v>
                </c:pt>
                <c:pt idx="4">
                  <c:v>4</c:v>
                </c:pt>
                <c:pt idx="5">
                  <c:v>3.5</c:v>
                </c:pt>
                <c:pt idx="6">
                  <c:v>3</c:v>
                </c:pt>
                <c:pt idx="7">
                  <c:v>2.5</c:v>
                </c:pt>
                <c:pt idx="8">
                  <c:v>2</c:v>
                </c:pt>
                <c:pt idx="9">
                  <c:v>1.5</c:v>
                </c:pt>
                <c:pt idx="10">
                  <c:v>1</c:v>
                </c:pt>
                <c:pt idx="11">
                  <c:v>0.5</c:v>
                </c:pt>
              </c:numCache>
            </c:numRef>
          </c:cat>
          <c:val>
            <c:numRef>
              <c:f>'Chart Data'!$F$2:$F$13</c:f>
              <c:numCache>
                <c:formatCode>0</c:formatCode>
                <c:ptCount val="12"/>
                <c:pt idx="0">
                  <c:v>100</c:v>
                </c:pt>
                <c:pt idx="1">
                  <c:v>100</c:v>
                </c:pt>
                <c:pt idx="2">
                  <c:v>100</c:v>
                </c:pt>
                <c:pt idx="3">
                  <c:v>100</c:v>
                </c:pt>
                <c:pt idx="4">
                  <c:v>100</c:v>
                </c:pt>
                <c:pt idx="5">
                  <c:v>100</c:v>
                </c:pt>
                <c:pt idx="6">
                  <c:v>100</c:v>
                </c:pt>
                <c:pt idx="7">
                  <c:v>99.913194</c:v>
                </c:pt>
                <c:pt idx="8">
                  <c:v>98.697917</c:v>
                </c:pt>
                <c:pt idx="9">
                  <c:v>90.885417</c:v>
                </c:pt>
                <c:pt idx="10">
                  <c:v>59.592014</c:v>
                </c:pt>
                <c:pt idx="11">
                  <c:v>1.041667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90% target</c:f>
              <c:strCache>
                <c:ptCount val="1"/>
                <c:pt idx="0">
                  <c:v>90% target</c:v>
                </c:pt>
              </c:strCache>
            </c:strRef>
          </c:tx>
          <c:spPr>
            <a:ln w="14288" cap="rnd">
              <a:solidFill>
                <a:srgbClr val="888888"/>
              </a:solidFill>
              <a:prstDash val="dash"/>
              <a:round/>
            </a:ln>
          </c:spPr>
          <c:marker>
            <c:symbol val="none"/>
          </c:marker>
          <c:dLbls>
            <c:delete val="1"/>
          </c:dLbls>
          <c:cat>
            <c:numRef>
              <c:f>'Chart Data'!$G$2:$G$13</c:f>
              <c:numCache>
                <c:formatCode>General</c:formatCode>
                <c:ptCount val="12"/>
                <c:pt idx="0">
                  <c:v>6</c:v>
                </c:pt>
                <c:pt idx="1">
                  <c:v>5.5</c:v>
                </c:pt>
                <c:pt idx="2">
                  <c:v>5</c:v>
                </c:pt>
                <c:pt idx="3">
                  <c:v>4.5</c:v>
                </c:pt>
                <c:pt idx="4">
                  <c:v>4</c:v>
                </c:pt>
                <c:pt idx="5">
                  <c:v>3.5</c:v>
                </c:pt>
                <c:pt idx="6">
                  <c:v>3</c:v>
                </c:pt>
                <c:pt idx="7">
                  <c:v>2.5</c:v>
                </c:pt>
                <c:pt idx="8">
                  <c:v>2</c:v>
                </c:pt>
                <c:pt idx="9">
                  <c:v>1.5</c:v>
                </c:pt>
                <c:pt idx="10">
                  <c:v>1</c:v>
                </c:pt>
                <c:pt idx="11">
                  <c:v>0.5</c:v>
                </c:pt>
              </c:numCache>
            </c:numRef>
          </c:cat>
          <c:val>
            <c:numRef>
              <c:f>'Chart Data'!$H$2:$H$13</c:f>
              <c:numCache>
                <c:formatCode>0</c:formatCode>
                <c:ptCount val="12"/>
                <c:pt idx="0">
                  <c:v>90</c:v>
                </c:pt>
                <c:pt idx="1">
                  <c:v>90</c:v>
                </c:pt>
                <c:pt idx="2">
                  <c:v>90</c:v>
                </c:pt>
                <c:pt idx="3">
                  <c:v>90</c:v>
                </c:pt>
                <c:pt idx="4">
                  <c:v>90</c:v>
                </c:pt>
                <c:pt idx="5">
                  <c:v>90</c:v>
                </c:pt>
                <c:pt idx="6">
                  <c:v>90</c:v>
                </c:pt>
                <c:pt idx="7">
                  <c:v>90</c:v>
                </c:pt>
                <c:pt idx="8">
                  <c:v>90</c:v>
                </c:pt>
                <c:pt idx="9">
                  <c:v>90</c:v>
                </c:pt>
                <c:pt idx="10">
                  <c:v>90</c:v>
                </c:pt>
                <c:pt idx="11">
                  <c:v>90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rot="0" spcFirstLastPara="0" vertOverflow="ellipsis" vert="horz" wrap="square" anchor="ctr" anchorCtr="1"/>
              <a:lstStyle/>
              <a:p>
                <a:pPr>
                  <a:defRPr lang="zh-CN" sz="10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sz="1125">
                    <a:latin typeface="Calibri"/>
                    <a:ea typeface="Calibri"/>
                    <a:cs typeface="Calibri"/>
                  </a:rPr>
                  <a:t>SLO Scale (TTFT = 10s × scale)</a:t>
                </a:r>
                <a:endParaRPr sz="1125">
                  <a:latin typeface="Calibri"/>
                  <a:ea typeface="Calibri"/>
                  <a:cs typeface="Calibri"/>
                </a:endParaRPr>
              </a:p>
            </c:rich>
          </c:tx>
          <c:layout/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pPr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w="9525">
              <a:solidFill>
                <a:srgbClr val="E5E7EB"/>
              </a:solidFill>
              <a:prstDash val="solid"/>
              <a:round/>
            </a:ln>
          </c:spPr>
        </c:majorGridlines>
        <c:title>
          <c:tx>
            <c:rich>
              <a:bodyPr rot="-5400000" spcFirstLastPara="0" vertOverflow="ellipsis" vert="horz" wrap="square" anchor="ctr" anchorCtr="1"/>
              <a:lstStyle/>
              <a:p>
                <a:pPr>
                  <a:defRPr lang="zh-CN" sz="10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sz="1125">
                    <a:latin typeface="Calibri"/>
                    <a:ea typeface="Calibri"/>
                    <a:cs typeface="Calibri"/>
                  </a:rPr>
                  <a:t>SLO attainment (%)</a:t>
                </a:r>
                <a:endParaRPr sz="1125">
                  <a:latin typeface="Calibri"/>
                  <a:ea typeface="Calibri"/>
                  <a:cs typeface="Calibri"/>
                </a:endParaRPr>
              </a:p>
            </c:rich>
          </c:tx>
          <c:layout/>
          <c:overlay val="0"/>
        </c:title>
        <c:numFmt formatCode="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75" b="0" i="0" u="none" strike="noStrike" kern="1200" baseline="0"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pPr>
          </a:p>
        </c:txPr>
        <c:crossAx val="48650112"/>
        <c:crosses val="autoZero"/>
        <c:crossBetween val="between"/>
        <c:majorUnit val="25"/>
      </c:valAx>
      <c:spPr>
        <a:solidFill>
          <a:srgbClr val="FFFFFF"/>
        </a:solidFill>
      </c:spPr>
    </c:plotArea>
    <c:plotVisOnly val="1"/>
    <c:dispBlanksAs val="gap"/>
    <c:showDLblsOverMax val="0"/>
    <c:extLst>
      <c:ext uri="{0b15fc19-7d7d-44ad-8c2d-2c3a37ce22c3}">
        <chartProps xmlns="https://web.wps.cn/et/2018/main" chartId="{2a59a1fc-c878-44d5-a351-0c910fdbdb52}"/>
      </c:ext>
    </c:extLst>
  </c:chart>
  <c:spPr>
    <a:solidFill>
      <a:srgbClr val="FFFFFF"/>
    </a:solidFill>
    <a:ln w="0">
      <a:noFill/>
    </a:ln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8K</c:f>
              <c:strCache>
                <c:ptCount val="1"/>
                <c:pt idx="0">
                  <c:v>8K</c:v>
                </c:pt>
              </c:strCache>
            </c:strRef>
          </c:tx>
          <c:spPr>
            <a:ln w="19050" cap="rnd">
              <a:solidFill>
                <a:srgbClr val="C00000"/>
              </a:solidFill>
              <a:prstDash val="solid"/>
              <a:round/>
            </a:ln>
          </c:spPr>
          <c:marker>
            <c:symbol val="circle"/>
            <c:size val="5"/>
            <c:spPr>
              <a:solidFill>
                <a:srgbClr val="C00000"/>
              </a:solidFill>
            </c:spPr>
          </c:marker>
          <c:dLbls>
            <c:delete val="1"/>
          </c:dLbls>
          <c:cat>
            <c:strRef>
              <c:f>'Chart Data'!$A$2:$A$4</c:f>
              <c:strCache>
                <c:ptCount val="3"/>
                <c:pt idx="0">
                  <c:v>RPS 2</c:v>
                </c:pt>
                <c:pt idx="1">
                  <c:v>RPS 3</c:v>
                </c:pt>
                <c:pt idx="2">
                  <c:v>RPS 4</c:v>
                </c:pt>
              </c:strCache>
            </c:str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1.974441</c:v>
                </c:pt>
                <c:pt idx="1">
                  <c:v>4.004952</c:v>
                </c:pt>
                <c:pt idx="2">
                  <c:v>32.115772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16K</c:f>
              <c:strCache>
                <c:ptCount val="1"/>
                <c:pt idx="0">
                  <c:v>16K</c:v>
                </c:pt>
              </c:strCache>
            </c:strRef>
          </c:tx>
          <c:spPr>
            <a:ln w="19050" cap="rnd">
              <a:solidFill>
                <a:srgbClr val="2B50A4"/>
              </a:solidFill>
              <a:prstDash val="solid"/>
              <a:round/>
            </a:ln>
          </c:spPr>
          <c:marker>
            <c:symbol val="circle"/>
            <c:size val="5"/>
            <c:spPr>
              <a:solidFill>
                <a:srgbClr val="2B50A4"/>
              </a:solidFill>
            </c:spPr>
          </c:marker>
          <c:dLbls>
            <c:delete val="1"/>
          </c:dLbls>
          <c:cat>
            <c:strRef>
              <c:f>'Chart Data'!$C$2:$C$4</c:f>
              <c:strCache>
                <c:ptCount val="3"/>
                <c:pt idx="0">
                  <c:v>RPS 2</c:v>
                </c:pt>
                <c:pt idx="1">
                  <c:v>RPS 3</c:v>
                </c:pt>
                <c:pt idx="2">
                  <c:v>RPS 4</c:v>
                </c:pt>
              </c:strCache>
            </c:strRef>
          </c:cat>
          <c:val>
            <c:numRef>
              <c:f>'Chart Data'!$D$2:$D$4</c:f>
              <c:numCache>
                <c:formatCode>General</c:formatCode>
                <c:ptCount val="3"/>
                <c:pt idx="0">
                  <c:v>1.535552</c:v>
                </c:pt>
                <c:pt idx="1">
                  <c:v>2.628173</c:v>
                </c:pt>
                <c:pt idx="2">
                  <c:v>10.155534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32K</c:f>
              <c:strCache>
                <c:ptCount val="1"/>
                <c:pt idx="0">
                  <c:v>32K</c:v>
                </c:pt>
              </c:strCache>
            </c:strRef>
          </c:tx>
          <c:spPr>
            <a:ln w="19050" cap="rnd">
              <a:solidFill>
                <a:srgbClr val="548A00"/>
              </a:solidFill>
              <a:prstDash val="solid"/>
              <a:round/>
            </a:ln>
          </c:spPr>
          <c:marker>
            <c:symbol val="circle"/>
            <c:size val="5"/>
            <c:spPr>
              <a:solidFill>
                <a:srgbClr val="548A00"/>
              </a:solidFill>
            </c:spPr>
          </c:marker>
          <c:dLbls>
            <c:delete val="1"/>
          </c:dLbls>
          <c:cat>
            <c:strRef>
              <c:f>'Chart Data'!$E$2:$E$4</c:f>
              <c:strCache>
                <c:ptCount val="3"/>
                <c:pt idx="0">
                  <c:v>RPS 2</c:v>
                </c:pt>
                <c:pt idx="1">
                  <c:v>RPS 3</c:v>
                </c:pt>
                <c:pt idx="2">
                  <c:v>RPS 4</c:v>
                </c:pt>
              </c:strCache>
            </c:strRef>
          </c:cat>
          <c:val>
            <c:numRef>
              <c:f>'Chart Data'!$F$2:$F$4</c:f>
              <c:numCache>
                <c:formatCode>General</c:formatCode>
                <c:ptCount val="3"/>
                <c:pt idx="0">
                  <c:v>1.671063</c:v>
                </c:pt>
                <c:pt idx="1">
                  <c:v>2.76739</c:v>
                </c:pt>
                <c:pt idx="2">
                  <c:v>7.5424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64K</c:f>
              <c:strCache>
                <c:ptCount val="1"/>
                <c:pt idx="0">
                  <c:v>64K</c:v>
                </c:pt>
              </c:strCache>
            </c:strRef>
          </c:tx>
          <c:spPr>
            <a:ln w="19050" cap="rnd">
              <a:solidFill>
                <a:srgbClr val="F2A300"/>
              </a:solidFill>
              <a:prstDash val="solid"/>
              <a:round/>
            </a:ln>
          </c:spPr>
          <c:marker>
            <c:symbol val="circle"/>
            <c:size val="5"/>
            <c:spPr>
              <a:solidFill>
                <a:srgbClr val="F2A300"/>
              </a:solidFill>
            </c:spPr>
          </c:marker>
          <c:dLbls>
            <c:delete val="1"/>
          </c:dLbls>
          <c:cat>
            <c:strRef>
              <c:f>'Chart Data'!$G$2:$G$4</c:f>
              <c:strCache>
                <c:ptCount val="3"/>
                <c:pt idx="0">
                  <c:v>RPS 2</c:v>
                </c:pt>
                <c:pt idx="1">
                  <c:v>RPS 3</c:v>
                </c:pt>
                <c:pt idx="2">
                  <c:v>RPS 4</c:v>
                </c:pt>
              </c:strCache>
            </c:strRef>
          </c:cat>
          <c:val>
            <c:numRef>
              <c:f>'Chart Data'!$H$2:$H$4</c:f>
              <c:numCache>
                <c:formatCode>General</c:formatCode>
                <c:ptCount val="3"/>
                <c:pt idx="0">
                  <c:v>1.62058</c:v>
                </c:pt>
                <c:pt idx="1">
                  <c:v>2.896497</c:v>
                </c:pt>
                <c:pt idx="2">
                  <c:v>8.555265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050" b="0" i="0" u="none" strike="noStrike" kern="1200" baseline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ax val="35"/>
          <c:min val="0"/>
        </c:scaling>
        <c:delete val="0"/>
        <c:axPos val="l"/>
        <c:majorGridlines>
          <c:spPr>
            <a:ln w="4763">
              <a:solidFill>
                <a:srgbClr val="DDDDDD"/>
              </a:solidFill>
              <a:prstDash val="solid"/>
              <a:round/>
            </a:ln>
          </c:spPr>
        </c:majorGridlines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050" b="0" i="0" u="none" strike="noStrike" kern="1200" baseline="0"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pPr>
          </a:p>
        </c:txPr>
        <c:crossAx val="48650112"/>
        <c:crosses val="autoZero"/>
        <c:crossBetween val="between"/>
        <c:majorUnit val="5"/>
      </c:valAx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1050" b="0" i="0" u="none" strike="noStrike" kern="1200" baseline="0">
              <a:solidFill>
                <a:schemeClr val="tx1"/>
              </a:solidFill>
              <a:latin typeface="微软雅黑"/>
              <a:ea typeface="微软雅黑"/>
              <a:cs typeface="微软雅黑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d26d55a2-f581-4fae-84ae-08a61a2b3a63}"/>
      </c:ext>
    </c:extLst>
  </c:chart>
  <c:spPr>
    <a:solidFill>
      <a:srgbClr val="FFFFFF"/>
    </a:solidFill>
    <a:ln w="0">
      <a:noFill/>
    </a:ln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RPS 3</c:f>
              <c:strCache>
                <c:ptCount val="1"/>
                <c:pt idx="0">
                  <c:v>RPS 3</c:v>
                </c:pt>
              </c:strCache>
            </c:strRef>
          </c:tx>
          <c:spPr>
            <a:solidFill>
              <a:srgbClr val="2B50A4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50" b="0" i="0" u="none" strike="noStrike" kern="1200" baseline="0">
                    <a:solidFill>
                      <a:schemeClr val="tx1"/>
                    </a:solidFill>
                    <a:latin typeface="Calibri"/>
                    <a:ea typeface="Calibri"/>
                    <a:cs typeface="Calibri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'Chart Data'!$A$2:$A$4</c:f>
              <c:strCache>
                <c:ptCount val="3"/>
                <c:pt idx="0">
                  <c:v>平均</c:v>
                </c:pt>
                <c:pt idx="1">
                  <c:v>P50</c:v>
                </c:pt>
                <c:pt idx="2">
                  <c:v>P99</c:v>
                </c:pt>
              </c:strCache>
            </c:strRef>
          </c:cat>
          <c:val>
            <c:numRef>
              <c:f>'Chart Data'!$B$2:$B$4</c:f>
              <c:numCache>
                <c:formatCode>0.00</c:formatCode>
                <c:ptCount val="3"/>
                <c:pt idx="0">
                  <c:v>2.896497</c:v>
                </c:pt>
                <c:pt idx="1">
                  <c:v>1.970793</c:v>
                </c:pt>
                <c:pt idx="2">
                  <c:v>11.059542</c:v>
                </c:pt>
              </c:numCache>
            </c:numRef>
          </c:val>
        </c:ser>
        <c:ser>
          <c:idx val="1"/>
          <c:order val="1"/>
          <c:tx>
            <c:strRef>
              <c:f>RPS 4</c:f>
              <c:strCache>
                <c:ptCount val="1"/>
                <c:pt idx="0">
                  <c:v>RPS 4</c:v>
                </c:pt>
              </c:strCache>
            </c:strRef>
          </c:tx>
          <c:spPr>
            <a:solidFill>
              <a:srgbClr val="F2A300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50" b="0" i="0" u="none" strike="noStrike" kern="1200" baseline="0">
                    <a:solidFill>
                      <a:schemeClr val="tx1"/>
                    </a:solidFill>
                    <a:latin typeface="Calibri"/>
                    <a:ea typeface="Calibri"/>
                    <a:cs typeface="Calibri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'Chart Data'!$C$2:$C$4</c:f>
              <c:strCache>
                <c:ptCount val="3"/>
                <c:pt idx="0">
                  <c:v>平均</c:v>
                </c:pt>
                <c:pt idx="1">
                  <c:v>P50</c:v>
                </c:pt>
                <c:pt idx="2">
                  <c:v>P99</c:v>
                </c:pt>
              </c:strCache>
            </c:strRef>
          </c:cat>
          <c:val>
            <c:numRef>
              <c:f>'Chart Data'!$D$2:$D$4</c:f>
              <c:numCache>
                <c:formatCode>0.00</c:formatCode>
                <c:ptCount val="3"/>
                <c:pt idx="0">
                  <c:v>8.555265</c:v>
                </c:pt>
                <c:pt idx="1">
                  <c:v>8.40692</c:v>
                </c:pt>
                <c:pt idx="2">
                  <c:v>20.284885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050" b="0" i="0" u="none" strike="noStrike" kern="1200" baseline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ax val="25"/>
          <c:min val="0"/>
        </c:scaling>
        <c:delete val="0"/>
        <c:axPos val="l"/>
        <c:majorGridlines>
          <c:spPr>
            <a:ln w="4763">
              <a:solidFill>
                <a:srgbClr val="DDDDDD"/>
              </a:solidFill>
              <a:prstDash val="solid"/>
              <a:round/>
            </a:ln>
          </c:spPr>
        </c:majorGridlines>
        <c:numFmt formatCode="0.0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050" b="0" i="0" u="none" strike="noStrike" kern="1200" baseline="0"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pPr>
          </a:p>
        </c:txPr>
        <c:crossAx val="48650112"/>
        <c:crosses val="autoZero"/>
        <c:crossBetween val="between"/>
        <c:majorUnit val="5"/>
      </c:valAx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1050" b="0" i="0" u="none" strike="noStrike" kern="1200" baseline="0">
              <a:solidFill>
                <a:schemeClr val="tx1"/>
              </a:solidFill>
              <a:latin typeface="微软雅黑"/>
              <a:ea typeface="微软雅黑"/>
              <a:cs typeface="微软雅黑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172079c3-f183-4842-8afd-3ef87c697534}"/>
      </c:ext>
    </c:extLst>
  </c:chart>
  <c:spPr>
    <a:solidFill>
      <a:srgbClr val="FFFFFF"/>
    </a:solidFill>
    <a:ln w="0">
      <a:noFill/>
    </a:ln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zh-CN" sz="18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US" sz="1125" b="1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P25 TTFT</a:t>
            </a:r>
            <a:endParaRPr lang="en-US" sz="1125" b="1">
              <a:solidFill>
                <a:srgbClr val="222222"/>
              </a:solidFill>
              <a:latin typeface="Calibri"/>
              <a:ea typeface="Calibri"/>
              <a:cs typeface="Calibri"/>
            </a:endParaRPr>
          </a:p>
        </c:rich>
      </c:tx>
      <c:layout/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AFD (PR #320)</c:f>
              <c:strCache>
                <c:ptCount val="1"/>
                <c:pt idx="0">
                  <c:v>AFD (PR #320)</c:v>
                </c:pt>
              </c:strCache>
            </c:strRef>
          </c:tx>
          <c:spPr>
            <a:ln w="21908" cap="rnd">
              <a:solidFill>
                <a:srgbClr val="F2A900"/>
              </a:solidFill>
              <a:prstDash val="solid"/>
              <a:round/>
            </a:ln>
          </c:spPr>
          <c:marker>
            <c:symbol val="circle"/>
            <c:size val="5"/>
            <c:spPr>
              <a:solidFill>
                <a:srgbClr val="F2A900"/>
              </a:solidFill>
            </c:spPr>
          </c:marker>
          <c:dPt>
            <c:idx val="0"/>
            <c:marker>
              <c:symbol val="circle"/>
              <c:size val="5"/>
              <c:spPr>
                <a:solidFill>
                  <a:srgbClr val="F2A900"/>
                </a:solidFill>
              </c:spPr>
            </c:marker>
            <c:bubble3D val="0"/>
            <c:spPr>
              <a:ln w="9525" cap="rnd">
                <a:solidFill>
                  <a:srgbClr val="F2A900"/>
                </a:solidFill>
                <a:prstDash val="solid"/>
                <a:round/>
              </a:ln>
            </c:spPr>
          </c:dPt>
          <c:dPt>
            <c:idx val="1"/>
            <c:marker>
              <c:symbol val="circle"/>
              <c:size val="5"/>
              <c:spPr>
                <a:solidFill>
                  <a:srgbClr val="F2A900"/>
                </a:solidFill>
              </c:spPr>
            </c:marker>
            <c:bubble3D val="0"/>
            <c:spPr>
              <a:ln w="9525" cap="rnd">
                <a:solidFill>
                  <a:srgbClr val="F2A900"/>
                </a:solidFill>
                <a:prstDash val="solid"/>
                <a:round/>
              </a:ln>
            </c:spPr>
          </c:dPt>
          <c:dPt>
            <c:idx val="2"/>
            <c:marker>
              <c:symbol val="circle"/>
              <c:size val="5"/>
              <c:spPr>
                <a:solidFill>
                  <a:srgbClr val="F2A900"/>
                </a:solidFill>
              </c:spPr>
            </c:marker>
            <c:bubble3D val="0"/>
            <c:spPr>
              <a:ln w="9525" cap="rnd">
                <a:solidFill>
                  <a:srgbClr val="F2A900"/>
                </a:solidFill>
                <a:prstDash val="solid"/>
                <a:round/>
              </a:ln>
            </c:spPr>
          </c:dPt>
          <c:dLbls>
            <c:delete val="1"/>
          </c:dLbls>
          <c:cat>
            <c:numRef>
              <c:f>'Chart Data'!$A$2:$A$4</c:f>
              <c:numCache>
                <c:formatCode>General</c:formatCode>
                <c:ptCount val="3"/>
                <c:pt idx="0">
                  <c:v>4</c:v>
                </c:pt>
                <c:pt idx="1">
                  <c:v>6</c:v>
                </c:pt>
                <c:pt idx="2">
                  <c:v>8</c:v>
                </c:pt>
              </c:numCache>
            </c:numRef>
          </c:cat>
          <c:val>
            <c:numRef>
              <c:f>'Chart Data'!$B$2:$B$4</c:f>
              <c:numCache>
                <c:formatCode>0.0</c:formatCode>
                <c:ptCount val="3"/>
                <c:pt idx="0">
                  <c:v>1.236</c:v>
                </c:pt>
                <c:pt idx="1">
                  <c:v>2.279</c:v>
                </c:pt>
                <c:pt idx="2">
                  <c:v>8.176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2×EP16 + Router</c:f>
              <c:strCache>
                <c:ptCount val="1"/>
                <c:pt idx="0">
                  <c:v>2×EP16 + Router</c:v>
                </c:pt>
              </c:strCache>
            </c:strRef>
          </c:tx>
          <c:spPr>
            <a:ln w="21908" cap="rnd">
              <a:solidFill>
                <a:srgbClr val="4472C4"/>
              </a:solidFill>
              <a:prstDash val="solid"/>
              <a:round/>
            </a:ln>
          </c:spPr>
          <c:marker>
            <c:symbol val="circle"/>
            <c:size val="5"/>
            <c:spPr>
              <a:solidFill>
                <a:srgbClr val="4472C4"/>
              </a:solidFill>
            </c:spPr>
          </c:marker>
          <c:dPt>
            <c:idx val="0"/>
            <c:marker>
              <c:symbol val="circle"/>
              <c:size val="5"/>
              <c:spPr>
                <a:solidFill>
                  <a:srgbClr val="4472C4"/>
                </a:solidFill>
              </c:spPr>
            </c:marker>
            <c:bubble3D val="0"/>
            <c:spPr>
              <a:ln w="9525" cap="rnd">
                <a:solidFill>
                  <a:srgbClr val="4472C4"/>
                </a:solidFill>
                <a:prstDash val="solid"/>
                <a:round/>
              </a:ln>
            </c:spPr>
          </c:dPt>
          <c:dPt>
            <c:idx val="1"/>
            <c:marker>
              <c:symbol val="circle"/>
              <c:size val="5"/>
              <c:spPr>
                <a:solidFill>
                  <a:srgbClr val="4472C4"/>
                </a:solidFill>
              </c:spPr>
            </c:marker>
            <c:bubble3D val="0"/>
            <c:spPr>
              <a:ln w="9525" cap="rnd">
                <a:solidFill>
                  <a:srgbClr val="4472C4"/>
                </a:solidFill>
                <a:prstDash val="solid"/>
                <a:round/>
              </a:ln>
            </c:spPr>
          </c:dPt>
          <c:dPt>
            <c:idx val="2"/>
            <c:marker>
              <c:symbol val="circle"/>
              <c:size val="5"/>
              <c:spPr>
                <a:solidFill>
                  <a:srgbClr val="4472C4"/>
                </a:solidFill>
              </c:spPr>
            </c:marker>
            <c:bubble3D val="0"/>
            <c:spPr>
              <a:ln w="9525" cap="rnd">
                <a:solidFill>
                  <a:srgbClr val="4472C4"/>
                </a:solidFill>
                <a:prstDash val="solid"/>
                <a:round/>
              </a:ln>
            </c:spPr>
          </c:dPt>
          <c:dLbls>
            <c:delete val="1"/>
          </c:dLbls>
          <c:cat>
            <c:numRef>
              <c:f>'Chart Data'!$C$2:$C$4</c:f>
              <c:numCache>
                <c:formatCode>General</c:formatCode>
                <c:ptCount val="3"/>
                <c:pt idx="0">
                  <c:v>4</c:v>
                </c:pt>
                <c:pt idx="1">
                  <c:v>6</c:v>
                </c:pt>
                <c:pt idx="2">
                  <c:v>8</c:v>
                </c:pt>
              </c:numCache>
            </c:numRef>
          </c:cat>
          <c:val>
            <c:numRef>
              <c:f>'Chart Data'!$D$2:$D$4</c:f>
              <c:numCache>
                <c:formatCode>0.0</c:formatCode>
                <c:ptCount val="3"/>
                <c:pt idx="0">
                  <c:v>1.093</c:v>
                </c:pt>
                <c:pt idx="1">
                  <c:v>1.792</c:v>
                </c:pt>
                <c:pt idx="2">
                  <c:v>12.123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9D9D9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ax val="40"/>
          <c:min val="0"/>
        </c:scaling>
        <c:delete val="0"/>
        <c:axPos val="l"/>
        <c:majorGridlines>
          <c:spPr>
            <a:ln w="9525">
              <a:solidFill>
                <a:srgbClr val="E8E8E8"/>
              </a:solidFill>
              <a:prstDash val="solid"/>
              <a:round/>
            </a:ln>
          </c:spPr>
        </c:majorGridlines>
        <c:numFmt formatCode="0.0" sourceLinked="1"/>
        <c:majorTickMark val="none"/>
        <c:minorTickMark val="none"/>
        <c:tickLblPos val="nextTo"/>
        <c:spPr>
          <a:ln w="9525">
            <a:solidFill>
              <a:srgbClr val="D9D9D9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</a:p>
        </c:txPr>
        <c:crossAx val="48650112"/>
        <c:crosses val="autoZero"/>
        <c:crossBetween val="between"/>
        <c:majorUnit val="10"/>
      </c:valAx>
      <c:spPr>
        <a:solidFill>
          <a:srgbClr val="FFFFFF"/>
        </a:solidFill>
        <a:ln w="9525">
          <a:solidFill>
            <a:srgbClr val="ECECEC"/>
          </a:solidFill>
          <a:prstDash val="solid"/>
        </a:ln>
      </c:spPr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825" b="0" i="0" u="none" strike="noStrike" kern="1200" baseline="0">
              <a:solidFill>
                <a:srgbClr val="222222"/>
              </a:solidFill>
              <a:latin typeface="Calibri"/>
              <a:ea typeface="Calibri"/>
              <a:cs typeface="Calibri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a5ed0835-5dc8-48b3-8c06-2c6bee534a09}"/>
      </c:ext>
    </c:extLst>
  </c:chart>
  <c:spPr>
    <a:solidFill>
      <a:srgbClr val="FFFFFF"/>
    </a:solidFill>
    <a:ln w="9525">
      <a:solidFill>
        <a:srgbClr val="D0D0D0"/>
      </a:solidFill>
      <a:prstDash val="solid"/>
    </a:ln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2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zh-CN" sz="18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US" sz="1125" b="1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P50 TTFT</a:t>
            </a:r>
            <a:endParaRPr lang="en-US" sz="1125" b="1">
              <a:solidFill>
                <a:srgbClr val="222222"/>
              </a:solidFill>
              <a:latin typeface="Calibri"/>
              <a:ea typeface="Calibri"/>
              <a:cs typeface="Calibri"/>
            </a:endParaRPr>
          </a:p>
        </c:rich>
      </c:tx>
      <c:layout/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AFD (PR #320)</c:f>
              <c:strCache>
                <c:ptCount val="1"/>
                <c:pt idx="0">
                  <c:v>AFD (PR #320)</c:v>
                </c:pt>
              </c:strCache>
            </c:strRef>
          </c:tx>
          <c:spPr>
            <a:ln w="21908" cap="rnd">
              <a:solidFill>
                <a:srgbClr val="F2A900"/>
              </a:solidFill>
              <a:prstDash val="solid"/>
              <a:round/>
            </a:ln>
          </c:spPr>
          <c:marker>
            <c:symbol val="circle"/>
            <c:size val="5"/>
            <c:spPr>
              <a:solidFill>
                <a:srgbClr val="F2A900"/>
              </a:solidFill>
            </c:spPr>
          </c:marker>
          <c:dPt>
            <c:idx val="0"/>
            <c:marker>
              <c:symbol val="circle"/>
              <c:size val="5"/>
              <c:spPr>
                <a:solidFill>
                  <a:srgbClr val="F2A900"/>
                </a:solidFill>
              </c:spPr>
            </c:marker>
            <c:bubble3D val="0"/>
            <c:spPr>
              <a:ln w="9525" cap="rnd">
                <a:solidFill>
                  <a:srgbClr val="F2A900"/>
                </a:solidFill>
                <a:prstDash val="solid"/>
                <a:round/>
              </a:ln>
            </c:spPr>
          </c:dPt>
          <c:dPt>
            <c:idx val="1"/>
            <c:marker>
              <c:symbol val="circle"/>
              <c:size val="5"/>
              <c:spPr>
                <a:solidFill>
                  <a:srgbClr val="F2A900"/>
                </a:solidFill>
              </c:spPr>
            </c:marker>
            <c:bubble3D val="0"/>
            <c:spPr>
              <a:ln w="9525" cap="rnd">
                <a:solidFill>
                  <a:srgbClr val="F2A900"/>
                </a:solidFill>
                <a:prstDash val="solid"/>
                <a:round/>
              </a:ln>
            </c:spPr>
          </c:dPt>
          <c:dPt>
            <c:idx val="2"/>
            <c:marker>
              <c:symbol val="circle"/>
              <c:size val="5"/>
              <c:spPr>
                <a:solidFill>
                  <a:srgbClr val="F2A900"/>
                </a:solidFill>
              </c:spPr>
            </c:marker>
            <c:bubble3D val="0"/>
            <c:spPr>
              <a:ln w="9525" cap="rnd">
                <a:solidFill>
                  <a:srgbClr val="F2A900"/>
                </a:solidFill>
                <a:prstDash val="solid"/>
                <a:round/>
              </a:ln>
            </c:spPr>
          </c:dPt>
          <c:dLbls>
            <c:delete val="1"/>
          </c:dLbls>
          <c:cat>
            <c:numRef>
              <c:f>'Chart Data'!$A$2:$A$4</c:f>
              <c:numCache>
                <c:formatCode>General</c:formatCode>
                <c:ptCount val="3"/>
                <c:pt idx="0">
                  <c:v>4</c:v>
                </c:pt>
                <c:pt idx="1">
                  <c:v>6</c:v>
                </c:pt>
                <c:pt idx="2">
                  <c:v>8</c:v>
                </c:pt>
              </c:numCache>
            </c:numRef>
          </c:cat>
          <c:val>
            <c:numRef>
              <c:f>'Chart Data'!$B$2:$B$4</c:f>
              <c:numCache>
                <c:formatCode>0.0</c:formatCode>
                <c:ptCount val="3"/>
                <c:pt idx="0">
                  <c:v>1.746</c:v>
                </c:pt>
                <c:pt idx="1">
                  <c:v>3.363</c:v>
                </c:pt>
                <c:pt idx="2">
                  <c:v>10.961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2×EP16 + Router</c:f>
              <c:strCache>
                <c:ptCount val="1"/>
                <c:pt idx="0">
                  <c:v>2×EP16 + Router</c:v>
                </c:pt>
              </c:strCache>
            </c:strRef>
          </c:tx>
          <c:spPr>
            <a:ln w="21908" cap="rnd">
              <a:solidFill>
                <a:srgbClr val="4472C4"/>
              </a:solidFill>
              <a:prstDash val="solid"/>
              <a:round/>
            </a:ln>
          </c:spPr>
          <c:marker>
            <c:symbol val="circle"/>
            <c:size val="5"/>
            <c:spPr>
              <a:solidFill>
                <a:srgbClr val="4472C4"/>
              </a:solidFill>
            </c:spPr>
          </c:marker>
          <c:dPt>
            <c:idx val="0"/>
            <c:marker>
              <c:symbol val="circle"/>
              <c:size val="5"/>
              <c:spPr>
                <a:solidFill>
                  <a:srgbClr val="4472C4"/>
                </a:solidFill>
              </c:spPr>
            </c:marker>
            <c:bubble3D val="0"/>
            <c:spPr>
              <a:ln w="9525" cap="rnd">
                <a:solidFill>
                  <a:srgbClr val="4472C4"/>
                </a:solidFill>
                <a:prstDash val="solid"/>
                <a:round/>
              </a:ln>
            </c:spPr>
          </c:dPt>
          <c:dPt>
            <c:idx val="1"/>
            <c:marker>
              <c:symbol val="circle"/>
              <c:size val="5"/>
              <c:spPr>
                <a:solidFill>
                  <a:srgbClr val="4472C4"/>
                </a:solidFill>
              </c:spPr>
            </c:marker>
            <c:bubble3D val="0"/>
            <c:spPr>
              <a:ln w="9525" cap="rnd">
                <a:solidFill>
                  <a:srgbClr val="4472C4"/>
                </a:solidFill>
                <a:prstDash val="solid"/>
                <a:round/>
              </a:ln>
            </c:spPr>
          </c:dPt>
          <c:dPt>
            <c:idx val="2"/>
            <c:marker>
              <c:symbol val="circle"/>
              <c:size val="5"/>
              <c:spPr>
                <a:solidFill>
                  <a:srgbClr val="4472C4"/>
                </a:solidFill>
              </c:spPr>
            </c:marker>
            <c:bubble3D val="0"/>
            <c:spPr>
              <a:ln w="9525" cap="rnd">
                <a:solidFill>
                  <a:srgbClr val="4472C4"/>
                </a:solidFill>
                <a:prstDash val="solid"/>
                <a:round/>
              </a:ln>
            </c:spPr>
          </c:dPt>
          <c:dLbls>
            <c:delete val="1"/>
          </c:dLbls>
          <c:cat>
            <c:numRef>
              <c:f>'Chart Data'!$C$2:$C$4</c:f>
              <c:numCache>
                <c:formatCode>General</c:formatCode>
                <c:ptCount val="3"/>
                <c:pt idx="0">
                  <c:v>4</c:v>
                </c:pt>
                <c:pt idx="1">
                  <c:v>6</c:v>
                </c:pt>
                <c:pt idx="2">
                  <c:v>8</c:v>
                </c:pt>
              </c:numCache>
            </c:numRef>
          </c:cat>
          <c:val>
            <c:numRef>
              <c:f>'Chart Data'!$D$2:$D$4</c:f>
              <c:numCache>
                <c:formatCode>0.0</c:formatCode>
                <c:ptCount val="3"/>
                <c:pt idx="0">
                  <c:v>1.753</c:v>
                </c:pt>
                <c:pt idx="1">
                  <c:v>2.959</c:v>
                </c:pt>
                <c:pt idx="2">
                  <c:v>17.854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9D9D9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ax val="40"/>
          <c:min val="0"/>
        </c:scaling>
        <c:delete val="0"/>
        <c:axPos val="l"/>
        <c:majorGridlines>
          <c:spPr>
            <a:ln w="9525">
              <a:solidFill>
                <a:srgbClr val="E8E8E8"/>
              </a:solidFill>
              <a:prstDash val="solid"/>
              <a:round/>
            </a:ln>
          </c:spPr>
        </c:majorGridlines>
        <c:numFmt formatCode="0.0" sourceLinked="1"/>
        <c:majorTickMark val="none"/>
        <c:minorTickMark val="none"/>
        <c:tickLblPos val="nextTo"/>
        <c:spPr>
          <a:ln w="9525">
            <a:solidFill>
              <a:srgbClr val="D9D9D9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</a:p>
        </c:txPr>
        <c:crossAx val="48650112"/>
        <c:crosses val="autoZero"/>
        <c:crossBetween val="between"/>
        <c:majorUnit val="10"/>
      </c:valAx>
      <c:spPr>
        <a:solidFill>
          <a:srgbClr val="FFFFFF"/>
        </a:solidFill>
        <a:ln w="9525">
          <a:solidFill>
            <a:srgbClr val="ECECEC"/>
          </a:solidFill>
          <a:prstDash val="solid"/>
        </a:ln>
      </c:spPr>
    </c:plotArea>
    <c:plotVisOnly val="1"/>
    <c:dispBlanksAs val="gap"/>
    <c:showDLblsOverMax val="0"/>
    <c:extLst>
      <c:ext uri="{0b15fc19-7d7d-44ad-8c2d-2c3a37ce22c3}">
        <chartProps xmlns="https://web.wps.cn/et/2018/main" chartId="{b8391569-cd7c-4056-8d7d-a74e09d0c421}"/>
      </c:ext>
    </c:extLst>
  </c:chart>
  <c:spPr>
    <a:solidFill>
      <a:srgbClr val="FFFFFF"/>
    </a:solidFill>
    <a:ln w="9525">
      <a:solidFill>
        <a:srgbClr val="D0D0D0"/>
      </a:solidFill>
      <a:prstDash val="solid"/>
    </a:ln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2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zh-CN" sz="18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US" sz="1125" b="1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P90 TTFT</a:t>
            </a:r>
            <a:endParaRPr lang="en-US" sz="1125" b="1">
              <a:solidFill>
                <a:srgbClr val="222222"/>
              </a:solidFill>
              <a:latin typeface="Calibri"/>
              <a:ea typeface="Calibri"/>
              <a:cs typeface="Calibri"/>
            </a:endParaRPr>
          </a:p>
        </c:rich>
      </c:tx>
      <c:layout/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AFD (PR #320)</c:f>
              <c:strCache>
                <c:ptCount val="1"/>
                <c:pt idx="0">
                  <c:v>AFD (PR #320)</c:v>
                </c:pt>
              </c:strCache>
            </c:strRef>
          </c:tx>
          <c:spPr>
            <a:ln w="21908" cap="rnd">
              <a:solidFill>
                <a:srgbClr val="F2A900"/>
              </a:solidFill>
              <a:prstDash val="solid"/>
              <a:round/>
            </a:ln>
          </c:spPr>
          <c:marker>
            <c:symbol val="circle"/>
            <c:size val="5"/>
            <c:spPr>
              <a:solidFill>
                <a:srgbClr val="F2A900"/>
              </a:solidFill>
            </c:spPr>
          </c:marker>
          <c:dPt>
            <c:idx val="0"/>
            <c:marker>
              <c:symbol val="circle"/>
              <c:size val="5"/>
              <c:spPr>
                <a:solidFill>
                  <a:srgbClr val="F2A900"/>
                </a:solidFill>
              </c:spPr>
            </c:marker>
            <c:bubble3D val="0"/>
            <c:spPr>
              <a:ln w="9525" cap="rnd">
                <a:solidFill>
                  <a:srgbClr val="F2A900"/>
                </a:solidFill>
                <a:prstDash val="solid"/>
                <a:round/>
              </a:ln>
            </c:spPr>
          </c:dPt>
          <c:dPt>
            <c:idx val="1"/>
            <c:marker>
              <c:symbol val="circle"/>
              <c:size val="5"/>
              <c:spPr>
                <a:solidFill>
                  <a:srgbClr val="F2A900"/>
                </a:solidFill>
              </c:spPr>
            </c:marker>
            <c:bubble3D val="0"/>
            <c:spPr>
              <a:ln w="9525" cap="rnd">
                <a:solidFill>
                  <a:srgbClr val="F2A900"/>
                </a:solidFill>
                <a:prstDash val="solid"/>
                <a:round/>
              </a:ln>
            </c:spPr>
          </c:dPt>
          <c:dPt>
            <c:idx val="2"/>
            <c:marker>
              <c:symbol val="circle"/>
              <c:size val="5"/>
              <c:spPr>
                <a:solidFill>
                  <a:srgbClr val="F2A900"/>
                </a:solidFill>
              </c:spPr>
            </c:marker>
            <c:bubble3D val="0"/>
            <c:spPr>
              <a:ln w="9525" cap="rnd">
                <a:solidFill>
                  <a:srgbClr val="F2A900"/>
                </a:solidFill>
                <a:prstDash val="solid"/>
                <a:round/>
              </a:ln>
            </c:spPr>
          </c:dPt>
          <c:dLbls>
            <c:delete val="1"/>
          </c:dLbls>
          <c:cat>
            <c:numRef>
              <c:f>'Chart Data'!$A$2:$A$4</c:f>
              <c:numCache>
                <c:formatCode>General</c:formatCode>
                <c:ptCount val="3"/>
                <c:pt idx="0">
                  <c:v>4</c:v>
                </c:pt>
                <c:pt idx="1">
                  <c:v>6</c:v>
                </c:pt>
                <c:pt idx="2">
                  <c:v>8</c:v>
                </c:pt>
              </c:numCache>
            </c:numRef>
          </c:cat>
          <c:val>
            <c:numRef>
              <c:f>'Chart Data'!$B$2:$B$4</c:f>
              <c:numCache>
                <c:formatCode>0.0</c:formatCode>
                <c:ptCount val="3"/>
                <c:pt idx="0">
                  <c:v>4.057</c:v>
                </c:pt>
                <c:pt idx="1">
                  <c:v>7.182</c:v>
                </c:pt>
                <c:pt idx="2">
                  <c:v>17.824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2×EP16 + Router</c:f>
              <c:strCache>
                <c:ptCount val="1"/>
                <c:pt idx="0">
                  <c:v>2×EP16 + Router</c:v>
                </c:pt>
              </c:strCache>
            </c:strRef>
          </c:tx>
          <c:spPr>
            <a:ln w="21908" cap="rnd">
              <a:solidFill>
                <a:srgbClr val="4472C4"/>
              </a:solidFill>
              <a:prstDash val="solid"/>
              <a:round/>
            </a:ln>
          </c:spPr>
          <c:marker>
            <c:symbol val="circle"/>
            <c:size val="5"/>
            <c:spPr>
              <a:solidFill>
                <a:srgbClr val="4472C4"/>
              </a:solidFill>
            </c:spPr>
          </c:marker>
          <c:dPt>
            <c:idx val="0"/>
            <c:marker>
              <c:symbol val="circle"/>
              <c:size val="5"/>
              <c:spPr>
                <a:solidFill>
                  <a:srgbClr val="4472C4"/>
                </a:solidFill>
              </c:spPr>
            </c:marker>
            <c:bubble3D val="0"/>
            <c:spPr>
              <a:ln w="9525" cap="rnd">
                <a:solidFill>
                  <a:srgbClr val="4472C4"/>
                </a:solidFill>
                <a:prstDash val="solid"/>
                <a:round/>
              </a:ln>
            </c:spPr>
          </c:dPt>
          <c:dPt>
            <c:idx val="1"/>
            <c:marker>
              <c:symbol val="circle"/>
              <c:size val="5"/>
              <c:spPr>
                <a:solidFill>
                  <a:srgbClr val="4472C4"/>
                </a:solidFill>
              </c:spPr>
            </c:marker>
            <c:bubble3D val="0"/>
            <c:spPr>
              <a:ln w="9525" cap="rnd">
                <a:solidFill>
                  <a:srgbClr val="4472C4"/>
                </a:solidFill>
                <a:prstDash val="solid"/>
                <a:round/>
              </a:ln>
            </c:spPr>
          </c:dPt>
          <c:dPt>
            <c:idx val="2"/>
            <c:marker>
              <c:symbol val="circle"/>
              <c:size val="5"/>
              <c:spPr>
                <a:solidFill>
                  <a:srgbClr val="4472C4"/>
                </a:solidFill>
              </c:spPr>
            </c:marker>
            <c:bubble3D val="0"/>
            <c:spPr>
              <a:ln w="9525" cap="rnd">
                <a:solidFill>
                  <a:srgbClr val="4472C4"/>
                </a:solidFill>
                <a:prstDash val="solid"/>
                <a:round/>
              </a:ln>
            </c:spPr>
          </c:dPt>
          <c:dLbls>
            <c:delete val="1"/>
          </c:dLbls>
          <c:cat>
            <c:numRef>
              <c:f>'Chart Data'!$C$2:$C$4</c:f>
              <c:numCache>
                <c:formatCode>General</c:formatCode>
                <c:ptCount val="3"/>
                <c:pt idx="0">
                  <c:v>4</c:v>
                </c:pt>
                <c:pt idx="1">
                  <c:v>6</c:v>
                </c:pt>
                <c:pt idx="2">
                  <c:v>8</c:v>
                </c:pt>
              </c:numCache>
            </c:numRef>
          </c:cat>
          <c:val>
            <c:numRef>
              <c:f>'Chart Data'!$D$2:$D$4</c:f>
              <c:numCache>
                <c:formatCode>0.0</c:formatCode>
                <c:ptCount val="3"/>
                <c:pt idx="0">
                  <c:v>4.524</c:v>
                </c:pt>
                <c:pt idx="1">
                  <c:v>6.784</c:v>
                </c:pt>
                <c:pt idx="2">
                  <c:v>28.606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9D9D9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ax val="40"/>
          <c:min val="0"/>
        </c:scaling>
        <c:delete val="0"/>
        <c:axPos val="l"/>
        <c:majorGridlines>
          <c:spPr>
            <a:ln w="9525">
              <a:solidFill>
                <a:srgbClr val="E8E8E8"/>
              </a:solidFill>
              <a:prstDash val="solid"/>
              <a:round/>
            </a:ln>
          </c:spPr>
        </c:majorGridlines>
        <c:numFmt formatCode="0.0" sourceLinked="1"/>
        <c:majorTickMark val="none"/>
        <c:minorTickMark val="none"/>
        <c:tickLblPos val="nextTo"/>
        <c:spPr>
          <a:ln w="9525">
            <a:solidFill>
              <a:srgbClr val="D9D9D9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</a:p>
        </c:txPr>
        <c:crossAx val="48650112"/>
        <c:crosses val="autoZero"/>
        <c:crossBetween val="between"/>
        <c:majorUnit val="10"/>
      </c:valAx>
      <c:spPr>
        <a:solidFill>
          <a:srgbClr val="FFFFFF"/>
        </a:solidFill>
        <a:ln w="9525">
          <a:solidFill>
            <a:srgbClr val="ECECEC"/>
          </a:solidFill>
          <a:prstDash val="solid"/>
        </a:ln>
      </c:spPr>
    </c:plotArea>
    <c:plotVisOnly val="1"/>
    <c:dispBlanksAs val="gap"/>
    <c:showDLblsOverMax val="0"/>
    <c:extLst>
      <c:ext uri="{0b15fc19-7d7d-44ad-8c2d-2c3a37ce22c3}">
        <chartProps xmlns="https://web.wps.cn/et/2018/main" chartId="{d7c2ff57-c89b-4bfb-9e5e-7f394e123dd1}"/>
      </c:ext>
    </c:extLst>
  </c:chart>
  <c:spPr>
    <a:solidFill>
      <a:srgbClr val="FFFFFF"/>
    </a:solidFill>
    <a:ln w="9525">
      <a:solidFill>
        <a:srgbClr val="D0D0D0"/>
      </a:solidFill>
      <a:prstDash val="solid"/>
    </a:ln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2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zh-CN" sz="18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US" sz="1125" b="1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P95 TTFT</a:t>
            </a:r>
            <a:endParaRPr lang="en-US" sz="1125" b="1">
              <a:solidFill>
                <a:srgbClr val="222222"/>
              </a:solidFill>
              <a:latin typeface="Calibri"/>
              <a:ea typeface="Calibri"/>
              <a:cs typeface="Calibri"/>
            </a:endParaRPr>
          </a:p>
        </c:rich>
      </c:tx>
      <c:layout/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AFD (PR #320)</c:f>
              <c:strCache>
                <c:ptCount val="1"/>
                <c:pt idx="0">
                  <c:v>AFD (PR #320)</c:v>
                </c:pt>
              </c:strCache>
            </c:strRef>
          </c:tx>
          <c:spPr>
            <a:ln w="21908" cap="rnd">
              <a:solidFill>
                <a:srgbClr val="F2A900"/>
              </a:solidFill>
              <a:prstDash val="solid"/>
              <a:round/>
            </a:ln>
          </c:spPr>
          <c:marker>
            <c:symbol val="circle"/>
            <c:size val="5"/>
            <c:spPr>
              <a:solidFill>
                <a:srgbClr val="F2A900"/>
              </a:solidFill>
            </c:spPr>
          </c:marker>
          <c:dPt>
            <c:idx val="0"/>
            <c:marker>
              <c:symbol val="circle"/>
              <c:size val="5"/>
              <c:spPr>
                <a:solidFill>
                  <a:srgbClr val="F2A900"/>
                </a:solidFill>
              </c:spPr>
            </c:marker>
            <c:bubble3D val="0"/>
            <c:spPr>
              <a:ln w="9525" cap="rnd">
                <a:solidFill>
                  <a:srgbClr val="F2A900"/>
                </a:solidFill>
                <a:prstDash val="solid"/>
                <a:round/>
              </a:ln>
            </c:spPr>
          </c:dPt>
          <c:dPt>
            <c:idx val="1"/>
            <c:marker>
              <c:symbol val="circle"/>
              <c:size val="5"/>
              <c:spPr>
                <a:solidFill>
                  <a:srgbClr val="F2A900"/>
                </a:solidFill>
              </c:spPr>
            </c:marker>
            <c:bubble3D val="0"/>
            <c:spPr>
              <a:ln w="9525" cap="rnd">
                <a:solidFill>
                  <a:srgbClr val="F2A900"/>
                </a:solidFill>
                <a:prstDash val="solid"/>
                <a:round/>
              </a:ln>
            </c:spPr>
          </c:dPt>
          <c:dPt>
            <c:idx val="2"/>
            <c:marker>
              <c:symbol val="circle"/>
              <c:size val="5"/>
              <c:spPr>
                <a:solidFill>
                  <a:srgbClr val="F2A900"/>
                </a:solidFill>
              </c:spPr>
            </c:marker>
            <c:bubble3D val="0"/>
            <c:spPr>
              <a:ln w="9525" cap="rnd">
                <a:solidFill>
                  <a:srgbClr val="F2A900"/>
                </a:solidFill>
                <a:prstDash val="solid"/>
                <a:round/>
              </a:ln>
            </c:spPr>
          </c:dPt>
          <c:dLbls>
            <c:delete val="1"/>
          </c:dLbls>
          <c:cat>
            <c:numRef>
              <c:f>'Chart Data'!$A$2:$A$4</c:f>
              <c:numCache>
                <c:formatCode>General</c:formatCode>
                <c:ptCount val="3"/>
                <c:pt idx="0">
                  <c:v>4</c:v>
                </c:pt>
                <c:pt idx="1">
                  <c:v>6</c:v>
                </c:pt>
                <c:pt idx="2">
                  <c:v>8</c:v>
                </c:pt>
              </c:numCache>
            </c:numRef>
          </c:cat>
          <c:val>
            <c:numRef>
              <c:f>'Chart Data'!$B$2:$B$4</c:f>
              <c:numCache>
                <c:formatCode>0.0</c:formatCode>
                <c:ptCount val="3"/>
                <c:pt idx="0">
                  <c:v>5.258</c:v>
                </c:pt>
                <c:pt idx="1">
                  <c:v>8.512</c:v>
                </c:pt>
                <c:pt idx="2">
                  <c:v>20.01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2×EP16 + Router</c:f>
              <c:strCache>
                <c:ptCount val="1"/>
                <c:pt idx="0">
                  <c:v>2×EP16 + Router</c:v>
                </c:pt>
              </c:strCache>
            </c:strRef>
          </c:tx>
          <c:spPr>
            <a:ln w="21908" cap="rnd">
              <a:solidFill>
                <a:srgbClr val="4472C4"/>
              </a:solidFill>
              <a:prstDash val="solid"/>
              <a:round/>
            </a:ln>
          </c:spPr>
          <c:marker>
            <c:symbol val="circle"/>
            <c:size val="5"/>
            <c:spPr>
              <a:solidFill>
                <a:srgbClr val="4472C4"/>
              </a:solidFill>
            </c:spPr>
          </c:marker>
          <c:dPt>
            <c:idx val="0"/>
            <c:marker>
              <c:symbol val="circle"/>
              <c:size val="5"/>
              <c:spPr>
                <a:solidFill>
                  <a:srgbClr val="4472C4"/>
                </a:solidFill>
              </c:spPr>
            </c:marker>
            <c:bubble3D val="0"/>
            <c:spPr>
              <a:ln w="9525" cap="rnd">
                <a:solidFill>
                  <a:srgbClr val="4472C4"/>
                </a:solidFill>
                <a:prstDash val="solid"/>
                <a:round/>
              </a:ln>
            </c:spPr>
          </c:dPt>
          <c:dPt>
            <c:idx val="1"/>
            <c:marker>
              <c:symbol val="circle"/>
              <c:size val="5"/>
              <c:spPr>
                <a:solidFill>
                  <a:srgbClr val="4472C4"/>
                </a:solidFill>
              </c:spPr>
            </c:marker>
            <c:bubble3D val="0"/>
            <c:spPr>
              <a:ln w="9525" cap="rnd">
                <a:solidFill>
                  <a:srgbClr val="4472C4"/>
                </a:solidFill>
                <a:prstDash val="solid"/>
                <a:round/>
              </a:ln>
            </c:spPr>
          </c:dPt>
          <c:dPt>
            <c:idx val="2"/>
            <c:marker>
              <c:symbol val="circle"/>
              <c:size val="5"/>
              <c:spPr>
                <a:solidFill>
                  <a:srgbClr val="4472C4"/>
                </a:solidFill>
              </c:spPr>
            </c:marker>
            <c:bubble3D val="0"/>
            <c:spPr>
              <a:ln w="9525" cap="rnd">
                <a:solidFill>
                  <a:srgbClr val="4472C4"/>
                </a:solidFill>
                <a:prstDash val="solid"/>
                <a:round/>
              </a:ln>
            </c:spPr>
          </c:dPt>
          <c:dLbls>
            <c:delete val="1"/>
          </c:dLbls>
          <c:cat>
            <c:numRef>
              <c:f>'Chart Data'!$C$2:$C$4</c:f>
              <c:numCache>
                <c:formatCode>General</c:formatCode>
                <c:ptCount val="3"/>
                <c:pt idx="0">
                  <c:v>4</c:v>
                </c:pt>
                <c:pt idx="1">
                  <c:v>6</c:v>
                </c:pt>
                <c:pt idx="2">
                  <c:v>8</c:v>
                </c:pt>
              </c:numCache>
            </c:numRef>
          </c:cat>
          <c:val>
            <c:numRef>
              <c:f>'Chart Data'!$D$2:$D$4</c:f>
              <c:numCache>
                <c:formatCode>0.0</c:formatCode>
                <c:ptCount val="3"/>
                <c:pt idx="0">
                  <c:v>5.762</c:v>
                </c:pt>
                <c:pt idx="1">
                  <c:v>8.289</c:v>
                </c:pt>
                <c:pt idx="2">
                  <c:v>30.993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9D9D9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ax val="40"/>
          <c:min val="0"/>
        </c:scaling>
        <c:delete val="0"/>
        <c:axPos val="l"/>
        <c:majorGridlines>
          <c:spPr>
            <a:ln w="9525">
              <a:solidFill>
                <a:srgbClr val="E8E8E8"/>
              </a:solidFill>
              <a:prstDash val="solid"/>
              <a:round/>
            </a:ln>
          </c:spPr>
        </c:majorGridlines>
        <c:numFmt formatCode="0.0" sourceLinked="1"/>
        <c:majorTickMark val="none"/>
        <c:minorTickMark val="none"/>
        <c:tickLblPos val="nextTo"/>
        <c:spPr>
          <a:ln w="9525">
            <a:solidFill>
              <a:srgbClr val="D9D9D9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</a:p>
        </c:txPr>
        <c:crossAx val="48650112"/>
        <c:crosses val="autoZero"/>
        <c:crossBetween val="between"/>
        <c:majorUnit val="10"/>
      </c:valAx>
      <c:spPr>
        <a:solidFill>
          <a:srgbClr val="FFFFFF"/>
        </a:solidFill>
        <a:ln w="9525">
          <a:solidFill>
            <a:srgbClr val="ECECEC"/>
          </a:solidFill>
          <a:prstDash val="solid"/>
        </a:ln>
      </c:spPr>
    </c:plotArea>
    <c:plotVisOnly val="1"/>
    <c:dispBlanksAs val="gap"/>
    <c:showDLblsOverMax val="0"/>
    <c:extLst>
      <c:ext uri="{0b15fc19-7d7d-44ad-8c2d-2c3a37ce22c3}">
        <chartProps xmlns="https://web.wps.cn/et/2018/main" chartId="{32ef52ef-3ba6-471b-8493-40d312c3c93a}"/>
      </c:ext>
    </c:extLst>
  </c:chart>
  <c:spPr>
    <a:solidFill>
      <a:srgbClr val="FFFFFF"/>
    </a:solidFill>
    <a:ln w="9525">
      <a:solidFill>
        <a:srgbClr val="D0D0D0"/>
      </a:solidFill>
      <a:prstDash val="solid"/>
    </a:ln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2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zh-CN" sz="18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US" sz="1125" b="1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P99 TTFT</a:t>
            </a:r>
            <a:endParaRPr lang="en-US" sz="1125" b="1">
              <a:solidFill>
                <a:srgbClr val="222222"/>
              </a:solidFill>
              <a:latin typeface="Calibri"/>
              <a:ea typeface="Calibri"/>
              <a:cs typeface="Calibri"/>
            </a:endParaRPr>
          </a:p>
        </c:rich>
      </c:tx>
      <c:layout/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AFD (PR #320)</c:f>
              <c:strCache>
                <c:ptCount val="1"/>
                <c:pt idx="0">
                  <c:v>AFD (PR #320)</c:v>
                </c:pt>
              </c:strCache>
            </c:strRef>
          </c:tx>
          <c:spPr>
            <a:ln w="21908" cap="rnd">
              <a:solidFill>
                <a:srgbClr val="F2A900"/>
              </a:solidFill>
              <a:prstDash val="solid"/>
              <a:round/>
            </a:ln>
          </c:spPr>
          <c:marker>
            <c:symbol val="circle"/>
            <c:size val="5"/>
            <c:spPr>
              <a:solidFill>
                <a:srgbClr val="F2A900"/>
              </a:solidFill>
            </c:spPr>
          </c:marker>
          <c:dPt>
            <c:idx val="0"/>
            <c:marker>
              <c:symbol val="circle"/>
              <c:size val="5"/>
              <c:spPr>
                <a:solidFill>
                  <a:srgbClr val="F2A900"/>
                </a:solidFill>
              </c:spPr>
            </c:marker>
            <c:bubble3D val="0"/>
            <c:spPr>
              <a:ln w="9525" cap="rnd">
                <a:solidFill>
                  <a:srgbClr val="F2A900"/>
                </a:solidFill>
                <a:prstDash val="solid"/>
                <a:round/>
              </a:ln>
            </c:spPr>
          </c:dPt>
          <c:dPt>
            <c:idx val="1"/>
            <c:marker>
              <c:symbol val="circle"/>
              <c:size val="5"/>
              <c:spPr>
                <a:solidFill>
                  <a:srgbClr val="F2A900"/>
                </a:solidFill>
              </c:spPr>
            </c:marker>
            <c:bubble3D val="0"/>
            <c:spPr>
              <a:ln w="9525" cap="rnd">
                <a:solidFill>
                  <a:srgbClr val="F2A900"/>
                </a:solidFill>
                <a:prstDash val="solid"/>
                <a:round/>
              </a:ln>
            </c:spPr>
          </c:dPt>
          <c:dPt>
            <c:idx val="2"/>
            <c:marker>
              <c:symbol val="circle"/>
              <c:size val="5"/>
              <c:spPr>
                <a:solidFill>
                  <a:srgbClr val="F2A900"/>
                </a:solidFill>
              </c:spPr>
            </c:marker>
            <c:bubble3D val="0"/>
            <c:spPr>
              <a:ln w="9525" cap="rnd">
                <a:solidFill>
                  <a:srgbClr val="F2A900"/>
                </a:solidFill>
                <a:prstDash val="solid"/>
                <a:round/>
              </a:ln>
            </c:spPr>
          </c:dPt>
          <c:dLbls>
            <c:delete val="1"/>
          </c:dLbls>
          <c:cat>
            <c:numRef>
              <c:f>'Chart Data'!$A$2:$A$4</c:f>
              <c:numCache>
                <c:formatCode>General</c:formatCode>
                <c:ptCount val="3"/>
                <c:pt idx="0">
                  <c:v>4</c:v>
                </c:pt>
                <c:pt idx="1">
                  <c:v>6</c:v>
                </c:pt>
                <c:pt idx="2">
                  <c:v>8</c:v>
                </c:pt>
              </c:numCache>
            </c:numRef>
          </c:cat>
          <c:val>
            <c:numRef>
              <c:f>'Chart Data'!$B$2:$B$4</c:f>
              <c:numCache>
                <c:formatCode>0.0</c:formatCode>
                <c:ptCount val="3"/>
                <c:pt idx="0">
                  <c:v>7.127</c:v>
                </c:pt>
                <c:pt idx="1">
                  <c:v>11.265</c:v>
                </c:pt>
                <c:pt idx="2">
                  <c:v>24.962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2×EP16 + Router</c:f>
              <c:strCache>
                <c:ptCount val="1"/>
                <c:pt idx="0">
                  <c:v>2×EP16 + Router</c:v>
                </c:pt>
              </c:strCache>
            </c:strRef>
          </c:tx>
          <c:spPr>
            <a:ln w="21908" cap="rnd">
              <a:solidFill>
                <a:srgbClr val="4472C4"/>
              </a:solidFill>
              <a:prstDash val="solid"/>
              <a:round/>
            </a:ln>
          </c:spPr>
          <c:marker>
            <c:symbol val="circle"/>
            <c:size val="5"/>
            <c:spPr>
              <a:solidFill>
                <a:srgbClr val="4472C4"/>
              </a:solidFill>
            </c:spPr>
          </c:marker>
          <c:dPt>
            <c:idx val="0"/>
            <c:marker>
              <c:symbol val="circle"/>
              <c:size val="5"/>
              <c:spPr>
                <a:solidFill>
                  <a:srgbClr val="4472C4"/>
                </a:solidFill>
              </c:spPr>
            </c:marker>
            <c:bubble3D val="0"/>
            <c:spPr>
              <a:ln w="9525" cap="rnd">
                <a:solidFill>
                  <a:srgbClr val="4472C4"/>
                </a:solidFill>
                <a:prstDash val="solid"/>
                <a:round/>
              </a:ln>
            </c:spPr>
          </c:dPt>
          <c:dPt>
            <c:idx val="1"/>
            <c:marker>
              <c:symbol val="circle"/>
              <c:size val="5"/>
              <c:spPr>
                <a:solidFill>
                  <a:srgbClr val="4472C4"/>
                </a:solidFill>
              </c:spPr>
            </c:marker>
            <c:bubble3D val="0"/>
            <c:spPr>
              <a:ln w="9525" cap="rnd">
                <a:solidFill>
                  <a:srgbClr val="4472C4"/>
                </a:solidFill>
                <a:prstDash val="solid"/>
                <a:round/>
              </a:ln>
            </c:spPr>
          </c:dPt>
          <c:dPt>
            <c:idx val="2"/>
            <c:marker>
              <c:symbol val="circle"/>
              <c:size val="5"/>
              <c:spPr>
                <a:solidFill>
                  <a:srgbClr val="4472C4"/>
                </a:solidFill>
              </c:spPr>
            </c:marker>
            <c:bubble3D val="0"/>
            <c:spPr>
              <a:ln w="9525" cap="rnd">
                <a:solidFill>
                  <a:srgbClr val="4472C4"/>
                </a:solidFill>
                <a:prstDash val="solid"/>
                <a:round/>
              </a:ln>
            </c:spPr>
          </c:dPt>
          <c:dLbls>
            <c:delete val="1"/>
          </c:dLbls>
          <c:cat>
            <c:numRef>
              <c:f>'Chart Data'!$C$2:$C$4</c:f>
              <c:numCache>
                <c:formatCode>General</c:formatCode>
                <c:ptCount val="3"/>
                <c:pt idx="0">
                  <c:v>4</c:v>
                </c:pt>
                <c:pt idx="1">
                  <c:v>6</c:v>
                </c:pt>
                <c:pt idx="2">
                  <c:v>8</c:v>
                </c:pt>
              </c:numCache>
            </c:numRef>
          </c:cat>
          <c:val>
            <c:numRef>
              <c:f>'Chart Data'!$D$2:$D$4</c:f>
              <c:numCache>
                <c:formatCode>0.0</c:formatCode>
                <c:ptCount val="3"/>
                <c:pt idx="0">
                  <c:v>8.155</c:v>
                </c:pt>
                <c:pt idx="1">
                  <c:v>10.824</c:v>
                </c:pt>
                <c:pt idx="2">
                  <c:v>35.725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9D9D9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ax val="40"/>
          <c:min val="0"/>
        </c:scaling>
        <c:delete val="0"/>
        <c:axPos val="l"/>
        <c:majorGridlines>
          <c:spPr>
            <a:ln w="9525">
              <a:solidFill>
                <a:srgbClr val="E8E8E8"/>
              </a:solidFill>
              <a:prstDash val="solid"/>
              <a:round/>
            </a:ln>
          </c:spPr>
        </c:majorGridlines>
        <c:numFmt formatCode="0.0" sourceLinked="1"/>
        <c:majorTickMark val="none"/>
        <c:minorTickMark val="none"/>
        <c:tickLblPos val="nextTo"/>
        <c:spPr>
          <a:ln w="9525">
            <a:solidFill>
              <a:srgbClr val="D9D9D9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</a:p>
        </c:txPr>
        <c:crossAx val="48650112"/>
        <c:crosses val="autoZero"/>
        <c:crossBetween val="between"/>
        <c:majorUnit val="10"/>
      </c:valAx>
      <c:spPr>
        <a:solidFill>
          <a:srgbClr val="FFFFFF"/>
        </a:solidFill>
        <a:ln w="9525">
          <a:solidFill>
            <a:srgbClr val="ECECEC"/>
          </a:solidFill>
          <a:prstDash val="solid"/>
        </a:ln>
      </c:spPr>
    </c:plotArea>
    <c:plotVisOnly val="1"/>
    <c:dispBlanksAs val="gap"/>
    <c:showDLblsOverMax val="0"/>
    <c:extLst>
      <c:ext uri="{0b15fc19-7d7d-44ad-8c2d-2c3a37ce22c3}">
        <chartProps xmlns="https://web.wps.cn/et/2018/main" chartId="{f6b46d5d-170a-4a5b-a1ef-6b1aece83286}"/>
      </c:ext>
    </c:extLst>
  </c:chart>
  <c:spPr>
    <a:solidFill>
      <a:srgbClr val="FFFFFF"/>
    </a:solidFill>
    <a:ln w="9525">
      <a:solidFill>
        <a:srgbClr val="D0D0D0"/>
      </a:solidFill>
      <a:prstDash val="solid"/>
    </a:ln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3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zh-CN" sz="18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US" sz="1125" b="1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P25 TTFT</a:t>
            </a:r>
            <a:endParaRPr lang="en-US" sz="1125" b="1">
              <a:solidFill>
                <a:srgbClr val="222222"/>
              </a:solidFill>
              <a:latin typeface="Calibri"/>
              <a:ea typeface="Calibri"/>
              <a:cs typeface="Calibri"/>
            </a:endParaRPr>
          </a:p>
        </c:rich>
      </c:tx>
      <c:layout/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AFD (PR #320)</c:f>
              <c:strCache>
                <c:ptCount val="1"/>
                <c:pt idx="0">
                  <c:v>AFD (PR #320)</c:v>
                </c:pt>
              </c:strCache>
            </c:strRef>
          </c:tx>
          <c:spPr>
            <a:ln w="21908" cap="rnd">
              <a:solidFill>
                <a:srgbClr val="F2A900"/>
              </a:solidFill>
              <a:prstDash val="solid"/>
              <a:round/>
            </a:ln>
          </c:spPr>
          <c:marker>
            <c:symbol val="circle"/>
            <c:size val="5"/>
            <c:spPr>
              <a:solidFill>
                <a:srgbClr val="F2A900"/>
              </a:solidFill>
            </c:spPr>
          </c:marker>
          <c:dPt>
            <c:idx val="0"/>
            <c:marker>
              <c:symbol val="circle"/>
              <c:size val="5"/>
              <c:spPr>
                <a:solidFill>
                  <a:srgbClr val="F2A900"/>
                </a:solidFill>
              </c:spPr>
            </c:marker>
            <c:bubble3D val="0"/>
            <c:spPr>
              <a:ln w="9525" cap="rnd">
                <a:solidFill>
                  <a:srgbClr val="F2A900"/>
                </a:solidFill>
                <a:prstDash val="solid"/>
                <a:round/>
              </a:ln>
            </c:spPr>
          </c:dPt>
          <c:dPt>
            <c:idx val="1"/>
            <c:marker>
              <c:symbol val="circle"/>
              <c:size val="5"/>
              <c:spPr>
                <a:solidFill>
                  <a:srgbClr val="F2A900"/>
                </a:solidFill>
              </c:spPr>
            </c:marker>
            <c:bubble3D val="0"/>
            <c:spPr>
              <a:ln w="9525" cap="rnd">
                <a:solidFill>
                  <a:srgbClr val="F2A900"/>
                </a:solidFill>
                <a:prstDash val="solid"/>
                <a:round/>
              </a:ln>
            </c:spPr>
          </c:dPt>
          <c:dPt>
            <c:idx val="2"/>
            <c:marker>
              <c:symbol val="circle"/>
              <c:size val="5"/>
              <c:spPr>
                <a:solidFill>
                  <a:srgbClr val="F2A900"/>
                </a:solidFill>
              </c:spPr>
            </c:marker>
            <c:bubble3D val="0"/>
            <c:spPr>
              <a:ln w="9525" cap="rnd">
                <a:solidFill>
                  <a:srgbClr val="F2A900"/>
                </a:solidFill>
                <a:prstDash val="solid"/>
                <a:round/>
              </a:ln>
            </c:spPr>
          </c:dPt>
          <c:dLbls>
            <c:delete val="1"/>
          </c:dLbls>
          <c:cat>
            <c:numRef>
              <c:f>'Chart Data'!$A$2:$A$4</c:f>
              <c:numCache>
                <c:formatCode>General</c:formatCode>
                <c:ptCount val="3"/>
                <c:pt idx="0">
                  <c:v>4</c:v>
                </c:pt>
                <c:pt idx="1">
                  <c:v>6</c:v>
                </c:pt>
                <c:pt idx="2">
                  <c:v>8</c:v>
                </c:pt>
              </c:numCache>
            </c:numRef>
          </c:cat>
          <c:val>
            <c:numRef>
              <c:f>'Chart Data'!$B$2:$B$4</c:f>
              <c:numCache>
                <c:formatCode>0.0</c:formatCode>
                <c:ptCount val="3"/>
                <c:pt idx="0">
                  <c:v>1.236</c:v>
                </c:pt>
                <c:pt idx="1">
                  <c:v>2.279</c:v>
                </c:pt>
                <c:pt idx="2">
                  <c:v>8.176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2×EP16 + Router</c:f>
              <c:strCache>
                <c:ptCount val="1"/>
                <c:pt idx="0">
                  <c:v>2×EP16 + Router</c:v>
                </c:pt>
              </c:strCache>
            </c:strRef>
          </c:tx>
          <c:spPr>
            <a:ln w="21908" cap="rnd">
              <a:solidFill>
                <a:srgbClr val="4472C4"/>
              </a:solidFill>
              <a:prstDash val="solid"/>
              <a:round/>
            </a:ln>
          </c:spPr>
          <c:marker>
            <c:symbol val="circle"/>
            <c:size val="5"/>
            <c:spPr>
              <a:solidFill>
                <a:srgbClr val="4472C4"/>
              </a:solidFill>
            </c:spPr>
          </c:marker>
          <c:dPt>
            <c:idx val="0"/>
            <c:marker>
              <c:symbol val="circle"/>
              <c:size val="5"/>
              <c:spPr>
                <a:solidFill>
                  <a:srgbClr val="4472C4"/>
                </a:solidFill>
              </c:spPr>
            </c:marker>
            <c:bubble3D val="0"/>
            <c:spPr>
              <a:ln w="9525" cap="rnd">
                <a:solidFill>
                  <a:srgbClr val="4472C4"/>
                </a:solidFill>
                <a:prstDash val="solid"/>
                <a:round/>
              </a:ln>
            </c:spPr>
          </c:dPt>
          <c:dPt>
            <c:idx val="1"/>
            <c:marker>
              <c:symbol val="circle"/>
              <c:size val="5"/>
              <c:spPr>
                <a:solidFill>
                  <a:srgbClr val="4472C4"/>
                </a:solidFill>
              </c:spPr>
            </c:marker>
            <c:bubble3D val="0"/>
            <c:spPr>
              <a:ln w="9525" cap="rnd">
                <a:solidFill>
                  <a:srgbClr val="4472C4"/>
                </a:solidFill>
                <a:prstDash val="solid"/>
                <a:round/>
              </a:ln>
            </c:spPr>
          </c:dPt>
          <c:dPt>
            <c:idx val="2"/>
            <c:marker>
              <c:symbol val="circle"/>
              <c:size val="5"/>
              <c:spPr>
                <a:solidFill>
                  <a:srgbClr val="4472C4"/>
                </a:solidFill>
              </c:spPr>
            </c:marker>
            <c:bubble3D val="0"/>
            <c:spPr>
              <a:ln w="9525" cap="rnd">
                <a:solidFill>
                  <a:srgbClr val="4472C4"/>
                </a:solidFill>
                <a:prstDash val="solid"/>
                <a:round/>
              </a:ln>
            </c:spPr>
          </c:dPt>
          <c:dLbls>
            <c:delete val="1"/>
          </c:dLbls>
          <c:cat>
            <c:numRef>
              <c:f>'Chart Data'!$C$2:$C$4</c:f>
              <c:numCache>
                <c:formatCode>General</c:formatCode>
                <c:ptCount val="3"/>
                <c:pt idx="0">
                  <c:v>4</c:v>
                </c:pt>
                <c:pt idx="1">
                  <c:v>6</c:v>
                </c:pt>
                <c:pt idx="2">
                  <c:v>8</c:v>
                </c:pt>
              </c:numCache>
            </c:numRef>
          </c:cat>
          <c:val>
            <c:numRef>
              <c:f>'Chart Data'!$D$2:$D$4</c:f>
              <c:numCache>
                <c:formatCode>0.0</c:formatCode>
                <c:ptCount val="3"/>
                <c:pt idx="0">
                  <c:v>1.775</c:v>
                </c:pt>
                <c:pt idx="1">
                  <c:v>2.599</c:v>
                </c:pt>
                <c:pt idx="2">
                  <c:v>5.394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9D9D9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ax val="30"/>
          <c:min val="0"/>
        </c:scaling>
        <c:delete val="0"/>
        <c:axPos val="l"/>
        <c:majorGridlines>
          <c:spPr>
            <a:ln w="9525">
              <a:solidFill>
                <a:srgbClr val="E8E8E8"/>
              </a:solidFill>
              <a:prstDash val="solid"/>
              <a:round/>
            </a:ln>
          </c:spPr>
        </c:majorGridlines>
        <c:numFmt formatCode="0.0" sourceLinked="1"/>
        <c:majorTickMark val="none"/>
        <c:minorTickMark val="none"/>
        <c:tickLblPos val="nextTo"/>
        <c:spPr>
          <a:ln w="9525">
            <a:solidFill>
              <a:srgbClr val="D9D9D9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</a:p>
        </c:txPr>
        <c:crossAx val="48650112"/>
        <c:crosses val="autoZero"/>
        <c:crossBetween val="between"/>
        <c:majorUnit val="10"/>
      </c:valAx>
      <c:spPr>
        <a:solidFill>
          <a:srgbClr val="FFFFFF"/>
        </a:solidFill>
        <a:ln w="9525">
          <a:solidFill>
            <a:srgbClr val="ECECEC"/>
          </a:solidFill>
          <a:prstDash val="solid"/>
        </a:ln>
      </c:spPr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825" b="0" i="0" u="none" strike="noStrike" kern="1200" baseline="0">
              <a:solidFill>
                <a:srgbClr val="222222"/>
              </a:solidFill>
              <a:latin typeface="Calibri"/>
              <a:ea typeface="Calibri"/>
              <a:cs typeface="Calibri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02f798b4-a820-4f3b-85a3-a8b570418dff}"/>
      </c:ext>
    </c:extLst>
  </c:chart>
  <c:spPr>
    <a:solidFill>
      <a:srgbClr val="FFFFFF"/>
    </a:solidFill>
    <a:ln w="9525">
      <a:solidFill>
        <a:srgbClr val="D0D0D0"/>
      </a:solidFill>
      <a:prstDash val="solid"/>
    </a:ln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3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zh-CN" sz="18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US" sz="1125" b="1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P50 TTFT</a:t>
            </a:r>
            <a:endParaRPr lang="en-US" sz="1125" b="1">
              <a:solidFill>
                <a:srgbClr val="222222"/>
              </a:solidFill>
              <a:latin typeface="Calibri"/>
              <a:ea typeface="Calibri"/>
              <a:cs typeface="Calibri"/>
            </a:endParaRPr>
          </a:p>
        </c:rich>
      </c:tx>
      <c:layout/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AFD (PR #320)</c:f>
              <c:strCache>
                <c:ptCount val="1"/>
                <c:pt idx="0">
                  <c:v>AFD (PR #320)</c:v>
                </c:pt>
              </c:strCache>
            </c:strRef>
          </c:tx>
          <c:spPr>
            <a:ln w="21908" cap="rnd">
              <a:solidFill>
                <a:srgbClr val="F2A900"/>
              </a:solidFill>
              <a:prstDash val="solid"/>
              <a:round/>
            </a:ln>
          </c:spPr>
          <c:marker>
            <c:symbol val="circle"/>
            <c:size val="5"/>
            <c:spPr>
              <a:solidFill>
                <a:srgbClr val="F2A900"/>
              </a:solidFill>
            </c:spPr>
          </c:marker>
          <c:dPt>
            <c:idx val="0"/>
            <c:marker>
              <c:symbol val="circle"/>
              <c:size val="5"/>
              <c:spPr>
                <a:solidFill>
                  <a:srgbClr val="F2A900"/>
                </a:solidFill>
              </c:spPr>
            </c:marker>
            <c:bubble3D val="0"/>
            <c:spPr>
              <a:ln w="9525" cap="rnd">
                <a:solidFill>
                  <a:srgbClr val="F2A900"/>
                </a:solidFill>
                <a:prstDash val="solid"/>
                <a:round/>
              </a:ln>
            </c:spPr>
          </c:dPt>
          <c:dPt>
            <c:idx val="1"/>
            <c:marker>
              <c:symbol val="circle"/>
              <c:size val="5"/>
              <c:spPr>
                <a:solidFill>
                  <a:srgbClr val="F2A900"/>
                </a:solidFill>
              </c:spPr>
            </c:marker>
            <c:bubble3D val="0"/>
            <c:spPr>
              <a:ln w="9525" cap="rnd">
                <a:solidFill>
                  <a:srgbClr val="F2A900"/>
                </a:solidFill>
                <a:prstDash val="solid"/>
                <a:round/>
              </a:ln>
            </c:spPr>
          </c:dPt>
          <c:dPt>
            <c:idx val="2"/>
            <c:marker>
              <c:symbol val="circle"/>
              <c:size val="5"/>
              <c:spPr>
                <a:solidFill>
                  <a:srgbClr val="F2A900"/>
                </a:solidFill>
              </c:spPr>
            </c:marker>
            <c:bubble3D val="0"/>
            <c:spPr>
              <a:ln w="9525" cap="rnd">
                <a:solidFill>
                  <a:srgbClr val="F2A900"/>
                </a:solidFill>
                <a:prstDash val="solid"/>
                <a:round/>
              </a:ln>
            </c:spPr>
          </c:dPt>
          <c:dLbls>
            <c:delete val="1"/>
          </c:dLbls>
          <c:cat>
            <c:numRef>
              <c:f>'Chart Data'!$A$2:$A$4</c:f>
              <c:numCache>
                <c:formatCode>General</c:formatCode>
                <c:ptCount val="3"/>
                <c:pt idx="0">
                  <c:v>4</c:v>
                </c:pt>
                <c:pt idx="1">
                  <c:v>6</c:v>
                </c:pt>
                <c:pt idx="2">
                  <c:v>8</c:v>
                </c:pt>
              </c:numCache>
            </c:numRef>
          </c:cat>
          <c:val>
            <c:numRef>
              <c:f>'Chart Data'!$B$2:$B$4</c:f>
              <c:numCache>
                <c:formatCode>0.0</c:formatCode>
                <c:ptCount val="3"/>
                <c:pt idx="0">
                  <c:v>1.746</c:v>
                </c:pt>
                <c:pt idx="1">
                  <c:v>3.363</c:v>
                </c:pt>
                <c:pt idx="2">
                  <c:v>10.961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2×EP16 + Router</c:f>
              <c:strCache>
                <c:ptCount val="1"/>
                <c:pt idx="0">
                  <c:v>2×EP16 + Router</c:v>
                </c:pt>
              </c:strCache>
            </c:strRef>
          </c:tx>
          <c:spPr>
            <a:ln w="21908" cap="rnd">
              <a:solidFill>
                <a:srgbClr val="4472C4"/>
              </a:solidFill>
              <a:prstDash val="solid"/>
              <a:round/>
            </a:ln>
          </c:spPr>
          <c:marker>
            <c:symbol val="circle"/>
            <c:size val="5"/>
            <c:spPr>
              <a:solidFill>
                <a:srgbClr val="4472C4"/>
              </a:solidFill>
            </c:spPr>
          </c:marker>
          <c:dPt>
            <c:idx val="0"/>
            <c:marker>
              <c:symbol val="circle"/>
              <c:size val="5"/>
              <c:spPr>
                <a:solidFill>
                  <a:srgbClr val="4472C4"/>
                </a:solidFill>
              </c:spPr>
            </c:marker>
            <c:bubble3D val="0"/>
            <c:spPr>
              <a:ln w="9525" cap="rnd">
                <a:solidFill>
                  <a:srgbClr val="4472C4"/>
                </a:solidFill>
                <a:prstDash val="solid"/>
                <a:round/>
              </a:ln>
            </c:spPr>
          </c:dPt>
          <c:dPt>
            <c:idx val="1"/>
            <c:marker>
              <c:symbol val="circle"/>
              <c:size val="5"/>
              <c:spPr>
                <a:solidFill>
                  <a:srgbClr val="4472C4"/>
                </a:solidFill>
              </c:spPr>
            </c:marker>
            <c:bubble3D val="0"/>
            <c:spPr>
              <a:ln w="9525" cap="rnd">
                <a:solidFill>
                  <a:srgbClr val="4472C4"/>
                </a:solidFill>
                <a:prstDash val="solid"/>
                <a:round/>
              </a:ln>
            </c:spPr>
          </c:dPt>
          <c:dPt>
            <c:idx val="2"/>
            <c:marker>
              <c:symbol val="circle"/>
              <c:size val="5"/>
              <c:spPr>
                <a:solidFill>
                  <a:srgbClr val="4472C4"/>
                </a:solidFill>
              </c:spPr>
            </c:marker>
            <c:bubble3D val="0"/>
            <c:spPr>
              <a:ln w="9525" cap="rnd">
                <a:solidFill>
                  <a:srgbClr val="4472C4"/>
                </a:solidFill>
                <a:prstDash val="solid"/>
                <a:round/>
              </a:ln>
            </c:spPr>
          </c:dPt>
          <c:dLbls>
            <c:delete val="1"/>
          </c:dLbls>
          <c:cat>
            <c:numRef>
              <c:f>'Chart Data'!$C$2:$C$4</c:f>
              <c:numCache>
                <c:formatCode>General</c:formatCode>
                <c:ptCount val="3"/>
                <c:pt idx="0">
                  <c:v>4</c:v>
                </c:pt>
                <c:pt idx="1">
                  <c:v>6</c:v>
                </c:pt>
                <c:pt idx="2">
                  <c:v>8</c:v>
                </c:pt>
              </c:numCache>
            </c:numRef>
          </c:cat>
          <c:val>
            <c:numRef>
              <c:f>'Chart Data'!$D$2:$D$4</c:f>
              <c:numCache>
                <c:formatCode>0.0</c:formatCode>
                <c:ptCount val="3"/>
                <c:pt idx="0">
                  <c:v>2.575</c:v>
                </c:pt>
                <c:pt idx="1">
                  <c:v>3.612</c:v>
                </c:pt>
                <c:pt idx="2">
                  <c:v>7.423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9D9D9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ax val="30"/>
          <c:min val="0"/>
        </c:scaling>
        <c:delete val="0"/>
        <c:axPos val="l"/>
        <c:majorGridlines>
          <c:spPr>
            <a:ln w="9525">
              <a:solidFill>
                <a:srgbClr val="E8E8E8"/>
              </a:solidFill>
              <a:prstDash val="solid"/>
              <a:round/>
            </a:ln>
          </c:spPr>
        </c:majorGridlines>
        <c:numFmt formatCode="0.0" sourceLinked="1"/>
        <c:majorTickMark val="none"/>
        <c:minorTickMark val="none"/>
        <c:tickLblPos val="nextTo"/>
        <c:spPr>
          <a:ln w="9525">
            <a:solidFill>
              <a:srgbClr val="D9D9D9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</a:p>
        </c:txPr>
        <c:crossAx val="48650112"/>
        <c:crosses val="autoZero"/>
        <c:crossBetween val="between"/>
        <c:majorUnit val="10"/>
      </c:valAx>
      <c:spPr>
        <a:solidFill>
          <a:srgbClr val="FFFFFF"/>
        </a:solidFill>
        <a:ln w="9525">
          <a:solidFill>
            <a:srgbClr val="ECECEC"/>
          </a:solidFill>
          <a:prstDash val="solid"/>
        </a:ln>
      </c:spPr>
    </c:plotArea>
    <c:plotVisOnly val="1"/>
    <c:dispBlanksAs val="gap"/>
    <c:showDLblsOverMax val="0"/>
    <c:extLst>
      <c:ext uri="{0b15fc19-7d7d-44ad-8c2d-2c3a37ce22c3}">
        <chartProps xmlns="https://web.wps.cn/et/2018/main" chartId="{0274b993-5e88-424a-8b0d-4d4690d5dbd4}"/>
      </c:ext>
    </c:extLst>
  </c:chart>
  <c:spPr>
    <a:solidFill>
      <a:srgbClr val="FFFFFF"/>
    </a:solidFill>
    <a:ln w="9525">
      <a:solidFill>
        <a:srgbClr val="D0D0D0"/>
      </a:solidFill>
      <a:prstDash val="solid"/>
    </a:ln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3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zh-CN" sz="18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US" sz="1125" b="1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P90 TTFT</a:t>
            </a:r>
            <a:endParaRPr lang="en-US" sz="1125" b="1">
              <a:solidFill>
                <a:srgbClr val="222222"/>
              </a:solidFill>
              <a:latin typeface="Calibri"/>
              <a:ea typeface="Calibri"/>
              <a:cs typeface="Calibri"/>
            </a:endParaRPr>
          </a:p>
        </c:rich>
      </c:tx>
      <c:layout/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AFD (PR #320)</c:f>
              <c:strCache>
                <c:ptCount val="1"/>
                <c:pt idx="0">
                  <c:v>AFD (PR #320)</c:v>
                </c:pt>
              </c:strCache>
            </c:strRef>
          </c:tx>
          <c:spPr>
            <a:ln w="21908" cap="rnd">
              <a:solidFill>
                <a:srgbClr val="F2A900"/>
              </a:solidFill>
              <a:prstDash val="solid"/>
              <a:round/>
            </a:ln>
          </c:spPr>
          <c:marker>
            <c:symbol val="circle"/>
            <c:size val="5"/>
            <c:spPr>
              <a:solidFill>
                <a:srgbClr val="F2A900"/>
              </a:solidFill>
            </c:spPr>
          </c:marker>
          <c:dPt>
            <c:idx val="0"/>
            <c:marker>
              <c:symbol val="circle"/>
              <c:size val="5"/>
              <c:spPr>
                <a:solidFill>
                  <a:srgbClr val="F2A900"/>
                </a:solidFill>
              </c:spPr>
            </c:marker>
            <c:bubble3D val="0"/>
            <c:spPr>
              <a:ln w="9525" cap="rnd">
                <a:solidFill>
                  <a:srgbClr val="F2A900"/>
                </a:solidFill>
                <a:prstDash val="solid"/>
                <a:round/>
              </a:ln>
            </c:spPr>
          </c:dPt>
          <c:dPt>
            <c:idx val="1"/>
            <c:marker>
              <c:symbol val="circle"/>
              <c:size val="5"/>
              <c:spPr>
                <a:solidFill>
                  <a:srgbClr val="F2A900"/>
                </a:solidFill>
              </c:spPr>
            </c:marker>
            <c:bubble3D val="0"/>
            <c:spPr>
              <a:ln w="9525" cap="rnd">
                <a:solidFill>
                  <a:srgbClr val="F2A900"/>
                </a:solidFill>
                <a:prstDash val="solid"/>
                <a:round/>
              </a:ln>
            </c:spPr>
          </c:dPt>
          <c:dPt>
            <c:idx val="2"/>
            <c:marker>
              <c:symbol val="circle"/>
              <c:size val="5"/>
              <c:spPr>
                <a:solidFill>
                  <a:srgbClr val="F2A900"/>
                </a:solidFill>
              </c:spPr>
            </c:marker>
            <c:bubble3D val="0"/>
            <c:spPr>
              <a:ln w="9525" cap="rnd">
                <a:solidFill>
                  <a:srgbClr val="F2A900"/>
                </a:solidFill>
                <a:prstDash val="solid"/>
                <a:round/>
              </a:ln>
            </c:spPr>
          </c:dPt>
          <c:dLbls>
            <c:delete val="1"/>
          </c:dLbls>
          <c:cat>
            <c:numRef>
              <c:f>'Chart Data'!$A$2:$A$4</c:f>
              <c:numCache>
                <c:formatCode>General</c:formatCode>
                <c:ptCount val="3"/>
                <c:pt idx="0">
                  <c:v>4</c:v>
                </c:pt>
                <c:pt idx="1">
                  <c:v>6</c:v>
                </c:pt>
                <c:pt idx="2">
                  <c:v>8</c:v>
                </c:pt>
              </c:numCache>
            </c:numRef>
          </c:cat>
          <c:val>
            <c:numRef>
              <c:f>'Chart Data'!$B$2:$B$4</c:f>
              <c:numCache>
                <c:formatCode>0.0</c:formatCode>
                <c:ptCount val="3"/>
                <c:pt idx="0">
                  <c:v>4.057</c:v>
                </c:pt>
                <c:pt idx="1">
                  <c:v>7.182</c:v>
                </c:pt>
                <c:pt idx="2">
                  <c:v>17.824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2×EP16 + Router</c:f>
              <c:strCache>
                <c:ptCount val="1"/>
                <c:pt idx="0">
                  <c:v>2×EP16 + Router</c:v>
                </c:pt>
              </c:strCache>
            </c:strRef>
          </c:tx>
          <c:spPr>
            <a:ln w="21908" cap="rnd">
              <a:solidFill>
                <a:srgbClr val="4472C4"/>
              </a:solidFill>
              <a:prstDash val="solid"/>
              <a:round/>
            </a:ln>
          </c:spPr>
          <c:marker>
            <c:symbol val="circle"/>
            <c:size val="5"/>
            <c:spPr>
              <a:solidFill>
                <a:srgbClr val="4472C4"/>
              </a:solidFill>
            </c:spPr>
          </c:marker>
          <c:dPt>
            <c:idx val="0"/>
            <c:marker>
              <c:symbol val="circle"/>
              <c:size val="5"/>
              <c:spPr>
                <a:solidFill>
                  <a:srgbClr val="4472C4"/>
                </a:solidFill>
              </c:spPr>
            </c:marker>
            <c:bubble3D val="0"/>
            <c:spPr>
              <a:ln w="9525" cap="rnd">
                <a:solidFill>
                  <a:srgbClr val="4472C4"/>
                </a:solidFill>
                <a:prstDash val="solid"/>
                <a:round/>
              </a:ln>
            </c:spPr>
          </c:dPt>
          <c:dPt>
            <c:idx val="1"/>
            <c:marker>
              <c:symbol val="circle"/>
              <c:size val="5"/>
              <c:spPr>
                <a:solidFill>
                  <a:srgbClr val="4472C4"/>
                </a:solidFill>
              </c:spPr>
            </c:marker>
            <c:bubble3D val="0"/>
            <c:spPr>
              <a:ln w="9525" cap="rnd">
                <a:solidFill>
                  <a:srgbClr val="4472C4"/>
                </a:solidFill>
                <a:prstDash val="solid"/>
                <a:round/>
              </a:ln>
            </c:spPr>
          </c:dPt>
          <c:dPt>
            <c:idx val="2"/>
            <c:marker>
              <c:symbol val="circle"/>
              <c:size val="5"/>
              <c:spPr>
                <a:solidFill>
                  <a:srgbClr val="4472C4"/>
                </a:solidFill>
              </c:spPr>
            </c:marker>
            <c:bubble3D val="0"/>
            <c:spPr>
              <a:ln w="9525" cap="rnd">
                <a:solidFill>
                  <a:srgbClr val="4472C4"/>
                </a:solidFill>
                <a:prstDash val="solid"/>
                <a:round/>
              </a:ln>
            </c:spPr>
          </c:dPt>
          <c:dLbls>
            <c:delete val="1"/>
          </c:dLbls>
          <c:cat>
            <c:numRef>
              <c:f>'Chart Data'!$C$2:$C$4</c:f>
              <c:numCache>
                <c:formatCode>General</c:formatCode>
                <c:ptCount val="3"/>
                <c:pt idx="0">
                  <c:v>4</c:v>
                </c:pt>
                <c:pt idx="1">
                  <c:v>6</c:v>
                </c:pt>
                <c:pt idx="2">
                  <c:v>8</c:v>
                </c:pt>
              </c:numCache>
            </c:numRef>
          </c:cat>
          <c:val>
            <c:numRef>
              <c:f>'Chart Data'!$D$2:$D$4</c:f>
              <c:numCache>
                <c:formatCode>0.0</c:formatCode>
                <c:ptCount val="3"/>
                <c:pt idx="0">
                  <c:v>5.206</c:v>
                </c:pt>
                <c:pt idx="1">
                  <c:v>7.365</c:v>
                </c:pt>
                <c:pt idx="2">
                  <c:v>12.161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9D9D9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ax val="30"/>
          <c:min val="0"/>
        </c:scaling>
        <c:delete val="0"/>
        <c:axPos val="l"/>
        <c:majorGridlines>
          <c:spPr>
            <a:ln w="9525">
              <a:solidFill>
                <a:srgbClr val="E8E8E8"/>
              </a:solidFill>
              <a:prstDash val="solid"/>
              <a:round/>
            </a:ln>
          </c:spPr>
        </c:majorGridlines>
        <c:numFmt formatCode="0.0" sourceLinked="1"/>
        <c:majorTickMark val="none"/>
        <c:minorTickMark val="none"/>
        <c:tickLblPos val="nextTo"/>
        <c:spPr>
          <a:ln w="9525">
            <a:solidFill>
              <a:srgbClr val="D9D9D9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</a:p>
        </c:txPr>
        <c:crossAx val="48650112"/>
        <c:crosses val="autoZero"/>
        <c:crossBetween val="between"/>
        <c:majorUnit val="10"/>
      </c:valAx>
      <c:spPr>
        <a:solidFill>
          <a:srgbClr val="FFFFFF"/>
        </a:solidFill>
        <a:ln w="9525">
          <a:solidFill>
            <a:srgbClr val="ECECEC"/>
          </a:solidFill>
          <a:prstDash val="solid"/>
        </a:ln>
      </c:spPr>
    </c:plotArea>
    <c:plotVisOnly val="1"/>
    <c:dispBlanksAs val="gap"/>
    <c:showDLblsOverMax val="0"/>
    <c:extLst>
      <c:ext uri="{0b15fc19-7d7d-44ad-8c2d-2c3a37ce22c3}">
        <chartProps xmlns="https://web.wps.cn/et/2018/main" chartId="{8a372892-8b86-4850-8944-967d420d564e}"/>
      </c:ext>
    </c:extLst>
  </c:chart>
  <c:spPr>
    <a:solidFill>
      <a:srgbClr val="FFFFFF"/>
    </a:solidFill>
    <a:ln w="9525">
      <a:solidFill>
        <a:srgbClr val="D0D0D0"/>
      </a:solidFill>
      <a:prstDash val="solid"/>
    </a:ln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3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zh-CN" sz="18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US" sz="1125" b="1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P95 TTFT</a:t>
            </a:r>
            <a:endParaRPr lang="en-US" sz="1125" b="1">
              <a:solidFill>
                <a:srgbClr val="222222"/>
              </a:solidFill>
              <a:latin typeface="Calibri"/>
              <a:ea typeface="Calibri"/>
              <a:cs typeface="Calibri"/>
            </a:endParaRPr>
          </a:p>
        </c:rich>
      </c:tx>
      <c:layout/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AFD (PR #320)</c:f>
              <c:strCache>
                <c:ptCount val="1"/>
                <c:pt idx="0">
                  <c:v>AFD (PR #320)</c:v>
                </c:pt>
              </c:strCache>
            </c:strRef>
          </c:tx>
          <c:spPr>
            <a:ln w="21908" cap="rnd">
              <a:solidFill>
                <a:srgbClr val="F2A900"/>
              </a:solidFill>
              <a:prstDash val="solid"/>
              <a:round/>
            </a:ln>
          </c:spPr>
          <c:marker>
            <c:symbol val="circle"/>
            <c:size val="5"/>
            <c:spPr>
              <a:solidFill>
                <a:srgbClr val="F2A900"/>
              </a:solidFill>
            </c:spPr>
          </c:marker>
          <c:dPt>
            <c:idx val="0"/>
            <c:marker>
              <c:symbol val="circle"/>
              <c:size val="5"/>
              <c:spPr>
                <a:solidFill>
                  <a:srgbClr val="F2A900"/>
                </a:solidFill>
              </c:spPr>
            </c:marker>
            <c:bubble3D val="0"/>
            <c:spPr>
              <a:ln w="9525" cap="rnd">
                <a:solidFill>
                  <a:srgbClr val="F2A900"/>
                </a:solidFill>
                <a:prstDash val="solid"/>
                <a:round/>
              </a:ln>
            </c:spPr>
          </c:dPt>
          <c:dPt>
            <c:idx val="1"/>
            <c:marker>
              <c:symbol val="circle"/>
              <c:size val="5"/>
              <c:spPr>
                <a:solidFill>
                  <a:srgbClr val="F2A900"/>
                </a:solidFill>
              </c:spPr>
            </c:marker>
            <c:bubble3D val="0"/>
            <c:spPr>
              <a:ln w="9525" cap="rnd">
                <a:solidFill>
                  <a:srgbClr val="F2A900"/>
                </a:solidFill>
                <a:prstDash val="solid"/>
                <a:round/>
              </a:ln>
            </c:spPr>
          </c:dPt>
          <c:dPt>
            <c:idx val="2"/>
            <c:marker>
              <c:symbol val="circle"/>
              <c:size val="5"/>
              <c:spPr>
                <a:solidFill>
                  <a:srgbClr val="F2A900"/>
                </a:solidFill>
              </c:spPr>
            </c:marker>
            <c:bubble3D val="0"/>
            <c:spPr>
              <a:ln w="9525" cap="rnd">
                <a:solidFill>
                  <a:srgbClr val="F2A900"/>
                </a:solidFill>
                <a:prstDash val="solid"/>
                <a:round/>
              </a:ln>
            </c:spPr>
          </c:dPt>
          <c:dLbls>
            <c:delete val="1"/>
          </c:dLbls>
          <c:cat>
            <c:numRef>
              <c:f>'Chart Data'!$A$2:$A$4</c:f>
              <c:numCache>
                <c:formatCode>General</c:formatCode>
                <c:ptCount val="3"/>
                <c:pt idx="0">
                  <c:v>4</c:v>
                </c:pt>
                <c:pt idx="1">
                  <c:v>6</c:v>
                </c:pt>
                <c:pt idx="2">
                  <c:v>8</c:v>
                </c:pt>
              </c:numCache>
            </c:numRef>
          </c:cat>
          <c:val>
            <c:numRef>
              <c:f>'Chart Data'!$B$2:$B$4</c:f>
              <c:numCache>
                <c:formatCode>0.0</c:formatCode>
                <c:ptCount val="3"/>
                <c:pt idx="0">
                  <c:v>5.258</c:v>
                </c:pt>
                <c:pt idx="1">
                  <c:v>8.512</c:v>
                </c:pt>
                <c:pt idx="2">
                  <c:v>20.01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2×EP16 + Router</c:f>
              <c:strCache>
                <c:ptCount val="1"/>
                <c:pt idx="0">
                  <c:v>2×EP16 + Router</c:v>
                </c:pt>
              </c:strCache>
            </c:strRef>
          </c:tx>
          <c:spPr>
            <a:ln w="21908" cap="rnd">
              <a:solidFill>
                <a:srgbClr val="4472C4"/>
              </a:solidFill>
              <a:prstDash val="solid"/>
              <a:round/>
            </a:ln>
          </c:spPr>
          <c:marker>
            <c:symbol val="circle"/>
            <c:size val="5"/>
            <c:spPr>
              <a:solidFill>
                <a:srgbClr val="4472C4"/>
              </a:solidFill>
            </c:spPr>
          </c:marker>
          <c:dPt>
            <c:idx val="0"/>
            <c:marker>
              <c:symbol val="circle"/>
              <c:size val="5"/>
              <c:spPr>
                <a:solidFill>
                  <a:srgbClr val="4472C4"/>
                </a:solidFill>
              </c:spPr>
            </c:marker>
            <c:bubble3D val="0"/>
            <c:spPr>
              <a:ln w="9525" cap="rnd">
                <a:solidFill>
                  <a:srgbClr val="4472C4"/>
                </a:solidFill>
                <a:prstDash val="solid"/>
                <a:round/>
              </a:ln>
            </c:spPr>
          </c:dPt>
          <c:dPt>
            <c:idx val="1"/>
            <c:marker>
              <c:symbol val="circle"/>
              <c:size val="5"/>
              <c:spPr>
                <a:solidFill>
                  <a:srgbClr val="4472C4"/>
                </a:solidFill>
              </c:spPr>
            </c:marker>
            <c:bubble3D val="0"/>
            <c:spPr>
              <a:ln w="9525" cap="rnd">
                <a:solidFill>
                  <a:srgbClr val="4472C4"/>
                </a:solidFill>
                <a:prstDash val="solid"/>
                <a:round/>
              </a:ln>
            </c:spPr>
          </c:dPt>
          <c:dPt>
            <c:idx val="2"/>
            <c:marker>
              <c:symbol val="circle"/>
              <c:size val="5"/>
              <c:spPr>
                <a:solidFill>
                  <a:srgbClr val="4472C4"/>
                </a:solidFill>
              </c:spPr>
            </c:marker>
            <c:bubble3D val="0"/>
            <c:spPr>
              <a:ln w="9525" cap="rnd">
                <a:solidFill>
                  <a:srgbClr val="4472C4"/>
                </a:solidFill>
                <a:prstDash val="solid"/>
                <a:round/>
              </a:ln>
            </c:spPr>
          </c:dPt>
          <c:dLbls>
            <c:delete val="1"/>
          </c:dLbls>
          <c:cat>
            <c:numRef>
              <c:f>'Chart Data'!$C$2:$C$4</c:f>
              <c:numCache>
                <c:formatCode>General</c:formatCode>
                <c:ptCount val="3"/>
                <c:pt idx="0">
                  <c:v>4</c:v>
                </c:pt>
                <c:pt idx="1">
                  <c:v>6</c:v>
                </c:pt>
                <c:pt idx="2">
                  <c:v>8</c:v>
                </c:pt>
              </c:numCache>
            </c:numRef>
          </c:cat>
          <c:val>
            <c:numRef>
              <c:f>'Chart Data'!$D$2:$D$4</c:f>
              <c:numCache>
                <c:formatCode>0.0</c:formatCode>
                <c:ptCount val="3"/>
                <c:pt idx="0">
                  <c:v>6.482</c:v>
                </c:pt>
                <c:pt idx="1">
                  <c:v>8.879</c:v>
                </c:pt>
                <c:pt idx="2">
                  <c:v>13.829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9D9D9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ax val="30"/>
          <c:min val="0"/>
        </c:scaling>
        <c:delete val="0"/>
        <c:axPos val="l"/>
        <c:majorGridlines>
          <c:spPr>
            <a:ln w="9525">
              <a:solidFill>
                <a:srgbClr val="E8E8E8"/>
              </a:solidFill>
              <a:prstDash val="solid"/>
              <a:round/>
            </a:ln>
          </c:spPr>
        </c:majorGridlines>
        <c:numFmt formatCode="0.0" sourceLinked="1"/>
        <c:majorTickMark val="none"/>
        <c:minorTickMark val="none"/>
        <c:tickLblPos val="nextTo"/>
        <c:spPr>
          <a:ln w="9525">
            <a:solidFill>
              <a:srgbClr val="D9D9D9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</a:p>
        </c:txPr>
        <c:crossAx val="48650112"/>
        <c:crosses val="autoZero"/>
        <c:crossBetween val="between"/>
        <c:majorUnit val="10"/>
      </c:valAx>
      <c:spPr>
        <a:solidFill>
          <a:srgbClr val="FFFFFF"/>
        </a:solidFill>
        <a:ln w="9525">
          <a:solidFill>
            <a:srgbClr val="ECECEC"/>
          </a:solidFill>
          <a:prstDash val="solid"/>
        </a:ln>
      </c:spPr>
    </c:plotArea>
    <c:plotVisOnly val="1"/>
    <c:dispBlanksAs val="gap"/>
    <c:showDLblsOverMax val="0"/>
    <c:extLst>
      <c:ext uri="{0b15fc19-7d7d-44ad-8c2d-2c3a37ce22c3}">
        <chartProps xmlns="https://web.wps.cn/et/2018/main" chartId="{23651da6-e5e7-43ba-a0ba-3c65618eb789}"/>
      </c:ext>
    </c:extLst>
  </c:chart>
  <c:spPr>
    <a:solidFill>
      <a:srgbClr val="FFFFFF"/>
    </a:solidFill>
    <a:ln w="9525">
      <a:solidFill>
        <a:srgbClr val="D0D0D0"/>
      </a:solidFill>
      <a:prstDash val="solid"/>
    </a:ln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3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zh-CN" sz="18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US" sz="1125" b="1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P99 TTFT</a:t>
            </a:r>
            <a:endParaRPr lang="en-US" sz="1125" b="1">
              <a:solidFill>
                <a:srgbClr val="222222"/>
              </a:solidFill>
              <a:latin typeface="Calibri"/>
              <a:ea typeface="Calibri"/>
              <a:cs typeface="Calibri"/>
            </a:endParaRPr>
          </a:p>
        </c:rich>
      </c:tx>
      <c:layout/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AFD (PR #320)</c:f>
              <c:strCache>
                <c:ptCount val="1"/>
                <c:pt idx="0">
                  <c:v>AFD (PR #320)</c:v>
                </c:pt>
              </c:strCache>
            </c:strRef>
          </c:tx>
          <c:spPr>
            <a:ln w="21908" cap="rnd">
              <a:solidFill>
                <a:srgbClr val="F2A900"/>
              </a:solidFill>
              <a:prstDash val="solid"/>
              <a:round/>
            </a:ln>
          </c:spPr>
          <c:marker>
            <c:symbol val="circle"/>
            <c:size val="5"/>
            <c:spPr>
              <a:solidFill>
                <a:srgbClr val="F2A900"/>
              </a:solidFill>
            </c:spPr>
          </c:marker>
          <c:dPt>
            <c:idx val="0"/>
            <c:marker>
              <c:symbol val="circle"/>
              <c:size val="5"/>
              <c:spPr>
                <a:solidFill>
                  <a:srgbClr val="F2A900"/>
                </a:solidFill>
              </c:spPr>
            </c:marker>
            <c:bubble3D val="0"/>
            <c:spPr>
              <a:ln w="9525" cap="rnd">
                <a:solidFill>
                  <a:srgbClr val="F2A900"/>
                </a:solidFill>
                <a:prstDash val="solid"/>
                <a:round/>
              </a:ln>
            </c:spPr>
          </c:dPt>
          <c:dPt>
            <c:idx val="1"/>
            <c:marker>
              <c:symbol val="circle"/>
              <c:size val="5"/>
              <c:spPr>
                <a:solidFill>
                  <a:srgbClr val="F2A900"/>
                </a:solidFill>
              </c:spPr>
            </c:marker>
            <c:bubble3D val="0"/>
            <c:spPr>
              <a:ln w="9525" cap="rnd">
                <a:solidFill>
                  <a:srgbClr val="F2A900"/>
                </a:solidFill>
                <a:prstDash val="solid"/>
                <a:round/>
              </a:ln>
            </c:spPr>
          </c:dPt>
          <c:dPt>
            <c:idx val="2"/>
            <c:marker>
              <c:symbol val="circle"/>
              <c:size val="5"/>
              <c:spPr>
                <a:solidFill>
                  <a:srgbClr val="F2A900"/>
                </a:solidFill>
              </c:spPr>
            </c:marker>
            <c:bubble3D val="0"/>
            <c:spPr>
              <a:ln w="9525" cap="rnd">
                <a:solidFill>
                  <a:srgbClr val="F2A900"/>
                </a:solidFill>
                <a:prstDash val="solid"/>
                <a:round/>
              </a:ln>
            </c:spPr>
          </c:dPt>
          <c:dLbls>
            <c:delete val="1"/>
          </c:dLbls>
          <c:cat>
            <c:numRef>
              <c:f>'Chart Data'!$A$2:$A$4</c:f>
              <c:numCache>
                <c:formatCode>General</c:formatCode>
                <c:ptCount val="3"/>
                <c:pt idx="0">
                  <c:v>4</c:v>
                </c:pt>
                <c:pt idx="1">
                  <c:v>6</c:v>
                </c:pt>
                <c:pt idx="2">
                  <c:v>8</c:v>
                </c:pt>
              </c:numCache>
            </c:numRef>
          </c:cat>
          <c:val>
            <c:numRef>
              <c:f>'Chart Data'!$B$2:$B$4</c:f>
              <c:numCache>
                <c:formatCode>0.0</c:formatCode>
                <c:ptCount val="3"/>
                <c:pt idx="0">
                  <c:v>7.127</c:v>
                </c:pt>
                <c:pt idx="1">
                  <c:v>11.265</c:v>
                </c:pt>
                <c:pt idx="2">
                  <c:v>24.962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2×EP16 + Router</c:f>
              <c:strCache>
                <c:ptCount val="1"/>
                <c:pt idx="0">
                  <c:v>2×EP16 + Router</c:v>
                </c:pt>
              </c:strCache>
            </c:strRef>
          </c:tx>
          <c:spPr>
            <a:ln w="21908" cap="rnd">
              <a:solidFill>
                <a:srgbClr val="4472C4"/>
              </a:solidFill>
              <a:prstDash val="solid"/>
              <a:round/>
            </a:ln>
          </c:spPr>
          <c:marker>
            <c:symbol val="circle"/>
            <c:size val="5"/>
            <c:spPr>
              <a:solidFill>
                <a:srgbClr val="4472C4"/>
              </a:solidFill>
            </c:spPr>
          </c:marker>
          <c:dPt>
            <c:idx val="0"/>
            <c:marker>
              <c:symbol val="circle"/>
              <c:size val="5"/>
              <c:spPr>
                <a:solidFill>
                  <a:srgbClr val="4472C4"/>
                </a:solidFill>
              </c:spPr>
            </c:marker>
            <c:bubble3D val="0"/>
            <c:spPr>
              <a:ln w="9525" cap="rnd">
                <a:solidFill>
                  <a:srgbClr val="4472C4"/>
                </a:solidFill>
                <a:prstDash val="solid"/>
                <a:round/>
              </a:ln>
            </c:spPr>
          </c:dPt>
          <c:dPt>
            <c:idx val="1"/>
            <c:marker>
              <c:symbol val="circle"/>
              <c:size val="5"/>
              <c:spPr>
                <a:solidFill>
                  <a:srgbClr val="4472C4"/>
                </a:solidFill>
              </c:spPr>
            </c:marker>
            <c:bubble3D val="0"/>
            <c:spPr>
              <a:ln w="9525" cap="rnd">
                <a:solidFill>
                  <a:srgbClr val="4472C4"/>
                </a:solidFill>
                <a:prstDash val="solid"/>
                <a:round/>
              </a:ln>
            </c:spPr>
          </c:dPt>
          <c:dPt>
            <c:idx val="2"/>
            <c:marker>
              <c:symbol val="circle"/>
              <c:size val="5"/>
              <c:spPr>
                <a:solidFill>
                  <a:srgbClr val="4472C4"/>
                </a:solidFill>
              </c:spPr>
            </c:marker>
            <c:bubble3D val="0"/>
            <c:spPr>
              <a:ln w="9525" cap="rnd">
                <a:solidFill>
                  <a:srgbClr val="4472C4"/>
                </a:solidFill>
                <a:prstDash val="solid"/>
                <a:round/>
              </a:ln>
            </c:spPr>
          </c:dPt>
          <c:dLbls>
            <c:delete val="1"/>
          </c:dLbls>
          <c:cat>
            <c:numRef>
              <c:f>'Chart Data'!$C$2:$C$4</c:f>
              <c:numCache>
                <c:formatCode>General</c:formatCode>
                <c:ptCount val="3"/>
                <c:pt idx="0">
                  <c:v>4</c:v>
                </c:pt>
                <c:pt idx="1">
                  <c:v>6</c:v>
                </c:pt>
                <c:pt idx="2">
                  <c:v>8</c:v>
                </c:pt>
              </c:numCache>
            </c:numRef>
          </c:cat>
          <c:val>
            <c:numRef>
              <c:f>'Chart Data'!$D$2:$D$4</c:f>
              <c:numCache>
                <c:formatCode>0.0</c:formatCode>
                <c:ptCount val="3"/>
                <c:pt idx="0">
                  <c:v>8.755</c:v>
                </c:pt>
                <c:pt idx="1">
                  <c:v>11.46</c:v>
                </c:pt>
                <c:pt idx="2">
                  <c:v>16.79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9D9D9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ax val="30"/>
          <c:min val="0"/>
        </c:scaling>
        <c:delete val="0"/>
        <c:axPos val="l"/>
        <c:majorGridlines>
          <c:spPr>
            <a:ln w="9525">
              <a:solidFill>
                <a:srgbClr val="E8E8E8"/>
              </a:solidFill>
              <a:prstDash val="solid"/>
              <a:round/>
            </a:ln>
          </c:spPr>
        </c:majorGridlines>
        <c:numFmt formatCode="0.0" sourceLinked="1"/>
        <c:majorTickMark val="none"/>
        <c:minorTickMark val="none"/>
        <c:tickLblPos val="nextTo"/>
        <c:spPr>
          <a:ln w="9525">
            <a:solidFill>
              <a:srgbClr val="D9D9D9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</a:p>
        </c:txPr>
        <c:crossAx val="48650112"/>
        <c:crosses val="autoZero"/>
        <c:crossBetween val="between"/>
        <c:majorUnit val="10"/>
      </c:valAx>
      <c:spPr>
        <a:solidFill>
          <a:srgbClr val="FFFFFF"/>
        </a:solidFill>
        <a:ln w="9525">
          <a:solidFill>
            <a:srgbClr val="ECECEC"/>
          </a:solidFill>
          <a:prstDash val="solid"/>
        </a:ln>
      </c:spPr>
    </c:plotArea>
    <c:plotVisOnly val="1"/>
    <c:dispBlanksAs val="gap"/>
    <c:showDLblsOverMax val="0"/>
    <c:extLst>
      <c:ext uri="{0b15fc19-7d7d-44ad-8c2d-2c3a37ce22c3}">
        <chartProps xmlns="https://web.wps.cn/et/2018/main" chartId="{35e56fab-453b-4f40-a701-eba3c791edbf}"/>
      </c:ext>
    </c:extLst>
  </c:chart>
  <c:spPr>
    <a:solidFill>
      <a:srgbClr val="FFFFFF"/>
    </a:solidFill>
    <a:ln w="9525">
      <a:solidFill>
        <a:srgbClr val="D0D0D0"/>
      </a:solidFill>
      <a:prstDash val="solid"/>
    </a:ln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3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zh-CN" sz="18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US" sz="1125" b="1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P25 TTFT</a:t>
            </a:r>
            <a:endParaRPr lang="en-US" sz="1125" b="1">
              <a:solidFill>
                <a:srgbClr val="222222"/>
              </a:solidFill>
              <a:latin typeface="Calibri"/>
              <a:ea typeface="Calibri"/>
              <a:cs typeface="Calibri"/>
            </a:endParaRPr>
          </a:p>
        </c:rich>
      </c:tx>
      <c:layout/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AFD (PR #320)</c:f>
              <c:strCache>
                <c:ptCount val="1"/>
                <c:pt idx="0">
                  <c:v>AFD (PR #320)</c:v>
                </c:pt>
              </c:strCache>
            </c:strRef>
          </c:tx>
          <c:spPr>
            <a:ln w="21908" cap="rnd">
              <a:solidFill>
                <a:srgbClr val="F2A900"/>
              </a:solidFill>
              <a:prstDash val="solid"/>
              <a:round/>
            </a:ln>
          </c:spPr>
          <c:marker>
            <c:symbol val="circle"/>
            <c:size val="5"/>
            <c:spPr>
              <a:solidFill>
                <a:srgbClr val="F2A900"/>
              </a:solidFill>
            </c:spPr>
          </c:marker>
          <c:dPt>
            <c:idx val="0"/>
            <c:marker>
              <c:symbol val="circle"/>
              <c:size val="5"/>
              <c:spPr>
                <a:solidFill>
                  <a:srgbClr val="F2A900"/>
                </a:solidFill>
              </c:spPr>
            </c:marker>
            <c:bubble3D val="0"/>
            <c:spPr>
              <a:ln w="9525" cap="rnd">
                <a:solidFill>
                  <a:srgbClr val="F2A900"/>
                </a:solidFill>
                <a:prstDash val="solid"/>
                <a:round/>
              </a:ln>
            </c:spPr>
          </c:dPt>
          <c:dPt>
            <c:idx val="1"/>
            <c:marker>
              <c:symbol val="circle"/>
              <c:size val="5"/>
              <c:spPr>
                <a:solidFill>
                  <a:srgbClr val="F2A900"/>
                </a:solidFill>
              </c:spPr>
            </c:marker>
            <c:bubble3D val="0"/>
            <c:spPr>
              <a:ln w="9525" cap="rnd">
                <a:solidFill>
                  <a:srgbClr val="F2A900"/>
                </a:solidFill>
                <a:prstDash val="solid"/>
                <a:round/>
              </a:ln>
            </c:spPr>
          </c:dPt>
          <c:dPt>
            <c:idx val="2"/>
            <c:marker>
              <c:symbol val="circle"/>
              <c:size val="5"/>
              <c:spPr>
                <a:solidFill>
                  <a:srgbClr val="F2A900"/>
                </a:solidFill>
              </c:spPr>
            </c:marker>
            <c:bubble3D val="0"/>
            <c:spPr>
              <a:ln w="9525" cap="rnd">
                <a:solidFill>
                  <a:srgbClr val="F2A900"/>
                </a:solidFill>
                <a:prstDash val="solid"/>
                <a:round/>
              </a:ln>
            </c:spPr>
          </c:dPt>
          <c:dLbls>
            <c:delete val="1"/>
          </c:dLbls>
          <c:cat>
            <c:numRef>
              <c:f>'Chart Data'!$A$2:$A$4</c:f>
              <c:numCache>
                <c:formatCode>General</c:formatCode>
                <c:ptCount val="3"/>
                <c:pt idx="0">
                  <c:v>4</c:v>
                </c:pt>
                <c:pt idx="1">
                  <c:v>6</c:v>
                </c:pt>
                <c:pt idx="2">
                  <c:v>8</c:v>
                </c:pt>
              </c:numCache>
            </c:numRef>
          </c:cat>
          <c:val>
            <c:numRef>
              <c:f>'Chart Data'!$B$2:$B$4</c:f>
              <c:numCache>
                <c:formatCode>0.0</c:formatCode>
                <c:ptCount val="3"/>
                <c:pt idx="0">
                  <c:v>1.236</c:v>
                </c:pt>
                <c:pt idx="1">
                  <c:v>2.279</c:v>
                </c:pt>
                <c:pt idx="2">
                  <c:v>8.176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2×EP16 + Router</c:f>
              <c:strCache>
                <c:ptCount val="1"/>
                <c:pt idx="0">
                  <c:v>2×EP16 + Router</c:v>
                </c:pt>
              </c:strCache>
            </c:strRef>
          </c:tx>
          <c:spPr>
            <a:ln w="21908" cap="rnd">
              <a:solidFill>
                <a:srgbClr val="4472C4"/>
              </a:solidFill>
              <a:prstDash val="solid"/>
              <a:round/>
            </a:ln>
          </c:spPr>
          <c:marker>
            <c:symbol val="circle"/>
            <c:size val="5"/>
            <c:spPr>
              <a:solidFill>
                <a:srgbClr val="4472C4"/>
              </a:solidFill>
            </c:spPr>
          </c:marker>
          <c:dPt>
            <c:idx val="0"/>
            <c:marker>
              <c:symbol val="circle"/>
              <c:size val="5"/>
              <c:spPr>
                <a:solidFill>
                  <a:srgbClr val="4472C4"/>
                </a:solidFill>
              </c:spPr>
            </c:marker>
            <c:bubble3D val="0"/>
            <c:spPr>
              <a:ln w="9525" cap="rnd">
                <a:solidFill>
                  <a:srgbClr val="4472C4"/>
                </a:solidFill>
                <a:prstDash val="solid"/>
                <a:round/>
              </a:ln>
            </c:spPr>
          </c:dPt>
          <c:dPt>
            <c:idx val="1"/>
            <c:marker>
              <c:symbol val="circle"/>
              <c:size val="5"/>
              <c:spPr>
                <a:solidFill>
                  <a:srgbClr val="4472C4"/>
                </a:solidFill>
              </c:spPr>
            </c:marker>
            <c:bubble3D val="0"/>
            <c:spPr>
              <a:ln w="9525" cap="rnd">
                <a:solidFill>
                  <a:srgbClr val="4472C4"/>
                </a:solidFill>
                <a:prstDash val="solid"/>
                <a:round/>
              </a:ln>
            </c:spPr>
          </c:dPt>
          <c:dPt>
            <c:idx val="2"/>
            <c:marker>
              <c:symbol val="circle"/>
              <c:size val="5"/>
              <c:spPr>
                <a:solidFill>
                  <a:srgbClr val="4472C4"/>
                </a:solidFill>
              </c:spPr>
            </c:marker>
            <c:bubble3D val="0"/>
            <c:spPr>
              <a:ln w="9525" cap="rnd">
                <a:solidFill>
                  <a:srgbClr val="4472C4"/>
                </a:solidFill>
                <a:prstDash val="solid"/>
                <a:round/>
              </a:ln>
            </c:spPr>
          </c:dPt>
          <c:dLbls>
            <c:delete val="1"/>
          </c:dLbls>
          <c:cat>
            <c:numRef>
              <c:f>'Chart Data'!$C$2:$C$4</c:f>
              <c:numCache>
                <c:formatCode>General</c:formatCode>
                <c:ptCount val="3"/>
                <c:pt idx="0">
                  <c:v>4</c:v>
                </c:pt>
                <c:pt idx="1">
                  <c:v>6</c:v>
                </c:pt>
                <c:pt idx="2">
                  <c:v>8</c:v>
                </c:pt>
              </c:numCache>
            </c:numRef>
          </c:cat>
          <c:val>
            <c:numRef>
              <c:f>'Chart Data'!$D$2:$D$4</c:f>
              <c:numCache>
                <c:formatCode>0.0</c:formatCode>
                <c:ptCount val="3"/>
                <c:pt idx="0">
                  <c:v>3.571</c:v>
                </c:pt>
                <c:pt idx="1">
                  <c:v>4.779</c:v>
                </c:pt>
                <c:pt idx="2">
                  <c:v>5.898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9D9D9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ax val="30"/>
          <c:min val="0"/>
        </c:scaling>
        <c:delete val="0"/>
        <c:axPos val="l"/>
        <c:majorGridlines>
          <c:spPr>
            <a:ln w="9525">
              <a:solidFill>
                <a:srgbClr val="E8E8E8"/>
              </a:solidFill>
              <a:prstDash val="solid"/>
              <a:round/>
            </a:ln>
          </c:spPr>
        </c:majorGridlines>
        <c:numFmt formatCode="0.0" sourceLinked="1"/>
        <c:majorTickMark val="none"/>
        <c:minorTickMark val="none"/>
        <c:tickLblPos val="nextTo"/>
        <c:spPr>
          <a:ln w="9525">
            <a:solidFill>
              <a:srgbClr val="D9D9D9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</a:p>
        </c:txPr>
        <c:crossAx val="48650112"/>
        <c:crosses val="autoZero"/>
        <c:crossBetween val="between"/>
        <c:majorUnit val="10"/>
      </c:valAx>
      <c:spPr>
        <a:solidFill>
          <a:srgbClr val="FFFFFF"/>
        </a:solidFill>
        <a:ln w="9525">
          <a:solidFill>
            <a:srgbClr val="ECECEC"/>
          </a:solidFill>
          <a:prstDash val="solid"/>
        </a:ln>
      </c:spPr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825" b="0" i="0" u="none" strike="noStrike" kern="1200" baseline="0">
              <a:solidFill>
                <a:srgbClr val="222222"/>
              </a:solidFill>
              <a:latin typeface="Calibri"/>
              <a:ea typeface="Calibri"/>
              <a:cs typeface="Calibri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aa92e33c-a1eb-47b7-ae9a-7cd7b8c33e63}"/>
      </c:ext>
    </c:extLst>
  </c:chart>
  <c:spPr>
    <a:solidFill>
      <a:srgbClr val="FFFFFF"/>
    </a:solidFill>
    <a:ln w="9525">
      <a:solidFill>
        <a:srgbClr val="D0D0D0"/>
      </a:solidFill>
      <a:prstDash val="solid"/>
    </a:ln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3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zh-CN" sz="18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US" sz="1125" b="1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P50 TTFT</a:t>
            </a:r>
            <a:endParaRPr lang="en-US" sz="1125" b="1">
              <a:solidFill>
                <a:srgbClr val="222222"/>
              </a:solidFill>
              <a:latin typeface="Calibri"/>
              <a:ea typeface="Calibri"/>
              <a:cs typeface="Calibri"/>
            </a:endParaRPr>
          </a:p>
        </c:rich>
      </c:tx>
      <c:layout/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AFD (PR #320)</c:f>
              <c:strCache>
                <c:ptCount val="1"/>
                <c:pt idx="0">
                  <c:v>AFD (PR #320)</c:v>
                </c:pt>
              </c:strCache>
            </c:strRef>
          </c:tx>
          <c:spPr>
            <a:ln w="21908" cap="rnd">
              <a:solidFill>
                <a:srgbClr val="F2A900"/>
              </a:solidFill>
              <a:prstDash val="solid"/>
              <a:round/>
            </a:ln>
          </c:spPr>
          <c:marker>
            <c:symbol val="circle"/>
            <c:size val="5"/>
            <c:spPr>
              <a:solidFill>
                <a:srgbClr val="F2A900"/>
              </a:solidFill>
            </c:spPr>
          </c:marker>
          <c:dPt>
            <c:idx val="0"/>
            <c:marker>
              <c:symbol val="circle"/>
              <c:size val="5"/>
              <c:spPr>
                <a:solidFill>
                  <a:srgbClr val="F2A900"/>
                </a:solidFill>
              </c:spPr>
            </c:marker>
            <c:bubble3D val="0"/>
            <c:spPr>
              <a:ln w="9525" cap="rnd">
                <a:solidFill>
                  <a:srgbClr val="F2A900"/>
                </a:solidFill>
                <a:prstDash val="solid"/>
                <a:round/>
              </a:ln>
            </c:spPr>
          </c:dPt>
          <c:dPt>
            <c:idx val="1"/>
            <c:marker>
              <c:symbol val="circle"/>
              <c:size val="5"/>
              <c:spPr>
                <a:solidFill>
                  <a:srgbClr val="F2A900"/>
                </a:solidFill>
              </c:spPr>
            </c:marker>
            <c:bubble3D val="0"/>
            <c:spPr>
              <a:ln w="9525" cap="rnd">
                <a:solidFill>
                  <a:srgbClr val="F2A900"/>
                </a:solidFill>
                <a:prstDash val="solid"/>
                <a:round/>
              </a:ln>
            </c:spPr>
          </c:dPt>
          <c:dPt>
            <c:idx val="2"/>
            <c:marker>
              <c:symbol val="circle"/>
              <c:size val="5"/>
              <c:spPr>
                <a:solidFill>
                  <a:srgbClr val="F2A900"/>
                </a:solidFill>
              </c:spPr>
            </c:marker>
            <c:bubble3D val="0"/>
            <c:spPr>
              <a:ln w="9525" cap="rnd">
                <a:solidFill>
                  <a:srgbClr val="F2A900"/>
                </a:solidFill>
                <a:prstDash val="solid"/>
                <a:round/>
              </a:ln>
            </c:spPr>
          </c:dPt>
          <c:dLbls>
            <c:delete val="1"/>
          </c:dLbls>
          <c:cat>
            <c:numRef>
              <c:f>'Chart Data'!$A$2:$A$4</c:f>
              <c:numCache>
                <c:formatCode>General</c:formatCode>
                <c:ptCount val="3"/>
                <c:pt idx="0">
                  <c:v>4</c:v>
                </c:pt>
                <c:pt idx="1">
                  <c:v>6</c:v>
                </c:pt>
                <c:pt idx="2">
                  <c:v>8</c:v>
                </c:pt>
              </c:numCache>
            </c:numRef>
          </c:cat>
          <c:val>
            <c:numRef>
              <c:f>'Chart Data'!$B$2:$B$4</c:f>
              <c:numCache>
                <c:formatCode>0.0</c:formatCode>
                <c:ptCount val="3"/>
                <c:pt idx="0">
                  <c:v>1.746</c:v>
                </c:pt>
                <c:pt idx="1">
                  <c:v>3.363</c:v>
                </c:pt>
                <c:pt idx="2">
                  <c:v>10.961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2×EP16 + Router</c:f>
              <c:strCache>
                <c:ptCount val="1"/>
                <c:pt idx="0">
                  <c:v>2×EP16 + Router</c:v>
                </c:pt>
              </c:strCache>
            </c:strRef>
          </c:tx>
          <c:spPr>
            <a:ln w="21908" cap="rnd">
              <a:solidFill>
                <a:srgbClr val="4472C4"/>
              </a:solidFill>
              <a:prstDash val="solid"/>
              <a:round/>
            </a:ln>
          </c:spPr>
          <c:marker>
            <c:symbol val="circle"/>
            <c:size val="5"/>
            <c:spPr>
              <a:solidFill>
                <a:srgbClr val="4472C4"/>
              </a:solidFill>
            </c:spPr>
          </c:marker>
          <c:dPt>
            <c:idx val="0"/>
            <c:marker>
              <c:symbol val="circle"/>
              <c:size val="5"/>
              <c:spPr>
                <a:solidFill>
                  <a:srgbClr val="4472C4"/>
                </a:solidFill>
              </c:spPr>
            </c:marker>
            <c:bubble3D val="0"/>
            <c:spPr>
              <a:ln w="9525" cap="rnd">
                <a:solidFill>
                  <a:srgbClr val="4472C4"/>
                </a:solidFill>
                <a:prstDash val="solid"/>
                <a:round/>
              </a:ln>
            </c:spPr>
          </c:dPt>
          <c:dPt>
            <c:idx val="1"/>
            <c:marker>
              <c:symbol val="circle"/>
              <c:size val="5"/>
              <c:spPr>
                <a:solidFill>
                  <a:srgbClr val="4472C4"/>
                </a:solidFill>
              </c:spPr>
            </c:marker>
            <c:bubble3D val="0"/>
            <c:spPr>
              <a:ln w="9525" cap="rnd">
                <a:solidFill>
                  <a:srgbClr val="4472C4"/>
                </a:solidFill>
                <a:prstDash val="solid"/>
                <a:round/>
              </a:ln>
            </c:spPr>
          </c:dPt>
          <c:dPt>
            <c:idx val="2"/>
            <c:marker>
              <c:symbol val="circle"/>
              <c:size val="5"/>
              <c:spPr>
                <a:solidFill>
                  <a:srgbClr val="4472C4"/>
                </a:solidFill>
              </c:spPr>
            </c:marker>
            <c:bubble3D val="0"/>
            <c:spPr>
              <a:ln w="9525" cap="rnd">
                <a:solidFill>
                  <a:srgbClr val="4472C4"/>
                </a:solidFill>
                <a:prstDash val="solid"/>
                <a:round/>
              </a:ln>
            </c:spPr>
          </c:dPt>
          <c:dLbls>
            <c:delete val="1"/>
          </c:dLbls>
          <c:cat>
            <c:numRef>
              <c:f>'Chart Data'!$C$2:$C$4</c:f>
              <c:numCache>
                <c:formatCode>General</c:formatCode>
                <c:ptCount val="3"/>
                <c:pt idx="0">
                  <c:v>4</c:v>
                </c:pt>
                <c:pt idx="1">
                  <c:v>6</c:v>
                </c:pt>
                <c:pt idx="2">
                  <c:v>8</c:v>
                </c:pt>
              </c:numCache>
            </c:numRef>
          </c:cat>
          <c:val>
            <c:numRef>
              <c:f>'Chart Data'!$D$2:$D$4</c:f>
              <c:numCache>
                <c:formatCode>0.0</c:formatCode>
                <c:ptCount val="3"/>
                <c:pt idx="0">
                  <c:v>4.798</c:v>
                </c:pt>
                <c:pt idx="1">
                  <c:v>5.936</c:v>
                </c:pt>
                <c:pt idx="2">
                  <c:v>7.859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9D9D9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ax val="30"/>
          <c:min val="0"/>
        </c:scaling>
        <c:delete val="0"/>
        <c:axPos val="l"/>
        <c:majorGridlines>
          <c:spPr>
            <a:ln w="9525">
              <a:solidFill>
                <a:srgbClr val="E8E8E8"/>
              </a:solidFill>
              <a:prstDash val="solid"/>
              <a:round/>
            </a:ln>
          </c:spPr>
        </c:majorGridlines>
        <c:numFmt formatCode="0.0" sourceLinked="1"/>
        <c:majorTickMark val="none"/>
        <c:minorTickMark val="none"/>
        <c:tickLblPos val="nextTo"/>
        <c:spPr>
          <a:ln w="9525">
            <a:solidFill>
              <a:srgbClr val="D9D9D9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</a:p>
        </c:txPr>
        <c:crossAx val="48650112"/>
        <c:crosses val="autoZero"/>
        <c:crossBetween val="between"/>
        <c:majorUnit val="10"/>
      </c:valAx>
      <c:spPr>
        <a:solidFill>
          <a:srgbClr val="FFFFFF"/>
        </a:solidFill>
        <a:ln w="9525">
          <a:solidFill>
            <a:srgbClr val="ECECEC"/>
          </a:solidFill>
          <a:prstDash val="solid"/>
        </a:ln>
      </c:spPr>
    </c:plotArea>
    <c:plotVisOnly val="1"/>
    <c:dispBlanksAs val="gap"/>
    <c:showDLblsOverMax val="0"/>
    <c:extLst>
      <c:ext uri="{0b15fc19-7d7d-44ad-8c2d-2c3a37ce22c3}">
        <chartProps xmlns="https://web.wps.cn/et/2018/main" chartId="{edd78ea0-c52a-41e4-8b1e-6a972d1ee083}"/>
      </c:ext>
    </c:extLst>
  </c:chart>
  <c:spPr>
    <a:solidFill>
      <a:srgbClr val="FFFFFF"/>
    </a:solidFill>
    <a:ln w="9525">
      <a:solidFill>
        <a:srgbClr val="D0D0D0"/>
      </a:solidFill>
      <a:prstDash val="solid"/>
    </a:ln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3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zh-CN" sz="18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US" sz="1125" b="1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P90 TTFT</a:t>
            </a:r>
            <a:endParaRPr lang="en-US" sz="1125" b="1">
              <a:solidFill>
                <a:srgbClr val="222222"/>
              </a:solidFill>
              <a:latin typeface="Calibri"/>
              <a:ea typeface="Calibri"/>
              <a:cs typeface="Calibri"/>
            </a:endParaRPr>
          </a:p>
        </c:rich>
      </c:tx>
      <c:layout/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AFD (PR #320)</c:f>
              <c:strCache>
                <c:ptCount val="1"/>
                <c:pt idx="0">
                  <c:v>AFD (PR #320)</c:v>
                </c:pt>
              </c:strCache>
            </c:strRef>
          </c:tx>
          <c:spPr>
            <a:ln w="21908" cap="rnd">
              <a:solidFill>
                <a:srgbClr val="F2A900"/>
              </a:solidFill>
              <a:prstDash val="solid"/>
              <a:round/>
            </a:ln>
          </c:spPr>
          <c:marker>
            <c:symbol val="circle"/>
            <c:size val="5"/>
            <c:spPr>
              <a:solidFill>
                <a:srgbClr val="F2A900"/>
              </a:solidFill>
            </c:spPr>
          </c:marker>
          <c:dPt>
            <c:idx val="0"/>
            <c:marker>
              <c:symbol val="circle"/>
              <c:size val="5"/>
              <c:spPr>
                <a:solidFill>
                  <a:srgbClr val="F2A900"/>
                </a:solidFill>
              </c:spPr>
            </c:marker>
            <c:bubble3D val="0"/>
            <c:spPr>
              <a:ln w="9525" cap="rnd">
                <a:solidFill>
                  <a:srgbClr val="F2A900"/>
                </a:solidFill>
                <a:prstDash val="solid"/>
                <a:round/>
              </a:ln>
            </c:spPr>
          </c:dPt>
          <c:dPt>
            <c:idx val="1"/>
            <c:marker>
              <c:symbol val="circle"/>
              <c:size val="5"/>
              <c:spPr>
                <a:solidFill>
                  <a:srgbClr val="F2A900"/>
                </a:solidFill>
              </c:spPr>
            </c:marker>
            <c:bubble3D val="0"/>
            <c:spPr>
              <a:ln w="9525" cap="rnd">
                <a:solidFill>
                  <a:srgbClr val="F2A900"/>
                </a:solidFill>
                <a:prstDash val="solid"/>
                <a:round/>
              </a:ln>
            </c:spPr>
          </c:dPt>
          <c:dPt>
            <c:idx val="2"/>
            <c:marker>
              <c:symbol val="circle"/>
              <c:size val="5"/>
              <c:spPr>
                <a:solidFill>
                  <a:srgbClr val="F2A900"/>
                </a:solidFill>
              </c:spPr>
            </c:marker>
            <c:bubble3D val="0"/>
            <c:spPr>
              <a:ln w="9525" cap="rnd">
                <a:solidFill>
                  <a:srgbClr val="F2A900"/>
                </a:solidFill>
                <a:prstDash val="solid"/>
                <a:round/>
              </a:ln>
            </c:spPr>
          </c:dPt>
          <c:dLbls>
            <c:delete val="1"/>
          </c:dLbls>
          <c:cat>
            <c:numRef>
              <c:f>'Chart Data'!$A$2:$A$4</c:f>
              <c:numCache>
                <c:formatCode>General</c:formatCode>
                <c:ptCount val="3"/>
                <c:pt idx="0">
                  <c:v>4</c:v>
                </c:pt>
                <c:pt idx="1">
                  <c:v>6</c:v>
                </c:pt>
                <c:pt idx="2">
                  <c:v>8</c:v>
                </c:pt>
              </c:numCache>
            </c:numRef>
          </c:cat>
          <c:val>
            <c:numRef>
              <c:f>'Chart Data'!$B$2:$B$4</c:f>
              <c:numCache>
                <c:formatCode>0.0</c:formatCode>
                <c:ptCount val="3"/>
                <c:pt idx="0">
                  <c:v>4.057</c:v>
                </c:pt>
                <c:pt idx="1">
                  <c:v>7.182</c:v>
                </c:pt>
                <c:pt idx="2">
                  <c:v>17.824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2×EP16 + Router</c:f>
              <c:strCache>
                <c:ptCount val="1"/>
                <c:pt idx="0">
                  <c:v>2×EP16 + Router</c:v>
                </c:pt>
              </c:strCache>
            </c:strRef>
          </c:tx>
          <c:spPr>
            <a:ln w="21908" cap="rnd">
              <a:solidFill>
                <a:srgbClr val="4472C4"/>
              </a:solidFill>
              <a:prstDash val="solid"/>
              <a:round/>
            </a:ln>
          </c:spPr>
          <c:marker>
            <c:symbol val="circle"/>
            <c:size val="5"/>
            <c:spPr>
              <a:solidFill>
                <a:srgbClr val="4472C4"/>
              </a:solidFill>
            </c:spPr>
          </c:marker>
          <c:dPt>
            <c:idx val="0"/>
            <c:marker>
              <c:symbol val="circle"/>
              <c:size val="5"/>
              <c:spPr>
                <a:solidFill>
                  <a:srgbClr val="4472C4"/>
                </a:solidFill>
              </c:spPr>
            </c:marker>
            <c:bubble3D val="0"/>
            <c:spPr>
              <a:ln w="9525" cap="rnd">
                <a:solidFill>
                  <a:srgbClr val="4472C4"/>
                </a:solidFill>
                <a:prstDash val="solid"/>
                <a:round/>
              </a:ln>
            </c:spPr>
          </c:dPt>
          <c:dPt>
            <c:idx val="1"/>
            <c:marker>
              <c:symbol val="circle"/>
              <c:size val="5"/>
              <c:spPr>
                <a:solidFill>
                  <a:srgbClr val="4472C4"/>
                </a:solidFill>
              </c:spPr>
            </c:marker>
            <c:bubble3D val="0"/>
            <c:spPr>
              <a:ln w="9525" cap="rnd">
                <a:solidFill>
                  <a:srgbClr val="4472C4"/>
                </a:solidFill>
                <a:prstDash val="solid"/>
                <a:round/>
              </a:ln>
            </c:spPr>
          </c:dPt>
          <c:dPt>
            <c:idx val="2"/>
            <c:marker>
              <c:symbol val="circle"/>
              <c:size val="5"/>
              <c:spPr>
                <a:solidFill>
                  <a:srgbClr val="4472C4"/>
                </a:solidFill>
              </c:spPr>
            </c:marker>
            <c:bubble3D val="0"/>
            <c:spPr>
              <a:ln w="9525" cap="rnd">
                <a:solidFill>
                  <a:srgbClr val="4472C4"/>
                </a:solidFill>
                <a:prstDash val="solid"/>
                <a:round/>
              </a:ln>
            </c:spPr>
          </c:dPt>
          <c:dLbls>
            <c:delete val="1"/>
          </c:dLbls>
          <c:cat>
            <c:numRef>
              <c:f>'Chart Data'!$C$2:$C$4</c:f>
              <c:numCache>
                <c:formatCode>General</c:formatCode>
                <c:ptCount val="3"/>
                <c:pt idx="0">
                  <c:v>4</c:v>
                </c:pt>
                <c:pt idx="1">
                  <c:v>6</c:v>
                </c:pt>
                <c:pt idx="2">
                  <c:v>8</c:v>
                </c:pt>
              </c:numCache>
            </c:numRef>
          </c:cat>
          <c:val>
            <c:numRef>
              <c:f>'Chart Data'!$D$2:$D$4</c:f>
              <c:numCache>
                <c:formatCode>0.0</c:formatCode>
                <c:ptCount val="3"/>
                <c:pt idx="0">
                  <c:v>7.981</c:v>
                </c:pt>
                <c:pt idx="1">
                  <c:v>9.991</c:v>
                </c:pt>
                <c:pt idx="2">
                  <c:v>12.648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9D9D9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ax val="30"/>
          <c:min val="0"/>
        </c:scaling>
        <c:delete val="0"/>
        <c:axPos val="l"/>
        <c:majorGridlines>
          <c:spPr>
            <a:ln w="9525">
              <a:solidFill>
                <a:srgbClr val="E8E8E8"/>
              </a:solidFill>
              <a:prstDash val="solid"/>
              <a:round/>
            </a:ln>
          </c:spPr>
        </c:majorGridlines>
        <c:numFmt formatCode="0.0" sourceLinked="1"/>
        <c:majorTickMark val="none"/>
        <c:minorTickMark val="none"/>
        <c:tickLblPos val="nextTo"/>
        <c:spPr>
          <a:ln w="9525">
            <a:solidFill>
              <a:srgbClr val="D9D9D9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</a:p>
        </c:txPr>
        <c:crossAx val="48650112"/>
        <c:crosses val="autoZero"/>
        <c:crossBetween val="between"/>
        <c:majorUnit val="10"/>
      </c:valAx>
      <c:spPr>
        <a:solidFill>
          <a:srgbClr val="FFFFFF"/>
        </a:solidFill>
        <a:ln w="9525">
          <a:solidFill>
            <a:srgbClr val="ECECEC"/>
          </a:solidFill>
          <a:prstDash val="solid"/>
        </a:ln>
      </c:spPr>
    </c:plotArea>
    <c:plotVisOnly val="1"/>
    <c:dispBlanksAs val="gap"/>
    <c:showDLblsOverMax val="0"/>
    <c:extLst>
      <c:ext uri="{0b15fc19-7d7d-44ad-8c2d-2c3a37ce22c3}">
        <chartProps xmlns="https://web.wps.cn/et/2018/main" chartId="{e0e82bdb-4a69-4404-a21a-6ccf9edc7e5f}"/>
      </c:ext>
    </c:extLst>
  </c:chart>
  <c:spPr>
    <a:solidFill>
      <a:srgbClr val="FFFFFF"/>
    </a:solidFill>
    <a:ln w="9525">
      <a:solidFill>
        <a:srgbClr val="D0D0D0"/>
      </a:solidFill>
      <a:prstDash val="solid"/>
    </a:ln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3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zh-CN" sz="18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US" sz="1125" b="1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P95 TTFT</a:t>
            </a:r>
            <a:endParaRPr lang="en-US" sz="1125" b="1">
              <a:solidFill>
                <a:srgbClr val="222222"/>
              </a:solidFill>
              <a:latin typeface="Calibri"/>
              <a:ea typeface="Calibri"/>
              <a:cs typeface="Calibri"/>
            </a:endParaRPr>
          </a:p>
        </c:rich>
      </c:tx>
      <c:layout/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AFD (PR #320)</c:f>
              <c:strCache>
                <c:ptCount val="1"/>
                <c:pt idx="0">
                  <c:v>AFD (PR #320)</c:v>
                </c:pt>
              </c:strCache>
            </c:strRef>
          </c:tx>
          <c:spPr>
            <a:ln w="21908" cap="rnd">
              <a:solidFill>
                <a:srgbClr val="F2A900"/>
              </a:solidFill>
              <a:prstDash val="solid"/>
              <a:round/>
            </a:ln>
          </c:spPr>
          <c:marker>
            <c:symbol val="circle"/>
            <c:size val="5"/>
            <c:spPr>
              <a:solidFill>
                <a:srgbClr val="F2A900"/>
              </a:solidFill>
            </c:spPr>
          </c:marker>
          <c:dPt>
            <c:idx val="0"/>
            <c:marker>
              <c:symbol val="circle"/>
              <c:size val="5"/>
              <c:spPr>
                <a:solidFill>
                  <a:srgbClr val="F2A900"/>
                </a:solidFill>
              </c:spPr>
            </c:marker>
            <c:bubble3D val="0"/>
            <c:spPr>
              <a:ln w="9525" cap="rnd">
                <a:solidFill>
                  <a:srgbClr val="F2A900"/>
                </a:solidFill>
                <a:prstDash val="solid"/>
                <a:round/>
              </a:ln>
            </c:spPr>
          </c:dPt>
          <c:dPt>
            <c:idx val="1"/>
            <c:marker>
              <c:symbol val="circle"/>
              <c:size val="5"/>
              <c:spPr>
                <a:solidFill>
                  <a:srgbClr val="F2A900"/>
                </a:solidFill>
              </c:spPr>
            </c:marker>
            <c:bubble3D val="0"/>
            <c:spPr>
              <a:ln w="9525" cap="rnd">
                <a:solidFill>
                  <a:srgbClr val="F2A900"/>
                </a:solidFill>
                <a:prstDash val="solid"/>
                <a:round/>
              </a:ln>
            </c:spPr>
          </c:dPt>
          <c:dPt>
            <c:idx val="2"/>
            <c:marker>
              <c:symbol val="circle"/>
              <c:size val="5"/>
              <c:spPr>
                <a:solidFill>
                  <a:srgbClr val="F2A900"/>
                </a:solidFill>
              </c:spPr>
            </c:marker>
            <c:bubble3D val="0"/>
            <c:spPr>
              <a:ln w="9525" cap="rnd">
                <a:solidFill>
                  <a:srgbClr val="F2A900"/>
                </a:solidFill>
                <a:prstDash val="solid"/>
                <a:round/>
              </a:ln>
            </c:spPr>
          </c:dPt>
          <c:dLbls>
            <c:delete val="1"/>
          </c:dLbls>
          <c:cat>
            <c:numRef>
              <c:f>'Chart Data'!$A$2:$A$4</c:f>
              <c:numCache>
                <c:formatCode>General</c:formatCode>
                <c:ptCount val="3"/>
                <c:pt idx="0">
                  <c:v>4</c:v>
                </c:pt>
                <c:pt idx="1">
                  <c:v>6</c:v>
                </c:pt>
                <c:pt idx="2">
                  <c:v>8</c:v>
                </c:pt>
              </c:numCache>
            </c:numRef>
          </c:cat>
          <c:val>
            <c:numRef>
              <c:f>'Chart Data'!$B$2:$B$4</c:f>
              <c:numCache>
                <c:formatCode>0.0</c:formatCode>
                <c:ptCount val="3"/>
                <c:pt idx="0">
                  <c:v>5.258</c:v>
                </c:pt>
                <c:pt idx="1">
                  <c:v>8.512</c:v>
                </c:pt>
                <c:pt idx="2">
                  <c:v>20.01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2×EP16 + Router</c:f>
              <c:strCache>
                <c:ptCount val="1"/>
                <c:pt idx="0">
                  <c:v>2×EP16 + Router</c:v>
                </c:pt>
              </c:strCache>
            </c:strRef>
          </c:tx>
          <c:spPr>
            <a:ln w="21908" cap="rnd">
              <a:solidFill>
                <a:srgbClr val="4472C4"/>
              </a:solidFill>
              <a:prstDash val="solid"/>
              <a:round/>
            </a:ln>
          </c:spPr>
          <c:marker>
            <c:symbol val="circle"/>
            <c:size val="5"/>
            <c:spPr>
              <a:solidFill>
                <a:srgbClr val="4472C4"/>
              </a:solidFill>
            </c:spPr>
          </c:marker>
          <c:dPt>
            <c:idx val="0"/>
            <c:marker>
              <c:symbol val="circle"/>
              <c:size val="5"/>
              <c:spPr>
                <a:solidFill>
                  <a:srgbClr val="4472C4"/>
                </a:solidFill>
              </c:spPr>
            </c:marker>
            <c:bubble3D val="0"/>
            <c:spPr>
              <a:ln w="9525" cap="rnd">
                <a:solidFill>
                  <a:srgbClr val="4472C4"/>
                </a:solidFill>
                <a:prstDash val="solid"/>
                <a:round/>
              </a:ln>
            </c:spPr>
          </c:dPt>
          <c:dPt>
            <c:idx val="1"/>
            <c:marker>
              <c:symbol val="circle"/>
              <c:size val="5"/>
              <c:spPr>
                <a:solidFill>
                  <a:srgbClr val="4472C4"/>
                </a:solidFill>
              </c:spPr>
            </c:marker>
            <c:bubble3D val="0"/>
            <c:spPr>
              <a:ln w="9525" cap="rnd">
                <a:solidFill>
                  <a:srgbClr val="4472C4"/>
                </a:solidFill>
                <a:prstDash val="solid"/>
                <a:round/>
              </a:ln>
            </c:spPr>
          </c:dPt>
          <c:dPt>
            <c:idx val="2"/>
            <c:marker>
              <c:symbol val="circle"/>
              <c:size val="5"/>
              <c:spPr>
                <a:solidFill>
                  <a:srgbClr val="4472C4"/>
                </a:solidFill>
              </c:spPr>
            </c:marker>
            <c:bubble3D val="0"/>
            <c:spPr>
              <a:ln w="9525" cap="rnd">
                <a:solidFill>
                  <a:srgbClr val="4472C4"/>
                </a:solidFill>
                <a:prstDash val="solid"/>
                <a:round/>
              </a:ln>
            </c:spPr>
          </c:dPt>
          <c:dLbls>
            <c:delete val="1"/>
          </c:dLbls>
          <c:cat>
            <c:numRef>
              <c:f>'Chart Data'!$C$2:$C$4</c:f>
              <c:numCache>
                <c:formatCode>General</c:formatCode>
                <c:ptCount val="3"/>
                <c:pt idx="0">
                  <c:v>4</c:v>
                </c:pt>
                <c:pt idx="1">
                  <c:v>6</c:v>
                </c:pt>
                <c:pt idx="2">
                  <c:v>8</c:v>
                </c:pt>
              </c:numCache>
            </c:numRef>
          </c:cat>
          <c:val>
            <c:numRef>
              <c:f>'Chart Data'!$D$2:$D$4</c:f>
              <c:numCache>
                <c:formatCode>0.0</c:formatCode>
                <c:ptCount val="3"/>
                <c:pt idx="0">
                  <c:v>9.513</c:v>
                </c:pt>
                <c:pt idx="1">
                  <c:v>11.557</c:v>
                </c:pt>
                <c:pt idx="2">
                  <c:v>14.213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9D9D9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ax val="30"/>
          <c:min val="0"/>
        </c:scaling>
        <c:delete val="0"/>
        <c:axPos val="l"/>
        <c:majorGridlines>
          <c:spPr>
            <a:ln w="9525">
              <a:solidFill>
                <a:srgbClr val="E8E8E8"/>
              </a:solidFill>
              <a:prstDash val="solid"/>
              <a:round/>
            </a:ln>
          </c:spPr>
        </c:majorGridlines>
        <c:numFmt formatCode="0.0" sourceLinked="1"/>
        <c:majorTickMark val="none"/>
        <c:minorTickMark val="none"/>
        <c:tickLblPos val="nextTo"/>
        <c:spPr>
          <a:ln w="9525">
            <a:solidFill>
              <a:srgbClr val="D9D9D9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</a:p>
        </c:txPr>
        <c:crossAx val="48650112"/>
        <c:crosses val="autoZero"/>
        <c:crossBetween val="between"/>
        <c:majorUnit val="10"/>
      </c:valAx>
      <c:spPr>
        <a:solidFill>
          <a:srgbClr val="FFFFFF"/>
        </a:solidFill>
        <a:ln w="9525">
          <a:solidFill>
            <a:srgbClr val="ECECEC"/>
          </a:solidFill>
          <a:prstDash val="solid"/>
        </a:ln>
      </c:spPr>
    </c:plotArea>
    <c:plotVisOnly val="1"/>
    <c:dispBlanksAs val="gap"/>
    <c:showDLblsOverMax val="0"/>
    <c:extLst>
      <c:ext uri="{0b15fc19-7d7d-44ad-8c2d-2c3a37ce22c3}">
        <chartProps xmlns="https://web.wps.cn/et/2018/main" chartId="{f97c88a6-a6a3-48c2-9798-b760983ccec5}"/>
      </c:ext>
    </c:extLst>
  </c:chart>
  <c:spPr>
    <a:solidFill>
      <a:srgbClr val="FFFFFF"/>
    </a:solidFill>
    <a:ln w="9525">
      <a:solidFill>
        <a:srgbClr val="D0D0D0"/>
      </a:solidFill>
      <a:prstDash val="solid"/>
    </a:ln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3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zh-CN" sz="18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US" sz="1125" b="1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P99 TTFT</a:t>
            </a:r>
            <a:endParaRPr lang="en-US" sz="1125" b="1">
              <a:solidFill>
                <a:srgbClr val="222222"/>
              </a:solidFill>
              <a:latin typeface="Calibri"/>
              <a:ea typeface="Calibri"/>
              <a:cs typeface="Calibri"/>
            </a:endParaRPr>
          </a:p>
        </c:rich>
      </c:tx>
      <c:layout/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AFD (PR #320)</c:f>
              <c:strCache>
                <c:ptCount val="1"/>
                <c:pt idx="0">
                  <c:v>AFD (PR #320)</c:v>
                </c:pt>
              </c:strCache>
            </c:strRef>
          </c:tx>
          <c:spPr>
            <a:ln w="21908" cap="rnd">
              <a:solidFill>
                <a:srgbClr val="F2A900"/>
              </a:solidFill>
              <a:prstDash val="solid"/>
              <a:round/>
            </a:ln>
          </c:spPr>
          <c:marker>
            <c:symbol val="circle"/>
            <c:size val="5"/>
            <c:spPr>
              <a:solidFill>
                <a:srgbClr val="F2A900"/>
              </a:solidFill>
            </c:spPr>
          </c:marker>
          <c:dPt>
            <c:idx val="0"/>
            <c:marker>
              <c:symbol val="circle"/>
              <c:size val="5"/>
              <c:spPr>
                <a:solidFill>
                  <a:srgbClr val="F2A900"/>
                </a:solidFill>
              </c:spPr>
            </c:marker>
            <c:bubble3D val="0"/>
            <c:spPr>
              <a:ln w="9525" cap="rnd">
                <a:solidFill>
                  <a:srgbClr val="F2A900"/>
                </a:solidFill>
                <a:prstDash val="solid"/>
                <a:round/>
              </a:ln>
            </c:spPr>
          </c:dPt>
          <c:dPt>
            <c:idx val="1"/>
            <c:marker>
              <c:symbol val="circle"/>
              <c:size val="5"/>
              <c:spPr>
                <a:solidFill>
                  <a:srgbClr val="F2A900"/>
                </a:solidFill>
              </c:spPr>
            </c:marker>
            <c:bubble3D val="0"/>
            <c:spPr>
              <a:ln w="9525" cap="rnd">
                <a:solidFill>
                  <a:srgbClr val="F2A900"/>
                </a:solidFill>
                <a:prstDash val="solid"/>
                <a:round/>
              </a:ln>
            </c:spPr>
          </c:dPt>
          <c:dPt>
            <c:idx val="2"/>
            <c:marker>
              <c:symbol val="circle"/>
              <c:size val="5"/>
              <c:spPr>
                <a:solidFill>
                  <a:srgbClr val="F2A900"/>
                </a:solidFill>
              </c:spPr>
            </c:marker>
            <c:bubble3D val="0"/>
            <c:spPr>
              <a:ln w="9525" cap="rnd">
                <a:solidFill>
                  <a:srgbClr val="F2A900"/>
                </a:solidFill>
                <a:prstDash val="solid"/>
                <a:round/>
              </a:ln>
            </c:spPr>
          </c:dPt>
          <c:dLbls>
            <c:delete val="1"/>
          </c:dLbls>
          <c:cat>
            <c:numRef>
              <c:f>'Chart Data'!$A$2:$A$4</c:f>
              <c:numCache>
                <c:formatCode>General</c:formatCode>
                <c:ptCount val="3"/>
                <c:pt idx="0">
                  <c:v>4</c:v>
                </c:pt>
                <c:pt idx="1">
                  <c:v>6</c:v>
                </c:pt>
                <c:pt idx="2">
                  <c:v>8</c:v>
                </c:pt>
              </c:numCache>
            </c:numRef>
          </c:cat>
          <c:val>
            <c:numRef>
              <c:f>'Chart Data'!$B$2:$B$4</c:f>
              <c:numCache>
                <c:formatCode>0.0</c:formatCode>
                <c:ptCount val="3"/>
                <c:pt idx="0">
                  <c:v>7.127</c:v>
                </c:pt>
                <c:pt idx="1">
                  <c:v>11.265</c:v>
                </c:pt>
                <c:pt idx="2">
                  <c:v>24.962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2×EP16 + Router</c:f>
              <c:strCache>
                <c:ptCount val="1"/>
                <c:pt idx="0">
                  <c:v>2×EP16 + Router</c:v>
                </c:pt>
              </c:strCache>
            </c:strRef>
          </c:tx>
          <c:spPr>
            <a:ln w="21908" cap="rnd">
              <a:solidFill>
                <a:srgbClr val="4472C4"/>
              </a:solidFill>
              <a:prstDash val="solid"/>
              <a:round/>
            </a:ln>
          </c:spPr>
          <c:marker>
            <c:symbol val="circle"/>
            <c:size val="5"/>
            <c:spPr>
              <a:solidFill>
                <a:srgbClr val="4472C4"/>
              </a:solidFill>
            </c:spPr>
          </c:marker>
          <c:dPt>
            <c:idx val="0"/>
            <c:marker>
              <c:symbol val="circle"/>
              <c:size val="5"/>
              <c:spPr>
                <a:solidFill>
                  <a:srgbClr val="4472C4"/>
                </a:solidFill>
              </c:spPr>
            </c:marker>
            <c:bubble3D val="0"/>
            <c:spPr>
              <a:ln w="9525" cap="rnd">
                <a:solidFill>
                  <a:srgbClr val="4472C4"/>
                </a:solidFill>
                <a:prstDash val="solid"/>
                <a:round/>
              </a:ln>
            </c:spPr>
          </c:dPt>
          <c:dPt>
            <c:idx val="1"/>
            <c:marker>
              <c:symbol val="circle"/>
              <c:size val="5"/>
              <c:spPr>
                <a:solidFill>
                  <a:srgbClr val="4472C4"/>
                </a:solidFill>
              </c:spPr>
            </c:marker>
            <c:bubble3D val="0"/>
            <c:spPr>
              <a:ln w="9525" cap="rnd">
                <a:solidFill>
                  <a:srgbClr val="4472C4"/>
                </a:solidFill>
                <a:prstDash val="solid"/>
                <a:round/>
              </a:ln>
            </c:spPr>
          </c:dPt>
          <c:dPt>
            <c:idx val="2"/>
            <c:marker>
              <c:symbol val="circle"/>
              <c:size val="5"/>
              <c:spPr>
                <a:solidFill>
                  <a:srgbClr val="4472C4"/>
                </a:solidFill>
              </c:spPr>
            </c:marker>
            <c:bubble3D val="0"/>
            <c:spPr>
              <a:ln w="9525" cap="rnd">
                <a:solidFill>
                  <a:srgbClr val="4472C4"/>
                </a:solidFill>
                <a:prstDash val="solid"/>
                <a:round/>
              </a:ln>
            </c:spPr>
          </c:dPt>
          <c:dLbls>
            <c:delete val="1"/>
          </c:dLbls>
          <c:cat>
            <c:numRef>
              <c:f>'Chart Data'!$C$2:$C$4</c:f>
              <c:numCache>
                <c:formatCode>General</c:formatCode>
                <c:ptCount val="3"/>
                <c:pt idx="0">
                  <c:v>4</c:v>
                </c:pt>
                <c:pt idx="1">
                  <c:v>6</c:v>
                </c:pt>
                <c:pt idx="2">
                  <c:v>8</c:v>
                </c:pt>
              </c:numCache>
            </c:numRef>
          </c:cat>
          <c:val>
            <c:numRef>
              <c:f>'Chart Data'!$D$2:$D$4</c:f>
              <c:numCache>
                <c:formatCode>0.0</c:formatCode>
                <c:ptCount val="3"/>
                <c:pt idx="0">
                  <c:v>12.266</c:v>
                </c:pt>
                <c:pt idx="1">
                  <c:v>14.676</c:v>
                </c:pt>
                <c:pt idx="2">
                  <c:v>17.253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9D9D9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ax val="30"/>
          <c:min val="0"/>
        </c:scaling>
        <c:delete val="0"/>
        <c:axPos val="l"/>
        <c:majorGridlines>
          <c:spPr>
            <a:ln w="9525">
              <a:solidFill>
                <a:srgbClr val="E8E8E8"/>
              </a:solidFill>
              <a:prstDash val="solid"/>
              <a:round/>
            </a:ln>
          </c:spPr>
        </c:majorGridlines>
        <c:numFmt formatCode="0.0" sourceLinked="1"/>
        <c:majorTickMark val="none"/>
        <c:minorTickMark val="none"/>
        <c:tickLblPos val="nextTo"/>
        <c:spPr>
          <a:ln w="9525">
            <a:solidFill>
              <a:srgbClr val="D9D9D9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</a:p>
        </c:txPr>
        <c:crossAx val="48650112"/>
        <c:crosses val="autoZero"/>
        <c:crossBetween val="between"/>
        <c:majorUnit val="10"/>
      </c:valAx>
      <c:spPr>
        <a:solidFill>
          <a:srgbClr val="FFFFFF"/>
        </a:solidFill>
        <a:ln w="9525">
          <a:solidFill>
            <a:srgbClr val="ECECEC"/>
          </a:solidFill>
          <a:prstDash val="solid"/>
        </a:ln>
      </c:spPr>
    </c:plotArea>
    <c:plotVisOnly val="1"/>
    <c:dispBlanksAs val="gap"/>
    <c:showDLblsOverMax val="0"/>
    <c:extLst>
      <c:ext uri="{0b15fc19-7d7d-44ad-8c2d-2c3a37ce22c3}">
        <chartProps xmlns="https://web.wps.cn/et/2018/main" chartId="{d4c7e209-073e-435a-8873-cfc07cbfe7a8}"/>
      </c:ext>
    </c:extLst>
  </c:chart>
  <c:spPr>
    <a:solidFill>
      <a:srgbClr val="FFFFFF"/>
    </a:solidFill>
    <a:ln w="9525">
      <a:solidFill>
        <a:srgbClr val="D0D0D0"/>
      </a:solidFill>
      <a:prstDash val="solid"/>
    </a:ln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4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AFD 64K</c:v>
                </c:pt>
              </c:strCache>
            </c:strRef>
          </c:tx>
          <c:spPr>
            <a:ln w="27940" cap="rnd">
              <a:solidFill>
                <a:srgbClr val="F2A300"/>
              </a:solidFill>
              <a:prstDash val="solid"/>
              <a:round/>
            </a:ln>
          </c:spPr>
          <c:marker>
            <c:symbol val="circle"/>
            <c:size val="6"/>
            <c:spPr>
              <a:solidFill>
                <a:srgbClr val="F2A300"/>
              </a:solidFill>
              <a:ln w="12700">
                <a:solidFill>
                  <a:srgbClr val="F2A300"/>
                </a:solidFill>
                <a:prstDash val="solid"/>
                <a:round/>
              </a:ln>
            </c:spPr>
          </c:marker>
          <c:dLbls>
            <c:delete val="1"/>
          </c:dLbls>
          <c:cat>
            <c:strRef>
              <c:f>Sheet1!$A$2:$A$5</c:f>
              <c:strCache>
                <c:ptCount val="4"/>
                <c:pt idx="0">
                  <c:v>P25</c:v>
                </c:pt>
                <c:pt idx="1">
                  <c:v>P50</c:v>
                </c:pt>
                <c:pt idx="2">
                  <c:v>P90</c:v>
                </c:pt>
                <c:pt idx="3">
                  <c:v>P99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0.451674560084939</c:v>
                </c:pt>
                <c:pt idx="1">
                  <c:v>0.813542610965669</c:v>
                </c:pt>
                <c:pt idx="2">
                  <c:v>2.86460497820129</c:v>
                </c:pt>
                <c:pt idx="3">
                  <c:v>6.08422859028603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4×EP4 8K</c:v>
                </c:pt>
              </c:strCache>
            </c:strRef>
          </c:tx>
          <c:spPr>
            <a:ln w="27940" cap="rnd">
              <a:solidFill>
                <a:srgbClr val="548235"/>
              </a:solidFill>
              <a:prstDash val="solid"/>
              <a:round/>
            </a:ln>
          </c:spPr>
          <c:marker>
            <c:symbol val="diamond"/>
            <c:size val="6"/>
            <c:spPr>
              <a:solidFill>
                <a:srgbClr val="548235"/>
              </a:solidFill>
              <a:ln w="12700">
                <a:solidFill>
                  <a:srgbClr val="548235"/>
                </a:solidFill>
                <a:prstDash val="solid"/>
                <a:round/>
              </a:ln>
            </c:spPr>
          </c:marker>
          <c:dLbls>
            <c:delete val="1"/>
          </c:dLbls>
          <c:cat>
            <c:strRef>
              <c:f>Sheet1!$A$2:$A$5</c:f>
              <c:strCache>
                <c:ptCount val="4"/>
                <c:pt idx="0">
                  <c:v>P25</c:v>
                </c:pt>
                <c:pt idx="1">
                  <c:v>P50</c:v>
                </c:pt>
                <c:pt idx="2">
                  <c:v>P90</c:v>
                </c:pt>
                <c:pt idx="3">
                  <c:v>P99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0.373181615645687</c:v>
                </c:pt>
                <c:pt idx="1">
                  <c:v>0.82474814945211</c:v>
                </c:pt>
                <c:pt idx="2">
                  <c:v>2.92796594494333</c:v>
                </c:pt>
                <c:pt idx="3">
                  <c:v>5.94948286581786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2×EP8 8K</c:v>
                </c:pt>
              </c:strCache>
            </c:strRef>
          </c:tx>
          <c:spPr>
            <a:ln w="27940" cap="rnd">
              <a:solidFill>
                <a:srgbClr val="4472C4"/>
              </a:solidFill>
              <a:prstDash val="solid"/>
              <a:round/>
            </a:ln>
          </c:spPr>
          <c:marker>
            <c:symbol val="triangle"/>
            <c:size val="6"/>
            <c:spPr>
              <a:solidFill>
                <a:srgbClr val="4472C4"/>
              </a:solidFill>
              <a:ln w="12700">
                <a:solidFill>
                  <a:srgbClr val="4472C4"/>
                </a:solidFill>
                <a:prstDash val="solid"/>
                <a:round/>
              </a:ln>
            </c:spPr>
          </c:marker>
          <c:dLbls>
            <c:delete val="1"/>
          </c:dLbls>
          <c:cat>
            <c:strRef>
              <c:f>Sheet1!$A$2:$A$5</c:f>
              <c:strCache>
                <c:ptCount val="4"/>
                <c:pt idx="0">
                  <c:v>P25</c:v>
                </c:pt>
                <c:pt idx="1">
                  <c:v>P50</c:v>
                </c:pt>
                <c:pt idx="2">
                  <c:v>P90</c:v>
                </c:pt>
                <c:pt idx="3">
                  <c:v>P99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1.07586598598088</c:v>
                </c:pt>
                <c:pt idx="1">
                  <c:v>1.86886880919337</c:v>
                </c:pt>
                <c:pt idx="2">
                  <c:v>4.46411869737009</c:v>
                </c:pt>
                <c:pt idx="3">
                  <c:v>7.69696350411202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EP16 8K</c:v>
                </c:pt>
              </c:strCache>
            </c:strRef>
          </c:tx>
          <c:spPr>
            <a:ln w="27940" cap="rnd">
              <a:solidFill>
                <a:srgbClr val="7030A0"/>
              </a:solidFill>
              <a:prstDash val="solid"/>
              <a:round/>
            </a:ln>
          </c:spPr>
          <c:marker>
            <c:symbol val="square"/>
            <c:size val="6"/>
            <c:spPr>
              <a:solidFill>
                <a:srgbClr val="7030A0"/>
              </a:solidFill>
              <a:ln w="12700">
                <a:solidFill>
                  <a:srgbClr val="7030A0"/>
                </a:solidFill>
                <a:prstDash val="solid"/>
                <a:round/>
              </a:ln>
            </c:spPr>
          </c:marker>
          <c:dLbls>
            <c:delete val="1"/>
          </c:dLbls>
          <c:cat>
            <c:strRef>
              <c:f>Sheet1!$A$2:$A$5</c:f>
              <c:strCache>
                <c:ptCount val="4"/>
                <c:pt idx="0">
                  <c:v>P25</c:v>
                </c:pt>
                <c:pt idx="1">
                  <c:v>P50</c:v>
                </c:pt>
                <c:pt idx="2">
                  <c:v>P90</c:v>
                </c:pt>
                <c:pt idx="3">
                  <c:v>P99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2.32124865831186</c:v>
                </c:pt>
                <c:pt idx="1">
                  <c:v>3.17153960218032</c:v>
                </c:pt>
                <c:pt idx="2">
                  <c:v>6.25004000837604</c:v>
                </c:pt>
                <c:pt idx="3">
                  <c:v>10.1204706088019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/>
                </a:solidFill>
                <a:latin typeface="微软雅黑"/>
                <a:ea typeface="+mn-ea"/>
                <a:cs typeface="+mn-cs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  <c:min val="0"/>
        </c:scaling>
        <c:delete val="0"/>
        <c:axPos val="l"/>
        <c:majorGridlines>
          <c:spPr>
            <a:ln w="7620">
              <a:solidFill>
                <a:srgbClr val="D9D9D9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/>
                </a:solidFill>
                <a:latin typeface="微软雅黑"/>
                <a:ea typeface="+mn-ea"/>
                <a:cs typeface="+mn-cs"/>
              </a:defRPr>
            </a:pPr>
          </a:p>
        </c:txPr>
        <c:crossAx val="2118791784"/>
        <c:crosses val="autoZero"/>
        <c:crossBetween val="between"/>
      </c:valAx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1000" b="0" i="0" u="none" strike="noStrike" kern="1200" baseline="0">
              <a:solidFill>
                <a:schemeClr val="tx1"/>
              </a:solidFill>
              <a:latin typeface="微软雅黑"/>
              <a:ea typeface="+mn-ea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a2835e68-0883-4702-9116-db7dd57f42fe}"/>
      </c:ext>
    </c:extLst>
  </c:chart>
  <c:txPr>
    <a:bodyPr/>
    <a:lstStyle/>
    <a:p>
      <a:pPr>
        <a:defRPr lang="zh-CN" sz="1800"/>
      </a:pPr>
    </a:p>
  </c:txPr>
  <c:externalData r:id="rId1">
    <c:autoUpdate val="0"/>
  </c:externalData>
</c:chartSpace>
</file>

<file path=ppt/charts/chart4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AFD 64K</c:v>
                </c:pt>
              </c:strCache>
            </c:strRef>
          </c:tx>
          <c:spPr>
            <a:ln w="27940" cap="rnd">
              <a:solidFill>
                <a:srgbClr val="F2A300"/>
              </a:solidFill>
              <a:prstDash val="solid"/>
              <a:round/>
            </a:ln>
          </c:spPr>
          <c:marker>
            <c:symbol val="circle"/>
            <c:size val="6"/>
            <c:spPr>
              <a:solidFill>
                <a:srgbClr val="F2A300"/>
              </a:solidFill>
              <a:ln w="12700">
                <a:solidFill>
                  <a:srgbClr val="F2A300"/>
                </a:solidFill>
                <a:prstDash val="solid"/>
                <a:round/>
              </a:ln>
            </c:spPr>
          </c:marker>
          <c:dLbls>
            <c:delete val="1"/>
          </c:dLbls>
          <c:cat>
            <c:strRef>
              <c:f>Sheet1!$A$2:$A$5</c:f>
              <c:strCache>
                <c:ptCount val="4"/>
                <c:pt idx="0">
                  <c:v>P25</c:v>
                </c:pt>
                <c:pt idx="1">
                  <c:v>P50</c:v>
                </c:pt>
                <c:pt idx="2">
                  <c:v>P90</c:v>
                </c:pt>
                <c:pt idx="3">
                  <c:v>P99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0.731251559065034</c:v>
                </c:pt>
                <c:pt idx="1">
                  <c:v>1.62456194373469</c:v>
                </c:pt>
                <c:pt idx="2">
                  <c:v>5.12873287529995</c:v>
                </c:pt>
                <c:pt idx="3">
                  <c:v>8.10777107768382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4×EP4 8K</c:v>
                </c:pt>
              </c:strCache>
            </c:strRef>
          </c:tx>
          <c:spPr>
            <a:ln w="27940" cap="rnd">
              <a:solidFill>
                <a:srgbClr val="548235"/>
              </a:solidFill>
              <a:prstDash val="solid"/>
              <a:round/>
            </a:ln>
          </c:spPr>
          <c:marker>
            <c:symbol val="diamond"/>
            <c:size val="6"/>
            <c:spPr>
              <a:solidFill>
                <a:srgbClr val="548235"/>
              </a:solidFill>
              <a:ln w="12700">
                <a:solidFill>
                  <a:srgbClr val="548235"/>
                </a:solidFill>
                <a:prstDash val="solid"/>
                <a:round/>
              </a:ln>
            </c:spPr>
          </c:marker>
          <c:dLbls>
            <c:delete val="1"/>
          </c:dLbls>
          <c:cat>
            <c:strRef>
              <c:f>Sheet1!$A$2:$A$5</c:f>
              <c:strCache>
                <c:ptCount val="4"/>
                <c:pt idx="0">
                  <c:v>P25</c:v>
                </c:pt>
                <c:pt idx="1">
                  <c:v>P50</c:v>
                </c:pt>
                <c:pt idx="2">
                  <c:v>P90</c:v>
                </c:pt>
                <c:pt idx="3">
                  <c:v>P99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0.51651247497648</c:v>
                </c:pt>
                <c:pt idx="1">
                  <c:v>1.25648603433122</c:v>
                </c:pt>
                <c:pt idx="2">
                  <c:v>3.81072510840992</c:v>
                </c:pt>
                <c:pt idx="3">
                  <c:v>6.74501762818545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2×EP8 8K</c:v>
                </c:pt>
              </c:strCache>
            </c:strRef>
          </c:tx>
          <c:spPr>
            <a:ln w="27940" cap="rnd">
              <a:solidFill>
                <a:srgbClr val="4472C4"/>
              </a:solidFill>
              <a:prstDash val="solid"/>
              <a:round/>
            </a:ln>
          </c:spPr>
          <c:marker>
            <c:symbol val="triangle"/>
            <c:size val="6"/>
            <c:spPr>
              <a:solidFill>
                <a:srgbClr val="4472C4"/>
              </a:solidFill>
              <a:ln w="12700">
                <a:solidFill>
                  <a:srgbClr val="4472C4"/>
                </a:solidFill>
                <a:prstDash val="solid"/>
                <a:round/>
              </a:ln>
            </c:spPr>
          </c:marker>
          <c:dLbls>
            <c:delete val="1"/>
          </c:dLbls>
          <c:cat>
            <c:strRef>
              <c:f>Sheet1!$A$2:$A$5</c:f>
              <c:strCache>
                <c:ptCount val="4"/>
                <c:pt idx="0">
                  <c:v>P25</c:v>
                </c:pt>
                <c:pt idx="1">
                  <c:v>P50</c:v>
                </c:pt>
                <c:pt idx="2">
                  <c:v>P90</c:v>
                </c:pt>
                <c:pt idx="3">
                  <c:v>P99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2.10673035572593</c:v>
                </c:pt>
                <c:pt idx="1">
                  <c:v>3.1814243827636</c:v>
                </c:pt>
                <c:pt idx="2">
                  <c:v>6.717952077277</c:v>
                </c:pt>
                <c:pt idx="3">
                  <c:v>10.4776374955972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EP16 8K</c:v>
                </c:pt>
              </c:strCache>
            </c:strRef>
          </c:tx>
          <c:spPr>
            <a:ln w="27940" cap="rnd">
              <a:solidFill>
                <a:srgbClr val="7030A0"/>
              </a:solidFill>
              <a:prstDash val="solid"/>
              <a:round/>
            </a:ln>
          </c:spPr>
          <c:marker>
            <c:symbol val="square"/>
            <c:size val="6"/>
            <c:spPr>
              <a:solidFill>
                <a:srgbClr val="7030A0"/>
              </a:solidFill>
              <a:ln w="12700">
                <a:solidFill>
                  <a:srgbClr val="7030A0"/>
                </a:solidFill>
                <a:prstDash val="solid"/>
                <a:round/>
              </a:ln>
            </c:spPr>
          </c:marker>
          <c:dLbls>
            <c:delete val="1"/>
          </c:dLbls>
          <c:cat>
            <c:strRef>
              <c:f>Sheet1!$A$2:$A$5</c:f>
              <c:strCache>
                <c:ptCount val="4"/>
                <c:pt idx="0">
                  <c:v>P25</c:v>
                </c:pt>
                <c:pt idx="1">
                  <c:v>P50</c:v>
                </c:pt>
                <c:pt idx="2">
                  <c:v>P90</c:v>
                </c:pt>
                <c:pt idx="3">
                  <c:v>P99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3.11195796029642</c:v>
                </c:pt>
                <c:pt idx="1">
                  <c:v>4.41150796754907</c:v>
                </c:pt>
                <c:pt idx="2">
                  <c:v>8.05045057218522</c:v>
                </c:pt>
                <c:pt idx="3">
                  <c:v>11.9868703563573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/>
                </a:solidFill>
                <a:latin typeface="微软雅黑"/>
                <a:ea typeface="+mn-ea"/>
                <a:cs typeface="+mn-cs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  <c:min val="0"/>
        </c:scaling>
        <c:delete val="0"/>
        <c:axPos val="l"/>
        <c:majorGridlines>
          <c:spPr>
            <a:ln w="7620">
              <a:solidFill>
                <a:srgbClr val="D9D9D9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/>
                </a:solidFill>
                <a:latin typeface="微软雅黑"/>
                <a:ea typeface="+mn-ea"/>
                <a:cs typeface="+mn-cs"/>
              </a:defRPr>
            </a:pPr>
          </a:p>
        </c:txPr>
        <c:crossAx val="2118791784"/>
        <c:crosses val="autoZero"/>
        <c:crossBetween val="between"/>
      </c:valAx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1000" b="0" i="0" u="none" strike="noStrike" kern="1200" baseline="0">
              <a:solidFill>
                <a:schemeClr val="tx1"/>
              </a:solidFill>
              <a:latin typeface="微软雅黑"/>
              <a:ea typeface="+mn-ea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0b650bde-9d5b-4041-8574-59ec05b76f40}"/>
      </c:ext>
    </c:extLst>
  </c:chart>
  <c:txPr>
    <a:bodyPr/>
    <a:lstStyle/>
    <a:p>
      <a:pPr>
        <a:defRPr lang="zh-CN" sz="1800"/>
      </a:pPr>
    </a:p>
  </c:txPr>
  <c:externalData r:id="rId1">
    <c:autoUpdate val="0"/>
  </c:externalData>
</c:chartSpace>
</file>

<file path=ppt/charts/chart4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AFD 64K</c:v>
                </c:pt>
              </c:strCache>
            </c:strRef>
          </c:tx>
          <c:spPr>
            <a:ln w="27940" cap="rnd">
              <a:solidFill>
                <a:srgbClr val="F2A300"/>
              </a:solidFill>
              <a:prstDash val="solid"/>
              <a:round/>
            </a:ln>
          </c:spPr>
          <c:marker>
            <c:symbol val="circle"/>
            <c:size val="6"/>
            <c:spPr>
              <a:solidFill>
                <a:srgbClr val="F2A300"/>
              </a:solidFill>
              <a:ln w="12700">
                <a:solidFill>
                  <a:srgbClr val="F2A300"/>
                </a:solidFill>
                <a:prstDash val="solid"/>
                <a:round/>
              </a:ln>
            </c:spPr>
          </c:marker>
          <c:dLbls>
            <c:delete val="1"/>
          </c:dLbls>
          <c:cat>
            <c:strRef>
              <c:f>Sheet1!$A$2:$A$5</c:f>
              <c:strCache>
                <c:ptCount val="4"/>
                <c:pt idx="0">
                  <c:v>P25</c:v>
                </c:pt>
                <c:pt idx="1">
                  <c:v>P50</c:v>
                </c:pt>
                <c:pt idx="2">
                  <c:v>P90</c:v>
                </c:pt>
                <c:pt idx="3">
                  <c:v>P99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3.18688036051268</c:v>
                </c:pt>
                <c:pt idx="1">
                  <c:v>6.28650079636524</c:v>
                </c:pt>
                <c:pt idx="2">
                  <c:v>11.7045200771342</c:v>
                </c:pt>
                <c:pt idx="3">
                  <c:v>16.5624530739462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4×EP4 8K</c:v>
                </c:pt>
              </c:strCache>
            </c:strRef>
          </c:tx>
          <c:spPr>
            <a:ln w="27940" cap="rnd">
              <a:solidFill>
                <a:srgbClr val="548235"/>
              </a:solidFill>
              <a:prstDash val="solid"/>
              <a:round/>
            </a:ln>
          </c:spPr>
          <c:marker>
            <c:symbol val="diamond"/>
            <c:size val="6"/>
            <c:spPr>
              <a:solidFill>
                <a:srgbClr val="548235"/>
              </a:solidFill>
              <a:ln w="12700">
                <a:solidFill>
                  <a:srgbClr val="548235"/>
                </a:solidFill>
                <a:prstDash val="solid"/>
                <a:round/>
              </a:ln>
            </c:spPr>
          </c:marker>
          <c:dLbls>
            <c:delete val="1"/>
          </c:dLbls>
          <c:cat>
            <c:strRef>
              <c:f>Sheet1!$A$2:$A$5</c:f>
              <c:strCache>
                <c:ptCount val="4"/>
                <c:pt idx="0">
                  <c:v>P25</c:v>
                </c:pt>
                <c:pt idx="1">
                  <c:v>P50</c:v>
                </c:pt>
                <c:pt idx="2">
                  <c:v>P90</c:v>
                </c:pt>
                <c:pt idx="3">
                  <c:v>P99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1.49823665960381</c:v>
                </c:pt>
                <c:pt idx="1">
                  <c:v>3.09803589464476</c:v>
                </c:pt>
                <c:pt idx="2">
                  <c:v>7.2806502111877</c:v>
                </c:pt>
                <c:pt idx="3">
                  <c:v>10.7107637822939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2×EP8 8K</c:v>
                </c:pt>
              </c:strCache>
            </c:strRef>
          </c:tx>
          <c:spPr>
            <a:ln w="27940" cap="rnd">
              <a:solidFill>
                <a:srgbClr val="4472C4"/>
              </a:solidFill>
              <a:prstDash val="solid"/>
              <a:round/>
            </a:ln>
          </c:spPr>
          <c:marker>
            <c:symbol val="triangle"/>
            <c:size val="6"/>
            <c:spPr>
              <a:solidFill>
                <a:srgbClr val="4472C4"/>
              </a:solidFill>
              <a:ln w="12700">
                <a:solidFill>
                  <a:srgbClr val="4472C4"/>
                </a:solidFill>
                <a:prstDash val="solid"/>
                <a:round/>
              </a:ln>
            </c:spPr>
          </c:marker>
          <c:dLbls>
            <c:delete val="1"/>
          </c:dLbls>
          <c:cat>
            <c:strRef>
              <c:f>Sheet1!$A$2:$A$5</c:f>
              <c:strCache>
                <c:ptCount val="4"/>
                <c:pt idx="0">
                  <c:v>P25</c:v>
                </c:pt>
                <c:pt idx="1">
                  <c:v>P50</c:v>
                </c:pt>
                <c:pt idx="2">
                  <c:v>P90</c:v>
                </c:pt>
                <c:pt idx="3">
                  <c:v>P99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4.73638338114445</c:v>
                </c:pt>
                <c:pt idx="1">
                  <c:v>7.42761846259236</c:v>
                </c:pt>
                <c:pt idx="2">
                  <c:v>13.9023705174526</c:v>
                </c:pt>
                <c:pt idx="3">
                  <c:v>18.938207457525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EP16 8K</c:v>
                </c:pt>
              </c:strCache>
            </c:strRef>
          </c:tx>
          <c:spPr>
            <a:ln w="27940" cap="rnd">
              <a:solidFill>
                <a:srgbClr val="7030A0"/>
              </a:solidFill>
              <a:prstDash val="solid"/>
              <a:round/>
            </a:ln>
          </c:spPr>
          <c:marker>
            <c:symbol val="square"/>
            <c:size val="6"/>
            <c:spPr>
              <a:solidFill>
                <a:srgbClr val="7030A0"/>
              </a:solidFill>
              <a:ln w="12700">
                <a:solidFill>
                  <a:srgbClr val="7030A0"/>
                </a:solidFill>
                <a:prstDash val="solid"/>
                <a:round/>
              </a:ln>
            </c:spPr>
          </c:marker>
          <c:dLbls>
            <c:delete val="1"/>
          </c:dLbls>
          <c:cat>
            <c:strRef>
              <c:f>Sheet1!$A$2:$A$5</c:f>
              <c:strCache>
                <c:ptCount val="4"/>
                <c:pt idx="0">
                  <c:v>P25</c:v>
                </c:pt>
                <c:pt idx="1">
                  <c:v>P50</c:v>
                </c:pt>
                <c:pt idx="2">
                  <c:v>P90</c:v>
                </c:pt>
                <c:pt idx="3">
                  <c:v>P99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11.2181258344402</c:v>
                </c:pt>
                <c:pt idx="1">
                  <c:v>15.6745700525741</c:v>
                </c:pt>
                <c:pt idx="2">
                  <c:v>24.9229017402977</c:v>
                </c:pt>
                <c:pt idx="3">
                  <c:v>32.3612060722274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/>
                </a:solidFill>
                <a:latin typeface="微软雅黑"/>
                <a:ea typeface="+mn-ea"/>
                <a:cs typeface="+mn-cs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  <c:min val="0"/>
        </c:scaling>
        <c:delete val="0"/>
        <c:axPos val="l"/>
        <c:majorGridlines>
          <c:spPr>
            <a:ln w="7620">
              <a:solidFill>
                <a:srgbClr val="D9D9D9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/>
                </a:solidFill>
                <a:latin typeface="微软雅黑"/>
                <a:ea typeface="+mn-ea"/>
                <a:cs typeface="+mn-cs"/>
              </a:defRPr>
            </a:pPr>
          </a:p>
        </c:txPr>
        <c:crossAx val="2118791784"/>
        <c:crosses val="autoZero"/>
        <c:crossBetween val="between"/>
      </c:valAx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1000" b="0" i="0" u="none" strike="noStrike" kern="1200" baseline="0">
              <a:solidFill>
                <a:schemeClr val="tx1"/>
              </a:solidFill>
              <a:latin typeface="微软雅黑"/>
              <a:ea typeface="+mn-ea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711d68fd-580d-41bf-abaa-df34ca9f7f63}"/>
      </c:ext>
    </c:extLst>
  </c:chart>
  <c:txPr>
    <a:bodyPr/>
    <a:lstStyle/>
    <a:p>
      <a:pPr>
        <a:defRPr lang="zh-CN" sz="1800"/>
      </a:pPr>
    </a:p>
  </c:txPr>
  <c:externalData r:id="rId1">
    <c:autoUpdate val="0"/>
  </c:externalData>
</c:chartSpace>
</file>

<file path=ppt/charts/chart4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AFD 64K</c:v>
                </c:pt>
              </c:strCache>
            </c:strRef>
          </c:tx>
          <c:spPr>
            <a:ln w="27940" cap="rnd">
              <a:solidFill>
                <a:srgbClr val="F2A300"/>
              </a:solidFill>
              <a:prstDash val="solid"/>
              <a:round/>
            </a:ln>
          </c:spPr>
          <c:marker>
            <c:symbol val="circle"/>
            <c:size val="6"/>
            <c:spPr>
              <a:solidFill>
                <a:srgbClr val="F2A300"/>
              </a:solidFill>
              <a:ln w="12700">
                <a:solidFill>
                  <a:srgbClr val="F2A300"/>
                </a:solidFill>
                <a:prstDash val="solid"/>
                <a:round/>
              </a:ln>
            </c:spPr>
          </c:marker>
          <c:dLbls>
            <c:delete val="1"/>
          </c:dLbls>
          <c:cat>
            <c:strRef>
              <c:f>Sheet1!$A$2:$A$5</c:f>
              <c:strCache>
                <c:ptCount val="4"/>
                <c:pt idx="0">
                  <c:v>P25</c:v>
                </c:pt>
                <c:pt idx="1">
                  <c:v>P50</c:v>
                </c:pt>
                <c:pt idx="2">
                  <c:v>P90</c:v>
                </c:pt>
                <c:pt idx="3">
                  <c:v>P99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20.4690215333054</c:v>
                </c:pt>
                <c:pt idx="1">
                  <c:v>30.7385649013643</c:v>
                </c:pt>
                <c:pt idx="2">
                  <c:v>49.1156799814974</c:v>
                </c:pt>
                <c:pt idx="3">
                  <c:v>62.8945236524878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4×EP4 8K</c:v>
                </c:pt>
              </c:strCache>
            </c:strRef>
          </c:tx>
          <c:spPr>
            <a:ln w="27940" cap="rnd">
              <a:solidFill>
                <a:srgbClr val="548235"/>
              </a:solidFill>
              <a:prstDash val="solid"/>
              <a:round/>
            </a:ln>
          </c:spPr>
          <c:marker>
            <c:symbol val="diamond"/>
            <c:size val="6"/>
            <c:spPr>
              <a:solidFill>
                <a:srgbClr val="548235"/>
              </a:solidFill>
              <a:ln w="12700">
                <a:solidFill>
                  <a:srgbClr val="548235"/>
                </a:solidFill>
                <a:prstDash val="solid"/>
                <a:round/>
              </a:ln>
            </c:spPr>
          </c:marker>
          <c:dLbls>
            <c:delete val="1"/>
          </c:dLbls>
          <c:cat>
            <c:strRef>
              <c:f>Sheet1!$A$2:$A$5</c:f>
              <c:strCache>
                <c:ptCount val="4"/>
                <c:pt idx="0">
                  <c:v>P25</c:v>
                </c:pt>
                <c:pt idx="1">
                  <c:v>P50</c:v>
                </c:pt>
                <c:pt idx="2">
                  <c:v>P90</c:v>
                </c:pt>
                <c:pt idx="3">
                  <c:v>P99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14.1751570408233</c:v>
                </c:pt>
                <c:pt idx="1">
                  <c:v>22.2867931701864</c:v>
                </c:pt>
                <c:pt idx="2">
                  <c:v>38.2971443186204</c:v>
                </c:pt>
                <c:pt idx="3">
                  <c:v>48.3580868431367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2×EP8 8K</c:v>
                </c:pt>
              </c:strCache>
            </c:strRef>
          </c:tx>
          <c:spPr>
            <a:ln w="27940" cap="rnd">
              <a:solidFill>
                <a:srgbClr val="4472C4"/>
              </a:solidFill>
              <a:prstDash val="solid"/>
              <a:round/>
            </a:ln>
          </c:spPr>
          <c:marker>
            <c:symbol val="triangle"/>
            <c:size val="6"/>
            <c:spPr>
              <a:solidFill>
                <a:srgbClr val="4472C4"/>
              </a:solidFill>
              <a:ln w="12700">
                <a:solidFill>
                  <a:srgbClr val="4472C4"/>
                </a:solidFill>
                <a:prstDash val="solid"/>
                <a:round/>
              </a:ln>
            </c:spPr>
          </c:marker>
          <c:dLbls>
            <c:delete val="1"/>
          </c:dLbls>
          <c:cat>
            <c:strRef>
              <c:f>Sheet1!$A$2:$A$5</c:f>
              <c:strCache>
                <c:ptCount val="4"/>
                <c:pt idx="0">
                  <c:v>P25</c:v>
                </c:pt>
                <c:pt idx="1">
                  <c:v>P50</c:v>
                </c:pt>
                <c:pt idx="2">
                  <c:v>P90</c:v>
                </c:pt>
                <c:pt idx="3">
                  <c:v>P99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23.3518817528772</c:v>
                </c:pt>
                <c:pt idx="1">
                  <c:v>37.756422217004</c:v>
                </c:pt>
                <c:pt idx="2">
                  <c:v>66.3529290268198</c:v>
                </c:pt>
                <c:pt idx="3">
                  <c:v>81.0876907091277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EP16 8K</c:v>
                </c:pt>
              </c:strCache>
            </c:strRef>
          </c:tx>
          <c:spPr>
            <a:ln w="27940" cap="rnd">
              <a:solidFill>
                <a:srgbClr val="7030A0"/>
              </a:solidFill>
              <a:prstDash val="solid"/>
              <a:round/>
            </a:ln>
          </c:spPr>
          <c:marker>
            <c:symbol val="square"/>
            <c:size val="6"/>
            <c:spPr>
              <a:solidFill>
                <a:srgbClr val="7030A0"/>
              </a:solidFill>
              <a:ln w="12700">
                <a:solidFill>
                  <a:srgbClr val="7030A0"/>
                </a:solidFill>
                <a:prstDash val="solid"/>
                <a:round/>
              </a:ln>
            </c:spPr>
          </c:marker>
          <c:dLbls>
            <c:delete val="1"/>
          </c:dLbls>
          <c:cat>
            <c:strRef>
              <c:f>Sheet1!$A$2:$A$5</c:f>
              <c:strCache>
                <c:ptCount val="4"/>
                <c:pt idx="0">
                  <c:v>P25</c:v>
                </c:pt>
                <c:pt idx="1">
                  <c:v>P50</c:v>
                </c:pt>
                <c:pt idx="2">
                  <c:v>P90</c:v>
                </c:pt>
                <c:pt idx="3">
                  <c:v>P99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30.5126143032685</c:v>
                </c:pt>
                <c:pt idx="1">
                  <c:v>49.7817134000361</c:v>
                </c:pt>
                <c:pt idx="2">
                  <c:v>90.6988785658032</c:v>
                </c:pt>
                <c:pt idx="3">
                  <c:v>107.807949254755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/>
                </a:solidFill>
                <a:latin typeface="微软雅黑"/>
                <a:ea typeface="+mn-ea"/>
                <a:cs typeface="+mn-cs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  <c:min val="0"/>
        </c:scaling>
        <c:delete val="0"/>
        <c:axPos val="l"/>
        <c:majorGridlines>
          <c:spPr>
            <a:ln w="7620">
              <a:solidFill>
                <a:srgbClr val="D9D9D9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/>
                </a:solidFill>
                <a:latin typeface="微软雅黑"/>
                <a:ea typeface="+mn-ea"/>
                <a:cs typeface="+mn-cs"/>
              </a:defRPr>
            </a:pPr>
          </a:p>
        </c:txPr>
        <c:crossAx val="2118791784"/>
        <c:crosses val="autoZero"/>
        <c:crossBetween val="between"/>
      </c:valAx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1000" b="0" i="0" u="none" strike="noStrike" kern="1200" baseline="0">
              <a:solidFill>
                <a:schemeClr val="tx1"/>
              </a:solidFill>
              <a:latin typeface="微软雅黑"/>
              <a:ea typeface="+mn-ea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135354e8-3029-4678-a3fa-b6048734ea72}"/>
      </c:ext>
    </c:extLst>
  </c:chart>
  <c:txPr>
    <a:bodyPr/>
    <a:lstStyle/>
    <a:p>
      <a:pPr>
        <a:defRPr lang="zh-CN" sz="1800"/>
      </a:pPr>
    </a:p>
  </c:txPr>
  <c:externalData r:id="rId1">
    <c:autoUpdate val="0"/>
  </c:externalData>
</c:chartSpace>
</file>

<file path=ppt/charts/chart4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zh-CN" sz="216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US" sz="1400" b="1">
                <a:latin typeface="微软雅黑"/>
              </a:rPr>
              <a:t>P25 TTFT</a:t>
            </a:r>
            <a:endParaRPr lang="en-US" sz="1400" b="1">
              <a:latin typeface="微软雅黑"/>
            </a:endParaRPr>
          </a:p>
        </c:rich>
      </c:tx>
      <c:layout/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AFD 64K</c:v>
                </c:pt>
              </c:strCache>
            </c:strRef>
          </c:tx>
          <c:spPr>
            <a:ln w="22860" cap="rnd">
              <a:solidFill>
                <a:srgbClr val="F2A300"/>
              </a:solidFill>
              <a:prstDash val="solid"/>
              <a:round/>
            </a:ln>
          </c:spPr>
          <c:marker>
            <c:symbol val="circle"/>
            <c:size val="5"/>
            <c:spPr>
              <a:solidFill>
                <a:srgbClr val="F2A300"/>
              </a:solidFill>
              <a:ln w="12700">
                <a:solidFill>
                  <a:srgbClr val="F2A300"/>
                </a:solidFill>
                <a:prstDash val="solid"/>
                <a:round/>
              </a:ln>
            </c:spPr>
          </c:marker>
          <c:dLbls>
            <c:delete val="1"/>
          </c:dLbls>
          <c:cat>
            <c:strRef>
              <c:f>Sheet1!$A$2:$A$5</c:f>
              <c:strCache>
                <c:ptCount val="4"/>
                <c:pt idx="0">
                  <c:v>2</c:v>
                </c:pt>
                <c:pt idx="1">
                  <c:v>3</c:v>
                </c:pt>
                <c:pt idx="2">
                  <c:v>4</c:v>
                </c:pt>
                <c:pt idx="3">
                  <c:v>5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0.451674560084939</c:v>
                </c:pt>
                <c:pt idx="1">
                  <c:v>0.731251559065034</c:v>
                </c:pt>
                <c:pt idx="2">
                  <c:v>3.18688036051268</c:v>
                </c:pt>
                <c:pt idx="3">
                  <c:v>20.4690215333054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4×EP4 8K</c:v>
                </c:pt>
              </c:strCache>
            </c:strRef>
          </c:tx>
          <c:spPr>
            <a:ln w="22860" cap="rnd">
              <a:solidFill>
                <a:srgbClr val="548235"/>
              </a:solidFill>
              <a:prstDash val="solid"/>
              <a:round/>
            </a:ln>
          </c:spPr>
          <c:marker>
            <c:symbol val="circle"/>
            <c:size val="5"/>
            <c:spPr>
              <a:solidFill>
                <a:srgbClr val="548235"/>
              </a:solidFill>
              <a:ln w="12700">
                <a:solidFill>
                  <a:srgbClr val="548235"/>
                </a:solidFill>
                <a:prstDash val="solid"/>
                <a:round/>
              </a:ln>
            </c:spPr>
          </c:marker>
          <c:dLbls>
            <c:delete val="1"/>
          </c:dLbls>
          <c:cat>
            <c:strRef>
              <c:f>Sheet1!$A$2:$A$5</c:f>
              <c:strCache>
                <c:ptCount val="4"/>
                <c:pt idx="0">
                  <c:v>2</c:v>
                </c:pt>
                <c:pt idx="1">
                  <c:v>3</c:v>
                </c:pt>
                <c:pt idx="2">
                  <c:v>4</c:v>
                </c:pt>
                <c:pt idx="3">
                  <c:v>5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0.373181615645687</c:v>
                </c:pt>
                <c:pt idx="1">
                  <c:v>0.51651247497648</c:v>
                </c:pt>
                <c:pt idx="2">
                  <c:v>1.49823665960381</c:v>
                </c:pt>
                <c:pt idx="3">
                  <c:v>14.1751570408233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2×EP8 8K</c:v>
                </c:pt>
              </c:strCache>
            </c:strRef>
          </c:tx>
          <c:spPr>
            <a:ln w="22860" cap="rnd">
              <a:solidFill>
                <a:srgbClr val="4472C4"/>
              </a:solidFill>
              <a:prstDash val="solid"/>
              <a:round/>
            </a:ln>
          </c:spPr>
          <c:marker>
            <c:symbol val="circle"/>
            <c:size val="5"/>
            <c:spPr>
              <a:solidFill>
                <a:srgbClr val="4472C4"/>
              </a:solidFill>
              <a:ln w="12700">
                <a:solidFill>
                  <a:srgbClr val="4472C4"/>
                </a:solidFill>
                <a:prstDash val="solid"/>
                <a:round/>
              </a:ln>
            </c:spPr>
          </c:marker>
          <c:dLbls>
            <c:delete val="1"/>
          </c:dLbls>
          <c:cat>
            <c:strRef>
              <c:f>Sheet1!$A$2:$A$5</c:f>
              <c:strCache>
                <c:ptCount val="4"/>
                <c:pt idx="0">
                  <c:v>2</c:v>
                </c:pt>
                <c:pt idx="1">
                  <c:v>3</c:v>
                </c:pt>
                <c:pt idx="2">
                  <c:v>4</c:v>
                </c:pt>
                <c:pt idx="3">
                  <c:v>5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1.07586598598088</c:v>
                </c:pt>
                <c:pt idx="1">
                  <c:v>2.10673035572593</c:v>
                </c:pt>
                <c:pt idx="2">
                  <c:v>4.73638338114445</c:v>
                </c:pt>
                <c:pt idx="3">
                  <c:v>23.3518817528772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EP16 8K</c:v>
                </c:pt>
              </c:strCache>
            </c:strRef>
          </c:tx>
          <c:spPr>
            <a:ln w="22860" cap="rnd">
              <a:solidFill>
                <a:srgbClr val="7030A0"/>
              </a:solidFill>
              <a:prstDash val="solid"/>
              <a:round/>
            </a:ln>
          </c:spPr>
          <c:marker>
            <c:symbol val="circle"/>
            <c:size val="5"/>
            <c:spPr>
              <a:solidFill>
                <a:srgbClr val="7030A0"/>
              </a:solidFill>
              <a:ln w="12700">
                <a:solidFill>
                  <a:srgbClr val="7030A0"/>
                </a:solidFill>
                <a:prstDash val="solid"/>
                <a:round/>
              </a:ln>
            </c:spPr>
          </c:marker>
          <c:dLbls>
            <c:delete val="1"/>
          </c:dLbls>
          <c:cat>
            <c:strRef>
              <c:f>Sheet1!$A$2:$A$5</c:f>
              <c:strCache>
                <c:ptCount val="4"/>
                <c:pt idx="0">
                  <c:v>2</c:v>
                </c:pt>
                <c:pt idx="1">
                  <c:v>3</c:v>
                </c:pt>
                <c:pt idx="2">
                  <c:v>4</c:v>
                </c:pt>
                <c:pt idx="3">
                  <c:v>5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2.32124865831186</c:v>
                </c:pt>
                <c:pt idx="1">
                  <c:v>3.11195796029642</c:v>
                </c:pt>
                <c:pt idx="2">
                  <c:v>11.2181258344402</c:v>
                </c:pt>
                <c:pt idx="3">
                  <c:v>30.5126143032685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/>
                </a:solidFill>
                <a:latin typeface="微软雅黑"/>
                <a:ea typeface="+mn-ea"/>
                <a:cs typeface="+mn-cs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  <c:min val="0"/>
        </c:scaling>
        <c:delete val="0"/>
        <c:axPos val="l"/>
        <c:majorGridlines>
          <c:spPr>
            <a:ln w="12700">
              <a:solidFill>
                <a:srgbClr val="DDDDDD"/>
              </a:solidFill>
              <a:prstDash val="solid"/>
              <a:round/>
            </a:ln>
          </c:spPr>
        </c:majorGridlines>
        <c:numFmt formatCode="General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/>
                </a:solidFill>
                <a:latin typeface="微软雅黑"/>
                <a:ea typeface="+mn-ea"/>
                <a:cs typeface="+mn-cs"/>
              </a:defRPr>
            </a:pPr>
          </a:p>
        </c:txPr>
        <c:crossAx val="2118791784"/>
        <c:crosses val="autoZero"/>
        <c:crossBetween val="between"/>
      </c:valAx>
    </c:plotArea>
    <c:plotVisOnly val="1"/>
    <c:dispBlanksAs val="gap"/>
    <c:showDLblsOverMax val="0"/>
    <c:extLst>
      <c:ext uri="{0b15fc19-7d7d-44ad-8c2d-2c3a37ce22c3}">
        <chartProps xmlns="https://web.wps.cn/et/2018/main" chartId="{1fff4b21-e310-4fd3-af1d-4180edceb92d}"/>
      </c:ext>
    </c:extLst>
  </c:chart>
  <c:txPr>
    <a:bodyPr/>
    <a:lstStyle/>
    <a:p>
      <a:pPr>
        <a:defRPr lang="zh-CN" sz="1800"/>
      </a:pPr>
    </a:p>
  </c:txPr>
  <c:externalData r:id="rId1">
    <c:autoUpdate val="0"/>
  </c:externalData>
</c:chartSpace>
</file>

<file path=ppt/charts/chart4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zh-CN" sz="216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US" sz="1400" b="1">
                <a:latin typeface="微软雅黑"/>
              </a:rPr>
              <a:t>P50 TTFT</a:t>
            </a:r>
            <a:endParaRPr lang="en-US" sz="1400" b="1">
              <a:latin typeface="微软雅黑"/>
            </a:endParaRPr>
          </a:p>
        </c:rich>
      </c:tx>
      <c:layout/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AFD 64K</c:v>
                </c:pt>
              </c:strCache>
            </c:strRef>
          </c:tx>
          <c:spPr>
            <a:ln w="22860" cap="rnd">
              <a:solidFill>
                <a:srgbClr val="F2A300"/>
              </a:solidFill>
              <a:prstDash val="solid"/>
              <a:round/>
            </a:ln>
          </c:spPr>
          <c:marker>
            <c:symbol val="circle"/>
            <c:size val="5"/>
            <c:spPr>
              <a:solidFill>
                <a:srgbClr val="F2A300"/>
              </a:solidFill>
              <a:ln w="12700">
                <a:solidFill>
                  <a:srgbClr val="F2A300"/>
                </a:solidFill>
                <a:prstDash val="solid"/>
                <a:round/>
              </a:ln>
            </c:spPr>
          </c:marker>
          <c:dLbls>
            <c:delete val="1"/>
          </c:dLbls>
          <c:cat>
            <c:strRef>
              <c:f>Sheet1!$A$2:$A$5</c:f>
              <c:strCache>
                <c:ptCount val="4"/>
                <c:pt idx="0">
                  <c:v>2</c:v>
                </c:pt>
                <c:pt idx="1">
                  <c:v>3</c:v>
                </c:pt>
                <c:pt idx="2">
                  <c:v>4</c:v>
                </c:pt>
                <c:pt idx="3">
                  <c:v>5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0.813542610965669</c:v>
                </c:pt>
                <c:pt idx="1">
                  <c:v>1.62456194373469</c:v>
                </c:pt>
                <c:pt idx="2">
                  <c:v>6.28650079636524</c:v>
                </c:pt>
                <c:pt idx="3">
                  <c:v>30.7385649013643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4×EP4 8K</c:v>
                </c:pt>
              </c:strCache>
            </c:strRef>
          </c:tx>
          <c:spPr>
            <a:ln w="22860" cap="rnd">
              <a:solidFill>
                <a:srgbClr val="548235"/>
              </a:solidFill>
              <a:prstDash val="solid"/>
              <a:round/>
            </a:ln>
          </c:spPr>
          <c:marker>
            <c:symbol val="circle"/>
            <c:size val="5"/>
            <c:spPr>
              <a:solidFill>
                <a:srgbClr val="548235"/>
              </a:solidFill>
              <a:ln w="12700">
                <a:solidFill>
                  <a:srgbClr val="548235"/>
                </a:solidFill>
                <a:prstDash val="solid"/>
                <a:round/>
              </a:ln>
            </c:spPr>
          </c:marker>
          <c:dLbls>
            <c:delete val="1"/>
          </c:dLbls>
          <c:cat>
            <c:strRef>
              <c:f>Sheet1!$A$2:$A$5</c:f>
              <c:strCache>
                <c:ptCount val="4"/>
                <c:pt idx="0">
                  <c:v>2</c:v>
                </c:pt>
                <c:pt idx="1">
                  <c:v>3</c:v>
                </c:pt>
                <c:pt idx="2">
                  <c:v>4</c:v>
                </c:pt>
                <c:pt idx="3">
                  <c:v>5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0.82474814945211</c:v>
                </c:pt>
                <c:pt idx="1">
                  <c:v>1.25648603433122</c:v>
                </c:pt>
                <c:pt idx="2">
                  <c:v>3.09803589464476</c:v>
                </c:pt>
                <c:pt idx="3">
                  <c:v>22.2867931701864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2×EP8 8K</c:v>
                </c:pt>
              </c:strCache>
            </c:strRef>
          </c:tx>
          <c:spPr>
            <a:ln w="22860" cap="rnd">
              <a:solidFill>
                <a:srgbClr val="4472C4"/>
              </a:solidFill>
              <a:prstDash val="solid"/>
              <a:round/>
            </a:ln>
          </c:spPr>
          <c:marker>
            <c:symbol val="circle"/>
            <c:size val="5"/>
            <c:spPr>
              <a:solidFill>
                <a:srgbClr val="4472C4"/>
              </a:solidFill>
              <a:ln w="12700">
                <a:solidFill>
                  <a:srgbClr val="4472C4"/>
                </a:solidFill>
                <a:prstDash val="solid"/>
                <a:round/>
              </a:ln>
            </c:spPr>
          </c:marker>
          <c:dLbls>
            <c:delete val="1"/>
          </c:dLbls>
          <c:cat>
            <c:strRef>
              <c:f>Sheet1!$A$2:$A$5</c:f>
              <c:strCache>
                <c:ptCount val="4"/>
                <c:pt idx="0">
                  <c:v>2</c:v>
                </c:pt>
                <c:pt idx="1">
                  <c:v>3</c:v>
                </c:pt>
                <c:pt idx="2">
                  <c:v>4</c:v>
                </c:pt>
                <c:pt idx="3">
                  <c:v>5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1.86886880919337</c:v>
                </c:pt>
                <c:pt idx="1">
                  <c:v>3.1814243827636</c:v>
                </c:pt>
                <c:pt idx="2">
                  <c:v>7.42761846259236</c:v>
                </c:pt>
                <c:pt idx="3">
                  <c:v>37.756422217004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EP16 8K</c:v>
                </c:pt>
              </c:strCache>
            </c:strRef>
          </c:tx>
          <c:spPr>
            <a:ln w="22860" cap="rnd">
              <a:solidFill>
                <a:srgbClr val="7030A0"/>
              </a:solidFill>
              <a:prstDash val="solid"/>
              <a:round/>
            </a:ln>
          </c:spPr>
          <c:marker>
            <c:symbol val="circle"/>
            <c:size val="5"/>
            <c:spPr>
              <a:solidFill>
                <a:srgbClr val="7030A0"/>
              </a:solidFill>
              <a:ln w="12700">
                <a:solidFill>
                  <a:srgbClr val="7030A0"/>
                </a:solidFill>
                <a:prstDash val="solid"/>
                <a:round/>
              </a:ln>
            </c:spPr>
          </c:marker>
          <c:dLbls>
            <c:delete val="1"/>
          </c:dLbls>
          <c:cat>
            <c:strRef>
              <c:f>Sheet1!$A$2:$A$5</c:f>
              <c:strCache>
                <c:ptCount val="4"/>
                <c:pt idx="0">
                  <c:v>2</c:v>
                </c:pt>
                <c:pt idx="1">
                  <c:v>3</c:v>
                </c:pt>
                <c:pt idx="2">
                  <c:v>4</c:v>
                </c:pt>
                <c:pt idx="3">
                  <c:v>5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3.17153960218032</c:v>
                </c:pt>
                <c:pt idx="1">
                  <c:v>4.41150796754907</c:v>
                </c:pt>
                <c:pt idx="2">
                  <c:v>15.6745700525741</c:v>
                </c:pt>
                <c:pt idx="3">
                  <c:v>49.7817134000361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/>
                </a:solidFill>
                <a:latin typeface="微软雅黑"/>
                <a:ea typeface="+mn-ea"/>
                <a:cs typeface="+mn-cs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  <c:min val="0"/>
        </c:scaling>
        <c:delete val="0"/>
        <c:axPos val="l"/>
        <c:majorGridlines>
          <c:spPr>
            <a:ln w="12700">
              <a:solidFill>
                <a:srgbClr val="DDDDDD"/>
              </a:solidFill>
              <a:prstDash val="solid"/>
              <a:round/>
            </a:ln>
          </c:spPr>
        </c:majorGridlines>
        <c:numFmt formatCode="General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/>
                </a:solidFill>
                <a:latin typeface="微软雅黑"/>
                <a:ea typeface="+mn-ea"/>
                <a:cs typeface="+mn-cs"/>
              </a:defRPr>
            </a:pPr>
          </a:p>
        </c:txPr>
        <c:crossAx val="2118791784"/>
        <c:crosses val="autoZero"/>
        <c:crossBetween val="between"/>
      </c:valAx>
    </c:plotArea>
    <c:plotVisOnly val="1"/>
    <c:dispBlanksAs val="gap"/>
    <c:showDLblsOverMax val="0"/>
    <c:extLst>
      <c:ext uri="{0b15fc19-7d7d-44ad-8c2d-2c3a37ce22c3}">
        <chartProps xmlns="https://web.wps.cn/et/2018/main" chartId="{cdea8f17-bf20-4490-a4ae-107221876926}"/>
      </c:ext>
    </c:extLst>
  </c:chart>
  <c:txPr>
    <a:bodyPr/>
    <a:lstStyle/>
    <a:p>
      <a:pPr>
        <a:defRPr lang="zh-CN" sz="1800"/>
      </a:pPr>
    </a:p>
  </c:txPr>
  <c:externalData r:id="rId1">
    <c:autoUpdate val="0"/>
  </c:externalData>
</c:chartSpace>
</file>

<file path=ppt/charts/chart4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zh-CN" sz="216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US" sz="1400" b="1">
                <a:latin typeface="微软雅黑"/>
              </a:rPr>
              <a:t>P90 TTFT</a:t>
            </a:r>
            <a:endParaRPr lang="en-US" sz="1400" b="1">
              <a:latin typeface="微软雅黑"/>
            </a:endParaRPr>
          </a:p>
        </c:rich>
      </c:tx>
      <c:layout/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AFD 64K</c:v>
                </c:pt>
              </c:strCache>
            </c:strRef>
          </c:tx>
          <c:spPr>
            <a:ln w="22860" cap="rnd">
              <a:solidFill>
                <a:srgbClr val="F2A300"/>
              </a:solidFill>
              <a:prstDash val="solid"/>
              <a:round/>
            </a:ln>
          </c:spPr>
          <c:marker>
            <c:symbol val="circle"/>
            <c:size val="5"/>
            <c:spPr>
              <a:solidFill>
                <a:srgbClr val="F2A300"/>
              </a:solidFill>
              <a:ln w="12700">
                <a:solidFill>
                  <a:srgbClr val="F2A300"/>
                </a:solidFill>
                <a:prstDash val="solid"/>
                <a:round/>
              </a:ln>
            </c:spPr>
          </c:marker>
          <c:dLbls>
            <c:delete val="1"/>
          </c:dLbls>
          <c:cat>
            <c:strRef>
              <c:f>Sheet1!$A$2:$A$5</c:f>
              <c:strCache>
                <c:ptCount val="4"/>
                <c:pt idx="0">
                  <c:v>2</c:v>
                </c:pt>
                <c:pt idx="1">
                  <c:v>3</c:v>
                </c:pt>
                <c:pt idx="2">
                  <c:v>4</c:v>
                </c:pt>
                <c:pt idx="3">
                  <c:v>5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2.86460497820129</c:v>
                </c:pt>
                <c:pt idx="1">
                  <c:v>5.12873287529995</c:v>
                </c:pt>
                <c:pt idx="2">
                  <c:v>11.7045200771342</c:v>
                </c:pt>
                <c:pt idx="3">
                  <c:v>49.1156799814974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4×EP4 8K</c:v>
                </c:pt>
              </c:strCache>
            </c:strRef>
          </c:tx>
          <c:spPr>
            <a:ln w="22860" cap="rnd">
              <a:solidFill>
                <a:srgbClr val="548235"/>
              </a:solidFill>
              <a:prstDash val="solid"/>
              <a:round/>
            </a:ln>
          </c:spPr>
          <c:marker>
            <c:symbol val="circle"/>
            <c:size val="5"/>
            <c:spPr>
              <a:solidFill>
                <a:srgbClr val="548235"/>
              </a:solidFill>
              <a:ln w="12700">
                <a:solidFill>
                  <a:srgbClr val="548235"/>
                </a:solidFill>
                <a:prstDash val="solid"/>
                <a:round/>
              </a:ln>
            </c:spPr>
          </c:marker>
          <c:dLbls>
            <c:delete val="1"/>
          </c:dLbls>
          <c:cat>
            <c:strRef>
              <c:f>Sheet1!$A$2:$A$5</c:f>
              <c:strCache>
                <c:ptCount val="4"/>
                <c:pt idx="0">
                  <c:v>2</c:v>
                </c:pt>
                <c:pt idx="1">
                  <c:v>3</c:v>
                </c:pt>
                <c:pt idx="2">
                  <c:v>4</c:v>
                </c:pt>
                <c:pt idx="3">
                  <c:v>5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2.92796594494333</c:v>
                </c:pt>
                <c:pt idx="1">
                  <c:v>3.81072510840992</c:v>
                </c:pt>
                <c:pt idx="2">
                  <c:v>7.2806502111877</c:v>
                </c:pt>
                <c:pt idx="3">
                  <c:v>38.2971443186204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2×EP8 8K</c:v>
                </c:pt>
              </c:strCache>
            </c:strRef>
          </c:tx>
          <c:spPr>
            <a:ln w="22860" cap="rnd">
              <a:solidFill>
                <a:srgbClr val="4472C4"/>
              </a:solidFill>
              <a:prstDash val="solid"/>
              <a:round/>
            </a:ln>
          </c:spPr>
          <c:marker>
            <c:symbol val="circle"/>
            <c:size val="5"/>
            <c:spPr>
              <a:solidFill>
                <a:srgbClr val="4472C4"/>
              </a:solidFill>
              <a:ln w="12700">
                <a:solidFill>
                  <a:srgbClr val="4472C4"/>
                </a:solidFill>
                <a:prstDash val="solid"/>
                <a:round/>
              </a:ln>
            </c:spPr>
          </c:marker>
          <c:dLbls>
            <c:delete val="1"/>
          </c:dLbls>
          <c:cat>
            <c:strRef>
              <c:f>Sheet1!$A$2:$A$5</c:f>
              <c:strCache>
                <c:ptCount val="4"/>
                <c:pt idx="0">
                  <c:v>2</c:v>
                </c:pt>
                <c:pt idx="1">
                  <c:v>3</c:v>
                </c:pt>
                <c:pt idx="2">
                  <c:v>4</c:v>
                </c:pt>
                <c:pt idx="3">
                  <c:v>5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4.46411869737009</c:v>
                </c:pt>
                <c:pt idx="1">
                  <c:v>6.717952077277</c:v>
                </c:pt>
                <c:pt idx="2">
                  <c:v>13.9023705174526</c:v>
                </c:pt>
                <c:pt idx="3">
                  <c:v>66.3529290268198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EP16 8K</c:v>
                </c:pt>
              </c:strCache>
            </c:strRef>
          </c:tx>
          <c:spPr>
            <a:ln w="22860" cap="rnd">
              <a:solidFill>
                <a:srgbClr val="7030A0"/>
              </a:solidFill>
              <a:prstDash val="solid"/>
              <a:round/>
            </a:ln>
          </c:spPr>
          <c:marker>
            <c:symbol val="circle"/>
            <c:size val="5"/>
            <c:spPr>
              <a:solidFill>
                <a:srgbClr val="7030A0"/>
              </a:solidFill>
              <a:ln w="12700">
                <a:solidFill>
                  <a:srgbClr val="7030A0"/>
                </a:solidFill>
                <a:prstDash val="solid"/>
                <a:round/>
              </a:ln>
            </c:spPr>
          </c:marker>
          <c:dLbls>
            <c:delete val="1"/>
          </c:dLbls>
          <c:cat>
            <c:strRef>
              <c:f>Sheet1!$A$2:$A$5</c:f>
              <c:strCache>
                <c:ptCount val="4"/>
                <c:pt idx="0">
                  <c:v>2</c:v>
                </c:pt>
                <c:pt idx="1">
                  <c:v>3</c:v>
                </c:pt>
                <c:pt idx="2">
                  <c:v>4</c:v>
                </c:pt>
                <c:pt idx="3">
                  <c:v>5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6.25004000837604</c:v>
                </c:pt>
                <c:pt idx="1">
                  <c:v>8.05045057218522</c:v>
                </c:pt>
                <c:pt idx="2">
                  <c:v>24.9229017402977</c:v>
                </c:pt>
                <c:pt idx="3">
                  <c:v>90.6988785658032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/>
                </a:solidFill>
                <a:latin typeface="微软雅黑"/>
                <a:ea typeface="+mn-ea"/>
                <a:cs typeface="+mn-cs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  <c:min val="0"/>
        </c:scaling>
        <c:delete val="0"/>
        <c:axPos val="l"/>
        <c:majorGridlines>
          <c:spPr>
            <a:ln w="12700">
              <a:solidFill>
                <a:srgbClr val="DDDDDD"/>
              </a:solidFill>
              <a:prstDash val="solid"/>
              <a:round/>
            </a:ln>
          </c:spPr>
        </c:majorGridlines>
        <c:numFmt formatCode="General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/>
                </a:solidFill>
                <a:latin typeface="微软雅黑"/>
                <a:ea typeface="+mn-ea"/>
                <a:cs typeface="+mn-cs"/>
              </a:defRPr>
            </a:pPr>
          </a:p>
        </c:txPr>
        <c:crossAx val="2118791784"/>
        <c:crosses val="autoZero"/>
        <c:crossBetween val="between"/>
      </c:valAx>
    </c:plotArea>
    <c:plotVisOnly val="1"/>
    <c:dispBlanksAs val="gap"/>
    <c:showDLblsOverMax val="0"/>
    <c:extLst>
      <c:ext uri="{0b15fc19-7d7d-44ad-8c2d-2c3a37ce22c3}">
        <chartProps xmlns="https://web.wps.cn/et/2018/main" chartId="{0d545745-6630-4d07-8238-616cec7536d2}"/>
      </c:ext>
    </c:extLst>
  </c:chart>
  <c:txPr>
    <a:bodyPr/>
    <a:lstStyle/>
    <a:p>
      <a:pPr>
        <a:defRPr lang="zh-CN" sz="1800"/>
      </a:pPr>
    </a:p>
  </c:txPr>
  <c:externalData r:id="rId1">
    <c:autoUpdate val="0"/>
  </c:externalData>
</c:chartSpace>
</file>

<file path=ppt/charts/chart4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zh-CN" sz="216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US" sz="1400" b="1">
                <a:latin typeface="微软雅黑"/>
              </a:rPr>
              <a:t>P99 TTFT</a:t>
            </a:r>
            <a:endParaRPr lang="en-US" sz="1400" b="1">
              <a:latin typeface="微软雅黑"/>
            </a:endParaRPr>
          </a:p>
        </c:rich>
      </c:tx>
      <c:layout/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AFD 64K</c:v>
                </c:pt>
              </c:strCache>
            </c:strRef>
          </c:tx>
          <c:spPr>
            <a:ln w="22860" cap="rnd">
              <a:solidFill>
                <a:srgbClr val="F2A300"/>
              </a:solidFill>
              <a:prstDash val="solid"/>
              <a:round/>
            </a:ln>
          </c:spPr>
          <c:marker>
            <c:symbol val="circle"/>
            <c:size val="5"/>
            <c:spPr>
              <a:solidFill>
                <a:srgbClr val="F2A300"/>
              </a:solidFill>
              <a:ln w="12700">
                <a:solidFill>
                  <a:srgbClr val="F2A300"/>
                </a:solidFill>
                <a:prstDash val="solid"/>
                <a:round/>
              </a:ln>
            </c:spPr>
          </c:marker>
          <c:dLbls>
            <c:delete val="1"/>
          </c:dLbls>
          <c:cat>
            <c:strRef>
              <c:f>Sheet1!$A$2:$A$5</c:f>
              <c:strCache>
                <c:ptCount val="4"/>
                <c:pt idx="0">
                  <c:v>2</c:v>
                </c:pt>
                <c:pt idx="1">
                  <c:v>3</c:v>
                </c:pt>
                <c:pt idx="2">
                  <c:v>4</c:v>
                </c:pt>
                <c:pt idx="3">
                  <c:v>5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6.08422859028603</c:v>
                </c:pt>
                <c:pt idx="1">
                  <c:v>8.10777107768382</c:v>
                </c:pt>
                <c:pt idx="2">
                  <c:v>16.5624530739462</c:v>
                </c:pt>
                <c:pt idx="3">
                  <c:v>62.8945236524878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4×EP4 8K</c:v>
                </c:pt>
              </c:strCache>
            </c:strRef>
          </c:tx>
          <c:spPr>
            <a:ln w="22860" cap="rnd">
              <a:solidFill>
                <a:srgbClr val="548235"/>
              </a:solidFill>
              <a:prstDash val="solid"/>
              <a:round/>
            </a:ln>
          </c:spPr>
          <c:marker>
            <c:symbol val="circle"/>
            <c:size val="5"/>
            <c:spPr>
              <a:solidFill>
                <a:srgbClr val="548235"/>
              </a:solidFill>
              <a:ln w="12700">
                <a:solidFill>
                  <a:srgbClr val="548235"/>
                </a:solidFill>
                <a:prstDash val="solid"/>
                <a:round/>
              </a:ln>
            </c:spPr>
          </c:marker>
          <c:dLbls>
            <c:delete val="1"/>
          </c:dLbls>
          <c:cat>
            <c:strRef>
              <c:f>Sheet1!$A$2:$A$5</c:f>
              <c:strCache>
                <c:ptCount val="4"/>
                <c:pt idx="0">
                  <c:v>2</c:v>
                </c:pt>
                <c:pt idx="1">
                  <c:v>3</c:v>
                </c:pt>
                <c:pt idx="2">
                  <c:v>4</c:v>
                </c:pt>
                <c:pt idx="3">
                  <c:v>5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5.94948286581786</c:v>
                </c:pt>
                <c:pt idx="1">
                  <c:v>6.74501762818545</c:v>
                </c:pt>
                <c:pt idx="2">
                  <c:v>10.7107637822939</c:v>
                </c:pt>
                <c:pt idx="3">
                  <c:v>48.3580868431367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2×EP8 8K</c:v>
                </c:pt>
              </c:strCache>
            </c:strRef>
          </c:tx>
          <c:spPr>
            <a:ln w="22860" cap="rnd">
              <a:solidFill>
                <a:srgbClr val="4472C4"/>
              </a:solidFill>
              <a:prstDash val="solid"/>
              <a:round/>
            </a:ln>
          </c:spPr>
          <c:marker>
            <c:symbol val="circle"/>
            <c:size val="5"/>
            <c:spPr>
              <a:solidFill>
                <a:srgbClr val="4472C4"/>
              </a:solidFill>
              <a:ln w="12700">
                <a:solidFill>
                  <a:srgbClr val="4472C4"/>
                </a:solidFill>
                <a:prstDash val="solid"/>
                <a:round/>
              </a:ln>
            </c:spPr>
          </c:marker>
          <c:dLbls>
            <c:delete val="1"/>
          </c:dLbls>
          <c:cat>
            <c:strRef>
              <c:f>Sheet1!$A$2:$A$5</c:f>
              <c:strCache>
                <c:ptCount val="4"/>
                <c:pt idx="0">
                  <c:v>2</c:v>
                </c:pt>
                <c:pt idx="1">
                  <c:v>3</c:v>
                </c:pt>
                <c:pt idx="2">
                  <c:v>4</c:v>
                </c:pt>
                <c:pt idx="3">
                  <c:v>5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7.69696350411202</c:v>
                </c:pt>
                <c:pt idx="1">
                  <c:v>10.4776374955972</c:v>
                </c:pt>
                <c:pt idx="2">
                  <c:v>18.938207457525</c:v>
                </c:pt>
                <c:pt idx="3">
                  <c:v>81.0876907091277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EP16 8K</c:v>
                </c:pt>
              </c:strCache>
            </c:strRef>
          </c:tx>
          <c:spPr>
            <a:ln w="22860" cap="rnd">
              <a:solidFill>
                <a:srgbClr val="7030A0"/>
              </a:solidFill>
              <a:prstDash val="solid"/>
              <a:round/>
            </a:ln>
          </c:spPr>
          <c:marker>
            <c:symbol val="circle"/>
            <c:size val="5"/>
            <c:spPr>
              <a:solidFill>
                <a:srgbClr val="7030A0"/>
              </a:solidFill>
              <a:ln w="12700">
                <a:solidFill>
                  <a:srgbClr val="7030A0"/>
                </a:solidFill>
                <a:prstDash val="solid"/>
                <a:round/>
              </a:ln>
            </c:spPr>
          </c:marker>
          <c:dLbls>
            <c:delete val="1"/>
          </c:dLbls>
          <c:cat>
            <c:strRef>
              <c:f>Sheet1!$A$2:$A$5</c:f>
              <c:strCache>
                <c:ptCount val="4"/>
                <c:pt idx="0">
                  <c:v>2</c:v>
                </c:pt>
                <c:pt idx="1">
                  <c:v>3</c:v>
                </c:pt>
                <c:pt idx="2">
                  <c:v>4</c:v>
                </c:pt>
                <c:pt idx="3">
                  <c:v>5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10.1204706088019</c:v>
                </c:pt>
                <c:pt idx="1">
                  <c:v>11.9868703563573</c:v>
                </c:pt>
                <c:pt idx="2">
                  <c:v>32.3612060722274</c:v>
                </c:pt>
                <c:pt idx="3">
                  <c:v>107.807949254755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/>
                </a:solidFill>
                <a:latin typeface="微软雅黑"/>
                <a:ea typeface="+mn-ea"/>
                <a:cs typeface="+mn-cs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  <c:min val="0"/>
        </c:scaling>
        <c:delete val="0"/>
        <c:axPos val="l"/>
        <c:majorGridlines>
          <c:spPr>
            <a:ln w="12700">
              <a:solidFill>
                <a:srgbClr val="DDDDDD"/>
              </a:solidFill>
              <a:prstDash val="solid"/>
              <a:round/>
            </a:ln>
          </c:spPr>
        </c:majorGridlines>
        <c:numFmt formatCode="General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/>
                </a:solidFill>
                <a:latin typeface="微软雅黑"/>
                <a:ea typeface="+mn-ea"/>
                <a:cs typeface="+mn-cs"/>
              </a:defRPr>
            </a:pPr>
          </a:p>
        </c:txPr>
        <c:crossAx val="2118791784"/>
        <c:crosses val="autoZero"/>
        <c:crossBetween val="between"/>
      </c:valAx>
    </c:plotArea>
    <c:plotVisOnly val="1"/>
    <c:dispBlanksAs val="gap"/>
    <c:showDLblsOverMax val="0"/>
    <c:extLst>
      <c:ext uri="{0b15fc19-7d7d-44ad-8c2d-2c3a37ce22c3}">
        <chartProps xmlns="https://web.wps.cn/et/2018/main" chartId="{95f10f7f-ff6b-4925-a25a-fd1426115df5}"/>
      </c:ext>
    </c:extLst>
  </c:chart>
  <c:txPr>
    <a:bodyPr/>
    <a:lstStyle/>
    <a:p>
      <a:pPr>
        <a:defRPr lang="zh-CN" sz="1800"/>
      </a:pPr>
    </a:p>
  </c:txPr>
  <c:externalData r:id="rId1">
    <c:autoUpdate val="0"/>
  </c:externalData>
</c:chartSpace>
</file>

<file path=ppt/charts/chart4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zh-CN" sz="216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US" sz="1400">
                <a:latin typeface="微软雅黑"/>
              </a:rPr>
              <a:t>P25 TTFT</a:t>
            </a:r>
            <a:endParaRPr lang="en-US" sz="1400">
              <a:latin typeface="微软雅黑"/>
            </a:endParaRPr>
          </a:p>
        </c:rich>
      </c:tx>
      <c:layout/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32K 开</c:v>
                </c:pt>
              </c:strCache>
            </c:strRef>
          </c:tx>
          <c:spPr>
            <a:ln w="22860" cap="rnd">
              <a:solidFill>
                <a:srgbClr val="F2A300"/>
              </a:solidFill>
              <a:prstDash val="solid"/>
              <a:round/>
            </a:ln>
          </c:spPr>
          <c:marker>
            <c:symbol val="circle"/>
            <c:size val="4"/>
            <c:spPr>
              <a:solidFill>
                <a:srgbClr val="F2A300"/>
              </a:solidFill>
            </c:spPr>
          </c:marker>
          <c:dLbls>
            <c:delete val="1"/>
          </c:dLbls>
          <c:cat>
            <c:strRef>
              <c:f>Sheet1!$A$2:$A$5</c:f>
              <c:strCache>
                <c:ptCount val="4"/>
                <c:pt idx="0">
                  <c:v>2</c:v>
                </c:pt>
                <c:pt idx="1">
                  <c:v>3</c:v>
                </c:pt>
                <c:pt idx="2">
                  <c:v>4</c:v>
                </c:pt>
                <c:pt idx="3">
                  <c:v>5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0.449385073191176</c:v>
                </c:pt>
                <c:pt idx="1">
                  <c:v>0.741079315543175</c:v>
                </c:pt>
                <c:pt idx="2">
                  <c:v>3.08323643744613</c:v>
                </c:pt>
                <c:pt idx="3">
                  <c:v>21.3446140419692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32K 关</c:v>
                </c:pt>
              </c:strCache>
            </c:strRef>
          </c:tx>
          <c:spPr>
            <a:ln w="22860" cap="rnd">
              <a:solidFill>
                <a:srgbClr val="548235"/>
              </a:solidFill>
              <a:prstDash val="solid"/>
              <a:round/>
            </a:ln>
          </c:spPr>
          <c:marker>
            <c:symbol val="circle"/>
            <c:size val="4"/>
            <c:spPr>
              <a:solidFill>
                <a:srgbClr val="548235"/>
              </a:solidFill>
            </c:spPr>
          </c:marker>
          <c:dLbls>
            <c:delete val="1"/>
          </c:dLbls>
          <c:cat>
            <c:strRef>
              <c:f>Sheet1!$A$2:$A$5</c:f>
              <c:strCache>
                <c:ptCount val="4"/>
                <c:pt idx="0">
                  <c:v>2</c:v>
                </c:pt>
                <c:pt idx="1">
                  <c:v>3</c:v>
                </c:pt>
                <c:pt idx="2">
                  <c:v>4</c:v>
                </c:pt>
                <c:pt idx="3">
                  <c:v>5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0.543004187134405</c:v>
                </c:pt>
                <c:pt idx="1">
                  <c:v>2.2576978392899</c:v>
                </c:pt>
                <c:pt idx="2">
                  <c:v>24.4253879094807</c:v>
                </c:pt>
                <c:pt idx="3">
                  <c:v>42.585881866049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64K 开</c:v>
                </c:pt>
              </c:strCache>
            </c:strRef>
          </c:tx>
          <c:spPr>
            <a:ln w="22860" cap="rnd">
              <a:solidFill>
                <a:srgbClr val="4472C4"/>
              </a:solidFill>
              <a:prstDash val="solid"/>
              <a:round/>
            </a:ln>
          </c:spPr>
          <c:marker>
            <c:symbol val="circle"/>
            <c:size val="4"/>
            <c:spPr>
              <a:solidFill>
                <a:srgbClr val="4472C4"/>
              </a:solidFill>
            </c:spPr>
          </c:marker>
          <c:dLbls>
            <c:delete val="1"/>
          </c:dLbls>
          <c:cat>
            <c:strRef>
              <c:f>Sheet1!$A$2:$A$5</c:f>
              <c:strCache>
                <c:ptCount val="4"/>
                <c:pt idx="0">
                  <c:v>2</c:v>
                </c:pt>
                <c:pt idx="1">
                  <c:v>3</c:v>
                </c:pt>
                <c:pt idx="2">
                  <c:v>4</c:v>
                </c:pt>
                <c:pt idx="3">
                  <c:v>5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0.453301488887519</c:v>
                </c:pt>
                <c:pt idx="1">
                  <c:v>0.737286215803275</c:v>
                </c:pt>
                <c:pt idx="2">
                  <c:v>3.29645802592859</c:v>
                </c:pt>
                <c:pt idx="3">
                  <c:v>20.5190890938975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64K 关</c:v>
                </c:pt>
              </c:strCache>
            </c:strRef>
          </c:tx>
          <c:spPr>
            <a:ln w="22860" cap="rnd">
              <a:solidFill>
                <a:srgbClr val="7030A0"/>
              </a:solidFill>
              <a:prstDash val="solid"/>
              <a:round/>
            </a:ln>
          </c:spPr>
          <c:marker>
            <c:symbol val="circle"/>
            <c:size val="4"/>
            <c:spPr>
              <a:solidFill>
                <a:srgbClr val="7030A0"/>
              </a:solidFill>
            </c:spPr>
          </c:marker>
          <c:dLbls>
            <c:delete val="1"/>
          </c:dLbls>
          <c:cat>
            <c:strRef>
              <c:f>Sheet1!$A$2:$A$5</c:f>
              <c:strCache>
                <c:ptCount val="4"/>
                <c:pt idx="0">
                  <c:v>2</c:v>
                </c:pt>
                <c:pt idx="1">
                  <c:v>3</c:v>
                </c:pt>
                <c:pt idx="2">
                  <c:v>4</c:v>
                </c:pt>
                <c:pt idx="3">
                  <c:v>5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0.569803062360734</c:v>
                </c:pt>
                <c:pt idx="1">
                  <c:v>2.13579453760758</c:v>
                </c:pt>
                <c:pt idx="2">
                  <c:v>24.3671103465992</c:v>
                </c:pt>
                <c:pt idx="3">
                  <c:v>39.9073271122761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/>
                </a:solidFill>
                <a:latin typeface="微软雅黑"/>
                <a:ea typeface="+mn-ea"/>
                <a:cs typeface="+mn-cs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  <c:min val="0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/>
                </a:solidFill>
                <a:latin typeface="微软雅黑"/>
                <a:ea typeface="+mn-ea"/>
                <a:cs typeface="+mn-cs"/>
              </a:defRPr>
            </a:pPr>
          </a:p>
        </c:txPr>
        <c:crossAx val="2118791784"/>
        <c:crosses val="autoZero"/>
        <c:crossBetween val="between"/>
      </c:valAx>
    </c:plotArea>
    <c:plotVisOnly val="1"/>
    <c:dispBlanksAs val="gap"/>
    <c:showDLblsOverMax val="0"/>
    <c:extLst>
      <c:ext uri="{0b15fc19-7d7d-44ad-8c2d-2c3a37ce22c3}">
        <chartProps xmlns="https://web.wps.cn/et/2018/main" chartId="{bd6c428c-1e9c-40f1-bdb0-99e233b48388}"/>
      </c:ext>
    </c:extLst>
  </c:chart>
  <c:txPr>
    <a:bodyPr/>
    <a:lstStyle/>
    <a:p>
      <a:pPr>
        <a:defRPr lang="zh-CN" sz="1800"/>
      </a:pPr>
    </a:p>
  </c:txPr>
  <c:externalData r:id="rId1">
    <c:autoUpdate val="0"/>
  </c:externalData>
</c:chartSpace>
</file>

<file path=ppt/charts/chart4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zh-CN" sz="216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US" sz="1400">
                <a:latin typeface="微软雅黑"/>
              </a:rPr>
              <a:t>P50 TTFT</a:t>
            </a:r>
            <a:endParaRPr lang="en-US" sz="1400">
              <a:latin typeface="微软雅黑"/>
            </a:endParaRPr>
          </a:p>
        </c:rich>
      </c:tx>
      <c:layout/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32K 开</c:v>
                </c:pt>
              </c:strCache>
            </c:strRef>
          </c:tx>
          <c:spPr>
            <a:ln w="22860" cap="rnd">
              <a:solidFill>
                <a:srgbClr val="F2A300"/>
              </a:solidFill>
              <a:prstDash val="solid"/>
              <a:round/>
            </a:ln>
          </c:spPr>
          <c:marker>
            <c:symbol val="circle"/>
            <c:size val="4"/>
            <c:spPr>
              <a:solidFill>
                <a:srgbClr val="F2A300"/>
              </a:solidFill>
            </c:spPr>
          </c:marker>
          <c:dLbls>
            <c:delete val="1"/>
          </c:dLbls>
          <c:cat>
            <c:strRef>
              <c:f>Sheet1!$A$2:$A$5</c:f>
              <c:strCache>
                <c:ptCount val="4"/>
                <c:pt idx="0">
                  <c:v>2</c:v>
                </c:pt>
                <c:pt idx="1">
                  <c:v>3</c:v>
                </c:pt>
                <c:pt idx="2">
                  <c:v>4</c:v>
                </c:pt>
                <c:pt idx="3">
                  <c:v>5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0.814288557507098</c:v>
                </c:pt>
                <c:pt idx="1">
                  <c:v>1.5926552657038</c:v>
                </c:pt>
                <c:pt idx="2">
                  <c:v>5.48547978543987</c:v>
                </c:pt>
                <c:pt idx="3">
                  <c:v>32.6889252141118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32K 关</c:v>
                </c:pt>
              </c:strCache>
            </c:strRef>
          </c:tx>
          <c:spPr>
            <a:ln w="22860" cap="rnd">
              <a:solidFill>
                <a:srgbClr val="548235"/>
              </a:solidFill>
              <a:prstDash val="solid"/>
              <a:round/>
            </a:ln>
          </c:spPr>
          <c:marker>
            <c:symbol val="circle"/>
            <c:size val="4"/>
            <c:spPr>
              <a:solidFill>
                <a:srgbClr val="548235"/>
              </a:solidFill>
            </c:spPr>
          </c:marker>
          <c:dLbls>
            <c:delete val="1"/>
          </c:dLbls>
          <c:cat>
            <c:strRef>
              <c:f>Sheet1!$A$2:$A$5</c:f>
              <c:strCache>
                <c:ptCount val="4"/>
                <c:pt idx="0">
                  <c:v>2</c:v>
                </c:pt>
                <c:pt idx="1">
                  <c:v>3</c:v>
                </c:pt>
                <c:pt idx="2">
                  <c:v>4</c:v>
                </c:pt>
                <c:pt idx="3">
                  <c:v>5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1.24155641626567</c:v>
                </c:pt>
                <c:pt idx="1">
                  <c:v>4.5826930028076</c:v>
                </c:pt>
                <c:pt idx="2">
                  <c:v>39.435876596719</c:v>
                </c:pt>
                <c:pt idx="3">
                  <c:v>74.2715306806688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64K 开</c:v>
                </c:pt>
              </c:strCache>
            </c:strRef>
          </c:tx>
          <c:spPr>
            <a:ln w="22860" cap="rnd">
              <a:solidFill>
                <a:srgbClr val="4472C4"/>
              </a:solidFill>
              <a:prstDash val="solid"/>
              <a:round/>
            </a:ln>
          </c:spPr>
          <c:marker>
            <c:symbol val="circle"/>
            <c:size val="4"/>
            <c:spPr>
              <a:solidFill>
                <a:srgbClr val="4472C4"/>
              </a:solidFill>
            </c:spPr>
          </c:marker>
          <c:dLbls>
            <c:delete val="1"/>
          </c:dLbls>
          <c:cat>
            <c:strRef>
              <c:f>Sheet1!$A$2:$A$5</c:f>
              <c:strCache>
                <c:ptCount val="4"/>
                <c:pt idx="0">
                  <c:v>2</c:v>
                </c:pt>
                <c:pt idx="1">
                  <c:v>3</c:v>
                </c:pt>
                <c:pt idx="2">
                  <c:v>4</c:v>
                </c:pt>
                <c:pt idx="3">
                  <c:v>5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0.814784718987842</c:v>
                </c:pt>
                <c:pt idx="1">
                  <c:v>1.64260004119327</c:v>
                </c:pt>
                <c:pt idx="2">
                  <c:v>6.40341969020665</c:v>
                </c:pt>
                <c:pt idx="3">
                  <c:v>31.4503625879685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64K 关</c:v>
                </c:pt>
              </c:strCache>
            </c:strRef>
          </c:tx>
          <c:spPr>
            <a:ln w="22860" cap="rnd">
              <a:solidFill>
                <a:srgbClr val="7030A0"/>
              </a:solidFill>
              <a:prstDash val="solid"/>
              <a:round/>
            </a:ln>
          </c:spPr>
          <c:marker>
            <c:symbol val="circle"/>
            <c:size val="4"/>
            <c:spPr>
              <a:solidFill>
                <a:srgbClr val="7030A0"/>
              </a:solidFill>
            </c:spPr>
          </c:marker>
          <c:dLbls>
            <c:delete val="1"/>
          </c:dLbls>
          <c:cat>
            <c:strRef>
              <c:f>Sheet1!$A$2:$A$5</c:f>
              <c:strCache>
                <c:ptCount val="4"/>
                <c:pt idx="0">
                  <c:v>2</c:v>
                </c:pt>
                <c:pt idx="1">
                  <c:v>3</c:v>
                </c:pt>
                <c:pt idx="2">
                  <c:v>4</c:v>
                </c:pt>
                <c:pt idx="3">
                  <c:v>5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1.2637192622448</c:v>
                </c:pt>
                <c:pt idx="1">
                  <c:v>4.97502490909149</c:v>
                </c:pt>
                <c:pt idx="2">
                  <c:v>36.3488871383791</c:v>
                </c:pt>
                <c:pt idx="3">
                  <c:v>69.7557875495404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/>
                </a:solidFill>
                <a:latin typeface="微软雅黑"/>
                <a:ea typeface="+mn-ea"/>
                <a:cs typeface="+mn-cs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  <c:min val="0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/>
                </a:solidFill>
                <a:latin typeface="微软雅黑"/>
                <a:ea typeface="+mn-ea"/>
                <a:cs typeface="+mn-cs"/>
              </a:defRPr>
            </a:pPr>
          </a:p>
        </c:txPr>
        <c:crossAx val="2118791784"/>
        <c:crosses val="autoZero"/>
        <c:crossBetween val="between"/>
      </c:valAx>
    </c:plotArea>
    <c:plotVisOnly val="1"/>
    <c:dispBlanksAs val="gap"/>
    <c:showDLblsOverMax val="0"/>
    <c:extLst>
      <c:ext uri="{0b15fc19-7d7d-44ad-8c2d-2c3a37ce22c3}">
        <chartProps xmlns="https://web.wps.cn/et/2018/main" chartId="{32c0443b-d235-4939-b604-f3468f11bd7f}"/>
      </c:ext>
    </c:extLst>
  </c:chart>
  <c:txPr>
    <a:bodyPr/>
    <a:lstStyle/>
    <a:p>
      <a:pPr>
        <a:defRPr lang="zh-CN" sz="1800"/>
      </a:pPr>
    </a:p>
  </c:txPr>
  <c:externalData r:id="rId1">
    <c:autoUpdate val="0"/>
  </c:externalData>
</c:chartSpace>
</file>

<file path=ppt/charts/chart5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zh-CN" sz="216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US" sz="1400">
                <a:latin typeface="微软雅黑"/>
              </a:rPr>
              <a:t>P90 TTFT</a:t>
            </a:r>
            <a:endParaRPr lang="en-US" sz="1400">
              <a:latin typeface="微软雅黑"/>
            </a:endParaRPr>
          </a:p>
        </c:rich>
      </c:tx>
      <c:layout/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32K 开</c:v>
                </c:pt>
              </c:strCache>
            </c:strRef>
          </c:tx>
          <c:spPr>
            <a:ln w="22860" cap="rnd">
              <a:solidFill>
                <a:srgbClr val="F2A300"/>
              </a:solidFill>
              <a:prstDash val="solid"/>
              <a:round/>
            </a:ln>
          </c:spPr>
          <c:marker>
            <c:symbol val="circle"/>
            <c:size val="4"/>
            <c:spPr>
              <a:solidFill>
                <a:srgbClr val="F2A300"/>
              </a:solidFill>
            </c:spPr>
          </c:marker>
          <c:dLbls>
            <c:delete val="1"/>
          </c:dLbls>
          <c:cat>
            <c:strRef>
              <c:f>Sheet1!$A$2:$A$5</c:f>
              <c:strCache>
                <c:ptCount val="4"/>
                <c:pt idx="0">
                  <c:v>2</c:v>
                </c:pt>
                <c:pt idx="1">
                  <c:v>3</c:v>
                </c:pt>
                <c:pt idx="2">
                  <c:v>4</c:v>
                </c:pt>
                <c:pt idx="3">
                  <c:v>5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3.02099687109391</c:v>
                </c:pt>
                <c:pt idx="1">
                  <c:v>4.33796449905882</c:v>
                </c:pt>
                <c:pt idx="2">
                  <c:v>11.0058875096962</c:v>
                </c:pt>
                <c:pt idx="3">
                  <c:v>53.1853993292898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32K 关</c:v>
                </c:pt>
              </c:strCache>
            </c:strRef>
          </c:tx>
          <c:spPr>
            <a:ln w="22860" cap="rnd">
              <a:solidFill>
                <a:srgbClr val="548235"/>
              </a:solidFill>
              <a:prstDash val="solid"/>
              <a:round/>
            </a:ln>
          </c:spPr>
          <c:marker>
            <c:symbol val="circle"/>
            <c:size val="4"/>
            <c:spPr>
              <a:solidFill>
                <a:srgbClr val="548235"/>
              </a:solidFill>
            </c:spPr>
          </c:marker>
          <c:dLbls>
            <c:delete val="1"/>
          </c:dLbls>
          <c:cat>
            <c:strRef>
              <c:f>Sheet1!$A$2:$A$5</c:f>
              <c:strCache>
                <c:ptCount val="4"/>
                <c:pt idx="0">
                  <c:v>2</c:v>
                </c:pt>
                <c:pt idx="1">
                  <c:v>3</c:v>
                </c:pt>
                <c:pt idx="2">
                  <c:v>4</c:v>
                </c:pt>
                <c:pt idx="3">
                  <c:v>5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4.13485964915405</c:v>
                </c:pt>
                <c:pt idx="1">
                  <c:v>9.73193522946288</c:v>
                </c:pt>
                <c:pt idx="2">
                  <c:v>65.8448165431619</c:v>
                </c:pt>
                <c:pt idx="3">
                  <c:v>132.464734333257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64K 开</c:v>
                </c:pt>
              </c:strCache>
            </c:strRef>
          </c:tx>
          <c:spPr>
            <a:ln w="22860" cap="rnd">
              <a:solidFill>
                <a:srgbClr val="4472C4"/>
              </a:solidFill>
              <a:prstDash val="solid"/>
              <a:round/>
            </a:ln>
          </c:spPr>
          <c:marker>
            <c:symbol val="circle"/>
            <c:size val="4"/>
            <c:spPr>
              <a:solidFill>
                <a:srgbClr val="4472C4"/>
              </a:solidFill>
            </c:spPr>
          </c:marker>
          <c:dLbls>
            <c:delete val="1"/>
          </c:dLbls>
          <c:cat>
            <c:strRef>
              <c:f>Sheet1!$A$2:$A$5</c:f>
              <c:strCache>
                <c:ptCount val="4"/>
                <c:pt idx="0">
                  <c:v>2</c:v>
                </c:pt>
                <c:pt idx="1">
                  <c:v>3</c:v>
                </c:pt>
                <c:pt idx="2">
                  <c:v>4</c:v>
                </c:pt>
                <c:pt idx="3">
                  <c:v>5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2.89507454757889</c:v>
                </c:pt>
                <c:pt idx="1">
                  <c:v>5.03413736727089</c:v>
                </c:pt>
                <c:pt idx="2">
                  <c:v>12.0220436497281</c:v>
                </c:pt>
                <c:pt idx="3">
                  <c:v>49.6588407891492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64K 关</c:v>
                </c:pt>
              </c:strCache>
            </c:strRef>
          </c:tx>
          <c:spPr>
            <a:ln w="22860" cap="rnd">
              <a:solidFill>
                <a:srgbClr val="7030A0"/>
              </a:solidFill>
              <a:prstDash val="solid"/>
              <a:round/>
            </a:ln>
          </c:spPr>
          <c:marker>
            <c:symbol val="circle"/>
            <c:size val="4"/>
            <c:spPr>
              <a:solidFill>
                <a:srgbClr val="7030A0"/>
              </a:solidFill>
            </c:spPr>
          </c:marker>
          <c:dLbls>
            <c:delete val="1"/>
          </c:dLbls>
          <c:cat>
            <c:strRef>
              <c:f>Sheet1!$A$2:$A$5</c:f>
              <c:strCache>
                <c:ptCount val="4"/>
                <c:pt idx="0">
                  <c:v>2</c:v>
                </c:pt>
                <c:pt idx="1">
                  <c:v>3</c:v>
                </c:pt>
                <c:pt idx="2">
                  <c:v>4</c:v>
                </c:pt>
                <c:pt idx="3">
                  <c:v>5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4.2582440674305</c:v>
                </c:pt>
                <c:pt idx="1">
                  <c:v>9.96050311811268</c:v>
                </c:pt>
                <c:pt idx="2">
                  <c:v>58.0905029249067</c:v>
                </c:pt>
                <c:pt idx="3">
                  <c:v>120.116722282333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/>
                </a:solidFill>
                <a:latin typeface="微软雅黑"/>
                <a:ea typeface="+mn-ea"/>
                <a:cs typeface="+mn-cs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  <c:min val="0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/>
                </a:solidFill>
                <a:latin typeface="微软雅黑"/>
                <a:ea typeface="+mn-ea"/>
                <a:cs typeface="+mn-cs"/>
              </a:defRPr>
            </a:pPr>
          </a:p>
        </c:txPr>
        <c:crossAx val="2118791784"/>
        <c:crosses val="autoZero"/>
        <c:crossBetween val="between"/>
      </c:valAx>
    </c:plotArea>
    <c:plotVisOnly val="1"/>
    <c:dispBlanksAs val="gap"/>
    <c:showDLblsOverMax val="0"/>
    <c:extLst>
      <c:ext uri="{0b15fc19-7d7d-44ad-8c2d-2c3a37ce22c3}">
        <chartProps xmlns="https://web.wps.cn/et/2018/main" chartId="{26f69e55-0705-438f-9475-0055e7225dba}"/>
      </c:ext>
    </c:extLst>
  </c:chart>
  <c:txPr>
    <a:bodyPr/>
    <a:lstStyle/>
    <a:p>
      <a:pPr>
        <a:defRPr lang="zh-CN" sz="1800"/>
      </a:pPr>
    </a:p>
  </c:txPr>
  <c:externalData r:id="rId1">
    <c:autoUpdate val="0"/>
  </c:externalData>
</c:chartSpace>
</file>

<file path=ppt/charts/chart5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zh-CN" sz="216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US" sz="1400">
                <a:latin typeface="微软雅黑"/>
              </a:rPr>
              <a:t>P99 TTFT</a:t>
            </a:r>
            <a:endParaRPr lang="en-US" sz="1400">
              <a:latin typeface="微软雅黑"/>
            </a:endParaRPr>
          </a:p>
        </c:rich>
      </c:tx>
      <c:layout/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32K 开</c:v>
                </c:pt>
              </c:strCache>
            </c:strRef>
          </c:tx>
          <c:spPr>
            <a:ln w="22860" cap="rnd">
              <a:solidFill>
                <a:srgbClr val="F2A300"/>
              </a:solidFill>
              <a:prstDash val="solid"/>
              <a:round/>
            </a:ln>
          </c:spPr>
          <c:marker>
            <c:symbol val="circle"/>
            <c:size val="4"/>
            <c:spPr>
              <a:solidFill>
                <a:srgbClr val="F2A300"/>
              </a:solidFill>
            </c:spPr>
          </c:marker>
          <c:dLbls>
            <c:delete val="1"/>
          </c:dLbls>
          <c:cat>
            <c:strRef>
              <c:f>Sheet1!$A$2:$A$5</c:f>
              <c:strCache>
                <c:ptCount val="4"/>
                <c:pt idx="0">
                  <c:v>2</c:v>
                </c:pt>
                <c:pt idx="1">
                  <c:v>3</c:v>
                </c:pt>
                <c:pt idx="2">
                  <c:v>4</c:v>
                </c:pt>
                <c:pt idx="3">
                  <c:v>5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5.31952003731082</c:v>
                </c:pt>
                <c:pt idx="1">
                  <c:v>7.19180990071968</c:v>
                </c:pt>
                <c:pt idx="2">
                  <c:v>15.1611163822375</c:v>
                </c:pt>
                <c:pt idx="3">
                  <c:v>69.675257985356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32K 关</c:v>
                </c:pt>
              </c:strCache>
            </c:strRef>
          </c:tx>
          <c:spPr>
            <a:ln w="22860" cap="rnd">
              <a:solidFill>
                <a:srgbClr val="548235"/>
              </a:solidFill>
              <a:prstDash val="solid"/>
              <a:round/>
            </a:ln>
          </c:spPr>
          <c:marker>
            <c:symbol val="circle"/>
            <c:size val="4"/>
            <c:spPr>
              <a:solidFill>
                <a:srgbClr val="548235"/>
              </a:solidFill>
            </c:spPr>
          </c:marker>
          <c:dLbls>
            <c:delete val="1"/>
          </c:dLbls>
          <c:cat>
            <c:strRef>
              <c:f>Sheet1!$A$2:$A$5</c:f>
              <c:strCache>
                <c:ptCount val="4"/>
                <c:pt idx="0">
                  <c:v>2</c:v>
                </c:pt>
                <c:pt idx="1">
                  <c:v>3</c:v>
                </c:pt>
                <c:pt idx="2">
                  <c:v>4</c:v>
                </c:pt>
                <c:pt idx="3">
                  <c:v>5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6.91432943415518</c:v>
                </c:pt>
                <c:pt idx="1">
                  <c:v>14.3150053302137</c:v>
                </c:pt>
                <c:pt idx="2">
                  <c:v>79.7362926232629</c:v>
                </c:pt>
                <c:pt idx="3">
                  <c:v>156.280935510403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64K 开</c:v>
                </c:pt>
              </c:strCache>
            </c:strRef>
          </c:tx>
          <c:spPr>
            <a:ln w="22860" cap="rnd">
              <a:solidFill>
                <a:srgbClr val="4472C4"/>
              </a:solidFill>
              <a:prstDash val="solid"/>
              <a:round/>
            </a:ln>
          </c:spPr>
          <c:marker>
            <c:symbol val="circle"/>
            <c:size val="4"/>
            <c:spPr>
              <a:solidFill>
                <a:srgbClr val="4472C4"/>
              </a:solidFill>
            </c:spPr>
          </c:marker>
          <c:dLbls>
            <c:delete val="1"/>
          </c:dLbls>
          <c:cat>
            <c:strRef>
              <c:f>Sheet1!$A$2:$A$5</c:f>
              <c:strCache>
                <c:ptCount val="4"/>
                <c:pt idx="0">
                  <c:v>2</c:v>
                </c:pt>
                <c:pt idx="1">
                  <c:v>3</c:v>
                </c:pt>
                <c:pt idx="2">
                  <c:v>4</c:v>
                </c:pt>
                <c:pt idx="3">
                  <c:v>5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5.77602723501625</c:v>
                </c:pt>
                <c:pt idx="1">
                  <c:v>7.75690388157964</c:v>
                </c:pt>
                <c:pt idx="2">
                  <c:v>16.873569166412</c:v>
                </c:pt>
                <c:pt idx="3">
                  <c:v>63.1883247399703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64K 关</c:v>
                </c:pt>
              </c:strCache>
            </c:strRef>
          </c:tx>
          <c:spPr>
            <a:ln w="22860" cap="rnd">
              <a:solidFill>
                <a:srgbClr val="7030A0"/>
              </a:solidFill>
              <a:prstDash val="solid"/>
              <a:round/>
            </a:ln>
          </c:spPr>
          <c:marker>
            <c:symbol val="circle"/>
            <c:size val="4"/>
            <c:spPr>
              <a:solidFill>
                <a:srgbClr val="7030A0"/>
              </a:solidFill>
            </c:spPr>
          </c:marker>
          <c:dLbls>
            <c:delete val="1"/>
          </c:dLbls>
          <c:cat>
            <c:strRef>
              <c:f>Sheet1!$A$2:$A$5</c:f>
              <c:strCache>
                <c:ptCount val="4"/>
                <c:pt idx="0">
                  <c:v>2</c:v>
                </c:pt>
                <c:pt idx="1">
                  <c:v>3</c:v>
                </c:pt>
                <c:pt idx="2">
                  <c:v>4</c:v>
                </c:pt>
                <c:pt idx="3">
                  <c:v>5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7.88709329832967</c:v>
                </c:pt>
                <c:pt idx="1">
                  <c:v>14.5365544356095</c:v>
                </c:pt>
                <c:pt idx="2">
                  <c:v>67.367692045557</c:v>
                </c:pt>
                <c:pt idx="3">
                  <c:v>143.608701523518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/>
                </a:solidFill>
                <a:latin typeface="微软雅黑"/>
                <a:ea typeface="+mn-ea"/>
                <a:cs typeface="+mn-cs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  <c:min val="0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/>
                </a:solidFill>
                <a:latin typeface="微软雅黑"/>
                <a:ea typeface="+mn-ea"/>
                <a:cs typeface="+mn-cs"/>
              </a:defRPr>
            </a:pPr>
          </a:p>
        </c:txPr>
        <c:crossAx val="2118791784"/>
        <c:crosses val="autoZero"/>
        <c:crossBetween val="between"/>
      </c:valAx>
    </c:plotArea>
    <c:plotVisOnly val="1"/>
    <c:dispBlanksAs val="gap"/>
    <c:showDLblsOverMax val="0"/>
    <c:extLst>
      <c:ext uri="{0b15fc19-7d7d-44ad-8c2d-2c3a37ce22c3}">
        <chartProps xmlns="https://web.wps.cn/et/2018/main" chartId="{4a3467d7-244e-4e28-8043-d5866785deaa}"/>
      </c:ext>
    </c:extLst>
  </c:chart>
  <c:txPr>
    <a:bodyPr/>
    <a:lstStyle/>
    <a:p>
      <a:pPr>
        <a:defRPr lang="zh-CN" sz="1800"/>
      </a:pPr>
    </a:p>
  </c:txPr>
  <c:externalData r:id="rId1">
    <c:autoUpdate val="0"/>
  </c:externalData>
</c:chartSpace>
</file>

<file path=ppt/charts/chart5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实测值</c:v>
                </c:pt>
              </c:strCache>
            </c:strRef>
          </c:tx>
          <c:dPt>
            <c:idx val="0"/>
            <c:spPr>
              <a:solidFill>
                <a:srgbClr val="234CA5"/>
              </a:solidFill>
              <a:ln>
                <a:noFill/>
              </a:ln>
            </c:spPr>
          </c:dPt>
          <c:dPt>
            <c:idx val="1"/>
            <c:spPr>
              <a:solidFill>
                <a:srgbClr val="234CA5"/>
              </a:solidFill>
              <a:ln>
                <a:noFill/>
              </a:ln>
            </c:spPr>
          </c:dPt>
          <c:dPt>
            <c:idx val="2"/>
            <c:spPr>
              <a:solidFill>
                <a:srgbClr val="234CA5"/>
              </a:solidFill>
              <a:ln>
                <a:noFill/>
              </a:ln>
            </c:spPr>
          </c:dPt>
          <c:dPt>
            <c:idx val="3"/>
            <c:spPr>
              <a:solidFill>
                <a:srgbClr val="234CA5"/>
              </a:solidFill>
              <a:ln>
                <a:noFill/>
              </a:ln>
            </c:spPr>
          </c:dPt>
          <c:dPt>
            <c:idx val="4"/>
            <c:spPr>
              <a:solidFill>
                <a:srgbClr val="234CA5"/>
              </a:solidFill>
              <a:ln>
                <a:noFill/>
              </a:ln>
            </c:spPr>
          </c:dPt>
          <c:cat>
            <c:strRef>
              <c:f>Sheet1!$A$2:$A$6</c:f>
              <c:strCache>
                <c:ptCount val="5"/>
                <c:pt idx="0">
                  <c:v>&lt;32K</c:v>
                </c:pt>
                <c:pt idx="1">
                  <c:v>32–64K</c:v>
                </c:pt>
                <c:pt idx="2">
                  <c:v>64–128K</c:v>
                </c:pt>
                <c:pt idx="3">
                  <c:v>128–192K</c:v>
                </c:pt>
                <c:pt idx="4">
                  <c:v>192–256K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874</c:v>
                </c:pt>
                <c:pt idx="1">
                  <c:v>2440</c:v>
                </c:pt>
                <c:pt idx="2">
                  <c:v>4676</c:v>
                </c:pt>
                <c:pt idx="3">
                  <c:v>1010</c:v>
                </c:pt>
                <c:pt idx="4">
                  <c:v>78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000">
                  <a:latin typeface="微软雅黑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2226939960"/>
        <c:axId val="2180972856"/>
      </c:barChart>
      <c:catAx>
        <c:axId val="222693996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pPr>
              <a:defRPr sz="1000">
                <a:latin typeface="微软雅黑"/>
              </a:defRPr>
            </a:pPr>
          </a:p>
        </c:txPr>
        <c:crossAx val="2180972856"/>
        <c:crosses val="autoZero"/>
        <c:auto val="1"/>
        <c:lblAlgn val="ctr"/>
        <c:lblOffset val="100"/>
        <c:noMultiLvlLbl val="0"/>
      </c:catAx>
      <c:valAx>
        <c:axId val="2180972856"/>
        <c:scaling>
          <c:max val="5000.0"/>
          <c:min val="0.0"/>
        </c:scaling>
        <c:delete val="0"/>
        <c:axPos val="l"/>
        <c:majorGridlines>
          <c:spPr>
            <a:ln w="6350">
              <a:solidFill>
                <a:srgbClr val="E5E5E5"/>
              </a:solidFill>
            </a:ln>
          </c:spPr>
        </c:majorGridlines>
        <c:numFmt formatCode="0" sourceLinked="0"/>
        <c:majorTickMark val="none"/>
        <c:minorTickMark val="none"/>
        <c:tickLblPos val="nextTo"/>
        <c:txPr>
          <a:bodyPr/>
          <a:lstStyle/>
          <a:p>
            <a:pPr>
              <a:defRPr sz="900">
                <a:latin typeface="微软雅黑"/>
              </a:defRPr>
            </a:pPr>
          </a:p>
        </c:txPr>
        <c:crossAx val="2226939960"/>
        <c:crosses val="autoZero"/>
        <c:majorUnit val="100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实测值</c:v>
                </c:pt>
              </c:strCache>
            </c:strRef>
          </c:tx>
          <c:dPt>
            <c:idx val="0"/>
            <c:spPr>
              <a:solidFill>
                <a:srgbClr val="528A00"/>
              </a:solidFill>
              <a:ln>
                <a:noFill/>
              </a:ln>
            </c:spPr>
          </c:dPt>
          <c:dPt>
            <c:idx val="1"/>
            <c:spPr>
              <a:solidFill>
                <a:srgbClr val="4472C4"/>
              </a:solidFill>
              <a:ln>
                <a:noFill/>
              </a:ln>
            </c:spPr>
          </c:dPt>
          <c:dPt>
            <c:idx val="2"/>
            <c:spPr>
              <a:solidFill>
                <a:srgbClr val="7030A0"/>
              </a:solidFill>
              <a:ln>
                <a:noFill/>
              </a:ln>
            </c:spPr>
          </c:dPt>
          <c:dPt>
            <c:idx val="3"/>
            <c:spPr>
              <a:solidFill>
                <a:srgbClr val="F2A900"/>
              </a:solidFill>
              <a:ln>
                <a:noFill/>
              </a:ln>
            </c:spPr>
          </c:dPt>
          <c:dPt>
            <c:idx val="4"/>
            <c:spPr>
              <a:solidFill>
                <a:srgbClr val="C06000"/>
              </a:solidFill>
              <a:ln>
                <a:noFill/>
              </a:ln>
            </c:spPr>
          </c:dPt>
          <c:cat>
            <c:strRef>
              <c:f>Sheet1!$A$2:$A$6</c:f>
              <c:strCache>
                <c:ptCount val="5"/>
                <c:pt idx="0">
                  <c:v>EP4</c:v>
                </c:pt>
                <c:pt idx="1">
                  <c:v>EP8</c:v>
                </c:pt>
                <c:pt idx="2">
                  <c:v>EP16</c:v>
                </c:pt>
                <c:pt idx="3">
                  <c:v>AFD eager</c:v>
                </c:pt>
                <c:pt idx="4">
                  <c:v>AFD F FULL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238.9240512016695</c:v>
                </c:pt>
                <c:pt idx="1">
                  <c:v>83.71357934062058</c:v>
                </c:pt>
                <c:pt idx="2">
                  <c:v>54.415783901993805</c:v>
                </c:pt>
                <c:pt idx="3">
                  <c:v>62.91741288310538</c:v>
                </c:pt>
                <c:pt idx="4">
                  <c:v>63.48847835965765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1000">
                  <a:latin typeface="微软雅黑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2226939960"/>
        <c:axId val="2180972856"/>
      </c:barChart>
      <c:catAx>
        <c:axId val="2226939960"/>
        <c:scaling>
          <c:orientation val="maxMin"/>
        </c:scaling>
        <c:delete val="0"/>
        <c:axPos val="l"/>
        <c:majorTickMark val="none"/>
        <c:minorTickMark val="none"/>
        <c:tickLblPos val="low"/>
        <c:txPr>
          <a:bodyPr/>
          <a:lstStyle/>
          <a:p>
            <a:pPr>
              <a:defRPr sz="1000">
                <a:latin typeface="微软雅黑"/>
              </a:defRPr>
            </a:pPr>
          </a:p>
        </c:txPr>
        <c:crossAx val="2180972856"/>
        <c:crosses val="max"/>
        <c:auto val="1"/>
        <c:lblAlgn val="ctr"/>
        <c:lblOffset val="100"/>
        <c:noMultiLvlLbl val="0"/>
      </c:catAx>
      <c:valAx>
        <c:axId val="2180972856"/>
        <c:scaling>
          <c:max val="275.0"/>
          <c:min val="0.0"/>
        </c:scaling>
        <c:delete val="0"/>
        <c:axPos val="b"/>
        <c:majorGridlines>
          <c:spPr>
            <a:ln w="6350">
              <a:solidFill>
                <a:srgbClr val="E5E5E5"/>
              </a:solidFill>
            </a:ln>
          </c:spPr>
        </c:majorGridlines>
        <c:numFmt formatCode="0" sourceLinked="0"/>
        <c:majorTickMark val="none"/>
        <c:minorTickMark val="none"/>
        <c:tickLblPos val="low"/>
        <c:txPr>
          <a:bodyPr/>
          <a:lstStyle/>
          <a:p>
            <a:pPr>
              <a:defRPr sz="900">
                <a:latin typeface="微软雅黑"/>
              </a:defRPr>
            </a:pPr>
          </a:p>
        </c:txPr>
        <c:crossAx val="2226939960"/>
        <c:crosses val="autoZero"/>
        <c:majorUnit val="5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权重</c:v>
                </c:pt>
              </c:strCache>
            </c:strRef>
          </c:tx>
          <c:spPr>
            <a:solidFill>
              <a:srgbClr val="91AADC"/>
            </a:solidFill>
            <a:ln>
              <a:noFill/>
            </a:ln>
          </c:spPr>
          <c:cat>
            <c:strRef>
              <c:f>Sheet1!$A$2:$A$6</c:f>
              <c:strCache>
                <c:ptCount val="5"/>
                <c:pt idx="0">
                  <c:v>EP4 ×16</c:v>
                </c:pt>
                <c:pt idx="1">
                  <c:v>EP8 ×16</c:v>
                </c:pt>
                <c:pt idx="2">
                  <c:v>EP16 ×16</c:v>
                </c:pt>
                <c:pt idx="3">
                  <c:v>AFD A ×12</c:v>
                </c:pt>
                <c:pt idx="4">
                  <c:v>AFD F ×4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38.4446</c:v>
                </c:pt>
                <c:pt idx="1">
                  <c:v>22.1503</c:v>
                </c:pt>
                <c:pt idx="2">
                  <c:v>14.0032</c:v>
                </c:pt>
                <c:pt idx="3">
                  <c:v>6.6995</c:v>
                </c:pt>
                <c:pt idx="4">
                  <c:v>35.9467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KV Cache</c:v>
                </c:pt>
              </c:strCache>
            </c:strRef>
          </c:tx>
          <c:spPr>
            <a:solidFill>
              <a:srgbClr val="F5C34B"/>
            </a:solidFill>
            <a:ln>
              <a:noFill/>
            </a:ln>
          </c:spPr>
          <c:dLbls>
            <c:dLbl>
              <c:idx val="4"/>
              <c:delete val="1"/>
            </c:dLbl>
            <c:numFmt formatCode="0.0;-0.0;" sourceLinked="0"/>
            <c:txPr>
              <a:bodyPr/>
              <a:lstStyle/>
              <a:p>
                <a:pPr>
                  <a:defRPr sz="900">
                    <a:solidFill>
                      <a:srgbClr val="222222"/>
                    </a:solidFill>
                    <a:latin typeface="微软雅黑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EP4 ×16</c:v>
                </c:pt>
                <c:pt idx="1">
                  <c:v>EP8 ×16</c:v>
                </c:pt>
                <c:pt idx="2">
                  <c:v>EP16 ×16</c:v>
                </c:pt>
                <c:pt idx="3">
                  <c:v>AFD A ×12</c:v>
                </c:pt>
                <c:pt idx="4">
                  <c:v>AFD F ×4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14.211299911141396</c:v>
                </c:pt>
                <c:pt idx="1">
                  <c:v>29.302372947335243</c:v>
                </c:pt>
                <c:pt idx="2">
                  <c:v>35.16721346974373</c:v>
                </c:pt>
                <c:pt idx="3">
                  <c:v>42.98160614569982</c:v>
                </c:pt>
                <c:pt idx="4">
                  <c:v>0.0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其他已用</c:v>
                </c:pt>
              </c:strCache>
            </c:strRef>
          </c:tx>
          <c:spPr>
            <a:solidFill>
              <a:srgbClr val="B4B4B4"/>
            </a:solidFill>
            <a:ln>
              <a:noFill/>
            </a:ln>
          </c:spPr>
          <c:cat>
            <c:strRef>
              <c:f>Sheet1!$A$2:$A$6</c:f>
              <c:strCache>
                <c:ptCount val="5"/>
                <c:pt idx="0">
                  <c:v>EP4 ×16</c:v>
                </c:pt>
                <c:pt idx="1">
                  <c:v>EP8 ×16</c:v>
                </c:pt>
                <c:pt idx="2">
                  <c:v>EP16 ×16</c:v>
                </c:pt>
                <c:pt idx="3">
                  <c:v>AFD A ×12</c:v>
                </c:pt>
                <c:pt idx="4">
                  <c:v>AFD F ×4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4.399153799796103</c:v>
                </c:pt>
                <c:pt idx="1">
                  <c:v>4.480615626883505</c:v>
                </c:pt>
                <c:pt idx="2">
                  <c:v>4.537045026350022</c:v>
                </c:pt>
                <c:pt idx="3">
                  <c:v>6.009242161591847</c:v>
                </c:pt>
                <c:pt idx="4">
                  <c:v>17.7798625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空闲</c:v>
                </c:pt>
              </c:strCache>
            </c:strRef>
          </c:tx>
          <c:spPr>
            <a:solidFill>
              <a:srgbClr val="EBEBEB"/>
            </a:solidFill>
            <a:ln>
              <a:noFill/>
            </a:ln>
          </c:spPr>
          <c:cat>
            <c:strRef>
              <c:f>Sheet1!$A$2:$A$6</c:f>
              <c:strCache>
                <c:ptCount val="5"/>
                <c:pt idx="0">
                  <c:v>EP4 ×16</c:v>
                </c:pt>
                <c:pt idx="1">
                  <c:v>EP8 ×16</c:v>
                </c:pt>
                <c:pt idx="2">
                  <c:v>EP16 ×16</c:v>
                </c:pt>
                <c:pt idx="3">
                  <c:v>AFD A ×12</c:v>
                </c:pt>
                <c:pt idx="4">
                  <c:v>AFD F ×4</c:v>
                </c:pt>
              </c:strCache>
            </c:strRef>
          </c:cat>
          <c:val>
            <c:numRef>
              <c:f>Sheet1!$E$2:$E$6</c:f>
              <c:numCache>
                <c:formatCode>General</c:formatCode>
                <c:ptCount val="5"/>
                <c:pt idx="0">
                  <c:v>6.9449462890625</c:v>
                </c:pt>
                <c:pt idx="1">
                  <c:v>8.06671142578125</c:v>
                </c:pt>
                <c:pt idx="2">
                  <c:v>10.29254150390625</c:v>
                </c:pt>
                <c:pt idx="3">
                  <c:v>8.309651692708334</c:v>
                </c:pt>
                <c:pt idx="4">
                  <c:v>10.2734375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900">
                  <a:solidFill>
                    <a:srgbClr val="222222"/>
                  </a:solidFill>
                  <a:latin typeface="微软雅黑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5"/>
        <c:overlap val="100"/>
        <c:axId val="2226939960"/>
        <c:axId val="2180972856"/>
      </c:barChart>
      <c:catAx>
        <c:axId val="2226939960"/>
        <c:scaling>
          <c:orientation val="maxMin"/>
        </c:scaling>
        <c:delete val="0"/>
        <c:axPos val="l"/>
        <c:majorTickMark val="none"/>
        <c:minorTickMark val="none"/>
        <c:tickLblPos val="low"/>
        <c:txPr>
          <a:bodyPr/>
          <a:lstStyle/>
          <a:p>
            <a:pPr>
              <a:defRPr sz="1000">
                <a:latin typeface="微软雅黑"/>
              </a:defRPr>
            </a:pPr>
          </a:p>
        </c:txPr>
        <c:crossAx val="2180972856"/>
        <c:crosses val="max"/>
        <c:auto val="1"/>
        <c:lblAlgn val="ctr"/>
        <c:lblOffset val="100"/>
        <c:noMultiLvlLbl val="0"/>
      </c:catAx>
      <c:valAx>
        <c:axId val="2180972856"/>
        <c:scaling>
          <c:max val="64.0"/>
          <c:min val="0.0"/>
        </c:scaling>
        <c:delete val="0"/>
        <c:axPos val="b"/>
        <c:majorGridlines>
          <c:spPr>
            <a:ln>
              <a:solidFill>
                <a:srgbClr val="E4E4E4"/>
              </a:solidFill>
            </a:ln>
          </c:spPr>
        </c:majorGridlines>
        <c:numFmt formatCode="0" sourceLinked="0"/>
        <c:majorTickMark val="none"/>
        <c:minorTickMark val="none"/>
        <c:tickLblPos val="low"/>
        <c:txPr>
          <a:bodyPr/>
          <a:lstStyle/>
          <a:p>
            <a:pPr>
              <a:defRPr sz="900">
                <a:latin typeface="微软雅黑"/>
              </a:defRPr>
            </a:pPr>
          </a:p>
        </c:txPr>
        <c:crossAx val="2226939960"/>
        <c:crosses val="autoZero"/>
        <c:majorUnit val="16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缓存复用</c:v>
                </c:pt>
              </c:strCache>
            </c:strRef>
          </c:tx>
          <c:spPr>
            <a:solidFill>
              <a:srgbClr val="94ADD9"/>
            </a:solidFill>
            <a:ln>
              <a:noFill/>
            </a:ln>
          </c:spPr>
          <c:cat>
            <c:strRef>
              <c:f>Sheet1!$A$2:$A$6</c:f>
              <c:strCache>
                <c:ptCount val="5"/>
                <c:pt idx="0">
                  <c:v>EP4</c:v>
                </c:pt>
                <c:pt idx="1">
                  <c:v>EP8</c:v>
                </c:pt>
                <c:pt idx="2">
                  <c:v>EP16</c:v>
                </c:pt>
                <c:pt idx="3">
                  <c:v>AFD eager</c:v>
                </c:pt>
                <c:pt idx="4">
                  <c:v>AFD F FULL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338.255872</c:v>
                </c:pt>
                <c:pt idx="1">
                  <c:v>628.49024</c:v>
                </c:pt>
                <c:pt idx="2">
                  <c:v>686.751744</c:v>
                </c:pt>
                <c:pt idx="3">
                  <c:v>655.36</c:v>
                </c:pt>
                <c:pt idx="4">
                  <c:v>654.667776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实际 prefill</c:v>
                </c:pt>
              </c:strCache>
            </c:strRef>
          </c:tx>
          <c:spPr>
            <a:solidFill>
              <a:srgbClr val="F3BB45"/>
            </a:solidFill>
            <a:ln>
              <a:noFill/>
            </a:ln>
          </c:spPr>
          <c:cat>
            <c:strRef>
              <c:f>Sheet1!$A$2:$A$6</c:f>
              <c:strCache>
                <c:ptCount val="5"/>
                <c:pt idx="0">
                  <c:v>EP4</c:v>
                </c:pt>
                <c:pt idx="1">
                  <c:v>EP8</c:v>
                </c:pt>
                <c:pt idx="2">
                  <c:v>EP16</c:v>
                </c:pt>
                <c:pt idx="3">
                  <c:v>AFD eager</c:v>
                </c:pt>
                <c:pt idx="4">
                  <c:v>AFD F FULL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410.495525</c:v>
                </c:pt>
                <c:pt idx="1">
                  <c:v>120.261157</c:v>
                </c:pt>
                <c:pt idx="2">
                  <c:v>61.999653</c:v>
                </c:pt>
                <c:pt idx="3">
                  <c:v>93.391397</c:v>
                </c:pt>
                <c:pt idx="4">
                  <c:v>94.083621</c:v>
                </c:pt>
              </c:numCache>
            </c:numRef>
          </c:val>
        </c:ser>
        <c:gapWidth val="65"/>
        <c:overlap val="100"/>
        <c:axId val="2226939960"/>
        <c:axId val="2180972856"/>
      </c:barChart>
      <c:catAx>
        <c:axId val="2226939960"/>
        <c:scaling>
          <c:orientation val="maxMin"/>
        </c:scaling>
        <c:delete val="0"/>
        <c:axPos val="l"/>
        <c:majorTickMark val="none"/>
        <c:minorTickMark val="none"/>
        <c:tickLblPos val="low"/>
        <c:txPr>
          <a:bodyPr/>
          <a:lstStyle/>
          <a:p>
            <a:pPr>
              <a:defRPr sz="1000">
                <a:latin typeface="微软雅黑"/>
              </a:defRPr>
            </a:pPr>
          </a:p>
        </c:txPr>
        <c:crossAx val="2180972856"/>
        <c:crosses val="max"/>
        <c:auto val="1"/>
        <c:lblAlgn val="ctr"/>
        <c:lblOffset val="100"/>
        <c:noMultiLvlLbl val="0"/>
      </c:catAx>
      <c:valAx>
        <c:axId val="2180972856"/>
        <c:scaling>
          <c:max val="800.0"/>
          <c:min val="0.0"/>
        </c:scaling>
        <c:delete val="0"/>
        <c:axPos val="b"/>
        <c:majorGridlines>
          <c:spPr>
            <a:ln>
              <a:solidFill>
                <a:srgbClr val="E4E4E4"/>
              </a:solidFill>
            </a:ln>
          </c:spPr>
        </c:majorGridlines>
        <c:numFmt formatCode="0" sourceLinked="0"/>
        <c:majorTickMark val="none"/>
        <c:minorTickMark val="none"/>
        <c:tickLblPos val="low"/>
        <c:txPr>
          <a:bodyPr/>
          <a:lstStyle/>
          <a:p>
            <a:pPr>
              <a:defRPr sz="900">
                <a:latin typeface="微软雅黑"/>
              </a:defRPr>
            </a:pPr>
          </a:p>
        </c:txPr>
        <c:crossAx val="2226939960"/>
        <c:crosses val="autoZero"/>
        <c:majorUnit val="20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当前部署 MoE 模型的一项主要挑战，在于 Attention 与 MoE 层之间存在异构性。</a:t>
            </a:r>
          </a:p>
          <a:p>
            <a:r>
              <a:t>Attention 受限于 KV Cache 容量：随着上下文长度增加，一个解码批次能够容纳的活跃请求会越来越少。相比之下，MoE 层需要足够大的批次，才能保证专家 GEMM 运算的效率。</a:t>
            </a:r>
          </a:p>
          <a:p>
            <a:r>
              <a:t>因此，随着上下文变长，活跃解码批次逐渐缩小，Attention 的开销主要由 KV Cache 读取主导；与此同时，MoE 无法获得高效执行专家计算所需的足够 Token 数量。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User-provided AFD-Plugin.pptx, source slide 4 (architecture diagram, legend, component labels, and grouping).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/Users/jiangkuaixue/Desktop/vllm-afd-plugin-architecture.svg</a:t>
            </a:r>
          </a:p>
          <a:p>
            <a:r>
              <a:t>- /Users/jiangkuaixue/code/afd-plugin (current source tree; vLLM 0.26.0 pin)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/Users/jiangkuaixue/Desktop/afd-connector-base-diagram-v2.png (built-in ImageGen output)</a:t>
            </a:r>
          </a:p>
          <a:p>
            <a:r>
              <a:t>- /Users/jiangkuaixue/code/afd-plugin/afd_plugin/connectors/base.py</a:t>
            </a:r>
          </a:p>
          <a:p>
            <a:r>
              <a:t>- /Users/jiangkuaixue/code/afd-plugin/docs/design/module/connector_contracts.md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P4补充基础方案的问题总结，引导推到到下一页</a:t>
            </a:r>
            <a:br/>
            <a:r>
              <a:t>P6华为云的性能结果分析补充一些总结描述</a:t>
            </a:r>
            <a:br/>
            <a:r>
              <a:t>增加一个跟VLLM当前的配合状态，放在华为云之前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https://github.com/vllm-project/afd-plugin/pull/186</a:t>
            </a:r>
          </a:p>
          <a:p>
            <a:r>
              <a:t>https://github.com/vllm-project/afd-plugin/issues/169</a:t>
            </a:r>
          </a:p>
          <a:p>
            <a:r>
              <a:t>https://github.com/vllm-project/afd-plugin/issues/179</a:t>
            </a:r>
          </a:p>
          <a:p>
            <a:r>
              <a:t>https://github.com/vllm-project/afd-plugin/pull/191</a:t>
            </a:r>
          </a:p>
          <a:p>
            <a:r>
              <a:t>https://github.com/vllm-project/afd-plugin/issues/202</a:t>
            </a:r>
          </a:p>
          <a:p>
            <a:r>
              <a:t>https://github.com/vllm-project/afd-plugin/pull/205</a:t>
            </a:r>
          </a:p>
          <a:p>
            <a:r>
              <a:t>https://github.com/vllm-project/afd-plugin/pull/216</a:t>
            </a:r>
          </a:p>
          <a:p>
            <a:r>
              <a:t>https://github.com/vllm-project/afd-plugin/pull/222</a:t>
            </a:r>
          </a:p>
          <a:p>
            <a:r>
              <a:t>https://github.com/vllm-project/afd-plugin/issues/224</a:t>
            </a:r>
          </a:p>
          <a:p>
            <a:r>
              <a:t>https://github.com/vllm-project/afd-plugin/issues/227</a:t>
            </a:r>
          </a:p>
          <a:p>
            <a:r>
              <a:t>https://github.com/vllm-project/afd-plugin/issues/228</a:t>
            </a:r>
          </a:p>
          <a:p>
            <a:r>
              <a:t>Accessed 2026-08-12.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AFD已刷新为本次dsv4-flash-20260908-rps234批次，MBT65536，RPS2/3/4每档repeat1/2/3的客户端分位数算术均值，毫秒转秒。与final_report/summary.csv核对一致。RPS2和4各有1个请求失败，仍保留三轮，统计成功请求。EP16 DP4TP4与DP8TP2保留上一版数据，MBT=4K，属于原2026-09-07/08批次。跨批次配置比较。红色最优值按未四舍五入的均值判断。</a:t>
            </a:r>
          </a:p>
          <a:p>
            <a:r>
              <a:t>AFD来源：</a:t>
            </a:r>
          </a:p>
          <a:p>
            <a:r>
              <a:t>/Users/wentiange/afd-download/dsv4-flash-20260908-rps234/afd_dp4tp2/chunk_65536/rps_2/repeat_1/result.json</a:t>
            </a:r>
          </a:p>
          <a:p>
            <a:r>
              <a:t>/Users/wentiange/afd-download/dsv4-flash-20260908-rps234/afd_dp4tp2/chunk_65536/rps_2/repeat_2/result.json</a:t>
            </a:r>
          </a:p>
          <a:p>
            <a:r>
              <a:t>/Users/wentiange/afd-download/dsv4-flash-20260908-rps234/afd_dp4tp2/chunk_65536/rps_2/repeat_3/result.json</a:t>
            </a:r>
          </a:p>
          <a:p>
            <a:r>
              <a:t>/Users/wentiange/afd-download/dsv4-flash-20260908-rps234/afd_dp4tp2/chunk_65536/rps_3/repeat_1/result.json</a:t>
            </a:r>
          </a:p>
          <a:p>
            <a:r>
              <a:t>/Users/wentiange/afd-download/dsv4-flash-20260908-rps234/afd_dp4tp2/chunk_65536/rps_3/repeat_2/result.json</a:t>
            </a:r>
          </a:p>
          <a:p>
            <a:r>
              <a:t>/Users/wentiange/afd-download/dsv4-flash-20260908-rps234/afd_dp4tp2/chunk_65536/rps_3/repeat_3/result.json</a:t>
            </a:r>
          </a:p>
          <a:p>
            <a:r>
              <a:t>/Users/wentiange/afd-download/dsv4-flash-20260908-rps234/afd_dp4tp2/chunk_65536/rps_4/repeat_1/result.json</a:t>
            </a:r>
          </a:p>
          <a:p>
            <a:r>
              <a:t>/Users/wentiange/afd-download/dsv4-flash-20260908-rps234/afd_dp4tp2/chunk_65536/rps_4/repeat_2/result.json</a:t>
            </a:r>
          </a:p>
          <a:p>
            <a:r>
              <a:t>/Users/wentiange/afd-download/dsv4-flash-20260908-rps234/afd_dp4tp2/chunk_65536/rps_4/repeat_3/result.json</a:t>
            </a:r>
          </a:p>
          <a:p>
            <a:r>
              <a:t>EP16来源：</a:t>
            </a:r>
          </a:p>
          <a:p>
            <a:r>
              <a:t>/Users/wentiange/afd-download/afd_experiment_results_20260907_20260908/dsv4-flash-six-node-rerun-20260907/exp3_jcz_afd4/ep16_dp4tp4/chunk_4096/rps_2/repeat_1/result.json</a:t>
            </a:r>
          </a:p>
          <a:p>
            <a:r>
              <a:t>/Users/wentiange/afd-download/afd_experiment_results_20260907_20260908/dsv4-flash-six-node-rerun-20260907/exp3_jcz_afd4/ep16_dp4tp4/chunk_4096/rps_2/repeat_2/result.json</a:t>
            </a:r>
          </a:p>
          <a:p>
            <a:r>
              <a:t>/Users/wentiange/afd-download/afd_experiment_results_20260907_20260908/dsv4-flash-six-node-rerun-20260907/exp3_jcz_afd4/ep16_dp4tp4/chunk_4096/rps_2/repeat_3/result.json</a:t>
            </a:r>
          </a:p>
          <a:p>
            <a:r>
              <a:t>/Users/wentiange/afd-download/afd_experiment_results_20260907_20260908/dsv4-flash-six-node-rerun-20260907/exp3_jcz_afd4/ep16_dp4tp4/chunk_4096/rps_3/repeat_1/result.json</a:t>
            </a:r>
          </a:p>
          <a:p>
            <a:r>
              <a:t>/Users/wentiange/afd-download/afd_experiment_results_20260907_20260908/dsv4-flash-six-node-rerun-20260907/exp3_jcz_afd4/ep16_dp4tp4/chunk_4096/rps_3/repeat_2/result.json</a:t>
            </a:r>
          </a:p>
          <a:p>
            <a:r>
              <a:t>/Users/wentiange/afd-download/afd_experiment_results_20260907_20260908/dsv4-flash-six-node-rerun-20260907/exp3_jcz_afd4/ep16_dp4tp4/chunk_4096/rps_3/repeat_3/result.json</a:t>
            </a:r>
          </a:p>
          <a:p>
            <a:r>
              <a:t>/Users/wentiange/afd-download/afd_experiment_results_20260907_20260908/dsv4-flash-six-node-rerun-20260907/exp3_jcz_afd4/ep16_dp4tp4/chunk_4096/rps_4/repeat_1/result.json</a:t>
            </a:r>
          </a:p>
          <a:p>
            <a:r>
              <a:t>/Users/wentiange/afd-download/afd_experiment_results_20260907_20260908/dsv4-flash-six-node-rerun-20260907/exp3_jcz_afd4/ep16_dp4tp4/chunk_4096/rps_4/repeat_2/result.json</a:t>
            </a:r>
          </a:p>
          <a:p>
            <a:r>
              <a:t>/Users/wentiange/afd-download/afd_experiment_results_20260907_20260908/dsv4-flash-six-node-rerun-20260907/exp3_jcz_afd4/ep16_dp4tp4/chunk_4096/rps_4/repeat_3/result.json</a:t>
            </a:r>
          </a:p>
          <a:p>
            <a:r>
              <a:t>/Users/wentiange/afd-download/afd_experiment_results_20260907_20260908/dsv4-flash/exp4_ep16_dp8tp2_jcz_afd5_20260907_2348/ep16_dp8tp2/chunk_4096/rps_2/repeat_1/result.json</a:t>
            </a:r>
          </a:p>
          <a:p>
            <a:r>
              <a:t>/Users/wentiange/afd-download/afd_experiment_results_20260907_20260908/dsv4-flash/exp4_ep16_dp8tp2_jcz_afd5_20260907_2348/ep16_dp8tp2/chunk_4096/rps_2/repeat_2/result.json</a:t>
            </a:r>
          </a:p>
          <a:p>
            <a:r>
              <a:t>/Users/wentiange/afd-download/afd_experiment_results_20260907_20260908/dsv4-flash/exp4_ep16_dp8tp2_jcz_afd5_20260907_2348/ep16_dp8tp2/chunk_4096/rps_2/repeat_3/result.json</a:t>
            </a:r>
          </a:p>
          <a:p>
            <a:r>
              <a:t>/Users/wentiange/afd-download/afd_experiment_results_20260907_20260908/dsv4-flash/exp4_ep16_dp8tp2_jcz_afd5_20260907_2348/ep16_dp8tp2/chunk_4096/rps_3/repeat_1/result.json</a:t>
            </a:r>
          </a:p>
          <a:p>
            <a:r>
              <a:t>/Users/wentiange/afd-download/afd_experiment_results_20260907_20260908/dsv4-flash/exp4_ep16_dp8tp2_jcz_afd5_20260907_2348/ep16_dp8tp2/chunk_4096/rps_3/repeat_2/result.json</a:t>
            </a:r>
          </a:p>
          <a:p>
            <a:r>
              <a:t>/Users/wentiange/afd-download/afd_experiment_results_20260907_20260908/dsv4-flash/exp4_ep16_dp8tp2_jcz_afd5_20260907_2348/ep16_dp8tp2/chunk_4096/rps_3/repeat_3/result.json</a:t>
            </a:r>
          </a:p>
          <a:p>
            <a:r>
              <a:t>/Users/wentiange/afd-download/afd_experiment_results_20260907_20260908/dsv4-flash/exp4_ep16_dp8tp2_jcz_afd5_20260907_2348/ep16_dp8tp2/chunk_4096/rps_4/repeat_1/result.json</a:t>
            </a:r>
          </a:p>
          <a:p>
            <a:r>
              <a:t>/Users/wentiange/afd-download/afd_experiment_results_20260907_20260908/dsv4-flash/exp4_ep16_dp8tp2_jcz_afd5_20260907_2348/ep16_dp8tp2/chunk_4096/rps_4/repeat_2/result.json</a:t>
            </a:r>
          </a:p>
          <a:p>
            <a:r>
              <a:t>/Users/wentiange/afd-download/afd_experiment_results_20260907_20260908/dsv4-flash/exp4_ep16_dp8tp2_jcz_afd5_20260907_2348/ep16_dp8tp2/chunk_4096/rps_4/repeat_3/result.json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AFD已刷新为本次dsv4-flash-20260908-rps234批次，MBT65536，RPS2/3/4每档repeat1/2/3的客户端分位数算术均值，毫秒转秒。与final_report/summary.csv核对一致。RPS2和4各有1个请求失败，仍保留三轮，统计成功请求。EP16 DP4TP4与DP8TP2保留上一版数据，MBT=8K，属于原2026-09-07/08批次。跨批次配置比较。红色最优值按未四舍五入的均值判断。</a:t>
            </a:r>
          </a:p>
          <a:p>
            <a:r>
              <a:t>AFD来源：</a:t>
            </a:r>
          </a:p>
          <a:p>
            <a:r>
              <a:t>/Users/wentiange/afd-download/dsv4-flash-20260908-rps234/afd_dp4tp2/chunk_65536/rps_2/repeat_1/result.json</a:t>
            </a:r>
          </a:p>
          <a:p>
            <a:r>
              <a:t>/Users/wentiange/afd-download/dsv4-flash-20260908-rps234/afd_dp4tp2/chunk_65536/rps_2/repeat_2/result.json</a:t>
            </a:r>
          </a:p>
          <a:p>
            <a:r>
              <a:t>/Users/wentiange/afd-download/dsv4-flash-20260908-rps234/afd_dp4tp2/chunk_65536/rps_2/repeat_3/result.json</a:t>
            </a:r>
          </a:p>
          <a:p>
            <a:r>
              <a:t>/Users/wentiange/afd-download/dsv4-flash-20260908-rps234/afd_dp4tp2/chunk_65536/rps_3/repeat_1/result.json</a:t>
            </a:r>
          </a:p>
          <a:p>
            <a:r>
              <a:t>/Users/wentiange/afd-download/dsv4-flash-20260908-rps234/afd_dp4tp2/chunk_65536/rps_3/repeat_2/result.json</a:t>
            </a:r>
          </a:p>
          <a:p>
            <a:r>
              <a:t>/Users/wentiange/afd-download/dsv4-flash-20260908-rps234/afd_dp4tp2/chunk_65536/rps_3/repeat_3/result.json</a:t>
            </a:r>
          </a:p>
          <a:p>
            <a:r>
              <a:t>/Users/wentiange/afd-download/dsv4-flash-20260908-rps234/afd_dp4tp2/chunk_65536/rps_4/repeat_1/result.json</a:t>
            </a:r>
          </a:p>
          <a:p>
            <a:r>
              <a:t>/Users/wentiange/afd-download/dsv4-flash-20260908-rps234/afd_dp4tp2/chunk_65536/rps_4/repeat_2/result.json</a:t>
            </a:r>
          </a:p>
          <a:p>
            <a:r>
              <a:t>/Users/wentiange/afd-download/dsv4-flash-20260908-rps234/afd_dp4tp2/chunk_65536/rps_4/repeat_3/result.json</a:t>
            </a:r>
          </a:p>
          <a:p>
            <a:r>
              <a:t>EP16来源：</a:t>
            </a:r>
          </a:p>
          <a:p>
            <a:r>
              <a:t>/Users/wentiange/afd-download/afd_experiment_results_20260907_20260908/dsv4-flash-six-node-rerun-20260907/exp3_jcz_afd4/ep16_dp4tp4/chunk_8192/rps_2/repeat_1/result.json</a:t>
            </a:r>
          </a:p>
          <a:p>
            <a:r>
              <a:t>/Users/wentiange/afd-download/afd_experiment_results_20260907_20260908/dsv4-flash-six-node-rerun-20260907/exp3_jcz_afd4/ep16_dp4tp4/chunk_8192/rps_2/repeat_2/result.json</a:t>
            </a:r>
          </a:p>
          <a:p>
            <a:r>
              <a:t>/Users/wentiange/afd-download/afd_experiment_results_20260907_20260908/dsv4-flash-six-node-rerun-20260907/exp3_jcz_afd4/ep16_dp4tp4/chunk_8192/rps_2/repeat_3/result.json</a:t>
            </a:r>
          </a:p>
          <a:p>
            <a:r>
              <a:t>/Users/wentiange/afd-download/afd_experiment_results_20260907_20260908/dsv4-flash-six-node-rerun-20260907/exp3_jcz_afd4/ep16_dp4tp4/chunk_8192/rps_3/repeat_1/result.json</a:t>
            </a:r>
          </a:p>
          <a:p>
            <a:r>
              <a:t>/Users/wentiange/afd-download/afd_experiment_results_20260907_20260908/dsv4-flash-six-node-rerun-20260907/exp3_jcz_afd4/ep16_dp4tp4/chunk_8192/rps_3/repeat_2/result.json</a:t>
            </a:r>
          </a:p>
          <a:p>
            <a:r>
              <a:t>/Users/wentiange/afd-download/afd_experiment_results_20260907_20260908/dsv4-flash-six-node-rerun-20260907/exp3_jcz_afd4/ep16_dp4tp4/chunk_8192/rps_3/repeat_3/result.json</a:t>
            </a:r>
          </a:p>
          <a:p>
            <a:r>
              <a:t>/Users/wentiange/afd-download/afd_experiment_results_20260907_20260908/dsv4-flash-six-node-rerun-20260907/exp3_jcz_afd4/ep16_dp4tp4/chunk_8192/rps_4/repeat_1/result.json</a:t>
            </a:r>
          </a:p>
          <a:p>
            <a:r>
              <a:t>/Users/wentiange/afd-download/afd_experiment_results_20260907_20260908/dsv4-flash-six-node-rerun-20260907/exp3_jcz_afd4/ep16_dp4tp4/chunk_8192/rps_4/repeat_2/result.json</a:t>
            </a:r>
          </a:p>
          <a:p>
            <a:r>
              <a:t>/Users/wentiange/afd-download/afd_experiment_results_20260907_20260908/dsv4-flash-six-node-rerun-20260907/exp3_jcz_afd4/ep16_dp4tp4/chunk_8192/rps_4/repeat_3/result.json</a:t>
            </a:r>
          </a:p>
          <a:p>
            <a:r>
              <a:t>/Users/wentiange/afd-download/afd_experiment_results_20260907_20260908/dsv4-flash/exp4_ep16_dp8tp2_jcz_afd5_20260907_2348/ep16_dp8tp2/chunk_8192/rps_2/repeat_1/result.json</a:t>
            </a:r>
          </a:p>
          <a:p>
            <a:r>
              <a:t>/Users/wentiange/afd-download/afd_experiment_results_20260907_20260908/dsv4-flash/exp4_ep16_dp8tp2_jcz_afd5_20260907_2348/ep16_dp8tp2/chunk_8192/rps_2/repeat_2/result.json</a:t>
            </a:r>
          </a:p>
          <a:p>
            <a:r>
              <a:t>/Users/wentiange/afd-download/afd_experiment_results_20260907_20260908/dsv4-flash/exp4_ep16_dp8tp2_jcz_afd5_20260907_2348/ep16_dp8tp2/chunk_8192/rps_2/repeat_3/result.json</a:t>
            </a:r>
          </a:p>
          <a:p>
            <a:r>
              <a:t>/Users/wentiange/afd-download/afd_experiment_results_20260907_20260908/dsv4-flash/exp4_ep16_dp8tp2_jcz_afd5_20260907_2348/ep16_dp8tp2/chunk_8192/rps_3/repeat_1/result.json</a:t>
            </a:r>
          </a:p>
          <a:p>
            <a:r>
              <a:t>/Users/wentiange/afd-download/afd_experiment_results_20260907_20260908/dsv4-flash/exp4_ep16_dp8tp2_jcz_afd5_20260907_2348/ep16_dp8tp2/chunk_8192/rps_3/repeat_2/result.json</a:t>
            </a:r>
          </a:p>
          <a:p>
            <a:r>
              <a:t>/Users/wentiange/afd-download/afd_experiment_results_20260907_20260908/dsv4-flash/exp4_ep16_dp8tp2_jcz_afd5_20260907_2348/ep16_dp8tp2/chunk_8192/rps_3/repeat_3/result.json</a:t>
            </a:r>
          </a:p>
          <a:p>
            <a:r>
              <a:t>/Users/wentiange/afd-download/afd_experiment_results_20260907_20260908/dsv4-flash/exp4_ep16_dp8tp2_jcz_afd5_20260907_2348/ep16_dp8tp2/chunk_8192/rps_4/repeat_1/result.json</a:t>
            </a:r>
          </a:p>
          <a:p>
            <a:r>
              <a:t>/Users/wentiange/afd-download/afd_experiment_results_20260907_20260908/dsv4-flash/exp4_ep16_dp8tp2_jcz_afd5_20260907_2348/ep16_dp8tp2/chunk_8192/rps_4/repeat_2/result.json</a:t>
            </a:r>
          </a:p>
          <a:p>
            <a:r>
              <a:t>/Users/wentiange/afd-download/afd_experiment_results_20260907_20260908/dsv4-flash/exp4_ep16_dp8tp2_jcz_afd5_20260907_2348/ep16_dp8tp2/chunk_8192/rps_4/repeat_3/result.json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AFD已刷新为本次dsv4-flash-20260908-rps234批次，MBT65536，RPS2/3/4每档repeat1/2/3的客户端分位数算术均值，毫秒转秒。与final_report/summary.csv核对一致。RPS2和4各有1个请求失败，仍保留三轮，统计成功请求。EP16 DP4TP4与DP8TP2保留上一版数据，MBT=16K，属于原2026-09-07/08批次。跨批次配置比较。红色最优值按未四舍五入的均值判断。</a:t>
            </a:r>
          </a:p>
          <a:p>
            <a:r>
              <a:t>AFD来源：</a:t>
            </a:r>
          </a:p>
          <a:p>
            <a:r>
              <a:t>/Users/wentiange/afd-download/dsv4-flash-20260908-rps234/afd_dp4tp2/chunk_65536/rps_2/repeat_1/result.json</a:t>
            </a:r>
          </a:p>
          <a:p>
            <a:r>
              <a:t>/Users/wentiange/afd-download/dsv4-flash-20260908-rps234/afd_dp4tp2/chunk_65536/rps_2/repeat_2/result.json</a:t>
            </a:r>
          </a:p>
          <a:p>
            <a:r>
              <a:t>/Users/wentiange/afd-download/dsv4-flash-20260908-rps234/afd_dp4tp2/chunk_65536/rps_2/repeat_3/result.json</a:t>
            </a:r>
          </a:p>
          <a:p>
            <a:r>
              <a:t>/Users/wentiange/afd-download/dsv4-flash-20260908-rps234/afd_dp4tp2/chunk_65536/rps_3/repeat_1/result.json</a:t>
            </a:r>
          </a:p>
          <a:p>
            <a:r>
              <a:t>/Users/wentiange/afd-download/dsv4-flash-20260908-rps234/afd_dp4tp2/chunk_65536/rps_3/repeat_2/result.json</a:t>
            </a:r>
          </a:p>
          <a:p>
            <a:r>
              <a:t>/Users/wentiange/afd-download/dsv4-flash-20260908-rps234/afd_dp4tp2/chunk_65536/rps_3/repeat_3/result.json</a:t>
            </a:r>
          </a:p>
          <a:p>
            <a:r>
              <a:t>/Users/wentiange/afd-download/dsv4-flash-20260908-rps234/afd_dp4tp2/chunk_65536/rps_4/repeat_1/result.json</a:t>
            </a:r>
          </a:p>
          <a:p>
            <a:r>
              <a:t>/Users/wentiange/afd-download/dsv4-flash-20260908-rps234/afd_dp4tp2/chunk_65536/rps_4/repeat_2/result.json</a:t>
            </a:r>
          </a:p>
          <a:p>
            <a:r>
              <a:t>/Users/wentiange/afd-download/dsv4-flash-20260908-rps234/afd_dp4tp2/chunk_65536/rps_4/repeat_3/result.json</a:t>
            </a:r>
          </a:p>
          <a:p>
            <a:r>
              <a:t>EP16来源：</a:t>
            </a:r>
          </a:p>
          <a:p>
            <a:r>
              <a:t>/Users/wentiange/afd-download/afd_experiment_results_20260907_20260908/dsv4-flash-six-node-rerun-20260907/exp3_jcz_afd4/ep16_dp4tp4/chunk_16384/rps_2/repeat_1/result.json</a:t>
            </a:r>
          </a:p>
          <a:p>
            <a:r>
              <a:t>/Users/wentiange/afd-download/afd_experiment_results_20260907_20260908/dsv4-flash-six-node-rerun-20260907/exp3_jcz_afd4/ep16_dp4tp4/chunk_16384/rps_2/repeat_2/result.json</a:t>
            </a:r>
          </a:p>
          <a:p>
            <a:r>
              <a:t>/Users/wentiange/afd-download/afd_experiment_results_20260907_20260908/dsv4-flash-six-node-rerun-20260907/exp3_jcz_afd4/ep16_dp4tp4/chunk_16384/rps_2/repeat_3/result.json</a:t>
            </a:r>
          </a:p>
          <a:p>
            <a:r>
              <a:t>/Users/wentiange/afd-download/afd_experiment_results_20260907_20260908/dsv4-flash-six-node-rerun-20260907/exp3_jcz_afd4/ep16_dp4tp4/chunk_16384/rps_3/repeat_1/result.json</a:t>
            </a:r>
          </a:p>
          <a:p>
            <a:r>
              <a:t>/Users/wentiange/afd-download/afd_experiment_results_20260907_20260908/dsv4-flash-six-node-rerun-20260907/exp3_jcz_afd4/ep16_dp4tp4/chunk_16384/rps_3/repeat_2/result.json</a:t>
            </a:r>
          </a:p>
          <a:p>
            <a:r>
              <a:t>/Users/wentiange/afd-download/afd_experiment_results_20260907_20260908/dsv4-flash-six-node-rerun-20260907/exp3_jcz_afd4/ep16_dp4tp4/chunk_16384/rps_3/repeat_3/result.json</a:t>
            </a:r>
          </a:p>
          <a:p>
            <a:r>
              <a:t>/Users/wentiange/afd-download/afd_experiment_results_20260907_20260908/dsv4-flash-six-node-rerun-20260907/exp3_jcz_afd4/ep16_dp4tp4/chunk_16384/rps_4/repeat_1/result.json</a:t>
            </a:r>
          </a:p>
          <a:p>
            <a:r>
              <a:t>/Users/wentiange/afd-download/afd_experiment_results_20260907_20260908/dsv4-flash-six-node-rerun-20260907/exp3_jcz_afd4/ep16_dp4tp4/chunk_16384/rps_4/repeat_2/result.json</a:t>
            </a:r>
          </a:p>
          <a:p>
            <a:r>
              <a:t>/Users/wentiange/afd-download/afd_experiment_results_20260907_20260908/dsv4-flash-six-node-rerun-20260907/exp3_jcz_afd4/ep16_dp4tp4/chunk_16384/rps_4/repeat_3/result.json</a:t>
            </a:r>
          </a:p>
          <a:p>
            <a:r>
              <a:t>/Users/wentiange/afd-download/afd_experiment_results_20260907_20260908/dsv4-flash/exp4_ep16_dp8tp2_jcz_afd5_20260907_2348/ep16_dp8tp2/chunk_16384/rps_2/repeat_1/result.json</a:t>
            </a:r>
          </a:p>
          <a:p>
            <a:r>
              <a:t>/Users/wentiange/afd-download/afd_experiment_results_20260907_20260908/dsv4-flash/exp4_ep16_dp8tp2_jcz_afd5_20260907_2348/ep16_dp8tp2/chunk_16384/rps_2/repeat_2/result.json</a:t>
            </a:r>
          </a:p>
          <a:p>
            <a:r>
              <a:t>/Users/wentiange/afd-download/afd_experiment_results_20260907_20260908/dsv4-flash/exp4_ep16_dp8tp2_jcz_afd5_20260907_2348/ep16_dp8tp2/chunk_16384/rps_2/repeat_3/result.json</a:t>
            </a:r>
          </a:p>
          <a:p>
            <a:r>
              <a:t>/Users/wentiange/afd-download/afd_experiment_results_20260907_20260908/dsv4-flash/exp4_ep16_dp8tp2_jcz_afd5_20260907_2348/ep16_dp8tp2/chunk_16384/rps_3/repeat_1/result.json</a:t>
            </a:r>
          </a:p>
          <a:p>
            <a:r>
              <a:t>/Users/wentiange/afd-download/afd_experiment_results_20260907_20260908/dsv4-flash/exp4_ep16_dp8tp2_jcz_afd5_20260907_2348/ep16_dp8tp2/chunk_16384/rps_3/repeat_2/result.json</a:t>
            </a:r>
          </a:p>
          <a:p>
            <a:r>
              <a:t>/Users/wentiange/afd-download/afd_experiment_results_20260907_20260908/dsv4-flash/exp4_ep16_dp8tp2_jcz_afd5_20260907_2348/ep16_dp8tp2/chunk_16384/rps_3/repeat_3/result.json</a:t>
            </a:r>
          </a:p>
          <a:p>
            <a:r>
              <a:t>/Users/wentiange/afd-download/afd_experiment_results_20260907_20260908/dsv4-flash/exp4_ep16_dp8tp2_jcz_afd5_20260907_2348/ep16_dp8tp2/chunk_16384/rps_4/repeat_1/result.json</a:t>
            </a:r>
          </a:p>
          <a:p>
            <a:r>
              <a:t>/Users/wentiange/afd-download/afd_experiment_results_20260907_20260908/dsv4-flash/exp4_ep16_dp8tp2_jcz_afd5_20260907_2348/ep16_dp8tp2/chunk_16384/rps_4/repeat_2/result.json</a:t>
            </a:r>
          </a:p>
          <a:p>
            <a:r>
              <a:t>/Users/wentiange/afd-download/afd_experiment_results_20260907_20260908/dsv4-flash/exp4_ep16_dp8tp2_jcz_afd5_20260907_2348/ep16_dp8tp2/chunk_16384/rps_4/repeat_3/result.json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图源：tp2-dp-64k-throughput.png。数据源：/Users/wentiange/afd-download/dsv4-flash-20260910-rps325to5/afd_dp4tp2/chunk_65536；/Users/wentiange/afd-download/dsv4-flash-20260914/afd_dp{6,8,10,12}tp2/chunk_65536。完整来源路径和计算值见同任务目录tp2-dp-64k-data.json。DP4为单机、旧插件、FFN HCCL_BUFFSIZE=4096；DP6–12为双机、FFN HCCL_BUFFSIZE=5000。跨配置历史比较仅作趋势参考。图中误差线为重复间样本标准差。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方法参考：DistServe, arXiv:2401.09670v3, Figure 8, https://arxiv.org/pdf/2401.09670 。论文同时考察TTFT与TPOT。本页为prefill-only TTFT达标率，不复用论文数值。用户指定基准TTFT≤10秒、90%目标。每轮1536条正式请求，无warmup；错误或非正/非有限TTFT记未达标。各轮达标率算术平均，不从分位数反推。所有系列均16 NPU die，左图x=总offered RPS/16，并非实际吞吐。右图固定总RPS4，阈值=10秒×Scale。三轮的135个分位数汇总值与原第17–19页全部核对。完整文件路径与SHA256见slo-data.json。AFD源：dsv4-flash-20260908-rps234；EP16源：afd_experiment_results_20260907_20260908/dsv4-flash-six-node-rerun-20260907/exp3_jcz_afd4、dsv4-flash/exp4_ep16_dp8tp2_jcz_afd5_20260907_2348。各点完整数据：{"mbt":4096,"series":[{"name":"AFD DP4TP2 64K","rates":{"2":{"at10":99.89149305555556,"scale":[99.97829861111111,99.97829861111111,99.97829861111111,99.97829861111111,99.97829861111111,99.97829861111111,99.97829861111111,99.97829861111111,99.97829861111111,99.97829861111111,99.89149305555556,95.42100694444444],"percentiles":{"25":0.649599902681075,"50":1.1067454607691616,"90":3.43778223527285,"95":4.7976982543089735,"99":6.97718446761991},"failed":1},"3":{"at10":97.8298611111111,"scale":[100,100,100,100,100,100,100,100,100,99.91319444444444,97.8298611111111,82.16145833333333],"percentiles":{"25":1.0241084224932517,"50":1.9707925617694855,"90":6.583986029416944,"95":8.420161043138554,"99":11.059541733462058},"failed":0},"4":{"at10":62.99913194444445,"scale":[99.97829861111111,99.97829861111111,99.97829861111111,99.97829861111111,99.97829861111111,99.97829861111111,99.97829861111111,99.86979166666667,98.41579861111111,90.25607638888889,62.99913194444445,26.71440972222222],"percentiles":{"25":4.810057254469332,"50":8.406920288689435,"90":14.75990702911901,"95":16.803805825781698,"99":20.284885105489156},"failed":1}}},{"name":"EP16 DP4TP4 4K","rates":{"2":{"at10":99.76128472222221,"scale":[100,100,100,100,100,100,100,100,100,100,99.76128472222221,91.84027777777779],"percentiles":{"25":1.1112057277932763,"50":1.816377775122722,"90":4.633404955267906,"95":6.008528912129502,"99":8.301711083514002},"failed":0},"3":{"at10":96.24565972222221,"scale":[100,100,100,100,100,100,100,100,100,99.71788194444444,96.24565972222221,73.95833333333333],"percentiles":{"25":1.837532591695587,"50":3.1865838735053935,"90":7.61622683207194,"95":9.197015212538341,"99":12.909390794734165},"failed":0},"4":{"at10":9.1796875,"scale":[99.63107638888889,98.00347222222223,93.48958333333333,85.30815972222221,76.28038194444444,65.42968750000001,49.69618055555556,32.443576388888886,21.571180555555554,15.668402777777779,9.1796875,3.103298611111111],"percentiles":{"25":22.171944693972666,"50":30.074087555830676,"90":47.33734494075179,"95":51.25458312562356,"99":56.949655518122036},"failed":0}}},{"name":"EP16 DP8TP2 4K","rates":{"2":{"at10":98.74131944444444,"scale":[100,100,100,100,100,100,100,100,100,99.95659722222223,98.74131944444444,89.21440972222221],"percentiles":{"25":1.230010274099186,"50":1.9753090164934595,"90":5.124845764910181,"95":6.483921441249549,"99":10.237622215350477},"failed":0},"3":{"at10":97.69965277777779,"scale":[100,100,100,100,100,100,100,100,100,99.97829861111111,97.69965277777779,82.13975694444444],"percentiles":{"25":1.5964741279215862,"50":2.531782894705733,"90":6.214728743303567,"95":8.024309556543207,"99":11.162746429940068},"failed":0},"4":{"at10":94.7265625,"scale":[100,100,100,100,100,100,100,100,99.97829861111111,99.50086805555556,94.7265625,69.37934027777777],"percentiles":{"25":2.167761188466102,"50":3.488759712781757,"90":8.144284384790808,"95":10.185274205170572,"99":12.986161493246144},"failed":0}}}]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方法参考：DistServe, arXiv:2401.09670v3, Figure 8, https://arxiv.org/pdf/2401.09670 。论文同时考察TTFT与TPOT。本页为prefill-only TTFT达标率，不复用论文数值。用户指定基准TTFT≤10秒、90%目标。每轮1536条正式请求，无warmup；错误或非正/非有限TTFT记未达标。各轮达标率算术平均，不从分位数反推。所有系列均16 NPU die，左图x=总offered RPS/16，并非实际吞吐。右图固定总RPS4，阈值=10秒×Scale。三轮的135个分位数汇总值与原第17–19页全部核对。完整文件路径与SHA256见slo-data.json。AFD源：dsv4-flash-20260908-rps234；EP16源：afd_experiment_results_20260907_20260908/dsv4-flash-six-node-rerun-20260907/exp3_jcz_afd4、dsv4-flash/exp4_ep16_dp8tp2_jcz_afd5_20260907_2348。各点完整数据：{"mbt":8192,"series":[{"name":"AFD DP4TP2 64K","rates":{"2":{"at10":99.89149305555556,"scale":[99.97829861111111,99.97829861111111,99.97829861111111,99.97829861111111,99.97829861111111,99.97829861111111,99.97829861111111,99.97829861111111,99.97829861111111,99.97829861111111,99.89149305555556,95.42100694444444],"percentiles":{"25":0.649599902681075,"50":1.1067454607691616,"90":3.43778223527285,"95":4.7976982543089735,"99":6.97718446761991},"failed":1},"3":{"at10":97.8298611111111,"scale":[100,100,100,100,100,100,100,100,100,99.91319444444444,97.8298611111111,82.16145833333333],"percentiles":{"25":1.0241084224932517,"50":1.9707925617694855,"90":6.583986029416944,"95":8.420161043138554,"99":11.059541733462058},"failed":0},"4":{"at10":62.99913194444445,"scale":[99.97829861111111,99.97829861111111,99.97829861111111,99.97829861111111,99.97829861111111,99.97829861111111,99.97829861111111,99.86979166666667,98.41579861111111,90.25607638888889,62.99913194444445,26.71440972222222],"percentiles":{"25":4.810057254469332,"50":8.406920288689435,"90":14.75990702911901,"95":16.803805825781698,"99":20.284885105489156},"failed":1}}},{"name":"EP16 DP4TP4 8K","rates":{"2":{"at10":99.71788194444444,"scale":[100,100,100,100,100,100,100,100,100,99.97829861111111,99.71788194444444,87.84722222222221],"percentiles":{"25":1.7907607185964782,"50":2.5724083396295705,"90":5.2942909728735685,"95":6.622404955327511,"99":8.891578614215064},"failed":0},"3":{"at10":98.04687499999999,"scale":[100,100,100,100,100,100,100,100,100,99.97829861111111,98.04687499999999,71.22395833333333],"percentiles":{"25":2.57772664912045,"50":3.653233910600344,"90":7.249252452204625,"95":8.577872270718217,"99":11.05817665799211},"failed":0},"4":{"at10":62.521701388888886,"scale":[100,100,100,100,100,100,100,100,98.56770833333333,89.73524305555556,62.521701388888886,17.1875],"percentiles":{"25":5.95976707773904,"50":8.623764546588063,"90":15.062554584195217,"95":16.84744916856289,"99":20.385753283773862},"failed":0}}},{"name":"EP16 DP8TP2 8K","rates":{"2":{"at10":97.39583333333333,"scale":[100,100,100,100,100,100,100,100,100,99.89149305555556,97.39583333333333,77.03993055555556],"percentiles":{"25":2.2936930718521276,"50":3.252773870403568,"90":6.663616052207847,"95":8.250655280891806,"99":11.975677930718913},"failed":0},"3":{"at10":94.83506944444444,"scale":[100,100,100,100,100,100,100,100,100,99.43576388888889,94.83506944444444,63.020833333333336],"percentiles":{"25":3.1169630073321364,"50":4.207905201551815,"90":8.354183196400603,"95":10.071615917763362,"99":13.449840901745501},"failed":0},"4":{"at10":89.56163194444444,"scale":[100,100,100,100,100,100,100,100,99.95659722222221,98.52430555555556,89.56163194444444,48.00347222222222],"percentiles":{"25":3.733680306157718,"50":5.152407061619063,"90":10.120132042095065,"95":12.025209024005258,"99":15.901029686847105},"failed":0}}}]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方法参考：DistServe, arXiv:2401.09670v3, Figure 8, https://arxiv.org/pdf/2401.09670 。论文同时考察TTFT与TPOT。本页为prefill-only TTFT达标率，不复用论文数值。用户指定基准TTFT≤10秒、90%目标。每轮1536条正式请求，无warmup；错误或非正/非有限TTFT记未达标。各轮达标率算术平均，不从分位数反推。所有系列均16 NPU die，左图x=总offered RPS/16，并非实际吞吐。右图固定总RPS4，阈值=10秒×Scale。三轮的135个分位数汇总值与原第17–19页全部核对。完整文件路径与SHA256见slo-data.json。AFD源：dsv4-flash-20260908-rps234；EP16源：afd_experiment_results_20260907_20260908/dsv4-flash-six-node-rerun-20260907/exp3_jcz_afd4、dsv4-flash/exp4_ep16_dp8tp2_jcz_afd5_20260907_2348。各点完整数据：{"mbt":16384,"series":[{"name":"AFD DP4TP2 64K","rates":{"2":{"at10":99.89149305555556,"scale":[99.97829861111111,99.97829861111111,99.97829861111111,99.97829861111111,99.97829861111111,99.97829861111111,99.97829861111111,99.97829861111111,99.97829861111111,99.97829861111111,99.89149305555556,95.42100694444444],"percentiles":{"25":0.649599902681075,"50":1.1067454607691616,"90":3.43778223527285,"95":4.7976982543089735,"99":6.97718446761991},"failed":1},"3":{"at10":97.8298611111111,"scale":[100,100,100,100,100,100,100,100,100,99.91319444444444,97.8298611111111,82.16145833333333],"percentiles":{"25":1.0241084224932517,"50":1.9707925617694855,"90":6.583986029416944,"95":8.420161043138554,"99":11.059541733462058},"failed":0},"4":{"at10":62.99913194444445,"scale":[99.97829861111111,99.97829861111111,99.97829861111111,99.97829861111111,99.97829861111111,99.97829861111111,99.97829861111111,99.86979166666667,98.41579861111111,90.25607638888889,62.99913194444445,26.71440972222222],"percentiles":{"25":4.810057254469332,"50":8.406920288689435,"90":14.75990702911901,"95":16.803805825781698,"99":20.284885105489156},"failed":1}}},{"name":"EP16 DP4TP4 16K","rates":{"2":{"at10":96.74479166666667,"scale":[100,100,100,100,100,100,100,100,100,99.78298611111111,96.74479166666667,56.705729166666664],"percentiles":{"25":3.551767404501637,"50":4.6893975387016935,"90":7.840256173784534,"95":9.162166531818608,"99":12.012135140970361},"failed":0},"3":{"at10":91.6015625,"scale":[100,100,100,100,100,100,100,100,99.95659722222223,99.4357638888889,91.6015625,32.400173611111114],"percentiles":{"25":4.689332753730317,"50":5.8233625671515865,"90":9.599189821009835,"95":11.047861258809766,"99":14.082038091309373},"failed":0},"4":{"at10":66.29774305555556,"scale":[100,100,100,100,100,100,100,99.95659722222221,99.67447916666667,94.68315972222223,66.29774305555556,12.999131944444445],"percentiles":{"25":6.088788283057511,"50":8.401742336029807,"90":13.611160033072034,"95":15.118597842752934,"99":18.246145718544735},"failed":0}}},{"name":"EP16 DP8TP2 16K","rates":{"2":{"at10":84.30989583333333,"scale":[100,100,100,100,100,100,100,99.97829861111111,99.84809027777777,97.4392361111111,84.30989583333333,19.227430555555557],"percentiles":{"25":5.426110147265717,"50":7.06239201206093,"90":11.337681417353451,"95":13.313225952986008,"99":16.565372069987166},"failed":0},"3":{"at10":63.975694444444436,"scale":[100,100,100,100,100,99.95659722222221,99.89149305555556,99.82638888888889,98.93663194444444,92.578125,63.975694444444436,3.1684027777777777],"percentiles":{"25":7.3458586429866655,"50":8.873912262419859,"90":14.12471725186333,"95":16.088032054171588,"99":19.753332204123343},"failed":0},"4":{"at10":59.59201388888889,"scale":[100,100,100,100,100,100,100,99.91319444444444,98.69791666666667,90.88541666666666,59.59201388888889,1.0416666666666667],"percentiles":{"25":7.481995730350415,"50":9.211385090835392,"90":14.688100746522347,"95":16.659023971762508,"99":20.541766609779263},"failed":0}}}]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次实验来源：20260908-rps234（AFD64K、EP16），20260909-afd16k32k-rps234、20260909-afd8k-rps234。AFD64K及EP16每档3轮，AFD8/16/32K每档1轮。TTFT分位数为逐轮分位数均值；长度分组页使用合并三轮成功请求分位数。少量请求失败保留实验，不纳入延迟。metrics为每轮Attention API histogram before/after差分sum/count，再取三轮均值。请求级M(r)按DP rank本地batch计算，非耗时占比、空泡率或硬件效率。数据与分析来源：</a:t>
            </a:r>
          </a:p>
          <a:p>
            <a:r>
              <a:t>/Users/wentiange/afd-download/dsv4-flash-20260909-afd8k-rps234/afd_dp4tp2/chunk_8192/rps_2/repeat_1/result.json</a:t>
            </a:r>
          </a:p>
          <a:p>
            <a:r>
              <a:t>/Users/wentiange/afd-download/dsv4-flash-20260909-afd8k-rps234/afd_dp4tp2/chunk_8192/rps_3/repeat_1/result.json</a:t>
            </a:r>
          </a:p>
          <a:p>
            <a:r>
              <a:t>/Users/wentiange/afd-download/dsv4-flash-20260909-afd8k-rps234/afd_dp4tp2/chunk_8192/rps_4/repeat_1/result.json</a:t>
            </a:r>
          </a:p>
          <a:p>
            <a:r>
              <a:t>/Users/wentiange/afd-download/dsv4-flash-20260909-afd16k32k-rps234/afd_dp4tp2/chunk_16384/rps_2/repeat_1/result.json</a:t>
            </a:r>
          </a:p>
          <a:p>
            <a:r>
              <a:t>/Users/wentiange/afd-download/dsv4-flash-20260909-afd16k32k-rps234/afd_dp4tp2/chunk_16384/rps_3/repeat_1/result.json</a:t>
            </a:r>
          </a:p>
          <a:p>
            <a:r>
              <a:t>/Users/wentiange/afd-download/dsv4-flash-20260909-afd16k32k-rps234/afd_dp4tp2/chunk_16384/rps_4/repeat_1/result.json</a:t>
            </a:r>
          </a:p>
          <a:p>
            <a:r>
              <a:t>/Users/wentiange/afd-download/dsv4-flash-20260909-afd16k32k-rps234/afd_dp4tp2/chunk_32768/rps_2/repeat_1/result.json</a:t>
            </a:r>
          </a:p>
          <a:p>
            <a:r>
              <a:t>/Users/wentiange/afd-download/dsv4-flash-20260909-afd16k32k-rps234/afd_dp4tp2/chunk_32768/rps_3/repeat_1/result.json</a:t>
            </a:r>
          </a:p>
          <a:p>
            <a:r>
              <a:t>/Users/wentiange/afd-download/dsv4-flash-20260909-afd16k32k-rps234/afd_dp4tp2/chunk_32768/rps_4/repeat_1/result.json</a:t>
            </a:r>
          </a:p>
          <a:p>
            <a:r>
              <a:t>/Users/wentiange/afd-download/dsv4-flash-20260908-rps234/afd_dp4tp2/chunk_65536/rps_2/repeat_1/result.json</a:t>
            </a:r>
          </a:p>
          <a:p>
            <a:r>
              <a:t>/Users/wentiange/afd-download/dsv4-flash-20260908-rps234/afd_dp4tp2/chunk_65536/rps_2/repeat_2/result.json</a:t>
            </a:r>
          </a:p>
          <a:p>
            <a:r>
              <a:t>/Users/wentiange/afd-download/dsv4-flash-20260908-rps234/afd_dp4tp2/chunk_65536/rps_2/repeat_3/result.json</a:t>
            </a:r>
          </a:p>
          <a:p>
            <a:r>
              <a:t>/Users/wentiange/afd-download/dsv4-flash-20260908-rps234/afd_dp4tp2/chunk_65536/rps_3/repeat_1/result.json</a:t>
            </a:r>
          </a:p>
          <a:p>
            <a:r>
              <a:t>/Users/wentiange/afd-download/dsv4-flash-20260908-rps234/afd_dp4tp2/chunk_65536/rps_3/repeat_2/result.json</a:t>
            </a:r>
          </a:p>
          <a:p>
            <a:r>
              <a:t>/Users/wentiange/afd-download/dsv4-flash-20260908-rps234/afd_dp4tp2/chunk_65536/rps_3/repeat_3/result.json</a:t>
            </a:r>
          </a:p>
          <a:p>
            <a:r>
              <a:t>/Users/wentiange/afd-download/dsv4-flash-20260908-rps234/afd_dp4tp2/chunk_65536/rps_4/repeat_1/result.json</a:t>
            </a:r>
          </a:p>
          <a:p>
            <a:r>
              <a:t>/Users/wentiange/afd-download/dsv4-flash-20260908-rps234/afd_dp4tp2/chunk_65536/rps_4/repeat_2/result.json</a:t>
            </a:r>
          </a:p>
          <a:p>
            <a:r>
              <a:t>/Users/wentiange/afd-download/dsv4-flash-20260908-rps234/afd_dp4tp2/chunk_65536/rps_4/repeat_3/result.json</a:t>
            </a:r>
          </a:p>
          <a:p>
            <a:r>
              <a:t>/Users/wentiange/afd-download/dsv4-flash-20260908-rps234/ep16_dp4tp4/chunk_8192/rps_2/repeat_1/result.json</a:t>
            </a:r>
          </a:p>
          <a:p>
            <a:r>
              <a:t>/Users/wentiange/afd-download/dsv4-flash-20260908-rps234/ep16_dp4tp4/chunk_8192/rps_2/repeat_2/result.json</a:t>
            </a:r>
          </a:p>
          <a:p>
            <a:r>
              <a:t>/Users/wentiange/afd-download/dsv4-flash-20260908-rps234/ep16_dp4tp4/chunk_8192/rps_2/repeat_3/result.json</a:t>
            </a:r>
          </a:p>
          <a:p>
            <a:r>
              <a:t>/Users/wentiange/afd-download/dsv4-flash-20260908-rps234/ep16_dp4tp4/chunk_8192/rps_3/repeat_1/result.json</a:t>
            </a:r>
          </a:p>
          <a:p>
            <a:r>
              <a:t>/Users/wentiange/afd-download/dsv4-flash-20260908-rps234/ep16_dp4tp4/chunk_8192/rps_3/repeat_2/result.json</a:t>
            </a:r>
          </a:p>
          <a:p>
            <a:r>
              <a:t>/Users/wentiange/afd-download/dsv4-flash-20260908-rps234/ep16_dp4tp4/chunk_8192/rps_3/repeat_3/result.json</a:t>
            </a:r>
          </a:p>
          <a:p>
            <a:r>
              <a:t>/Users/wentiange/afd-download/dsv4-flash-20260908-rps234/ep16_dp4tp4/chunk_8192/rps_4/repeat_1/result.json</a:t>
            </a:r>
          </a:p>
          <a:p>
            <a:r>
              <a:t>/Users/wentiange/afd-download/dsv4-flash-20260908-rps234/ep16_dp4tp4/chunk_8192/rps_4/repeat_2/result.json</a:t>
            </a:r>
          </a:p>
          <a:p>
            <a:r>
              <a:t>/Users/wentiange/afd-download/dsv4-flash-20260908-rps234/ep16_dp4tp4/chunk_8192/rps_4/repeat_3/result.json</a:t>
            </a:r>
          </a:p>
          <a:p>
            <a:r>
              <a:t>/Users/wentiange/afd-download/dsv4-flash-20260908-rps234/ep16_dp4tp4/chunk_16384/rps_2/repeat_1/result.json</a:t>
            </a:r>
          </a:p>
          <a:p>
            <a:r>
              <a:t>/Users/wentiange/afd-download/dsv4-flash-20260908-rps234/ep16_dp4tp4/chunk_16384/rps_2/repeat_2/result.json</a:t>
            </a:r>
          </a:p>
          <a:p>
            <a:r>
              <a:t>/Users/wentiange/afd-download/dsv4-flash-20260908-rps234/ep16_dp4tp4/chunk_16384/rps_2/repeat_3/result.json</a:t>
            </a:r>
          </a:p>
          <a:p>
            <a:r>
              <a:t>/Users/wentiange/afd-download/dsv4-flash-20260908-rps234/ep16_dp4tp4/chunk_16384/rps_3/repeat_1/result.json</a:t>
            </a:r>
          </a:p>
          <a:p>
            <a:r>
              <a:t>/Users/wentiange/afd-download/dsv4-flash-20260908-rps234/ep16_dp4tp4/chunk_16384/rps_3/repeat_2/result.json</a:t>
            </a:r>
          </a:p>
          <a:p>
            <a:r>
              <a:t>/Users/wentiange/afd-download/dsv4-flash-20260908-rps234/ep16_dp4tp4/chunk_16384/rps_3/repeat_3/result.json</a:t>
            </a:r>
          </a:p>
          <a:p>
            <a:r>
              <a:t>/Users/wentiange/afd-download/dsv4-flash-20260908-rps234/ep16_dp4tp4/chunk_16384/rps_4/repeat_1/result.json</a:t>
            </a:r>
          </a:p>
          <a:p>
            <a:r>
              <a:t>/Users/wentiange/afd-download/dsv4-flash-20260908-rps234/ep16_dp4tp4/chunk_16384/rps_4/repeat_2/result.json</a:t>
            </a:r>
          </a:p>
          <a:p>
            <a:r>
              <a:t>/Users/wentiange/afd-download/dsv4-flash-20260908-rps234/ep16_dp4tp4/chunk_16384/rps_4/repeat_3/result.json</a:t>
            </a:r>
          </a:p>
          <a:p>
            <a:r>
              <a:t>/Users/wentiange/afd-download/dsv4-flash-20260908-rps234/ep16_dp8tp2/chunk_8192/rps_2/repeat_1/result.json</a:t>
            </a:r>
          </a:p>
          <a:p>
            <a:r>
              <a:t>/Users/wentiange/afd-download/dsv4-flash-20260908-rps234/ep16_dp8tp2/chunk_8192/rps_2/repeat_2/result.json</a:t>
            </a:r>
          </a:p>
          <a:p>
            <a:r>
              <a:t>/Users/wentiange/afd-download/dsv4-flash-20260908-rps234/ep16_dp8tp2/chunk_8192/rps_2/repeat_3/result.json</a:t>
            </a:r>
          </a:p>
          <a:p>
            <a:r>
              <a:t>/Users/wentiange/afd-download/dsv4-flash-20260908-rps234/ep16_dp8tp2/chunk_8192/rps_3/repeat_1/result.json</a:t>
            </a:r>
          </a:p>
          <a:p>
            <a:r>
              <a:t>/Users/wentiange/afd-download/dsv4-flash-20260908-rps234/ep16_dp8tp2/chunk_8192/rps_3/repeat_2/result.json</a:t>
            </a:r>
          </a:p>
          <a:p>
            <a:r>
              <a:t>/Users/wentiange/afd-download/dsv4-flash-20260908-rps234/ep16_dp8tp2/chunk_8192/rps_3/repeat_3/result.json</a:t>
            </a:r>
          </a:p>
          <a:p>
            <a:r>
              <a:t>/Users/wentiange/afd-download/dsv4-flash-20260908-rps234/ep16_dp8tp2/chunk_8192/rps_4/repeat_1/result.json</a:t>
            </a:r>
          </a:p>
          <a:p>
            <a:r>
              <a:t>/Users/wentiange/afd-download/dsv4-flash-20260908-rps234/ep16_dp8tp2/chunk_8192/rps_4/repeat_2/result.json</a:t>
            </a:r>
          </a:p>
          <a:p>
            <a:r>
              <a:t>/Users/wentiange/afd-download/dsv4-flash-20260908-rps234/ep16_dp8tp2/chunk_8192/rps_4/repeat_3/result.json</a:t>
            </a:r>
          </a:p>
          <a:p>
            <a:r>
              <a:t>/Users/wentiange/afd-download/dsv4-flash-20260908-rps234/ep16_dp8tp2/chunk_16384/rps_2/repeat_1/result.json</a:t>
            </a:r>
          </a:p>
          <a:p>
            <a:r>
              <a:t>/Users/wentiange/afd-download/dsv4-flash-20260908-rps234/ep16_dp8tp2/chunk_16384/rps_2/repeat_2/result.json</a:t>
            </a:r>
          </a:p>
          <a:p>
            <a:r>
              <a:t>/Users/wentiange/afd-download/dsv4-flash-20260908-rps234/ep16_dp8tp2/chunk_16384/rps_2/repeat_3/result.json</a:t>
            </a:r>
          </a:p>
          <a:p>
            <a:r>
              <a:t>/Users/wentiange/afd-download/dsv4-flash-20260908-rps234/ep16_dp8tp2/chunk_16384/rps_3/repeat_1/result.json</a:t>
            </a:r>
          </a:p>
          <a:p>
            <a:r>
              <a:t>/Users/wentiange/afd-download/dsv4-flash-20260908-rps234/ep16_dp8tp2/chunk_16384/rps_3/repeat_2/result.json</a:t>
            </a:r>
          </a:p>
          <a:p>
            <a:r>
              <a:t>/Users/wentiange/afd-download/dsv4-flash-20260908-rps234/ep16_dp8tp2/chunk_16384/rps_3/repeat_3/result.json</a:t>
            </a:r>
          </a:p>
          <a:p>
            <a:r>
              <a:t>/Users/wentiange/afd-download/dsv4-flash-20260908-rps234/ep16_dp8tp2/chunk_16384/rps_4/repeat_1/result.json</a:t>
            </a:r>
          </a:p>
          <a:p>
            <a:r>
              <a:t>/Users/wentiange/afd-download/dsv4-flash-20260908-rps234/ep16_dp8tp2/chunk_16384/rps_4/repeat_2/result.json</a:t>
            </a:r>
          </a:p>
          <a:p>
            <a:r>
              <a:t>/Users/wentiange/afd-download/dsv4-flash-20260908-rps234/ep16_dp8tp2/chunk_16384/rps_4/repeat_3/result.json</a:t>
            </a:r>
          </a:p>
          <a:p>
            <a:r>
              <a:t>/Users/wentiange/afd-download/dsv4-flash-20260908-rps234/afd_dp4tp2/chunk_65536/rps_3/repeat_1/metrics/attention_before.prom</a:t>
            </a:r>
          </a:p>
          <a:p>
            <a:r>
              <a:t>/Users/wentiange/afd-download/dsv4-flash-20260908-rps234/afd_dp4tp2/chunk_65536/rps_3/repeat_1/metrics/attention_after.prom</a:t>
            </a:r>
          </a:p>
          <a:p>
            <a:r>
              <a:t>/Users/wentiange/afd-download/dsv4-flash-20260908-rps234/afd_dp4tp2/chunk_65536/rps_3/repeat_2/metrics/attention_before.prom</a:t>
            </a:r>
          </a:p>
          <a:p>
            <a:r>
              <a:t>/Users/wentiange/afd-download/dsv4-flash-20260908-rps234/afd_dp4tp2/chunk_65536/rps_3/repeat_2/metrics/attention_after.prom</a:t>
            </a:r>
          </a:p>
          <a:p>
            <a:r>
              <a:t>/Users/wentiange/afd-download/dsv4-flash-20260908-rps234/afd_dp4tp2/chunk_65536/rps_3/repeat_3/metrics/attention_before.prom</a:t>
            </a:r>
          </a:p>
          <a:p>
            <a:r>
              <a:t>/Users/wentiange/afd-download/dsv4-flash-20260908-rps234/afd_dp4tp2/chunk_65536/rps_3/repeat_3/metrics/attention_after.prom</a:t>
            </a:r>
          </a:p>
          <a:p>
            <a:r>
              <a:t>/Users/wentiange/afd-download/dsv4-flash-20260908-rps234/afd_dp4tp2/chunk_65536/rps_4/repeat_1/metrics/attention_before.prom</a:t>
            </a:r>
          </a:p>
          <a:p>
            <a:r>
              <a:t>/Users/wentiange/afd-download/dsv4-flash-20260908-rps234/afd_dp4tp2/chunk_65536/rps_4/repeat_1/metrics/attention_after.prom</a:t>
            </a:r>
          </a:p>
          <a:p>
            <a:r>
              <a:t>/Users/wentiange/afd-download/dsv4-flash-20260908-rps234/afd_dp4tp2/chunk_65536/rps_4/repeat_2/metrics/attention_before.prom</a:t>
            </a:r>
          </a:p>
          <a:p>
            <a:r>
              <a:t>/Users/wentiange/afd-download/dsv4-flash-20260908-rps234/afd_dp4tp2/chunk_65536/rps_4/repeat_2/metrics/attention_after.prom</a:t>
            </a:r>
          </a:p>
          <a:p>
            <a:r>
              <a:t>/Users/wentiange/afd-download/dsv4-flash-20260908-rps234/afd_dp4tp2/chunk_65536/rps_4/repeat_3/metrics/attention_before.prom</a:t>
            </a:r>
          </a:p>
          <a:p>
            <a:r>
              <a:t>/Users/wentiange/afd-download/dsv4-flash-20260908-rps234/afd_dp4tp2/chunk_65536/rps_4/repeat_3/metrics/attention_after.prom</a:t>
            </a:r>
          </a:p>
          <a:p>
            <a:r>
              <a:t>/Users/wentiange/afd-download/dsv4-flash-20260908-afd-length-analysis/summary.csv</a:t>
            </a:r>
          </a:p>
          <a:p>
            <a:r>
              <a:t>/Users/wentiange/afd-download/dsv4-flash-20260908-afd-request-share/requests.csv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次实验来源：20260908-rps234（AFD64K、EP16），20260909-afd16k32k-rps234、20260909-afd8k-rps234。AFD64K及EP16每档3轮，AFD8/16/32K每档1轮。TTFT分位数为逐轮分位数均值；长度分组页使用合并三轮成功请求分位数。少量请求失败保留实验，不纳入延迟。metrics为每轮Attention API histogram before/after差分sum/count，再取三轮均值。请求级M(r)按DP rank本地batch计算，非耗时占比、空泡率或硬件效率。数据与分析来源：</a:t>
            </a:r>
          </a:p>
          <a:p>
            <a:r>
              <a:t>/Users/wentiange/afd-download/dsv4-flash-20260909-afd8k-rps234/afd_dp4tp2/chunk_8192/rps_2/repeat_1/result.json</a:t>
            </a:r>
          </a:p>
          <a:p>
            <a:r>
              <a:t>/Users/wentiange/afd-download/dsv4-flash-20260909-afd8k-rps234/afd_dp4tp2/chunk_8192/rps_3/repeat_1/result.json</a:t>
            </a:r>
          </a:p>
          <a:p>
            <a:r>
              <a:t>/Users/wentiange/afd-download/dsv4-flash-20260909-afd8k-rps234/afd_dp4tp2/chunk_8192/rps_4/repeat_1/result.json</a:t>
            </a:r>
          </a:p>
          <a:p>
            <a:r>
              <a:t>/Users/wentiange/afd-download/dsv4-flash-20260909-afd16k32k-rps234/afd_dp4tp2/chunk_16384/rps_2/repeat_1/result.json</a:t>
            </a:r>
          </a:p>
          <a:p>
            <a:r>
              <a:t>/Users/wentiange/afd-download/dsv4-flash-20260909-afd16k32k-rps234/afd_dp4tp2/chunk_16384/rps_3/repeat_1/result.json</a:t>
            </a:r>
          </a:p>
          <a:p>
            <a:r>
              <a:t>/Users/wentiange/afd-download/dsv4-flash-20260909-afd16k32k-rps234/afd_dp4tp2/chunk_16384/rps_4/repeat_1/result.json</a:t>
            </a:r>
          </a:p>
          <a:p>
            <a:r>
              <a:t>/Users/wentiange/afd-download/dsv4-flash-20260909-afd16k32k-rps234/afd_dp4tp2/chunk_32768/rps_2/repeat_1/result.json</a:t>
            </a:r>
          </a:p>
          <a:p>
            <a:r>
              <a:t>/Users/wentiange/afd-download/dsv4-flash-20260909-afd16k32k-rps234/afd_dp4tp2/chunk_32768/rps_3/repeat_1/result.json</a:t>
            </a:r>
          </a:p>
          <a:p>
            <a:r>
              <a:t>/Users/wentiange/afd-download/dsv4-flash-20260909-afd16k32k-rps234/afd_dp4tp2/chunk_32768/rps_4/repeat_1/result.json</a:t>
            </a:r>
          </a:p>
          <a:p>
            <a:r>
              <a:t>/Users/wentiange/afd-download/dsv4-flash-20260908-rps234/afd_dp4tp2/chunk_65536/rps_2/repeat_1/result.json</a:t>
            </a:r>
          </a:p>
          <a:p>
            <a:r>
              <a:t>/Users/wentiange/afd-download/dsv4-flash-20260908-rps234/afd_dp4tp2/chunk_65536/rps_2/repeat_2/result.json</a:t>
            </a:r>
          </a:p>
          <a:p>
            <a:r>
              <a:t>/Users/wentiange/afd-download/dsv4-flash-20260908-rps234/afd_dp4tp2/chunk_65536/rps_2/repeat_3/result.json</a:t>
            </a:r>
          </a:p>
          <a:p>
            <a:r>
              <a:t>/Users/wentiange/afd-download/dsv4-flash-20260908-rps234/afd_dp4tp2/chunk_65536/rps_3/repeat_1/result.json</a:t>
            </a:r>
          </a:p>
          <a:p>
            <a:r>
              <a:t>/Users/wentiange/afd-download/dsv4-flash-20260908-rps234/afd_dp4tp2/chunk_65536/rps_3/repeat_2/result.json</a:t>
            </a:r>
          </a:p>
          <a:p>
            <a:r>
              <a:t>/Users/wentiange/afd-download/dsv4-flash-20260908-rps234/afd_dp4tp2/chunk_65536/rps_3/repeat_3/result.json</a:t>
            </a:r>
          </a:p>
          <a:p>
            <a:r>
              <a:t>/Users/wentiange/afd-download/dsv4-flash-20260908-rps234/afd_dp4tp2/chunk_65536/rps_4/repeat_1/result.json</a:t>
            </a:r>
          </a:p>
          <a:p>
            <a:r>
              <a:t>/Users/wentiange/afd-download/dsv4-flash-20260908-rps234/afd_dp4tp2/chunk_65536/rps_4/repeat_2/result.json</a:t>
            </a:r>
          </a:p>
          <a:p>
            <a:r>
              <a:t>/Users/wentiange/afd-download/dsv4-flash-20260908-rps234/afd_dp4tp2/chunk_65536/rps_4/repeat_3/result.json</a:t>
            </a:r>
          </a:p>
          <a:p>
            <a:r>
              <a:t>/Users/wentiange/afd-download/dsv4-flash-20260908-rps234/ep16_dp4tp4/chunk_8192/rps_2/repeat_1/result.json</a:t>
            </a:r>
          </a:p>
          <a:p>
            <a:r>
              <a:t>/Users/wentiange/afd-download/dsv4-flash-20260908-rps234/ep16_dp4tp4/chunk_8192/rps_2/repeat_2/result.json</a:t>
            </a:r>
          </a:p>
          <a:p>
            <a:r>
              <a:t>/Users/wentiange/afd-download/dsv4-flash-20260908-rps234/ep16_dp4tp4/chunk_8192/rps_2/repeat_3/result.json</a:t>
            </a:r>
          </a:p>
          <a:p>
            <a:r>
              <a:t>/Users/wentiange/afd-download/dsv4-flash-20260908-rps234/ep16_dp4tp4/chunk_8192/rps_3/repeat_1/result.json</a:t>
            </a:r>
          </a:p>
          <a:p>
            <a:r>
              <a:t>/Users/wentiange/afd-download/dsv4-flash-20260908-rps234/ep16_dp4tp4/chunk_8192/rps_3/repeat_2/result.json</a:t>
            </a:r>
          </a:p>
          <a:p>
            <a:r>
              <a:t>/Users/wentiange/afd-download/dsv4-flash-20260908-rps234/ep16_dp4tp4/chunk_8192/rps_3/repeat_3/result.json</a:t>
            </a:r>
          </a:p>
          <a:p>
            <a:r>
              <a:t>/Users/wentiange/afd-download/dsv4-flash-20260908-rps234/ep16_dp4tp4/chunk_8192/rps_4/repeat_1/result.json</a:t>
            </a:r>
          </a:p>
          <a:p>
            <a:r>
              <a:t>/Users/wentiange/afd-download/dsv4-flash-20260908-rps234/ep16_dp4tp4/chunk_8192/rps_4/repeat_2/result.json</a:t>
            </a:r>
          </a:p>
          <a:p>
            <a:r>
              <a:t>/Users/wentiange/afd-download/dsv4-flash-20260908-rps234/ep16_dp4tp4/chunk_8192/rps_4/repeat_3/result.json</a:t>
            </a:r>
          </a:p>
          <a:p>
            <a:r>
              <a:t>/Users/wentiange/afd-download/dsv4-flash-20260908-rps234/ep16_dp4tp4/chunk_16384/rps_2/repeat_1/result.json</a:t>
            </a:r>
          </a:p>
          <a:p>
            <a:r>
              <a:t>/Users/wentiange/afd-download/dsv4-flash-20260908-rps234/ep16_dp4tp4/chunk_16384/rps_2/repeat_2/result.json</a:t>
            </a:r>
          </a:p>
          <a:p>
            <a:r>
              <a:t>/Users/wentiange/afd-download/dsv4-flash-20260908-rps234/ep16_dp4tp4/chunk_16384/rps_2/repeat_3/result.json</a:t>
            </a:r>
          </a:p>
          <a:p>
            <a:r>
              <a:t>/Users/wentiange/afd-download/dsv4-flash-20260908-rps234/ep16_dp4tp4/chunk_16384/rps_3/repeat_1/result.json</a:t>
            </a:r>
          </a:p>
          <a:p>
            <a:r>
              <a:t>/Users/wentiange/afd-download/dsv4-flash-20260908-rps234/ep16_dp4tp4/chunk_16384/rps_3/repeat_2/result.json</a:t>
            </a:r>
          </a:p>
          <a:p>
            <a:r>
              <a:t>/Users/wentiange/afd-download/dsv4-flash-20260908-rps234/ep16_dp4tp4/chunk_16384/rps_3/repeat_3/result.json</a:t>
            </a:r>
          </a:p>
          <a:p>
            <a:r>
              <a:t>/Users/wentiange/afd-download/dsv4-flash-20260908-rps234/ep16_dp4tp4/chunk_16384/rps_4/repeat_1/result.json</a:t>
            </a:r>
          </a:p>
          <a:p>
            <a:r>
              <a:t>/Users/wentiange/afd-download/dsv4-flash-20260908-rps234/ep16_dp4tp4/chunk_16384/rps_4/repeat_2/result.json</a:t>
            </a:r>
          </a:p>
          <a:p>
            <a:r>
              <a:t>/Users/wentiange/afd-download/dsv4-flash-20260908-rps234/ep16_dp4tp4/chunk_16384/rps_4/repeat_3/result.json</a:t>
            </a:r>
          </a:p>
          <a:p>
            <a:r>
              <a:t>/Users/wentiange/afd-download/dsv4-flash-20260908-rps234/ep16_dp8tp2/chunk_8192/rps_2/repeat_1/result.json</a:t>
            </a:r>
          </a:p>
          <a:p>
            <a:r>
              <a:t>/Users/wentiange/afd-download/dsv4-flash-20260908-rps234/ep16_dp8tp2/chunk_8192/rps_2/repeat_2/result.json</a:t>
            </a:r>
          </a:p>
          <a:p>
            <a:r>
              <a:t>/Users/wentiange/afd-download/dsv4-flash-20260908-rps234/ep16_dp8tp2/chunk_8192/rps_2/repeat_3/result.json</a:t>
            </a:r>
          </a:p>
          <a:p>
            <a:r>
              <a:t>/Users/wentiange/afd-download/dsv4-flash-20260908-rps234/ep16_dp8tp2/chunk_8192/rps_3/repeat_1/result.json</a:t>
            </a:r>
          </a:p>
          <a:p>
            <a:r>
              <a:t>/Users/wentiange/afd-download/dsv4-flash-20260908-rps234/ep16_dp8tp2/chunk_8192/rps_3/repeat_2/result.json</a:t>
            </a:r>
          </a:p>
          <a:p>
            <a:r>
              <a:t>/Users/wentiange/afd-download/dsv4-flash-20260908-rps234/ep16_dp8tp2/chunk_8192/rps_3/repeat_3/result.json</a:t>
            </a:r>
          </a:p>
          <a:p>
            <a:r>
              <a:t>/Users/wentiange/afd-download/dsv4-flash-20260908-rps234/ep16_dp8tp2/chunk_8192/rps_4/repeat_1/result.json</a:t>
            </a:r>
          </a:p>
          <a:p>
            <a:r>
              <a:t>/Users/wentiange/afd-download/dsv4-flash-20260908-rps234/ep16_dp8tp2/chunk_8192/rps_4/repeat_2/result.json</a:t>
            </a:r>
          </a:p>
          <a:p>
            <a:r>
              <a:t>/Users/wentiange/afd-download/dsv4-flash-20260908-rps234/ep16_dp8tp2/chunk_8192/rps_4/repeat_3/result.json</a:t>
            </a:r>
          </a:p>
          <a:p>
            <a:r>
              <a:t>/Users/wentiange/afd-download/dsv4-flash-20260908-rps234/ep16_dp8tp2/chunk_16384/rps_2/repeat_1/result.json</a:t>
            </a:r>
          </a:p>
          <a:p>
            <a:r>
              <a:t>/Users/wentiange/afd-download/dsv4-flash-20260908-rps234/ep16_dp8tp2/chunk_16384/rps_2/repeat_2/result.json</a:t>
            </a:r>
          </a:p>
          <a:p>
            <a:r>
              <a:t>/Users/wentiange/afd-download/dsv4-flash-20260908-rps234/ep16_dp8tp2/chunk_16384/rps_2/repeat_3/result.json</a:t>
            </a:r>
          </a:p>
          <a:p>
            <a:r>
              <a:t>/Users/wentiange/afd-download/dsv4-flash-20260908-rps234/ep16_dp8tp2/chunk_16384/rps_3/repeat_1/result.json</a:t>
            </a:r>
          </a:p>
          <a:p>
            <a:r>
              <a:t>/Users/wentiange/afd-download/dsv4-flash-20260908-rps234/ep16_dp8tp2/chunk_16384/rps_3/repeat_2/result.json</a:t>
            </a:r>
          </a:p>
          <a:p>
            <a:r>
              <a:t>/Users/wentiange/afd-download/dsv4-flash-20260908-rps234/ep16_dp8tp2/chunk_16384/rps_3/repeat_3/result.json</a:t>
            </a:r>
          </a:p>
          <a:p>
            <a:r>
              <a:t>/Users/wentiange/afd-download/dsv4-flash-20260908-rps234/ep16_dp8tp2/chunk_16384/rps_4/repeat_1/result.json</a:t>
            </a:r>
          </a:p>
          <a:p>
            <a:r>
              <a:t>/Users/wentiange/afd-download/dsv4-flash-20260908-rps234/ep16_dp8tp2/chunk_16384/rps_4/repeat_2/result.json</a:t>
            </a:r>
          </a:p>
          <a:p>
            <a:r>
              <a:t>/Users/wentiange/afd-download/dsv4-flash-20260908-rps234/ep16_dp8tp2/chunk_16384/rps_4/repeat_3/result.json</a:t>
            </a:r>
          </a:p>
          <a:p>
            <a:r>
              <a:t>/Users/wentiange/afd-download/dsv4-flash-20260908-rps234/afd_dp4tp2/chunk_65536/rps_3/repeat_1/metrics/attention_before.prom</a:t>
            </a:r>
          </a:p>
          <a:p>
            <a:r>
              <a:t>/Users/wentiange/afd-download/dsv4-flash-20260908-rps234/afd_dp4tp2/chunk_65536/rps_3/repeat_1/metrics/attention_after.prom</a:t>
            </a:r>
          </a:p>
          <a:p>
            <a:r>
              <a:t>/Users/wentiange/afd-download/dsv4-flash-20260908-rps234/afd_dp4tp2/chunk_65536/rps_3/repeat_2/metrics/attention_before.prom</a:t>
            </a:r>
          </a:p>
          <a:p>
            <a:r>
              <a:t>/Users/wentiange/afd-download/dsv4-flash-20260908-rps234/afd_dp4tp2/chunk_65536/rps_3/repeat_2/metrics/attention_after.prom</a:t>
            </a:r>
          </a:p>
          <a:p>
            <a:r>
              <a:t>/Users/wentiange/afd-download/dsv4-flash-20260908-rps234/afd_dp4tp2/chunk_65536/rps_3/repeat_3/metrics/attention_before.prom</a:t>
            </a:r>
          </a:p>
          <a:p>
            <a:r>
              <a:t>/Users/wentiange/afd-download/dsv4-flash-20260908-rps234/afd_dp4tp2/chunk_65536/rps_3/repeat_3/metrics/attention_after.prom</a:t>
            </a:r>
          </a:p>
          <a:p>
            <a:r>
              <a:t>/Users/wentiange/afd-download/dsv4-flash-20260908-rps234/afd_dp4tp2/chunk_65536/rps_4/repeat_1/metrics/attention_before.prom</a:t>
            </a:r>
          </a:p>
          <a:p>
            <a:r>
              <a:t>/Users/wentiange/afd-download/dsv4-flash-20260908-rps234/afd_dp4tp2/chunk_65536/rps_4/repeat_1/metrics/attention_after.prom</a:t>
            </a:r>
          </a:p>
          <a:p>
            <a:r>
              <a:t>/Users/wentiange/afd-download/dsv4-flash-20260908-rps234/afd_dp4tp2/chunk_65536/rps_4/repeat_2/metrics/attention_before.prom</a:t>
            </a:r>
          </a:p>
          <a:p>
            <a:r>
              <a:t>/Users/wentiange/afd-download/dsv4-flash-20260908-rps234/afd_dp4tp2/chunk_65536/rps_4/repeat_2/metrics/attention_after.prom</a:t>
            </a:r>
          </a:p>
          <a:p>
            <a:r>
              <a:t>/Users/wentiange/afd-download/dsv4-flash-20260908-rps234/afd_dp4tp2/chunk_65536/rps_4/repeat_3/metrics/attention_before.prom</a:t>
            </a:r>
          </a:p>
          <a:p>
            <a:r>
              <a:t>/Users/wentiange/afd-download/dsv4-flash-20260908-rps234/afd_dp4tp2/chunk_65536/rps_4/repeat_3/metrics/attention_after.prom</a:t>
            </a:r>
          </a:p>
          <a:p>
            <a:r>
              <a:t>/Users/wentiange/afd-download/dsv4-flash-20260908-afd-length-analysis/summary.csv</a:t>
            </a:r>
          </a:p>
          <a:p>
            <a:r>
              <a:t>/Users/wentiange/afd-download/dsv4-flash-20260908-afd-request-share/requests.csv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次实验来源：20260908-rps234（AFD64K、EP16），20260909-afd16k32k-rps234、20260909-afd8k-rps234。AFD64K及EP16每档3轮，AFD8/16/32K每档1轮。TTFT分位数为逐轮分位数均值；长度分组页使用合并三轮成功请求分位数。少量请求失败保留实验，不纳入延迟。metrics为每轮Attention API histogram before/after差分sum/count，再取三轮均值。请求级M(r)按DP rank本地batch计算，非耗时占比、空泡率或硬件效率。数据与分析来源：</a:t>
            </a:r>
          </a:p>
          <a:p>
            <a:r>
              <a:t>/Users/wentiange/afd-download/dsv4-flash-20260909-afd8k-rps234/afd_dp4tp2/chunk_8192/rps_2/repeat_1/result.json</a:t>
            </a:r>
          </a:p>
          <a:p>
            <a:r>
              <a:t>/Users/wentiange/afd-download/dsv4-flash-20260909-afd8k-rps234/afd_dp4tp2/chunk_8192/rps_3/repeat_1/result.json</a:t>
            </a:r>
          </a:p>
          <a:p>
            <a:r>
              <a:t>/Users/wentiange/afd-download/dsv4-flash-20260909-afd8k-rps234/afd_dp4tp2/chunk_8192/rps_4/repeat_1/result.json</a:t>
            </a:r>
          </a:p>
          <a:p>
            <a:r>
              <a:t>/Users/wentiange/afd-download/dsv4-flash-20260909-afd16k32k-rps234/afd_dp4tp2/chunk_16384/rps_2/repeat_1/result.json</a:t>
            </a:r>
          </a:p>
          <a:p>
            <a:r>
              <a:t>/Users/wentiange/afd-download/dsv4-flash-20260909-afd16k32k-rps234/afd_dp4tp2/chunk_16384/rps_3/repeat_1/result.json</a:t>
            </a:r>
          </a:p>
          <a:p>
            <a:r>
              <a:t>/Users/wentiange/afd-download/dsv4-flash-20260909-afd16k32k-rps234/afd_dp4tp2/chunk_16384/rps_4/repeat_1/result.json</a:t>
            </a:r>
          </a:p>
          <a:p>
            <a:r>
              <a:t>/Users/wentiange/afd-download/dsv4-flash-20260909-afd16k32k-rps234/afd_dp4tp2/chunk_32768/rps_2/repeat_1/result.json</a:t>
            </a:r>
          </a:p>
          <a:p>
            <a:r>
              <a:t>/Users/wentiange/afd-download/dsv4-flash-20260909-afd16k32k-rps234/afd_dp4tp2/chunk_32768/rps_3/repeat_1/result.json</a:t>
            </a:r>
          </a:p>
          <a:p>
            <a:r>
              <a:t>/Users/wentiange/afd-download/dsv4-flash-20260909-afd16k32k-rps234/afd_dp4tp2/chunk_32768/rps_4/repeat_1/result.json</a:t>
            </a:r>
          </a:p>
          <a:p>
            <a:r>
              <a:t>/Users/wentiange/afd-download/dsv4-flash-20260908-rps234/afd_dp4tp2/chunk_65536/rps_2/repeat_1/result.json</a:t>
            </a:r>
          </a:p>
          <a:p>
            <a:r>
              <a:t>/Users/wentiange/afd-download/dsv4-flash-20260908-rps234/afd_dp4tp2/chunk_65536/rps_2/repeat_2/result.json</a:t>
            </a:r>
          </a:p>
          <a:p>
            <a:r>
              <a:t>/Users/wentiange/afd-download/dsv4-flash-20260908-rps234/afd_dp4tp2/chunk_65536/rps_2/repeat_3/result.json</a:t>
            </a:r>
          </a:p>
          <a:p>
            <a:r>
              <a:t>/Users/wentiange/afd-download/dsv4-flash-20260908-rps234/afd_dp4tp2/chunk_65536/rps_3/repeat_1/result.json</a:t>
            </a:r>
          </a:p>
          <a:p>
            <a:r>
              <a:t>/Users/wentiange/afd-download/dsv4-flash-20260908-rps234/afd_dp4tp2/chunk_65536/rps_3/repeat_2/result.json</a:t>
            </a:r>
          </a:p>
          <a:p>
            <a:r>
              <a:t>/Users/wentiange/afd-download/dsv4-flash-20260908-rps234/afd_dp4tp2/chunk_65536/rps_3/repeat_3/result.json</a:t>
            </a:r>
          </a:p>
          <a:p>
            <a:r>
              <a:t>/Users/wentiange/afd-download/dsv4-flash-20260908-rps234/afd_dp4tp2/chunk_65536/rps_4/repeat_1/result.json</a:t>
            </a:r>
          </a:p>
          <a:p>
            <a:r>
              <a:t>/Users/wentiange/afd-download/dsv4-flash-20260908-rps234/afd_dp4tp2/chunk_65536/rps_4/repeat_2/result.json</a:t>
            </a:r>
          </a:p>
          <a:p>
            <a:r>
              <a:t>/Users/wentiange/afd-download/dsv4-flash-20260908-rps234/afd_dp4tp2/chunk_65536/rps_4/repeat_3/result.json</a:t>
            </a:r>
          </a:p>
          <a:p>
            <a:r>
              <a:t>/Users/wentiange/afd-download/dsv4-flash-20260908-rps234/ep16_dp4tp4/chunk_8192/rps_2/repeat_1/result.json</a:t>
            </a:r>
          </a:p>
          <a:p>
            <a:r>
              <a:t>/Users/wentiange/afd-download/dsv4-flash-20260908-rps234/ep16_dp4tp4/chunk_8192/rps_2/repeat_2/result.json</a:t>
            </a:r>
          </a:p>
          <a:p>
            <a:r>
              <a:t>/Users/wentiange/afd-download/dsv4-flash-20260908-rps234/ep16_dp4tp4/chunk_8192/rps_2/repeat_3/result.json</a:t>
            </a:r>
          </a:p>
          <a:p>
            <a:r>
              <a:t>/Users/wentiange/afd-download/dsv4-flash-20260908-rps234/ep16_dp4tp4/chunk_8192/rps_3/repeat_1/result.json</a:t>
            </a:r>
          </a:p>
          <a:p>
            <a:r>
              <a:t>/Users/wentiange/afd-download/dsv4-flash-20260908-rps234/ep16_dp4tp4/chunk_8192/rps_3/repeat_2/result.json</a:t>
            </a:r>
          </a:p>
          <a:p>
            <a:r>
              <a:t>/Users/wentiange/afd-download/dsv4-flash-20260908-rps234/ep16_dp4tp4/chunk_8192/rps_3/repeat_3/result.json</a:t>
            </a:r>
          </a:p>
          <a:p>
            <a:r>
              <a:t>/Users/wentiange/afd-download/dsv4-flash-20260908-rps234/ep16_dp4tp4/chunk_8192/rps_4/repeat_1/result.json</a:t>
            </a:r>
          </a:p>
          <a:p>
            <a:r>
              <a:t>/Users/wentiange/afd-download/dsv4-flash-20260908-rps234/ep16_dp4tp4/chunk_8192/rps_4/repeat_2/result.json</a:t>
            </a:r>
          </a:p>
          <a:p>
            <a:r>
              <a:t>/Users/wentiange/afd-download/dsv4-flash-20260908-rps234/ep16_dp4tp4/chunk_8192/rps_4/repeat_3/result.json</a:t>
            </a:r>
          </a:p>
          <a:p>
            <a:r>
              <a:t>/Users/wentiange/afd-download/dsv4-flash-20260908-rps234/ep16_dp4tp4/chunk_16384/rps_2/repeat_1/result.json</a:t>
            </a:r>
          </a:p>
          <a:p>
            <a:r>
              <a:t>/Users/wentiange/afd-download/dsv4-flash-20260908-rps234/ep16_dp4tp4/chunk_16384/rps_2/repeat_2/result.json</a:t>
            </a:r>
          </a:p>
          <a:p>
            <a:r>
              <a:t>/Users/wentiange/afd-download/dsv4-flash-20260908-rps234/ep16_dp4tp4/chunk_16384/rps_2/repeat_3/result.json</a:t>
            </a:r>
          </a:p>
          <a:p>
            <a:r>
              <a:t>/Users/wentiange/afd-download/dsv4-flash-20260908-rps234/ep16_dp4tp4/chunk_16384/rps_3/repeat_1/result.json</a:t>
            </a:r>
          </a:p>
          <a:p>
            <a:r>
              <a:t>/Users/wentiange/afd-download/dsv4-flash-20260908-rps234/ep16_dp4tp4/chunk_16384/rps_3/repeat_2/result.json</a:t>
            </a:r>
          </a:p>
          <a:p>
            <a:r>
              <a:t>/Users/wentiange/afd-download/dsv4-flash-20260908-rps234/ep16_dp4tp4/chunk_16384/rps_3/repeat_3/result.json</a:t>
            </a:r>
          </a:p>
          <a:p>
            <a:r>
              <a:t>/Users/wentiange/afd-download/dsv4-flash-20260908-rps234/ep16_dp4tp4/chunk_16384/rps_4/repeat_1/result.json</a:t>
            </a:r>
          </a:p>
          <a:p>
            <a:r>
              <a:t>/Users/wentiange/afd-download/dsv4-flash-20260908-rps234/ep16_dp4tp4/chunk_16384/rps_4/repeat_2/result.json</a:t>
            </a:r>
          </a:p>
          <a:p>
            <a:r>
              <a:t>/Users/wentiange/afd-download/dsv4-flash-20260908-rps234/ep16_dp4tp4/chunk_16384/rps_4/repeat_3/result.json</a:t>
            </a:r>
          </a:p>
          <a:p>
            <a:r>
              <a:t>/Users/wentiange/afd-download/dsv4-flash-20260908-rps234/ep16_dp8tp2/chunk_8192/rps_2/repeat_1/result.json</a:t>
            </a:r>
          </a:p>
          <a:p>
            <a:r>
              <a:t>/Users/wentiange/afd-download/dsv4-flash-20260908-rps234/ep16_dp8tp2/chunk_8192/rps_2/repeat_2/result.json</a:t>
            </a:r>
          </a:p>
          <a:p>
            <a:r>
              <a:t>/Users/wentiange/afd-download/dsv4-flash-20260908-rps234/ep16_dp8tp2/chunk_8192/rps_2/repeat_3/result.json</a:t>
            </a:r>
          </a:p>
          <a:p>
            <a:r>
              <a:t>/Users/wentiange/afd-download/dsv4-flash-20260908-rps234/ep16_dp8tp2/chunk_8192/rps_3/repeat_1/result.json</a:t>
            </a:r>
          </a:p>
          <a:p>
            <a:r>
              <a:t>/Users/wentiange/afd-download/dsv4-flash-20260908-rps234/ep16_dp8tp2/chunk_8192/rps_3/repeat_2/result.json</a:t>
            </a:r>
          </a:p>
          <a:p>
            <a:r>
              <a:t>/Users/wentiange/afd-download/dsv4-flash-20260908-rps234/ep16_dp8tp2/chunk_8192/rps_3/repeat_3/result.json</a:t>
            </a:r>
          </a:p>
          <a:p>
            <a:r>
              <a:t>/Users/wentiange/afd-download/dsv4-flash-20260908-rps234/ep16_dp8tp2/chunk_8192/rps_4/repeat_1/result.json</a:t>
            </a:r>
          </a:p>
          <a:p>
            <a:r>
              <a:t>/Users/wentiange/afd-download/dsv4-flash-20260908-rps234/ep16_dp8tp2/chunk_8192/rps_4/repeat_2/result.json</a:t>
            </a:r>
          </a:p>
          <a:p>
            <a:r>
              <a:t>/Users/wentiange/afd-download/dsv4-flash-20260908-rps234/ep16_dp8tp2/chunk_8192/rps_4/repeat_3/result.json</a:t>
            </a:r>
          </a:p>
          <a:p>
            <a:r>
              <a:t>/Users/wentiange/afd-download/dsv4-flash-20260908-rps234/ep16_dp8tp2/chunk_16384/rps_2/repeat_1/result.json</a:t>
            </a:r>
          </a:p>
          <a:p>
            <a:r>
              <a:t>/Users/wentiange/afd-download/dsv4-flash-20260908-rps234/ep16_dp8tp2/chunk_16384/rps_2/repeat_2/result.json</a:t>
            </a:r>
          </a:p>
          <a:p>
            <a:r>
              <a:t>/Users/wentiange/afd-download/dsv4-flash-20260908-rps234/ep16_dp8tp2/chunk_16384/rps_2/repeat_3/result.json</a:t>
            </a:r>
          </a:p>
          <a:p>
            <a:r>
              <a:t>/Users/wentiange/afd-download/dsv4-flash-20260908-rps234/ep16_dp8tp2/chunk_16384/rps_3/repeat_1/result.json</a:t>
            </a:r>
          </a:p>
          <a:p>
            <a:r>
              <a:t>/Users/wentiange/afd-download/dsv4-flash-20260908-rps234/ep16_dp8tp2/chunk_16384/rps_3/repeat_2/result.json</a:t>
            </a:r>
          </a:p>
          <a:p>
            <a:r>
              <a:t>/Users/wentiange/afd-download/dsv4-flash-20260908-rps234/ep16_dp8tp2/chunk_16384/rps_3/repeat_3/result.json</a:t>
            </a:r>
          </a:p>
          <a:p>
            <a:r>
              <a:t>/Users/wentiange/afd-download/dsv4-flash-20260908-rps234/ep16_dp8tp2/chunk_16384/rps_4/repeat_1/result.json</a:t>
            </a:r>
          </a:p>
          <a:p>
            <a:r>
              <a:t>/Users/wentiange/afd-download/dsv4-flash-20260908-rps234/ep16_dp8tp2/chunk_16384/rps_4/repeat_2/result.json</a:t>
            </a:r>
          </a:p>
          <a:p>
            <a:r>
              <a:t>/Users/wentiange/afd-download/dsv4-flash-20260908-rps234/ep16_dp8tp2/chunk_16384/rps_4/repeat_3/result.json</a:t>
            </a:r>
          </a:p>
          <a:p>
            <a:r>
              <a:t>/Users/wentiange/afd-download/dsv4-flash-20260908-rps234/afd_dp4tp2/chunk_65536/rps_3/repeat_1/metrics/attention_before.prom</a:t>
            </a:r>
          </a:p>
          <a:p>
            <a:r>
              <a:t>/Users/wentiange/afd-download/dsv4-flash-20260908-rps234/afd_dp4tp2/chunk_65536/rps_3/repeat_1/metrics/attention_after.prom</a:t>
            </a:r>
          </a:p>
          <a:p>
            <a:r>
              <a:t>/Users/wentiange/afd-download/dsv4-flash-20260908-rps234/afd_dp4tp2/chunk_65536/rps_3/repeat_2/metrics/attention_before.prom</a:t>
            </a:r>
          </a:p>
          <a:p>
            <a:r>
              <a:t>/Users/wentiange/afd-download/dsv4-flash-20260908-rps234/afd_dp4tp2/chunk_65536/rps_3/repeat_2/metrics/attention_after.prom</a:t>
            </a:r>
          </a:p>
          <a:p>
            <a:r>
              <a:t>/Users/wentiange/afd-download/dsv4-flash-20260908-rps234/afd_dp4tp2/chunk_65536/rps_3/repeat_3/metrics/attention_before.prom</a:t>
            </a:r>
          </a:p>
          <a:p>
            <a:r>
              <a:t>/Users/wentiange/afd-download/dsv4-flash-20260908-rps234/afd_dp4tp2/chunk_65536/rps_3/repeat_3/metrics/attention_after.prom</a:t>
            </a:r>
          </a:p>
          <a:p>
            <a:r>
              <a:t>/Users/wentiange/afd-download/dsv4-flash-20260908-rps234/afd_dp4tp2/chunk_65536/rps_4/repeat_1/metrics/attention_before.prom</a:t>
            </a:r>
          </a:p>
          <a:p>
            <a:r>
              <a:t>/Users/wentiange/afd-download/dsv4-flash-20260908-rps234/afd_dp4tp2/chunk_65536/rps_4/repeat_1/metrics/attention_after.prom</a:t>
            </a:r>
          </a:p>
          <a:p>
            <a:r>
              <a:t>/Users/wentiange/afd-download/dsv4-flash-20260908-rps234/afd_dp4tp2/chunk_65536/rps_4/repeat_2/metrics/attention_before.prom</a:t>
            </a:r>
          </a:p>
          <a:p>
            <a:r>
              <a:t>/Users/wentiange/afd-download/dsv4-flash-20260908-rps234/afd_dp4tp2/chunk_65536/rps_4/repeat_2/metrics/attention_after.prom</a:t>
            </a:r>
          </a:p>
          <a:p>
            <a:r>
              <a:t>/Users/wentiange/afd-download/dsv4-flash-20260908-rps234/afd_dp4tp2/chunk_65536/rps_4/repeat_3/metrics/attention_before.prom</a:t>
            </a:r>
          </a:p>
          <a:p>
            <a:r>
              <a:t>/Users/wentiange/afd-download/dsv4-flash-20260908-rps234/afd_dp4tp2/chunk_65536/rps_4/repeat_3/metrics/attention_after.prom</a:t>
            </a:r>
          </a:p>
          <a:p>
            <a:r>
              <a:t>/Users/wentiange/afd-download/dsv4-flash-20260908-afd-length-analysis/summary.csv</a:t>
            </a:r>
          </a:p>
          <a:p>
            <a:r>
              <a:t>/Users/wentiange/afd-download/dsv4-flash-20260908-afd-request-share/requests.csv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次实验来源：20260908-rps234（AFD64K、EP16），20260909-afd16k32k-rps234、20260909-afd8k-rps234。AFD64K及EP16每档3轮，AFD8/16/32K每档1轮。TTFT分位数为逐轮分位数均值；长度分组页使用合并三轮成功请求分位数。少量请求失败保留实验，不纳入延迟。metrics为每轮Attention API histogram before/after差分sum/count，再取三轮均值。请求级M(r)按DP rank本地batch计算，非耗时占比、空泡率或硬件效率。数据与分析来源：</a:t>
            </a:r>
          </a:p>
          <a:p>
            <a:r>
              <a:t>/Users/wentiange/afd-download/dsv4-flash-20260909-afd8k-rps234/afd_dp4tp2/chunk_8192/rps_2/repeat_1/result.json</a:t>
            </a:r>
          </a:p>
          <a:p>
            <a:r>
              <a:t>/Users/wentiange/afd-download/dsv4-flash-20260909-afd8k-rps234/afd_dp4tp2/chunk_8192/rps_3/repeat_1/result.json</a:t>
            </a:r>
          </a:p>
          <a:p>
            <a:r>
              <a:t>/Users/wentiange/afd-download/dsv4-flash-20260909-afd8k-rps234/afd_dp4tp2/chunk_8192/rps_4/repeat_1/result.json</a:t>
            </a:r>
          </a:p>
          <a:p>
            <a:r>
              <a:t>/Users/wentiange/afd-download/dsv4-flash-20260909-afd16k32k-rps234/afd_dp4tp2/chunk_16384/rps_2/repeat_1/result.json</a:t>
            </a:r>
          </a:p>
          <a:p>
            <a:r>
              <a:t>/Users/wentiange/afd-download/dsv4-flash-20260909-afd16k32k-rps234/afd_dp4tp2/chunk_16384/rps_3/repeat_1/result.json</a:t>
            </a:r>
          </a:p>
          <a:p>
            <a:r>
              <a:t>/Users/wentiange/afd-download/dsv4-flash-20260909-afd16k32k-rps234/afd_dp4tp2/chunk_16384/rps_4/repeat_1/result.json</a:t>
            </a:r>
          </a:p>
          <a:p>
            <a:r>
              <a:t>/Users/wentiange/afd-download/dsv4-flash-20260909-afd16k32k-rps234/afd_dp4tp2/chunk_32768/rps_2/repeat_1/result.json</a:t>
            </a:r>
          </a:p>
          <a:p>
            <a:r>
              <a:t>/Users/wentiange/afd-download/dsv4-flash-20260909-afd16k32k-rps234/afd_dp4tp2/chunk_32768/rps_3/repeat_1/result.json</a:t>
            </a:r>
          </a:p>
          <a:p>
            <a:r>
              <a:t>/Users/wentiange/afd-download/dsv4-flash-20260909-afd16k32k-rps234/afd_dp4tp2/chunk_32768/rps_4/repeat_1/result.json</a:t>
            </a:r>
          </a:p>
          <a:p>
            <a:r>
              <a:t>/Users/wentiange/afd-download/dsv4-flash-20260908-rps234/afd_dp4tp2/chunk_65536/rps_2/repeat_1/result.json</a:t>
            </a:r>
          </a:p>
          <a:p>
            <a:r>
              <a:t>/Users/wentiange/afd-download/dsv4-flash-20260908-rps234/afd_dp4tp2/chunk_65536/rps_2/repeat_2/result.json</a:t>
            </a:r>
          </a:p>
          <a:p>
            <a:r>
              <a:t>/Users/wentiange/afd-download/dsv4-flash-20260908-rps234/afd_dp4tp2/chunk_65536/rps_2/repeat_3/result.json</a:t>
            </a:r>
          </a:p>
          <a:p>
            <a:r>
              <a:t>/Users/wentiange/afd-download/dsv4-flash-20260908-rps234/afd_dp4tp2/chunk_65536/rps_3/repeat_1/result.json</a:t>
            </a:r>
          </a:p>
          <a:p>
            <a:r>
              <a:t>/Users/wentiange/afd-download/dsv4-flash-20260908-rps234/afd_dp4tp2/chunk_65536/rps_3/repeat_2/result.json</a:t>
            </a:r>
          </a:p>
          <a:p>
            <a:r>
              <a:t>/Users/wentiange/afd-download/dsv4-flash-20260908-rps234/afd_dp4tp2/chunk_65536/rps_3/repeat_3/result.json</a:t>
            </a:r>
          </a:p>
          <a:p>
            <a:r>
              <a:t>/Users/wentiange/afd-download/dsv4-flash-20260908-rps234/afd_dp4tp2/chunk_65536/rps_4/repeat_1/result.json</a:t>
            </a:r>
          </a:p>
          <a:p>
            <a:r>
              <a:t>/Users/wentiange/afd-download/dsv4-flash-20260908-rps234/afd_dp4tp2/chunk_65536/rps_4/repeat_2/result.json</a:t>
            </a:r>
          </a:p>
          <a:p>
            <a:r>
              <a:t>/Users/wentiange/afd-download/dsv4-flash-20260908-rps234/afd_dp4tp2/chunk_65536/rps_4/repeat_3/result.json</a:t>
            </a:r>
          </a:p>
          <a:p>
            <a:r>
              <a:t>/Users/wentiange/afd-download/dsv4-flash-20260908-rps234/ep16_dp4tp4/chunk_8192/rps_2/repeat_1/result.json</a:t>
            </a:r>
          </a:p>
          <a:p>
            <a:r>
              <a:t>/Users/wentiange/afd-download/dsv4-flash-20260908-rps234/ep16_dp4tp4/chunk_8192/rps_2/repeat_2/result.json</a:t>
            </a:r>
          </a:p>
          <a:p>
            <a:r>
              <a:t>/Users/wentiange/afd-download/dsv4-flash-20260908-rps234/ep16_dp4tp4/chunk_8192/rps_2/repeat_3/result.json</a:t>
            </a:r>
          </a:p>
          <a:p>
            <a:r>
              <a:t>/Users/wentiange/afd-download/dsv4-flash-20260908-rps234/ep16_dp4tp4/chunk_8192/rps_3/repeat_1/result.json</a:t>
            </a:r>
          </a:p>
          <a:p>
            <a:r>
              <a:t>/Users/wentiange/afd-download/dsv4-flash-20260908-rps234/ep16_dp4tp4/chunk_8192/rps_3/repeat_2/result.json</a:t>
            </a:r>
          </a:p>
          <a:p>
            <a:r>
              <a:t>/Users/wentiange/afd-download/dsv4-flash-20260908-rps234/ep16_dp4tp4/chunk_8192/rps_3/repeat_3/result.json</a:t>
            </a:r>
          </a:p>
          <a:p>
            <a:r>
              <a:t>/Users/wentiange/afd-download/dsv4-flash-20260908-rps234/ep16_dp4tp4/chunk_8192/rps_4/repeat_1/result.json</a:t>
            </a:r>
          </a:p>
          <a:p>
            <a:r>
              <a:t>/Users/wentiange/afd-download/dsv4-flash-20260908-rps234/ep16_dp4tp4/chunk_8192/rps_4/repeat_2/result.json</a:t>
            </a:r>
          </a:p>
          <a:p>
            <a:r>
              <a:t>/Users/wentiange/afd-download/dsv4-flash-20260908-rps234/ep16_dp4tp4/chunk_8192/rps_4/repeat_3/result.json</a:t>
            </a:r>
          </a:p>
          <a:p>
            <a:r>
              <a:t>/Users/wentiange/afd-download/dsv4-flash-20260908-rps234/ep16_dp4tp4/chunk_16384/rps_2/repeat_1/result.json</a:t>
            </a:r>
          </a:p>
          <a:p>
            <a:r>
              <a:t>/Users/wentiange/afd-download/dsv4-flash-20260908-rps234/ep16_dp4tp4/chunk_16384/rps_2/repeat_2/result.json</a:t>
            </a:r>
          </a:p>
          <a:p>
            <a:r>
              <a:t>/Users/wentiange/afd-download/dsv4-flash-20260908-rps234/ep16_dp4tp4/chunk_16384/rps_2/repeat_3/result.json</a:t>
            </a:r>
          </a:p>
          <a:p>
            <a:r>
              <a:t>/Users/wentiange/afd-download/dsv4-flash-20260908-rps234/ep16_dp4tp4/chunk_16384/rps_3/repeat_1/result.json</a:t>
            </a:r>
          </a:p>
          <a:p>
            <a:r>
              <a:t>/Users/wentiange/afd-download/dsv4-flash-20260908-rps234/ep16_dp4tp4/chunk_16384/rps_3/repeat_2/result.json</a:t>
            </a:r>
          </a:p>
          <a:p>
            <a:r>
              <a:t>/Users/wentiange/afd-download/dsv4-flash-20260908-rps234/ep16_dp4tp4/chunk_16384/rps_3/repeat_3/result.json</a:t>
            </a:r>
          </a:p>
          <a:p>
            <a:r>
              <a:t>/Users/wentiange/afd-download/dsv4-flash-20260908-rps234/ep16_dp4tp4/chunk_16384/rps_4/repeat_1/result.json</a:t>
            </a:r>
          </a:p>
          <a:p>
            <a:r>
              <a:t>/Users/wentiange/afd-download/dsv4-flash-20260908-rps234/ep16_dp4tp4/chunk_16384/rps_4/repeat_2/result.json</a:t>
            </a:r>
          </a:p>
          <a:p>
            <a:r>
              <a:t>/Users/wentiange/afd-download/dsv4-flash-20260908-rps234/ep16_dp4tp4/chunk_16384/rps_4/repeat_3/result.json</a:t>
            </a:r>
          </a:p>
          <a:p>
            <a:r>
              <a:t>/Users/wentiange/afd-download/dsv4-flash-20260908-rps234/ep16_dp8tp2/chunk_8192/rps_2/repeat_1/result.json</a:t>
            </a:r>
          </a:p>
          <a:p>
            <a:r>
              <a:t>/Users/wentiange/afd-download/dsv4-flash-20260908-rps234/ep16_dp8tp2/chunk_8192/rps_2/repeat_2/result.json</a:t>
            </a:r>
          </a:p>
          <a:p>
            <a:r>
              <a:t>/Users/wentiange/afd-download/dsv4-flash-20260908-rps234/ep16_dp8tp2/chunk_8192/rps_2/repeat_3/result.json</a:t>
            </a:r>
          </a:p>
          <a:p>
            <a:r>
              <a:t>/Users/wentiange/afd-download/dsv4-flash-20260908-rps234/ep16_dp8tp2/chunk_8192/rps_3/repeat_1/result.json</a:t>
            </a:r>
          </a:p>
          <a:p>
            <a:r>
              <a:t>/Users/wentiange/afd-download/dsv4-flash-20260908-rps234/ep16_dp8tp2/chunk_8192/rps_3/repeat_2/result.json</a:t>
            </a:r>
          </a:p>
          <a:p>
            <a:r>
              <a:t>/Users/wentiange/afd-download/dsv4-flash-20260908-rps234/ep16_dp8tp2/chunk_8192/rps_3/repeat_3/result.json</a:t>
            </a:r>
          </a:p>
          <a:p>
            <a:r>
              <a:t>/Users/wentiange/afd-download/dsv4-flash-20260908-rps234/ep16_dp8tp2/chunk_8192/rps_4/repeat_1/result.json</a:t>
            </a:r>
          </a:p>
          <a:p>
            <a:r>
              <a:t>/Users/wentiange/afd-download/dsv4-flash-20260908-rps234/ep16_dp8tp2/chunk_8192/rps_4/repeat_2/result.json</a:t>
            </a:r>
          </a:p>
          <a:p>
            <a:r>
              <a:t>/Users/wentiange/afd-download/dsv4-flash-20260908-rps234/ep16_dp8tp2/chunk_8192/rps_4/repeat_3/result.json</a:t>
            </a:r>
          </a:p>
          <a:p>
            <a:r>
              <a:t>/Users/wentiange/afd-download/dsv4-flash-20260908-rps234/ep16_dp8tp2/chunk_16384/rps_2/repeat_1/result.json</a:t>
            </a:r>
          </a:p>
          <a:p>
            <a:r>
              <a:t>/Users/wentiange/afd-download/dsv4-flash-20260908-rps234/ep16_dp8tp2/chunk_16384/rps_2/repeat_2/result.json</a:t>
            </a:r>
          </a:p>
          <a:p>
            <a:r>
              <a:t>/Users/wentiange/afd-download/dsv4-flash-20260908-rps234/ep16_dp8tp2/chunk_16384/rps_2/repeat_3/result.json</a:t>
            </a:r>
          </a:p>
          <a:p>
            <a:r>
              <a:t>/Users/wentiange/afd-download/dsv4-flash-20260908-rps234/ep16_dp8tp2/chunk_16384/rps_3/repeat_1/result.json</a:t>
            </a:r>
          </a:p>
          <a:p>
            <a:r>
              <a:t>/Users/wentiange/afd-download/dsv4-flash-20260908-rps234/ep16_dp8tp2/chunk_16384/rps_3/repeat_2/result.json</a:t>
            </a:r>
          </a:p>
          <a:p>
            <a:r>
              <a:t>/Users/wentiange/afd-download/dsv4-flash-20260908-rps234/ep16_dp8tp2/chunk_16384/rps_3/repeat_3/result.json</a:t>
            </a:r>
          </a:p>
          <a:p>
            <a:r>
              <a:t>/Users/wentiange/afd-download/dsv4-flash-20260908-rps234/ep16_dp8tp2/chunk_16384/rps_4/repeat_1/result.json</a:t>
            </a:r>
          </a:p>
          <a:p>
            <a:r>
              <a:t>/Users/wentiange/afd-download/dsv4-flash-20260908-rps234/ep16_dp8tp2/chunk_16384/rps_4/repeat_2/result.json</a:t>
            </a:r>
          </a:p>
          <a:p>
            <a:r>
              <a:t>/Users/wentiange/afd-download/dsv4-flash-20260908-rps234/ep16_dp8tp2/chunk_16384/rps_4/repeat_3/result.json</a:t>
            </a:r>
          </a:p>
          <a:p>
            <a:r>
              <a:t>/Users/wentiange/afd-download/dsv4-flash-20260908-rps234/afd_dp4tp2/chunk_65536/rps_3/repeat_1/metrics/attention_before.prom</a:t>
            </a:r>
          </a:p>
          <a:p>
            <a:r>
              <a:t>/Users/wentiange/afd-download/dsv4-flash-20260908-rps234/afd_dp4tp2/chunk_65536/rps_3/repeat_1/metrics/attention_after.prom</a:t>
            </a:r>
          </a:p>
          <a:p>
            <a:r>
              <a:t>/Users/wentiange/afd-download/dsv4-flash-20260908-rps234/afd_dp4tp2/chunk_65536/rps_3/repeat_2/metrics/attention_before.prom</a:t>
            </a:r>
          </a:p>
          <a:p>
            <a:r>
              <a:t>/Users/wentiange/afd-download/dsv4-flash-20260908-rps234/afd_dp4tp2/chunk_65536/rps_3/repeat_2/metrics/attention_after.prom</a:t>
            </a:r>
          </a:p>
          <a:p>
            <a:r>
              <a:t>/Users/wentiange/afd-download/dsv4-flash-20260908-rps234/afd_dp4tp2/chunk_65536/rps_3/repeat_3/metrics/attention_before.prom</a:t>
            </a:r>
          </a:p>
          <a:p>
            <a:r>
              <a:t>/Users/wentiange/afd-download/dsv4-flash-20260908-rps234/afd_dp4tp2/chunk_65536/rps_3/repeat_3/metrics/attention_after.prom</a:t>
            </a:r>
          </a:p>
          <a:p>
            <a:r>
              <a:t>/Users/wentiange/afd-download/dsv4-flash-20260908-rps234/afd_dp4tp2/chunk_65536/rps_4/repeat_1/metrics/attention_before.prom</a:t>
            </a:r>
          </a:p>
          <a:p>
            <a:r>
              <a:t>/Users/wentiange/afd-download/dsv4-flash-20260908-rps234/afd_dp4tp2/chunk_65536/rps_4/repeat_1/metrics/attention_after.prom</a:t>
            </a:r>
          </a:p>
          <a:p>
            <a:r>
              <a:t>/Users/wentiange/afd-download/dsv4-flash-20260908-rps234/afd_dp4tp2/chunk_65536/rps_4/repeat_2/metrics/attention_before.prom</a:t>
            </a:r>
          </a:p>
          <a:p>
            <a:r>
              <a:t>/Users/wentiange/afd-download/dsv4-flash-20260908-rps234/afd_dp4tp2/chunk_65536/rps_4/repeat_2/metrics/attention_after.prom</a:t>
            </a:r>
          </a:p>
          <a:p>
            <a:r>
              <a:t>/Users/wentiange/afd-download/dsv4-flash-20260908-rps234/afd_dp4tp2/chunk_65536/rps_4/repeat_3/metrics/attention_before.prom</a:t>
            </a:r>
          </a:p>
          <a:p>
            <a:r>
              <a:t>/Users/wentiange/afd-download/dsv4-flash-20260908-rps234/afd_dp4tp2/chunk_65536/rps_4/repeat_3/metrics/attention_after.prom</a:t>
            </a:r>
          </a:p>
          <a:p>
            <a:r>
              <a:t>/Users/wentiange/afd-download/dsv4-flash-20260908-afd-length-analysis/summary.csv</a:t>
            </a:r>
          </a:p>
          <a:p>
            <a:r>
              <a:t>/Users/wentiange/afd-download/dsv4-flash-20260908-afd-request-share/requests.csv</a:t>
            </a:r>
          </a:p>
          <a:p>
            <a:r>
              <a:t>补充DP8TP2来源：/Users/wentiange/afd-download/dsv4-flash-20260908-rps234/ep16_dp8tp2/chunk_8192/rps_{3,4}/repeat_{1,2,3}/timing_audit.json，以及对应before/after原始metrics。各轮取sum/count后求三轮均值，增量用未舍入均值相减。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次实验来源：20260908-rps234（AFD64K、EP16），20260909-afd16k32k-rps234、20260909-afd8k-rps234。AFD64K及EP16每档3轮，AFD8/16/32K每档1轮。TTFT分位数为逐轮分位数均值；长度分组页使用合并三轮成功请求分位数。少量请求失败保留实验，不纳入延迟。metrics为每轮Attention API histogram before/after差分sum/count，再取三轮均值。请求级M(r)按DP rank本地batch计算，非耗时占比、空泡率或硬件效率。数据与分析来源：</a:t>
            </a:r>
          </a:p>
          <a:p>
            <a:r>
              <a:t>/Users/wentiange/afd-download/dsv4-flash-20260909-afd8k-rps234/afd_dp4tp2/chunk_8192/rps_2/repeat_1/result.json</a:t>
            </a:r>
          </a:p>
          <a:p>
            <a:r>
              <a:t>/Users/wentiange/afd-download/dsv4-flash-20260909-afd8k-rps234/afd_dp4tp2/chunk_8192/rps_3/repeat_1/result.json</a:t>
            </a:r>
          </a:p>
          <a:p>
            <a:r>
              <a:t>/Users/wentiange/afd-download/dsv4-flash-20260909-afd8k-rps234/afd_dp4tp2/chunk_8192/rps_4/repeat_1/result.json</a:t>
            </a:r>
          </a:p>
          <a:p>
            <a:r>
              <a:t>/Users/wentiange/afd-download/dsv4-flash-20260909-afd16k32k-rps234/afd_dp4tp2/chunk_16384/rps_2/repeat_1/result.json</a:t>
            </a:r>
          </a:p>
          <a:p>
            <a:r>
              <a:t>/Users/wentiange/afd-download/dsv4-flash-20260909-afd16k32k-rps234/afd_dp4tp2/chunk_16384/rps_3/repeat_1/result.json</a:t>
            </a:r>
          </a:p>
          <a:p>
            <a:r>
              <a:t>/Users/wentiange/afd-download/dsv4-flash-20260909-afd16k32k-rps234/afd_dp4tp2/chunk_16384/rps_4/repeat_1/result.json</a:t>
            </a:r>
          </a:p>
          <a:p>
            <a:r>
              <a:t>/Users/wentiange/afd-download/dsv4-flash-20260909-afd16k32k-rps234/afd_dp4tp2/chunk_32768/rps_2/repeat_1/result.json</a:t>
            </a:r>
          </a:p>
          <a:p>
            <a:r>
              <a:t>/Users/wentiange/afd-download/dsv4-flash-20260909-afd16k32k-rps234/afd_dp4tp2/chunk_32768/rps_3/repeat_1/result.json</a:t>
            </a:r>
          </a:p>
          <a:p>
            <a:r>
              <a:t>/Users/wentiange/afd-download/dsv4-flash-20260909-afd16k32k-rps234/afd_dp4tp2/chunk_32768/rps_4/repeat_1/result.json</a:t>
            </a:r>
          </a:p>
          <a:p>
            <a:r>
              <a:t>/Users/wentiange/afd-download/dsv4-flash-20260908-rps234/afd_dp4tp2/chunk_65536/rps_2/repeat_1/result.json</a:t>
            </a:r>
          </a:p>
          <a:p>
            <a:r>
              <a:t>/Users/wentiange/afd-download/dsv4-flash-20260908-rps234/afd_dp4tp2/chunk_65536/rps_2/repeat_2/result.json</a:t>
            </a:r>
          </a:p>
          <a:p>
            <a:r>
              <a:t>/Users/wentiange/afd-download/dsv4-flash-20260908-rps234/afd_dp4tp2/chunk_65536/rps_2/repeat_3/result.json</a:t>
            </a:r>
          </a:p>
          <a:p>
            <a:r>
              <a:t>/Users/wentiange/afd-download/dsv4-flash-20260908-rps234/afd_dp4tp2/chunk_65536/rps_3/repeat_1/result.json</a:t>
            </a:r>
          </a:p>
          <a:p>
            <a:r>
              <a:t>/Users/wentiange/afd-download/dsv4-flash-20260908-rps234/afd_dp4tp2/chunk_65536/rps_3/repeat_2/result.json</a:t>
            </a:r>
          </a:p>
          <a:p>
            <a:r>
              <a:t>/Users/wentiange/afd-download/dsv4-flash-20260908-rps234/afd_dp4tp2/chunk_65536/rps_3/repeat_3/result.json</a:t>
            </a:r>
          </a:p>
          <a:p>
            <a:r>
              <a:t>/Users/wentiange/afd-download/dsv4-flash-20260908-rps234/afd_dp4tp2/chunk_65536/rps_4/repeat_1/result.json</a:t>
            </a:r>
          </a:p>
          <a:p>
            <a:r>
              <a:t>/Users/wentiange/afd-download/dsv4-flash-20260908-rps234/afd_dp4tp2/chunk_65536/rps_4/repeat_2/result.json</a:t>
            </a:r>
          </a:p>
          <a:p>
            <a:r>
              <a:t>/Users/wentiange/afd-download/dsv4-flash-20260908-rps234/afd_dp4tp2/chunk_65536/rps_4/repeat_3/result.json</a:t>
            </a:r>
          </a:p>
          <a:p>
            <a:r>
              <a:t>/Users/wentiange/afd-download/dsv4-flash-20260908-rps234/ep16_dp4tp4/chunk_8192/rps_2/repeat_1/result.json</a:t>
            </a:r>
          </a:p>
          <a:p>
            <a:r>
              <a:t>/Users/wentiange/afd-download/dsv4-flash-20260908-rps234/ep16_dp4tp4/chunk_8192/rps_2/repeat_2/result.json</a:t>
            </a:r>
          </a:p>
          <a:p>
            <a:r>
              <a:t>/Users/wentiange/afd-download/dsv4-flash-20260908-rps234/ep16_dp4tp4/chunk_8192/rps_2/repeat_3/result.json</a:t>
            </a:r>
          </a:p>
          <a:p>
            <a:r>
              <a:t>/Users/wentiange/afd-download/dsv4-flash-20260908-rps234/ep16_dp4tp4/chunk_8192/rps_3/repeat_1/result.json</a:t>
            </a:r>
          </a:p>
          <a:p>
            <a:r>
              <a:t>/Users/wentiange/afd-download/dsv4-flash-20260908-rps234/ep16_dp4tp4/chunk_8192/rps_3/repeat_2/result.json</a:t>
            </a:r>
          </a:p>
          <a:p>
            <a:r>
              <a:t>/Users/wentiange/afd-download/dsv4-flash-20260908-rps234/ep16_dp4tp4/chunk_8192/rps_3/repeat_3/result.json</a:t>
            </a:r>
          </a:p>
          <a:p>
            <a:r>
              <a:t>/Users/wentiange/afd-download/dsv4-flash-20260908-rps234/ep16_dp4tp4/chunk_8192/rps_4/repeat_1/result.json</a:t>
            </a:r>
          </a:p>
          <a:p>
            <a:r>
              <a:t>/Users/wentiange/afd-download/dsv4-flash-20260908-rps234/ep16_dp4tp4/chunk_8192/rps_4/repeat_2/result.json</a:t>
            </a:r>
          </a:p>
          <a:p>
            <a:r>
              <a:t>/Users/wentiange/afd-download/dsv4-flash-20260908-rps234/ep16_dp4tp4/chunk_8192/rps_4/repeat_3/result.json</a:t>
            </a:r>
          </a:p>
          <a:p>
            <a:r>
              <a:t>/Users/wentiange/afd-download/dsv4-flash-20260908-rps234/ep16_dp4tp4/chunk_16384/rps_2/repeat_1/result.json</a:t>
            </a:r>
          </a:p>
          <a:p>
            <a:r>
              <a:t>/Users/wentiange/afd-download/dsv4-flash-20260908-rps234/ep16_dp4tp4/chunk_16384/rps_2/repeat_2/result.json</a:t>
            </a:r>
          </a:p>
          <a:p>
            <a:r>
              <a:t>/Users/wentiange/afd-download/dsv4-flash-20260908-rps234/ep16_dp4tp4/chunk_16384/rps_2/repeat_3/result.json</a:t>
            </a:r>
          </a:p>
          <a:p>
            <a:r>
              <a:t>/Users/wentiange/afd-download/dsv4-flash-20260908-rps234/ep16_dp4tp4/chunk_16384/rps_3/repeat_1/result.json</a:t>
            </a:r>
          </a:p>
          <a:p>
            <a:r>
              <a:t>/Users/wentiange/afd-download/dsv4-flash-20260908-rps234/ep16_dp4tp4/chunk_16384/rps_3/repeat_2/result.json</a:t>
            </a:r>
          </a:p>
          <a:p>
            <a:r>
              <a:t>/Users/wentiange/afd-download/dsv4-flash-20260908-rps234/ep16_dp4tp4/chunk_16384/rps_3/repeat_3/result.json</a:t>
            </a:r>
          </a:p>
          <a:p>
            <a:r>
              <a:t>/Users/wentiange/afd-download/dsv4-flash-20260908-rps234/ep16_dp4tp4/chunk_16384/rps_4/repeat_1/result.json</a:t>
            </a:r>
          </a:p>
          <a:p>
            <a:r>
              <a:t>/Users/wentiange/afd-download/dsv4-flash-20260908-rps234/ep16_dp4tp4/chunk_16384/rps_4/repeat_2/result.json</a:t>
            </a:r>
          </a:p>
          <a:p>
            <a:r>
              <a:t>/Users/wentiange/afd-download/dsv4-flash-20260908-rps234/ep16_dp4tp4/chunk_16384/rps_4/repeat_3/result.json</a:t>
            </a:r>
          </a:p>
          <a:p>
            <a:r>
              <a:t>/Users/wentiange/afd-download/dsv4-flash-20260908-rps234/ep16_dp8tp2/chunk_8192/rps_2/repeat_1/result.json</a:t>
            </a:r>
          </a:p>
          <a:p>
            <a:r>
              <a:t>/Users/wentiange/afd-download/dsv4-flash-20260908-rps234/ep16_dp8tp2/chunk_8192/rps_2/repeat_2/result.json</a:t>
            </a:r>
          </a:p>
          <a:p>
            <a:r>
              <a:t>/Users/wentiange/afd-download/dsv4-flash-20260908-rps234/ep16_dp8tp2/chunk_8192/rps_2/repeat_3/result.json</a:t>
            </a:r>
          </a:p>
          <a:p>
            <a:r>
              <a:t>/Users/wentiange/afd-download/dsv4-flash-20260908-rps234/ep16_dp8tp2/chunk_8192/rps_3/repeat_1/result.json</a:t>
            </a:r>
          </a:p>
          <a:p>
            <a:r>
              <a:t>/Users/wentiange/afd-download/dsv4-flash-20260908-rps234/ep16_dp8tp2/chunk_8192/rps_3/repeat_2/result.json</a:t>
            </a:r>
          </a:p>
          <a:p>
            <a:r>
              <a:t>/Users/wentiange/afd-download/dsv4-flash-20260908-rps234/ep16_dp8tp2/chunk_8192/rps_3/repeat_3/result.json</a:t>
            </a:r>
          </a:p>
          <a:p>
            <a:r>
              <a:t>/Users/wentiange/afd-download/dsv4-flash-20260908-rps234/ep16_dp8tp2/chunk_8192/rps_4/repeat_1/result.json</a:t>
            </a:r>
          </a:p>
          <a:p>
            <a:r>
              <a:t>/Users/wentiange/afd-download/dsv4-flash-20260908-rps234/ep16_dp8tp2/chunk_8192/rps_4/repeat_2/result.json</a:t>
            </a:r>
          </a:p>
          <a:p>
            <a:r>
              <a:t>/Users/wentiange/afd-download/dsv4-flash-20260908-rps234/ep16_dp8tp2/chunk_8192/rps_4/repeat_3/result.json</a:t>
            </a:r>
          </a:p>
          <a:p>
            <a:r>
              <a:t>/Users/wentiange/afd-download/dsv4-flash-20260908-rps234/ep16_dp8tp2/chunk_16384/rps_2/repeat_1/result.json</a:t>
            </a:r>
          </a:p>
          <a:p>
            <a:r>
              <a:t>/Users/wentiange/afd-download/dsv4-flash-20260908-rps234/ep16_dp8tp2/chunk_16384/rps_2/repeat_2/result.json</a:t>
            </a:r>
          </a:p>
          <a:p>
            <a:r>
              <a:t>/Users/wentiange/afd-download/dsv4-flash-20260908-rps234/ep16_dp8tp2/chunk_16384/rps_2/repeat_3/result.json</a:t>
            </a:r>
          </a:p>
          <a:p>
            <a:r>
              <a:t>/Users/wentiange/afd-download/dsv4-flash-20260908-rps234/ep16_dp8tp2/chunk_16384/rps_3/repeat_1/result.json</a:t>
            </a:r>
          </a:p>
          <a:p>
            <a:r>
              <a:t>/Users/wentiange/afd-download/dsv4-flash-20260908-rps234/ep16_dp8tp2/chunk_16384/rps_3/repeat_2/result.json</a:t>
            </a:r>
          </a:p>
          <a:p>
            <a:r>
              <a:t>/Users/wentiange/afd-download/dsv4-flash-20260908-rps234/ep16_dp8tp2/chunk_16384/rps_3/repeat_3/result.json</a:t>
            </a:r>
          </a:p>
          <a:p>
            <a:r>
              <a:t>/Users/wentiange/afd-download/dsv4-flash-20260908-rps234/ep16_dp8tp2/chunk_16384/rps_4/repeat_1/result.json</a:t>
            </a:r>
          </a:p>
          <a:p>
            <a:r>
              <a:t>/Users/wentiange/afd-download/dsv4-flash-20260908-rps234/ep16_dp8tp2/chunk_16384/rps_4/repeat_2/result.json</a:t>
            </a:r>
          </a:p>
          <a:p>
            <a:r>
              <a:t>/Users/wentiange/afd-download/dsv4-flash-20260908-rps234/ep16_dp8tp2/chunk_16384/rps_4/repeat_3/result.json</a:t>
            </a:r>
          </a:p>
          <a:p>
            <a:r>
              <a:t>/Users/wentiange/afd-download/dsv4-flash-20260908-rps234/afd_dp4tp2/chunk_65536/rps_3/repeat_1/metrics/attention_before.prom</a:t>
            </a:r>
          </a:p>
          <a:p>
            <a:r>
              <a:t>/Users/wentiange/afd-download/dsv4-flash-20260908-rps234/afd_dp4tp2/chunk_65536/rps_3/repeat_1/metrics/attention_after.prom</a:t>
            </a:r>
          </a:p>
          <a:p>
            <a:r>
              <a:t>/Users/wentiange/afd-download/dsv4-flash-20260908-rps234/afd_dp4tp2/chunk_65536/rps_3/repeat_2/metrics/attention_before.prom</a:t>
            </a:r>
          </a:p>
          <a:p>
            <a:r>
              <a:t>/Users/wentiange/afd-download/dsv4-flash-20260908-rps234/afd_dp4tp2/chunk_65536/rps_3/repeat_2/metrics/attention_after.prom</a:t>
            </a:r>
          </a:p>
          <a:p>
            <a:r>
              <a:t>/Users/wentiange/afd-download/dsv4-flash-20260908-rps234/afd_dp4tp2/chunk_65536/rps_3/repeat_3/metrics/attention_before.prom</a:t>
            </a:r>
          </a:p>
          <a:p>
            <a:r>
              <a:t>/Users/wentiange/afd-download/dsv4-flash-20260908-rps234/afd_dp4tp2/chunk_65536/rps_3/repeat_3/metrics/attention_after.prom</a:t>
            </a:r>
          </a:p>
          <a:p>
            <a:r>
              <a:t>/Users/wentiange/afd-download/dsv4-flash-20260908-rps234/afd_dp4tp2/chunk_65536/rps_4/repeat_1/metrics/attention_before.prom</a:t>
            </a:r>
          </a:p>
          <a:p>
            <a:r>
              <a:t>/Users/wentiange/afd-download/dsv4-flash-20260908-rps234/afd_dp4tp2/chunk_65536/rps_4/repeat_1/metrics/attention_after.prom</a:t>
            </a:r>
          </a:p>
          <a:p>
            <a:r>
              <a:t>/Users/wentiange/afd-download/dsv4-flash-20260908-rps234/afd_dp4tp2/chunk_65536/rps_4/repeat_2/metrics/attention_before.prom</a:t>
            </a:r>
          </a:p>
          <a:p>
            <a:r>
              <a:t>/Users/wentiange/afd-download/dsv4-flash-20260908-rps234/afd_dp4tp2/chunk_65536/rps_4/repeat_2/metrics/attention_after.prom</a:t>
            </a:r>
          </a:p>
          <a:p>
            <a:r>
              <a:t>/Users/wentiange/afd-download/dsv4-flash-20260908-rps234/afd_dp4tp2/chunk_65536/rps_4/repeat_3/metrics/attention_before.prom</a:t>
            </a:r>
          </a:p>
          <a:p>
            <a:r>
              <a:t>/Users/wentiange/afd-download/dsv4-flash-20260908-rps234/afd_dp4tp2/chunk_65536/rps_4/repeat_3/metrics/attention_after.prom</a:t>
            </a:r>
          </a:p>
          <a:p>
            <a:r>
              <a:t>/Users/wentiange/afd-download/dsv4-flash-20260908-afd-length-analysis/summary.csv</a:t>
            </a:r>
          </a:p>
          <a:p>
            <a:r>
              <a:t>/Users/wentiange/afd-download/dsv4-flash-20260908-afd-request-share/requests.csv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下一步围绕 FFN 的同步、入图和通信控核开销开展优化。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新增TP4同RPS比较；原矩阵AFD64K使用token split ON、layered GMM ON、FFN FULL。</a:t>
            </a:r>
          </a:p>
          <a:p>
            <a:r>
              <a:t>数据：/home/nielinfeng/afd-download/dsv4-flash-w4a8/tp4_report_20261009/all_group_results.csv</a:t>
            </a:r>
          </a:p>
          <a:p>
            <a:r>
              <a:t>数据SHA256：54674776e223d95abc06200b1a9a2355c111140081a7a9c2138a8e301f1f24a9</a:t>
            </a:r>
          </a:p>
          <a:p>
            <a:r>
              <a:t>全部值为三轮统计量均值；不是混合逐请求分位数，也不是同机跨方案消融。</a:t>
            </a:r>
          </a:p>
          <a:p>
            <a:r>
              <a:t>基线EP4=4个DP1TP4EP4、EP8=2个DP2TP4EP8、EP16=DP4TP4EP16；均16die。</a:t>
            </a:r>
          </a:p>
          <a:p>
            <a:r>
              <a:t>AFD 64K: {"family": "AFD / 大EP 主矩阵", "topology": "AFD A:DP3TP4 / F:EP4", "mbt": "65536", "rps": "2.0", "mode": "split", "runs": "3", "layer_gmm": "ON", "ffn_graph": "FULL", "memory": "0.7", "evidence": "原始逐请求重算", "qps": "1.988624739687901", "qps_std": "0.00010306562999969647", "qps_n": "3", "mean": "1.2823346936141509", "mean_std": "0.010170411538325349", "mean_n": "3", "p25": "0.451674560084939", "p25_std": "0.0025299902222388087", "p25_n": "3", "p50": "0.8135426109656692", "p50_std": "0.016924288802781743", "p50_n": "3", "p75": "1.6530190932874878", "p75_std": "0.013335260847311193", "p75_n": "3", "p90": "2.86460497820129", "p90_std": "0.023996750081315254", "p90_n": "3", "p95": "3.751375253777951", "p95_std": "0.039791094179029214", "p95_n": "3", "p99": "6.084228590286029", "p99_std": "0.12835741093342634", "p99_n": "3", "p99.9": "8.602214774380686", "p99.9_std": "0.06199782201159109", "p99.9_n": "3", "success": "4608", "failed": "0"}</a:t>
            </a:r>
          </a:p>
          <a:p>
            <a:r>
              <a:t>4×EP4 8K: {"family": "AFD / 大EP 主矩阵", "topology": "4×EP4 DP1TP4", "mbt": "8192", "rps": "2.0", "mode": "full-model", "runs": "3", "layer_gmm": "N/A", "ffn_graph": "EAGER", "memory": "0.9", "evidence": "原始逐请求重算", "qps": "1.9884223146600692", "qps_std": "0.002965984074370013", "qps_n": "3", "mean": "1.2629997613698327", "mean_std": "0.014201612139130775", "mean_n": "3", "p25": "0.3731816156456868", "p25_std": "0.002918794664205914", "p25_n": "3", "p50": "0.8247481494521102", "p50_std": "0.04399655531307145", "p50_n": "3", "p75": "1.7776400504323344", "p75_std": "0.013103521381507402", "p75_n": "3", "p90": "2.927965944943329", "p90_std": "0.012567696183486809", "p90_n": "3", "p95": "3.7385222002243004", "p95_std": "0.06102516355819375", "p95_n": "3", "p99": "5.949482865817862", "p99_std": "0.09125846119611936", "p99_n": "3", "p99.9": "6.467180530379209", "p99.9_std": "0.016199015516566002", "p99.9_n": "3", "success": "4608", "failed": "0"}</a:t>
            </a:r>
          </a:p>
          <a:p>
            <a:r>
              <a:t>2×EP8 8K: {"family": "AFD / 大EP 主矩阵", "topology": "2×EP8 DP2TP4", "mbt": "8192", "rps": "2.0", "mode": "full-model", "runs": "3", "layer_gmm": "N/A", "ffn_graph": "EAGER", "memory": "0.9", "evidence": "原始逐请求重算", "qps": "1.9777657806981135", "qps_std": "0.0021142499142137706", "qps_n": "3", "mean": "2.2584500201058595", "mean_std": "0.06589096274235935", "mean_n": "3", "p25": "1.0758659859808783", "p25_std": "0.044548657389500944", "p25_n": "3", "p50": "1.8688688091933727", "p50_std": "0.06785944075570095", "p50_n": "3", "p75": "3.0061512406294546", "p75_std": "0.08023731448742037", "p75_n": "3", "p90": "4.464118697370092", "p90_std": "0.14184141127706154", "p90_n": "3", "p95": "5.6451589603287475", "p95_std": "0.1268644779011593", "p95_n": "3", "p99": "7.696963504112019", "p99_std": "0.16996276508995115", "p99_n": "3", "p99.9": "9.553214065687085", "p99.9_std": "0.36999942007334025", "p99.9_n": "3", "success": "4608", "failed": "0"}</a:t>
            </a:r>
          </a:p>
          <a:p>
            <a:r>
              <a:t>EP16 8K: {"family": "AFD / 大EP 主矩阵", "topology": "EP16 DP4TP4", "mbt": "8192", "rps": "2.0", "mode": "full-model", "runs": "3", "layer_gmm": "N/A", "ffn_graph": "EAGER", "memory": "0.7", "evidence": "原始逐请求重算", "qps": "1.9794818973359412", "qps_std": "0.0035018911437541198", "qps_n": "3", "mean": "3.6349223990364408", "mean_std": "0.08229474212874895", "mean_n": "3", "p25": "2.321248658311864", "p25_std": "0.05420358651139329", "p25_n": "3", "p50": "3.171539602180322", "p50_std": "0.07146354614512425", "p50_n": "3", "p75": "4.476920648788412", "p75_std": "0.11740129573627575", "p75_n": "3", "p90": "6.250040008376042", "p90_std": "0.17738736698718585", "p90_n": "3", "p95": "7.537594998255372", "p95_std": "0.34008370082064054", "p95_n": "3", "p99": "10.120470608801895", "p99_std": "0.2819458513071849", "p99_n": "3", "p99.9": "13.130027715905243", "p99.9_std": "0.3521250972331267", "p99.9_n": "3", "success": "4608", "failed": "0"}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新增TP4同RPS比较；原矩阵AFD64K使用token split ON、layered GMM ON、FFN FULL。</a:t>
            </a:r>
          </a:p>
          <a:p>
            <a:r>
              <a:t>数据：/home/nielinfeng/afd-download/dsv4-flash-w4a8/tp4_report_20261009/all_group_results.csv</a:t>
            </a:r>
          </a:p>
          <a:p>
            <a:r>
              <a:t>数据SHA256：54674776e223d95abc06200b1a9a2355c111140081a7a9c2138a8e301f1f24a9</a:t>
            </a:r>
          </a:p>
          <a:p>
            <a:r>
              <a:t>全部值为三轮统计量均值；不是混合逐请求分位数，也不是同机跨方案消融。</a:t>
            </a:r>
          </a:p>
          <a:p>
            <a:r>
              <a:t>基线EP4=4个DP1TP4EP4、EP8=2个DP2TP4EP8、EP16=DP4TP4EP16；均16die。</a:t>
            </a:r>
          </a:p>
          <a:p>
            <a:r>
              <a:t>AFD 64K: {"family": "AFD / 大EP 主矩阵", "topology": "AFD A:DP3TP4 / F:EP4", "mbt": "65536", "rps": "3.0", "mode": "split", "runs": "3", "layer_gmm": "ON", "ffn_graph": "FULL", "memory": "0.7", "evidence": "原始逐请求重算", "qps": "2.966281717256644", "qps_std": "0.0029151937216875612", "qps_n": "3", "mean": "2.242276313817477", "mean_std": "0.03286884120511202", "mean_n": "3", "p25": "0.731251559065034", "p25_std": "0.024417072417774764", "p25_n": "3", "p50": "1.6245619437346857", "p50_std": "0.013445239284976204", "p50_n": "3", "p75": "3.167242770238469", "p75_std": "0.06194683024512624", "p75_n": "3", "p90": "5.12873287529995", "p90_std": "0.047516187169439096", "p90_n": "3", "p95": "6.271160423755646", "p95_std": "0.25970168181132813", "p95_n": "3", "p99": "8.107771077683823", "p99_std": "0.48396191618734075", "p99_n": "3", "p99.9": "10.07447369248667", "p99.9_std": "0.6558236525681806", "p99.9_n": "3", "success": "4607", "failed": "1"}</a:t>
            </a:r>
          </a:p>
          <a:p>
            <a:r>
              <a:t>4×EP4 8K: {"family": "AFD / 大EP 主矩阵", "topology": "4×EP4 DP1TP4", "mbt": "8192", "rps": "3.0", "mode": "full-model", "runs": "3", "layer_gmm": "N/A", "ffn_graph": "EAGER", "memory": "0.9", "evidence": "原始逐请求重算", "qps": "2.962205568516389", "qps_std": "0.00739051886784956", "qps_n": "3", "mean": "1.7301459112722013", "mean_std": "0.03225421473796037", "mean_n": "3", "p25": "0.51651247497648", "p25_std": "0.018233590339346482", "p25_n": "3", "p50": "1.2564860343312223", "p50_std": "0.043589568967308756", "p50_n": "3", "p75": "2.42120417393744", "p75_std": "0.021747541216062417", "p75_n": "3", "p90": "3.810725108409921", "p90_std": "0.04172423901680061", "p90_n": "3", "p95": "5.00418848823756", "p95_std": "0.2364169239181168", "p95_n": "3", "p99": "6.745017628185452", "p99_std": "0.27685777644383514", "p99_n": "3", "p99.9": "8.07763270671785", "p99.9_std": "0.8721533031856907", "p99.9_n": "3", "success": "4608", "failed": "0"}</a:t>
            </a:r>
          </a:p>
          <a:p>
            <a:r>
              <a:t>2×EP8 8K: {"family": "AFD / 大EP 主矩阵", "topology": "2×EP8 DP2TP4", "mbt": "8192", "rps": "3.0", "mode": "full-model", "runs": "3", "layer_gmm": "N/A", "ffn_graph": "EAGER", "memory": "0.9", "evidence": "原始逐请求重算", "qps": "2.9421369187007413", "qps_std": "0.004830359828070807", "qps_n": "3", "mean": "3.677348897406773", "mean_std": "0.10423985948475702", "mean_n": "3", "p25": "2.1067303557259343", "p25_std": "0.06974511438682549", "p25_n": "3", "p50": "3.181424382763604", "p50_std": "0.1050422134610696", "p50_n": "3", "p75": "4.756990122919281", "p75_std": "0.1375870286989066", "p75_n": "3", "p90": "6.717952077277005", "p90_std": "0.04324692192936557", "p90_n": "3", "p95": "8.010685940117886", "p95_std": "0.1175541781072152", "p95_n": "3", "p99": "10.477637495597206", "p99_std": "0.6197775526564644", "p99_n": "3", "p99.9": "13.916817851584986", "p99.9_std": "0.10969835621019307", "p99.9_n": "3", "success": "4608", "failed": "0"}</a:t>
            </a:r>
          </a:p>
          <a:p>
            <a:r>
              <a:t>EP16 8K: {"family": "AFD / 大EP 主矩阵", "topology": "EP16 DP4TP4", "mbt": "8192", "rps": "3.0", "mode": "full-model", "runs": "3", "layer_gmm": "N/A", "ffn_graph": "EAGER", "memory": "0.7", "evidence": "原始逐请求重算", "qps": "2.939419120309089", "qps_std": "0.010852121999543975", "qps_n": "3", "mean": "4.879156789670983", "mean_std": "0.2516888149056419", "mean_n": "3", "p25": "3.1119579602964222", "p25_std": "0.1326498916852857", "p25_n": "3", "p50": "4.411507967549066", "p50_std": "0.25872329002806704", "p50_n": "3", "p75": "6.053055223543197", "p75_std": "0.3446718714476421", "p75_n": "3", "p90": "8.050450572185218", "p90_std": "0.4478375915308329", "p90_n": "3", "p95": "9.279241816699503", "p95_std": "0.5374253102914864", "p95_n": "3", "p99": "11.986870356357349", "p99_std": "0.7866594987274909", "p99_n": "3", "p99.9": "14.972793665507126", "p99.9_std": "0.5009933508931522", "p99.9_n": "3", "success": "4607", "failed": "1"}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新增TP4同RPS比较；原矩阵AFD64K使用token split ON、layered GMM ON、FFN FULL。</a:t>
            </a:r>
          </a:p>
          <a:p>
            <a:r>
              <a:t>数据：/home/nielinfeng/afd-download/dsv4-flash-w4a8/tp4_report_20261009/all_group_results.csv</a:t>
            </a:r>
          </a:p>
          <a:p>
            <a:r>
              <a:t>数据SHA256：54674776e223d95abc06200b1a9a2355c111140081a7a9c2138a8e301f1f24a9</a:t>
            </a:r>
          </a:p>
          <a:p>
            <a:r>
              <a:t>全部值为三轮统计量均值；不是混合逐请求分位数，也不是同机跨方案消融。</a:t>
            </a:r>
          </a:p>
          <a:p>
            <a:r>
              <a:t>基线EP4=4个DP1TP4EP4、EP8=2个DP2TP4EP8、EP16=DP4TP4EP16；均16die。</a:t>
            </a:r>
          </a:p>
          <a:p>
            <a:r>
              <a:t>AFD 64K: {"family": "AFD / 大EP 主矩阵", "topology": "AFD A:DP3TP4 / F:EP4", "mbt": "65536", "rps": "4.0", "mode": "split", "runs": "3", "layer_gmm": "ON", "ffn_graph": "FULL", "memory": "0.7", "evidence": "原始逐请求重算", "qps": "3.8834688774188395", "qps_std": "0.022317916514563045", "qps_n": "3", "mean": "6.488780873596827", "mean_std": "0.3215080912663052", "mean_n": "3", "p25": "3.1868803605126836", "p25_std": "0.13445454890939074", "p25_n": "3", "p50": "6.2865007963652415", "p50_std": "0.31441000318322104", "p50_n": "3", "p75": "9.020645172024766", "p75_std": "0.5297742139552254", "p75_n": "3", "p90": "11.704520077134172", "p90_std": "0.6639865138321752", "p90_n": "3", "p95": "13.433669506106526", "p95_std": "0.43586264509298017", "p95_n": "3", "p99": "16.562453073946156", "p99_std": "0.5806273614394502", "p99_n": "3", "p99.9": "19.21633625513559", "p99.9_std": "0.30227655041120216", "p99.9_n": "3", "success": "4608", "failed": "0"}</a:t>
            </a:r>
          </a:p>
          <a:p>
            <a:r>
              <a:t>4×EP4 8K: {"family": "AFD / 大EP 主矩阵", "topology": "4×EP4 DP1TP4", "mbt": "8192", "rps": "4.0", "mode": "full-model", "runs": "3", "layer_gmm": "N/A", "ffn_graph": "EAGER", "memory": "0.9", "evidence": "原始逐请求重算", "qps": "3.9181413489202725", "qps_std": "0.03051800819786486", "qps_n": "3", "mean": "3.6139708614407735", "mean_std": "0.08809812267819483", "mean_n": "3", "p25": "1.4982366596038144", "p25_std": "0.03308810858410623", "p25_n": "3", "p50": "3.0980358946447573", "p50_std": "0.129412321090152", "p50_n": "3", "p75": "5.249841972564657", "p75_std": "0.16820632491116055", "p75_n": "3", "p90": "7.280650211187701", "p90_std": "0.08527506380407023", "p90_n": "3", "p95": "8.564923260981837", "p95_std": "0.09147635520894482", "p95_n": "3", "p99": "10.710763782293855", "p99_std": "0.3738072462377302", "p99_n": "3", "p99.9": "12.859730177105664", "p99.9_std": "0.45488425739778937", "p99.9_n": "3", "success": "4608", "failed": "0"}</a:t>
            </a:r>
          </a:p>
          <a:p>
            <a:r>
              <a:t>2×EP8 8K: {"family": "AFD / 大EP 主矩阵", "topology": "2×EP8 DP2TP4", "mbt": "8192", "rps": "4.0", "mode": "full-model", "runs": "3", "layer_gmm": "N/A", "ffn_graph": "EAGER", "memory": "0.9", "evidence": "原始逐请求重算", "qps": "3.833374957025368", "qps_std": "0.04054103807322974", "qps_n": "3", "mean": "8.051989872278986", "mean_std": "0.6266677663594441", "mean_n": "3", "p25": "4.736383381144454", "p25_std": "0.430654483871779", "p25_n": "3", "p50": "7.427618462592363", "p50_std": "0.5530135051679157", "p50_n": "3", "p75": "10.859571575342367", "p75_std": "0.8720448830521689", "p75_n": "3", "p90": "13.902370517452558", "p90_std": "1.0822499112325485", "p90_n": "3", "p95": "15.747565831368169", "p95_std": "1.1902467146823457", "p95_n": "3", "p99": "18.938207457525046", "p99_std": "0.8212133106838867", "p99_n": "3", "p99.9": "21.69015419870302", "p99.9_std": "0.8562662072823356", "p99.9_n": "3", "success": "4608", "failed": "0"}</a:t>
            </a:r>
          </a:p>
          <a:p>
            <a:r>
              <a:t>EP16 8K: {"family": "AFD / 大EP 主矩阵", "topology": "EP16 DP4TP4", "mbt": "8192", "rps": "4.0", "mode": "full-model", "runs": "3", "layer_gmm": "N/A", "ffn_graph": "EAGER", "memory": "0.7", "evidence": "原始逐请求重算", "qps": "3.6831711161650116", "qps_std": "0.05436651207462095", "qps_n": "3", "mean": "15.843584110149903", "mean_std": "1.754655411932003", "mean_n": "3", "p25": "11.218125834440192", "p25_std": "1.3630276325260229", "p25_n": "3", "p50": "15.674570052574078", "p50_std": "2.0906508867996316", "p50_n": "3", "p75": "20.248636496408533", "p75_std": "2.0098975802495995", "p75_n": "3", "p90": "24.922901740297675", "p90_std": "1.953682855454682", "p90_n": "3", "p95": "27.41407905736317", "p95_std": "2.763960843977882", "p95_n": "3", "p99": "32.36120607222741", "p99_std": "4.582236741389926", "p99_n": "3", "p99.9": "34.67051098817332", "p99.9_std": "4.848306348891062", "p99.9_n": "3", "success": "4608", "failed": "0"}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新增TP4同RPS比较；原矩阵AFD64K使用token split ON、layered GMM ON、FFN FULL。</a:t>
            </a:r>
          </a:p>
          <a:p>
            <a:r>
              <a:t>数据：/home/nielinfeng/afd-download/dsv4-flash-w4a8/tp4_report_20261009/all_group_results.csv</a:t>
            </a:r>
          </a:p>
          <a:p>
            <a:r>
              <a:t>数据SHA256：54674776e223d95abc06200b1a9a2355c111140081a7a9c2138a8e301f1f24a9</a:t>
            </a:r>
          </a:p>
          <a:p>
            <a:r>
              <a:t>全部值为三轮统计量均值；不是混合逐请求分位数，也不是同机跨方案消融。</a:t>
            </a:r>
          </a:p>
          <a:p>
            <a:r>
              <a:t>基线EP4=4个DP1TP4EP4、EP8=2个DP2TP4EP8、EP16=DP4TP4EP16；均16die。</a:t>
            </a:r>
          </a:p>
          <a:p>
            <a:r>
              <a:t>AFD 64K: {"family": "AFD / 大EP 主矩阵", "topology": "AFD A:DP3TP4 / F:EP4", "mbt": "65536", "rps": "5.0", "mode": "split", "runs": "3", "layer_gmm": "ON", "ffn_graph": "FULL", "memory": "0.7", "evidence": "原始逐请求重算", "qps": "4.151903403494427", "qps_std": "0.04419827551353195", "qps_n": "3", "mean": "30.319273983032165", "mean_std": "0.45177375531160047", "mean_n": "3", "p25": "20.469021533305447", "p25_std": "1.1115081603079868", "p25_n": "3", "p50": "30.738564901364345", "p50_std": "0.7655001185161546", "p50_n": "3", "p75": "41.3896695173656", "p75_std": "0.3801327051813017", "p75_n": "3", "p90": "49.11567998149743", "p90_std": "0.7089139678468067", "p90_n": "3", "p95": "54.62404752041524", "p95_std": "0.3693659665019265", "p95_n": "3", "p99": "62.894523652487756", "p99_std": "1.2975137358720044", "p99_n": "3", "p99.9": "66.89502056385697", "p99.9_std": "3.5756290229338434", "p99.9_n": "3", "success": "4608", "failed": "0"}</a:t>
            </a:r>
          </a:p>
          <a:p>
            <a:r>
              <a:t>4×EP4 8K: {"family": "AFD / 大EP 主矩阵", "topology": "4×EP4 DP1TP4", "mbt": "8192", "rps": "5.0", "mode": "full-model", "runs": "3", "layer_gmm": "N/A", "ffn_graph": "EAGER", "memory": "0.9", "evidence": "原始逐请求重算", "qps": "4.255483793215323", "qps_std": "0.04647879633652787", "qps_n": "3", "mean": "22.408054384245286", "mean_std": "0.22919727604098847", "mean_n": "3", "p25": "14.175157040823251", "p25_std": "0.17143109878372628", "p25_n": "3", "p50": "22.28679317018638", "p50_std": "1.0546781370276956", "p50_n": "3", "p75": "30.00548537665357", "p75_std": "0.6239776069073015", "p75_n": "3", "p90": "38.29714431862036", "p90_std": "0.42221284427383776", "p90_n": "3", "p95": "43.470449153799564", "p95_std": "1.0951590416598815", "p95_n": "3", "p99": "48.35808684313671", "p99_std": "1.393862223135051", "p99_n": "3", "p99.9": "53.64236289004173", "p99.9_std": "3.768268631400482", "p99.9_n": "3", "success": "4608", "failed": "0"}</a:t>
            </a:r>
          </a:p>
          <a:p>
            <a:r>
              <a:t>2×EP8 8K: {"family": "AFD / 大EP 主矩阵", "topology": "2×EP8 DP2TP4", "mbt": "8192", "rps": "5.0", "mode": "full-model", "runs": "3", "layer_gmm": "N/A", "ffn_graph": "EAGER", "memory": "0.9", "evidence": "原始逐请求重算", "qps": "3.9321613325784575", "qps_std": "0.060895238466129056", "qps_n": "3", "mean": "38.285855817547905", "mean_std": "1.9047432121924055", "mean_n": "3", "p25": "23.351881752877187", "p25_std": "0.11911919983686448", "p25_n": "3", "p50": "37.756422217004", "p50_std": "2.34544246569029", "p50_n": "3", "p75": "53.12689182472726", "p75_std": "2.1964839032386845", "p75_n": "3", "p90": "66.35292902681977", "p90_std": "2.914591976187639", "p90_n": "3", "p95": "72.75050477248926", "p95_std": "4.5646630986389", "p95_n": "3", "p99": "81.08769070912774", "p99_std": "2.0666798211955246", "p99_n": "3", "p99.9": "85.75256166991461", "p99.9_std": "4.325927175125061", "p99.9_n": "3", "success": "4608", "failed": "0"}</a:t>
            </a:r>
          </a:p>
          <a:p>
            <a:r>
              <a:t>EP16 8K: {"family": "AFD / 大EP 主矩阵", "topology": "EP16 DP4TP4", "mbt": "8192", "rps": "5.0", "mode": "full-model", "runs": "3", "layer_gmm": "N/A", "ffn_graph": "EAGER", "memory": "0.7", "evidence": "原始逐请求重算", "qps": "3.679906905012409", "qps_std": "0.10260458616810432", "qps_n": "3", "mean": "50.342708047715455", "mean_std": "2.4658455123731957", "mean_n": "3", "p25": "30.512614303268492", "p25_std": "1.830314162134188", "p25_n": "3", "p50": "49.7817134000361", "p50_std": "3.37560484144052", "p50_n": "3", "p75": "68.06921410746872", "p75_std": "3.1304924538813745", "p75_n": "3", "p90": "90.69887856580317", "p90_std": "5.873945895514621", "p90_n": "3", "p95": "98.25703237205744", "p95_std": "7.642183527708032", "p95_n": "3", "p99": "107.80794925475494", "p99_std": "12.048639742478542", "p99_n": "3", "p99.9": "111.54242429608789", "p99.9_std": "11.46268490056117", "p99.9_n": "3", "success": "4608", "failed": "0"}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TP4 overview; offered QPS2/3/4/5, original formal matrix three-repeat means.</a:t>
            </a:r>
          </a:p>
          <a:p>
            <a:r>
              <a:t>Source: /home/nielinfeng/afd-download/dsv4-flash-w4a8/tp4_report_20261009/all_group_results.csv</a:t>
            </a:r>
          </a:p>
          <a:p>
            <a:r>
              <a:t>SHA256: 54674776e223d95abc06200b1a9a2355c111140081a7a9c2138a8e301f1f24a9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Source: /home/nielinfeng/afd-download/dsv4-flash-w4a8/tp4_report_20261009/all_group_results.csv</a:t>
            </a:r>
          </a:p>
          <a:p>
            <a:r>
              <a:t>SHA256: 54674776e223d95abc06200b1a9a2355c111140081a7a9c2138a8e301f1f24a9</a:t>
            </a:r>
          </a:p>
          <a:p>
            <a:r>
              <a:t>红字为同MBT开/关中更小的TTFT；QPS为offered RPS。</a:t>
            </a:r>
          </a:p>
          <a:p>
            <a:r>
              <a:t>[{"family": "ubatch 同机对照", "topology": "AFD A:DP3TP4 / F:EP4", "mbt": "32768", "rps": "2.0", "mode": "off", "runs": "3", "layer_gmm": "ON", "ffn_graph": "FULL", "memory": "0.7", "evidence": "原始逐请求重算", "qps": "1.9875477907422223", "qps_std": "0.00015510854293085066", "qps_n": "3", "mean": "1.7915916403403067", "mean_std": "0.0329350389297551", "mean_n": "3", "p25": "0.543004187134405", "p25_std": "0.009059721316959113", "p25_n": "3", "p50": "1.2415564162656665", "p50_std": "0.026932978128925616", "p50_n": "3", "p75": "2.5539702215852835", "p75_std": "0.10894281281310694", "p75_n": "3", "p90": "4.1348596491540475", "p90_std": "0.10715435708308764", "p90_n": "3", "p95": "5.343767518332849", "p95_std": "0.07795290965839673", "p95_n": "3", "p99": "6.9143294341551815", "p99_std": "0.2711877918864003", "p99_n": "3", "p99.9": "8.050312775022645", "p99.9_std": "0.2927090305584152", "p99.9_n": "3", "success": "4608", "failed": "0"}, {"family": "ubatch 同机对照", "topology": "AFD A:DP3TP4 / F:EP4", "mbt": "32768", "rps": "2.0", "mode": "split", "runs": "3", "layer_gmm": "ON", "ffn_graph": "FULL", "memory": "0.7", "evidence": "原始逐请求重算", "qps": "1.991731269692057", "qps_std": "0.00011679940298365626", "qps_n": "3", "mean": "1.278200545940005", "mean_std": "0.024435066331953255", "mean_n": "3", "p25": "0.4493850731911759", "p25_std": "0.003450884428883633", "p25_n": "3", "p50": "0.8142885575070977", "p50_std": "0.005751300506923764", "p50_n": "3", "p75": "1.6879551359452307", "p75_std": "0.03585898881182783", "p75_n": "3", "p90": "3.020996871093909", "p90_std": "0.06361460550395862", "p90_n": "3", "p95": "3.8296372924620905", "p95_std": "0.07641966917243406", "p95_n": "3", "p99": "5.31952003731082", "p99_std": "0.05085465059052928", "p99_n": "3", "p99.9": "6.295973997653133", "p99.9_std": "0.04759631142099493", "p99.9_n": "3", "success": "4608", "failed": "0"}, {"family": "ubatch 同机对照", "topology": "AFD A:DP3TP4 / F:EP4", "mbt": "32768", "rps": "3.0", "mode": "off", "runs": "3", "layer_gmm": "ON", "ffn_graph": "FULL", "memory": "0.7", "evidence": "原始逐请求重算", "qps": "2.935280576964325", "qps_std": "0.028246083759124394", "qps_n": "3", "mean": "5.043057986268751", "mean_std": "0.3733555501218601", "mean_n": "3", "p25": "2.2576978392899036", "p25_std": "0.1816740756466343", "p25_n": "3", "p50": "4.582693002807598", "p50_std": "0.2757651860205488", "p50_n": "3", "p75": "7.22774131083861", "p75_std": "0.62066231508317", "p75_n": "3", "p90": "9.731935229462882", "p90_std": "0.922434229344786", "p90_n": "3", "p95": "11.489802340200791", "p95_std": "0.7857461402769004", "p95_n": "3", "p99": "14.31500533021366", "p99_std": "0.480966210184518", "p99_n": "3", "p99.9": "17.202478727757295", "p99.9_std": "1.3600424347642712", "p99.9_n": "3", "success": "4608", "failed": "0"}, {"family": "ubatch 同机对照", "topology": "AFD A:DP3TP4 / F:EP4", "mbt": "32768", "rps": "3.0", "mode": "split", "runs": "3", "layer_gmm": "ON", "ffn_graph": "FULL", "memory": "0.7", "evidence": "原始逐请求重算", "qps": "2.9657388695478133", "qps_std": "0.002301380248821395", "qps_n": "3", "mean": "2.0656442717331114", "mean_std": "0.040571876418802826", "mean_n": "3", "p25": "0.7410793155431747", "p25_std": "0.0035586627787835235", "p25_n": "3", "p50": "1.5926552657037973", "p50_std": "0.03148741487122593", "p50_n": "3", "p75": "2.978152365113298", "p75_std": "0.08591979714710615", "p75_n": "3", "p90": "4.337964499058823", "p90_std": "0.09984068555081843", "p90_n": "3", "p95": "5.41767616191258", "p95_std": "0.20623536823337849", "p95_n": "3", "p99": "7.19180990071968", "p99_std": "0.273104745333511", "p99_n": "3", "p99.9": "9.27152602812213", "p99.9_std": "0.5351395334909905", "p99.9_n": "3", "success": "4607", "failed": "1"}, {"family": "ubatch 同机对照", "topology": "AFD A:DP3TP4 / F:EP4", "mbt": "32768", "rps": "4.0", "mode": "off", "runs": "3", "layer_gmm": "ON", "ffn_graph": "FULL", "memory": "0.7", "evidence": "原始逐请求重算", "qps": "3.2783647701144107", "qps_std": "0.030951104510419585", "qps_n": "3", "mean": "38.842341787223425", "mean_std": "1.8693775722035475", "mean_n": "3", "p25": "24.42538790948068", "p25_std": "1.6750301461348536", "p25_n": "3", "p50": "39.43587659671903", "p50_std": "1.085654022139951", "p50_n": "3", "p75": "54.293830612674356", "p75_std": "3.67691797225297", "p75_n": "3", "p90": "65.84481654316187", "p90_std": "4.520646106565895", "p90_n": "3", "p95": "70.09263142757118", "p95_std": "4.56721553971024", "p95_n": "3", "p99": "79.7362926232629", "p99_std": "2.197539522850437", "p99_n": "3", "p99.9": "86.12427937968633", "p99.9_std": "3.024464059769158", "p99.9_n": "3", "success": "4608", "failed": "0"}, {"family": "ubatch 同机对照", "topology": "AFD A:DP3TP4 / F:EP4", "mbt": "32768", "rps": "4.0", "mode": "split", "runs": "3", "layer_gmm": "ON", "ffn_graph": "FULL", "memory": "0.7", "evidence": "原始逐请求重算", "qps": "3.8849707709043213", "qps_std": "0.019629885712362044", "qps_n": "3", "mean": "5.924921399744822", "mean_std": "0.366797753434471", "mean_n": "3", "p25": "3.083236437446127", "p25_std": "0.2868982389416604", "p25_n": "3", "p50": "5.4854797854398685", "p50_std": "0.3271406284456023", "p50_n": "3", "p75": "8.32521391644453", "p75_std": "0.5482974624150431", "p75_n": "3", "p90": "11.005887509696185", "p90_std": "0.6402634390390567", "p90_n": "3", "p95": "12.408803305712839", "p95_std": "0.9393159594702426", "p95_n": "3", "p99": "15.16111638223754", "p99_std": "1.099748196777437", "p99_n": "3", "p99.9": "17.625640710806465", "p99.9_std": "1.0017184851867362", "p99.9_n": "3", "success": "4607", "failed": "1"}, {"family": "ubatch 同机对照", "topology": "AFD A:DP3TP4 / F:EP4", "mbt": "32768", "rps": "5.0", "mode": "off", "runs": "3", "layer_gmm": "ON", "ffn_graph": "FULL", "memory": "0.7", "evidence": "原始逐请求重算", "qps": "3.257135434177248", "qps_std": "0.06505484548057515", "qps_n": "3", "mean": "75.60279332761154", "mean_std": "1.80383669607965", "mean_n": "3", "p25": "42.58588186604902", "p25_std": "1.7953236456178436", "p25_n": "3", "p50": "74.27153068066885", "p50_std": "2.557530176701276", "p50_n": "3", "p75": "108.7024548247767", "p75_std": "2.6877198993712312", "p75_n": "3", "p90": "132.46473433325687", "p90_std": "4.961947349994852", "p90_n": "3", "p95": "140.4526557167992", "p95_std": "7.053362256063951", "p95_n": "3", "p99": "156.28093551040317", "p99_std": "8.601441934998451", "p99_n": "3", "p99.9": "164.9086763712298", "p99.9_std": "9.06875954827475", "p99.9_n": "3", "success": "4608", "failed": "0"}, {"family": "ubatch 同机对照", "topology": "AFD A:DP3TP4 / F:EP4", "mbt": "32768", "rps": "5.0", "mode": "split", "runs": "3", "layer_gmm": "ON", "ffn_graph": "FULL", "memory": "0.7", "evidence": "原始逐请求重算", "qps": "4.0218353402736575", "qps_std": "0.0619683188959595", "qps_n": "3", "mean": "32.359760493976665", "mean_std": "1.6299453080967603", "mean_n": "3", "p25": "21.34461404196918", "p25_std": "0.8798585827638713", "p25_n": "3", "p50": "32.688925214111805", "p50_std": "1.15860737455101", "p50_n": "3", "p75": "44.431992473080754", "p75_std": "2.4660163690122876", "p75_n": "3", "p90": "53.185399329289794", "p90_std": "2.5386654774898942", "p90_n": "3", "p95": "60.358958268072456", "p95_std": "1.329256367175667", "p95_n": "3", "p99": "69.675257985356", "p99_std": "6.770971959331271", "p99_n": "3", "p99.9": "75.13009833568702", "p99.9_std": "6.323026074837209", "p99.9_n": "3", "success": "4608", "failed": "0"}, {"family": "ubatch 同机对照", "topology": "AFD A:DP3TP4 / F:EP4", "mbt": "65536", "rps": "2.0", "mode": "off", "runs": "3", "layer_gmm": "ON", "ffn_graph": "FULL", "memory": "0.7", "evidence": "原始逐请求重算", "qps": "1.9847076667264403", "qps_std": "0.0019269528896696151", "qps_n": "3", "mean": "1.8507920719477622", "mean_std": "0.004070787636711053", "mean_n": "3", "p25": "0.5698030623607337", "p25_std": "0.01412764887221013", "p25_n": "3", "p50": "1.2637192622448008", "p50_std": "0.02446608433793695", "p50_n": "3", "p75": "2.5697956918738782", "p75_std": "0.05484118940943263", "p75_n": "3", "p90": "4.258244067430496", "p90_std": "0.08063593949187389", "p90_n": "3", "p95": "5.728595742707451", "p95_std": "0.2596942281356412", "p95_n": "3", "p99": "7.887093298329667", "p99_std": "0.15436327421732687", "p99_n": "3", "p99.9": "9.7647761974465", "p99.9_std": "0.4478369408206463", "p99.9_n": "3", "success": "4607", "failed": "1"}, {"family": "ubatch 同机对照", "topology": "AFD A:DP3TP4 / F:EP4", "mbt": "65536", "rps": "2.0", "mode": "split", "runs": "3", "layer_gmm": "ON", "ffn_graph": "FULL", "memory": "0.7", "evidence": "原始逐请求重算", "qps": "1.9886960772958628", "qps_std": "5.2451361021622546e-05", "qps_n": "3", "mean": "1.2875296221613501", "mean_std": "0.0048531788722646525", "mean_n": "3", "p25": "0.45330148888751864", "p25_std": "0.0035844084784224794", "p25_n": "3", "p50": "0.8147847189878424", "p50_std": "0.010491398110715961", "p50_n": "3", "p75": "1.6796164481590192", "p75_std": "0.022538625028021484", "p75_n": "3", "p90": "2.8950745475788913", "p90_std": "0.02944361939010502", "p90_n": "3", "p95": "3.803221929507951", "p95_std": "0.018627179537000608", "p95_n": "3", "p99": "5.776027235016246", "p99_std": "0.07110348671864403", "p99_n": "3", "p99.9": "8.104641453772711", "p99.9_std": "0.48035159694174995", "p99.9_n": "3", "success": "4608", "failed": "0"}, {"family": "ubatch 同机对照", "topology": "AFD A:DP3TP4 / F:EP4", "mbt": "65536", "rps": "3.0", "mode": "off", "runs": "3", "layer_gmm": "ON", "ffn_graph": "FULL", "memory": "0.7", "evidence": "原始逐请求重算", "qps": "2.9450002020762476", "qps_std": "0.009372299900841064", "qps_n": "3", "mean": "5.260615023278256", "mean_std": "0.09964285460959041", "mean_n": "3", "p25": "2.1357945376075804", "p25_std": "0.11788133716340854", "p25_n": "3", "p50": "4.975024909091492", "p50_std": "0.1611686216559727", "p50_n": "3", "p75": "7.822194644870858", "p75_std": "0.27922485139277076", "p75_n": "3", "p90": "9.960503118112683", "p90_std": "0.3071122044078587", "p90_n": "3", "p95": "11.586264042028537", "p95_std": "0.12748227771131332", "p95_n": "3", "p99": "14.536554435609535", "p99_std": "0.5440933452335146", "p99_n": "3", "p99.9": "16.66861402263863", "p99.9_std": "0.792861793058337", "p99.9_n": "3", "success": "4608", "failed": "0"}, {"family": "ubatch 同机对照", "topology": "AFD A:DP3TP4 / F:EP4", "mbt": "65536", "rps": "3.0", "mode": "split", "runs": "3", "layer_gmm": "ON", "ffn_graph": "FULL", "memory": "0.7", "evidence": "原始逐请求重算", "qps": "2.96628943057042", "qps_std": "0.0021379490539767676", "qps_n": "3", "mean": "2.2031125854721014", "mean_std": "0.08605674981272675", "mean_n": "3", "p25": "0.7372862158032755", "p25_std": "0.018736818361440765", "p25_n": "3", "p50": "1.6426000411932666", "p50_std": "0.03886459131121772", "p50_n": "3", "p75": "3.112384215928614", "p75_std": "0.09230357008538033", "p75_n": "3", "p90": "5.034137367270887", "p90_std": "0.1711786465071122", "p90_n": "3", "p95": "6.143929458068063", "p95_std": "0.4436487696480354", "p95_n": "3", "p99": "7.7569038815796425", "p99_std": "0.6600791501847191", "p99_n": "3", "p99.9": "9.401469630245098", "p99.9_std": "1.0073832094065152", "p99.9_n": "3", "success": "4608", "failed": "0"}, {"family": "ubatch 同机对照", "topology": "AFD A:DP3TP4 / F:EP4", "mbt": "65536", "rps": "4.0", "mode": "off", "runs": "3", "layer_gmm": "ON", "ffn_graph": "FULL", "memory": "0.7", "evidence": "原始逐请求重算", "qps": "3.40701836913923", "qps_std": "0.025967084680254937", "qps_n": "3", "mean": "35.3858797774883", "mean_std": "0.22776999806484366", "mean_n": "3", "p25": "24.367110346599173", "p25_std": "0.6312030572985188", "p25_n": "3", "p50": "36.34888713837912", "p50_std": "0.9379970119939307", "p50_n": "3", "p75": "47.859461894414075", "p75_std": "0.4231785841342646", "p75_n": "3", "p90": "58.09050292490671", "p90_std": "0.9121636118695574", "p90_n": "3", "p95": "62.48375387893369", "p95_std": "0.7292286463638504", "p95_n": "3", "p99": "67.36769204555702", "p99_std": "1.7636898299584394", "p99_n": "3", "p99.9": "70.01081007510732", "p99.9_std": "2.342513060134456", "p99.9_n": "3", "success": "4608", "failed": "0"}, {"family": "ubatch 同机对照", "topology": "AFD A:DP3TP4 / F:EP4", "mbt": "65536", "rps": "4.0", "mode": "split", "runs": "3", "layer_gmm": "ON", "ffn_graph": "FULL", "memory": "0.7", "evidence": "原始逐请求重算", "qps": "3.863295288302765", "qps_std": "0.02871683545356478", "qps_n": "3", "mean": "6.596623168163205", "mean_std": "0.45512702722559445", "mean_n": "3", "p25": "3.2964580259285867", "p25_std": "0.29879889479606436", "p25_n": "3", "p50": "6.403419690206647", "p50_std": "0.3741874311194263", "p50_n": "3", "p75": "9.172361826679358", "p75_std": "0.5999689351968668", "p75_n": "3", "p90": "12.022043649728099", "p90_std": "1.0143514121063766", "p90_n": "3", "p95": "13.640639464526126", "p95_std": "1.1976862958987224", "p95_n": "3", "p99": "16.873569166411972", "p99_std": "1.4091700034444221", "p99_n": "3", "p99.9": "19.832335705903", "p99.9_std": "2.311043614572027", "p99.9_n": "3", "success": "4608", "failed": "0"}, {"family": "ubatch 同机对照", "topology": "AFD A:DP3TP4 / F:EP4", "mbt": "65536", "rps": "5.0", "mode": "off", "runs": "3", "layer_gmm": "ON", "ffn_graph": "FULL", "memory": "0.7", "evidence": "原始逐请求重算", "qps": "3.387143221562398", "qps_std": "0.039747580670808774", "qps_n": "3", "mean": "70.23505674885301", "mean_std": "0.30167524039230775", "mean_n": "3", "p25": "39.90732711227611", "p25_std": "1.44414095074146", "p25_n": "3", "p50": "69.7557875495404", "p50_std": "1.279411141554524", "p50_n": "3", "p75": "99.02346391913791", "p75_std": "1.0341192378605513", "p75_n": "3", "p90": "120.11672228233267", "p90_std": "1.8275033450962814", "p90_n": "3", "p95": "129.1408261382021", "p95_std": "2.8686730867480317", "p95_n": "3", "p99": "143.6087015235176", "p99_std": "8.71875952483509", "p99_n": "3", "p99.9": "148.83763367628367", "p99.9_std": "9.01987578412602", "p99.9_n": "3", "success": "4608", "failed": "0"}, {"family": "ubatch 同机对照", "topology": "AFD A:DP3TP4 / F:EP4", "mbt": "65536", "rps": "5.0", "mode": "split", "runs": "3", "layer_gmm": "ON", "ffn_graph": "FULL", "memory": "0.7", "evidence": "原始逐请求重算", "qps": "4.140229272869155", "qps_std": "0.0076307174979777246", "qps_n": "3", "mean": "30.453458325275683", "mean_std": "0.9334163423309068", "mean_n": "3", "p25": "20.51908909389749", "p25_std": "1.1937404090330215", "p25_n": "3", "p50": "31.45036258796851", "p50_std": "1.1602315135965389", "p50_n": "3", "p75": "40.42701747516791", "p75_std": "1.4294369792645356", "p75_n": "3", "p90": "49.6588407891492", "p90_std": "1.6542518784509215", "p90_n": "3", "p95": "54.465868778837226", "p95_std": "1.4684233285246027", "p95_n": "3", "p99": "63.18832473997028", "p99_std": "2.664868345409617", "p99_n": "3", "p99.9": "65.26799861426153", "p99.9_std": "2.4967148438241784", "p99.9_n": "3", "success": "4608", "failed": "0"}]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数据源是用户提供的 codex_swebenchpro.json，名称不代表某个官方 SWE-bench 版本。正式子集源序前256完整会话，源ID0–248、250–256；源249超长整会话排除。主页面不展示父集筛选流程。9,078请求，748,751,397输入tokens，均值82,479.77495，P50=77,400，P95=154,355.45，max235,936；分布数量[874, 2440, 4676, 1010, 78]。真实AgentInfer回放，重建会话轮次，回放间隔为0；不是人工固定QPS流量。</a:t>
            </a:r>
          </a:p>
          <a:p/>
          <a:p>
            <a:r>
              <a:t>正式报告：https://github.com/jiaran-king/afd-benefit-benchmark/blob/main/results/2026-10-12-ep16/REPORT.zh-CN.md</a:t>
            </a:r>
          </a:p>
          <a:p>
            <a:r>
              <a:t>调度方法：https://github.com/jiaran-king/afd-benefit-benchmark/blob/main/docs/bench-method.md</a:t>
            </a:r>
          </a:p>
          <a:p>
            <a:r>
              <a:t>数据基线：2026-10-11–12；每配置一次完整运行。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真实AgentInfer analyzer/planner/依赖/SSE链。global C16是未完成HTTP请求总上限直到SSE完成；max_num_seqs=8是每个DP缓存域在一次调度中的序列上限。异步调度不取消会话依赖。冻结优先级只在ready请求中选择；无每域串行客户端队列。各部署完成时间不同，实际发送顺序和组批可不同。Non均MBT8192，AFD32768。Non三组复用4域路由；AFD复用3域路由。server block32, utilization.9, checkpoint ratio.25, chunked prefill ON;AFD CAM async,2 token ubatches,layered GMM=1。两AFD组仅F eager/FULL及必要graph配置不同。</a:t>
            </a:r>
          </a:p>
          <a:p/>
          <a:p>
            <a:r>
              <a:t>正式报告：https://github.com/jiaran-king/afd-benefit-benchmark/blob/main/results/2026-10-12-ep16/REPORT.zh-CN.md</a:t>
            </a:r>
          </a:p>
          <a:p>
            <a:r>
              <a:t>调度方法：https://github.com/jiaran-king/afd-benefit-benchmark/blob/main/docs/bench-method.md</a:t>
            </a:r>
          </a:p>
          <a:p>
            <a:r>
              <a:t>数据基线：2026-10-11–12；每配置一次完整运行。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五组完整数据无删减；F FULL保留为对照，无单独无收益标题。3.7974233245×=EP4耗时/AFD eager耗时；1.3305311758×=EP8耗时/AFD eager耗时。AFD相对EP8平均TTFT降低25.2876%。AFD P50 TTFT最低，但EP16均值/尾部与全程最优，不能宣称AFD所有分位都优。单次部署比较，非统计显著性结论。</a:t>
            </a:r>
          </a:p>
          <a:p/>
          <a:p>
            <a:r>
              <a:t>正式报告：https://github.com/jiaran-king/afd-benefit-benchmark/blob/main/results/2026-10-12-ep16/REPORT.zh-CN.md</a:t>
            </a:r>
          </a:p>
          <a:p>
            <a:r>
              <a:t>调度方法：https://github.com/jiaran-king/afd-benefit-benchmark/blob/main/docs/bench-method.md</a:t>
            </a:r>
          </a:p>
          <a:p>
            <a:r>
              <a:t>数据基线：2026-10-11–12；每配置一次完整运行。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权重是加载日志已报告值，KV按实际tensor storage求和，包含TP驻留副本。单DIE为对应组/角色平均值。other=启动profile后整卡已用HBM-已报告权重-实际KV；free=64GiB-HBM已用，不是峰值激活分项。AFD F侧承担专家权重，不能把F无KV直接等同于显存浪费。EP16/AFD总权重224.0512/224.1808GiB；AFD对EP4/8减少专家重复驻留，专家副本数分别4/2/1，Attention/共享专家布局并非完全相同。明细见随稿CSV。</a:t>
            </a:r>
          </a:p>
          <a:p/>
          <a:p>
            <a:r>
              <a:t>正式报告：https://github.com/jiaran-king/afd-benefit-benchmark/blob/main/results/2026-10-12-ep16/REPORT.zh-CN.md</a:t>
            </a:r>
          </a:p>
          <a:p>
            <a:r>
              <a:t>调度方法：https://github.com/jiaran-king/afd-benefit-benchmark/blob/main/docs/bench-method.md</a:t>
            </a:r>
          </a:p>
          <a:p>
            <a:r>
              <a:t>数据基线：2026-10-11–12；每配置一次完整运行。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际prefill是原生request_finished累计计算token，不等同FLOPs。每组cached+actual_prefill=748751397。减幅77.24910719%和22.34280332%均以相应Non组为分母。缓存复用与prefill之间是本实验零重算条件下的恒等关系；容量增加对命中改善的贡献未单独隔离，不能把全程收益全部归因KV。</a:t>
            </a:r>
          </a:p>
          <a:p/>
          <a:p>
            <a:r>
              <a:t>正式报告：https://github.com/jiaran-king/afd-benefit-benchmark/blob/main/results/2026-10-12-ep16/REPORT.zh-CN.md</a:t>
            </a:r>
          </a:p>
          <a:p>
            <a:r>
              <a:t>调度方法：https://github.com/jiaran-king/afd-benefit-benchmark/blob/main/docs/bench-method.md</a:t>
            </a:r>
          </a:p>
          <a:p>
            <a:r>
              <a:t>数据基线：2026-10-11–12；每配置一次完整运行。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D实际KV相对EP16少46.89614177GiB（8.33449%）；cache比例差4.19254563pp；actual_prefill多50.6321285%；耗时多15.62346%，反向EP16比AFD短13.51236%。AFD每域85/86/85会话；Non各域64。不能把12A或F不放KV直接当KV缺口的原因。双方权重总量接近，已用非权重非KV差额+70.64GiB，空闲-23.87GiB，但组成未完成诊断。每组一次，不能泛化为AFD在所有工作负载落后EP16。</a:t>
            </a:r>
          </a:p>
          <a:p/>
          <a:p>
            <a:r>
              <a:t>正式报告：https://github.com/jiaran-king/afd-benefit-benchmark/blob/main/results/2026-10-12-ep16/REPORT.zh-CN.md</a:t>
            </a:r>
          </a:p>
          <a:p>
            <a:r>
              <a:t>调度方法：https://github.com/jiaran-king/afd-benefit-benchmark/blob/main/docs/bench-method.md</a:t>
            </a:r>
          </a:p>
          <a:p>
            <a:r>
              <a:t>数据基线：2026-10-11–12；每配置一次完整运行。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结论中心是AFD相对多副本Non部署的实测收益。这里只把EP4/EP8作为已经验证的收益条件，EP16保留为当前workflow的完整对照。专家副本指路由MoE专家集合，并非全部模型参数副本。未声称其他负载已经测得收益，也未从EP16推导AFD没有价值。未声称回收70GiB即可获得某个保证收益，未把prefill/time的比值宣称纯设备计算吞吐。详细五组结果和配置见实验报告。</a:t>
            </a:r>
          </a:p>
          <a:p/>
          <a:p>
            <a:r>
              <a:t>正式报告：https://github.com/jiaran-king/afd-benefit-benchmark/blob/main/results/2026-10-12-ep16/REPORT.zh-CN.md</a:t>
            </a:r>
          </a:p>
          <a:p>
            <a:r>
              <a:t>调度方法：https://github.com/jiaran-king/afd-benefit-benchmark/blob/main/docs/bench-method.md</a:t>
            </a:r>
          </a:p>
          <a:p>
            <a:r>
              <a:t>数据基线：2026-10-11–12；每配置一次完整运行。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t>编辑母版文本样式</a:t>
            </a:r>
          </a:p>
          <a:p>
            <a:pPr>
              <a:buNone/>
            </a:pPr>
            <a:r>
              <a:t>第二级</a:t>
            </a:r>
          </a:p>
          <a:p>
            <a:pPr>
              <a:buNone/>
            </a:pPr>
            <a:r>
              <a:t>第三级</a:t>
            </a:r>
          </a:p>
          <a:p>
            <a:pPr>
              <a:buNone/>
            </a:pPr>
            <a:r>
              <a:t>第四级</a:t>
            </a:r>
          </a:p>
          <a:p>
            <a:pPr>
              <a:buNone/>
            </a:pPr>
            <a:r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/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6.png"/><Relationship Id="rId1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8.png"/><Relationship Id="rId1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3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21.png"/><Relationship Id="rId4" Type="http://schemas.openxmlformats.org/officeDocument/2006/relationships/hyperlink" Target="https://vllm-dev.slack.com/archives/C0B4C1D84GG" TargetMode="External"/><Relationship Id="rId3" Type="http://schemas.openxmlformats.org/officeDocument/2006/relationships/image" Target="../media/image20.png"/><Relationship Id="rId2" Type="http://schemas.openxmlformats.org/officeDocument/2006/relationships/hyperlink" Target="https://github.com/vllm-project/afd-plugin" TargetMode="External"/><Relationship Id="rId1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1.xml"/></Relationships>
</file>

<file path=ppt/slides/_rels/slide16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6.xml"/><Relationship Id="rId6" Type="http://schemas.openxmlformats.org/officeDocument/2006/relationships/slideLayout" Target="../slideLayouts/slideLayout1.xml"/><Relationship Id="rId5" Type="http://schemas.openxmlformats.org/officeDocument/2006/relationships/chart" Target="../charts/chart6.xml"/><Relationship Id="rId4" Type="http://schemas.openxmlformats.org/officeDocument/2006/relationships/chart" Target="../charts/chart5.xml"/><Relationship Id="rId3" Type="http://schemas.openxmlformats.org/officeDocument/2006/relationships/chart" Target="../charts/chart4.xml"/><Relationship Id="rId2" Type="http://schemas.openxmlformats.org/officeDocument/2006/relationships/chart" Target="../charts/chart3.xml"/><Relationship Id="rId1" Type="http://schemas.openxmlformats.org/officeDocument/2006/relationships/chart" Target="../charts/chart2.xml"/></Relationships>
</file>

<file path=ppt/slides/_rels/slide17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7.xml"/><Relationship Id="rId6" Type="http://schemas.openxmlformats.org/officeDocument/2006/relationships/slideLayout" Target="../slideLayouts/slideLayout1.xml"/><Relationship Id="rId5" Type="http://schemas.openxmlformats.org/officeDocument/2006/relationships/chart" Target="../charts/chart11.xml"/><Relationship Id="rId4" Type="http://schemas.openxmlformats.org/officeDocument/2006/relationships/chart" Target="../charts/chart10.xml"/><Relationship Id="rId3" Type="http://schemas.openxmlformats.org/officeDocument/2006/relationships/chart" Target="../charts/chart9.xml"/><Relationship Id="rId2" Type="http://schemas.openxmlformats.org/officeDocument/2006/relationships/chart" Target="../charts/chart8.xml"/><Relationship Id="rId1" Type="http://schemas.openxmlformats.org/officeDocument/2006/relationships/chart" Target="../charts/chart7.xml"/></Relationships>
</file>

<file path=ppt/slides/_rels/slide18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8.xml"/><Relationship Id="rId6" Type="http://schemas.openxmlformats.org/officeDocument/2006/relationships/slideLayout" Target="../slideLayouts/slideLayout1.xml"/><Relationship Id="rId5" Type="http://schemas.openxmlformats.org/officeDocument/2006/relationships/chart" Target="../charts/chart16.xml"/><Relationship Id="rId4" Type="http://schemas.openxmlformats.org/officeDocument/2006/relationships/chart" Target="../charts/chart15.xml"/><Relationship Id="rId3" Type="http://schemas.openxmlformats.org/officeDocument/2006/relationships/chart" Target="../charts/chart14.xml"/><Relationship Id="rId2" Type="http://schemas.openxmlformats.org/officeDocument/2006/relationships/chart" Target="../charts/chart13.xml"/><Relationship Id="rId1" Type="http://schemas.openxmlformats.org/officeDocument/2006/relationships/chart" Target="../charts/char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2.png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0.xml"/><Relationship Id="rId3" Type="http://schemas.openxmlformats.org/officeDocument/2006/relationships/slideLayout" Target="../slideLayouts/slideLayout1.xml"/><Relationship Id="rId2" Type="http://schemas.openxmlformats.org/officeDocument/2006/relationships/chart" Target="../charts/chart18.xml"/><Relationship Id="rId1" Type="http://schemas.openxmlformats.org/officeDocument/2006/relationships/chart" Target="../charts/chart17.xml"/></Relationships>
</file>

<file path=ppt/slides/_rels/slide2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1.xml"/><Relationship Id="rId3" Type="http://schemas.openxmlformats.org/officeDocument/2006/relationships/slideLayout" Target="../slideLayouts/slideLayout1.xml"/><Relationship Id="rId2" Type="http://schemas.openxmlformats.org/officeDocument/2006/relationships/chart" Target="../charts/chart20.xml"/><Relationship Id="rId1" Type="http://schemas.openxmlformats.org/officeDocument/2006/relationships/chart" Target="../charts/chart19.xml"/></Relationships>
</file>

<file path=ppt/slides/_rels/slide2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2.xml"/><Relationship Id="rId3" Type="http://schemas.openxmlformats.org/officeDocument/2006/relationships/slideLayout" Target="../slideLayouts/slideLayout1.xml"/><Relationship Id="rId2" Type="http://schemas.openxmlformats.org/officeDocument/2006/relationships/chart" Target="../charts/chart22.xml"/><Relationship Id="rId1" Type="http://schemas.openxmlformats.org/officeDocument/2006/relationships/chart" Target="../charts/chart2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3.xml"/><Relationship Id="rId1" Type="http://schemas.openxmlformats.org/officeDocument/2006/relationships/chart" Target="../charts/chart2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3.xml"/><Relationship Id="rId1" Type="http://schemas.openxmlformats.org/officeDocument/2006/relationships/chart" Target="../charts/chart2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9.xml"/><Relationship Id="rId6" Type="http://schemas.openxmlformats.org/officeDocument/2006/relationships/slideLayout" Target="../slideLayouts/slideLayout3.xml"/><Relationship Id="rId5" Type="http://schemas.openxmlformats.org/officeDocument/2006/relationships/chart" Target="../charts/chart29.xml"/><Relationship Id="rId4" Type="http://schemas.openxmlformats.org/officeDocument/2006/relationships/chart" Target="../charts/chart28.xml"/><Relationship Id="rId3" Type="http://schemas.openxmlformats.org/officeDocument/2006/relationships/chart" Target="../charts/chart27.xml"/><Relationship Id="rId2" Type="http://schemas.openxmlformats.org/officeDocument/2006/relationships/chart" Target="../charts/chart26.xml"/><Relationship Id="rId1" Type="http://schemas.openxmlformats.org/officeDocument/2006/relationships/chart" Target="../charts/chart25.xml"/></Relationships>
</file>

<file path=ppt/slides/_rels/slide30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30.xml"/><Relationship Id="rId6" Type="http://schemas.openxmlformats.org/officeDocument/2006/relationships/slideLayout" Target="../slideLayouts/slideLayout3.xml"/><Relationship Id="rId5" Type="http://schemas.openxmlformats.org/officeDocument/2006/relationships/chart" Target="../charts/chart34.xml"/><Relationship Id="rId4" Type="http://schemas.openxmlformats.org/officeDocument/2006/relationships/chart" Target="../charts/chart33.xml"/><Relationship Id="rId3" Type="http://schemas.openxmlformats.org/officeDocument/2006/relationships/chart" Target="../charts/chart32.xml"/><Relationship Id="rId2" Type="http://schemas.openxmlformats.org/officeDocument/2006/relationships/chart" Target="../charts/chart31.xml"/><Relationship Id="rId1" Type="http://schemas.openxmlformats.org/officeDocument/2006/relationships/chart" Target="../charts/chart30.xml"/></Relationships>
</file>

<file path=ppt/slides/_rels/slide31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31.xml"/><Relationship Id="rId6" Type="http://schemas.openxmlformats.org/officeDocument/2006/relationships/slideLayout" Target="../slideLayouts/slideLayout3.xml"/><Relationship Id="rId5" Type="http://schemas.openxmlformats.org/officeDocument/2006/relationships/chart" Target="../charts/chart39.xml"/><Relationship Id="rId4" Type="http://schemas.openxmlformats.org/officeDocument/2006/relationships/chart" Target="../charts/chart38.xml"/><Relationship Id="rId3" Type="http://schemas.openxmlformats.org/officeDocument/2006/relationships/chart" Target="../charts/chart37.xml"/><Relationship Id="rId2" Type="http://schemas.openxmlformats.org/officeDocument/2006/relationships/chart" Target="../charts/chart36.xml"/><Relationship Id="rId1" Type="http://schemas.openxmlformats.org/officeDocument/2006/relationships/chart" Target="../charts/chart35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2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40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3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4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4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4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5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43.xml"/></Relationships>
</file>

<file path=ppt/slides/_rels/slide3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6.xml"/><Relationship Id="rId5" Type="http://schemas.openxmlformats.org/officeDocument/2006/relationships/slideLayout" Target="../slideLayouts/slideLayout1.xml"/><Relationship Id="rId4" Type="http://schemas.openxmlformats.org/officeDocument/2006/relationships/chart" Target="../charts/chart47.xml"/><Relationship Id="rId3" Type="http://schemas.openxmlformats.org/officeDocument/2006/relationships/chart" Target="../charts/chart46.xml"/><Relationship Id="rId2" Type="http://schemas.openxmlformats.org/officeDocument/2006/relationships/chart" Target="../charts/chart45.xml"/><Relationship Id="rId1" Type="http://schemas.openxmlformats.org/officeDocument/2006/relationships/chart" Target="../charts/chart44.xml"/></Relationships>
</file>

<file path=ppt/slides/_rels/slide38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7.xml"/><Relationship Id="rId5" Type="http://schemas.openxmlformats.org/officeDocument/2006/relationships/slideLayout" Target="../slideLayouts/slideLayout1.xml"/><Relationship Id="rId4" Type="http://schemas.openxmlformats.org/officeDocument/2006/relationships/chart" Target="../charts/chart51.xml"/><Relationship Id="rId3" Type="http://schemas.openxmlformats.org/officeDocument/2006/relationships/chart" Target="../charts/chart50.xml"/><Relationship Id="rId2" Type="http://schemas.openxmlformats.org/officeDocument/2006/relationships/chart" Target="../charts/chart49.xml"/><Relationship Id="rId1" Type="http://schemas.openxmlformats.org/officeDocument/2006/relationships/chart" Target="../charts/chart4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52.xml"/><Relationship Id="rId3" Type="http://schemas.openxmlformats.org/officeDocument/2006/relationships/notesSlide" Target="../notesSlides/notesSlide38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53.xml"/><Relationship Id="rId3" Type="http://schemas.openxmlformats.org/officeDocument/2006/relationships/notesSlide" Target="../notesSlides/notesSlide40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54.xml"/><Relationship Id="rId3" Type="http://schemas.openxmlformats.org/officeDocument/2006/relationships/notesSlide" Target="../notesSlides/notesSlide41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55.xml"/><Relationship Id="rId3" Type="http://schemas.openxmlformats.org/officeDocument/2006/relationships/notesSlide" Target="../notesSlides/notesSlide42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>
            <a:spLocks noGrp="1"/>
          </p:cNvSpPr>
          <p:nvPr/>
        </p:nvSpPr>
        <p:spPr>
          <a:xfrm>
            <a:off x="713232" y="182880"/>
            <a:ext cx="182880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1100" b="1">
                <a:solidFill>
                  <a:srgbClr val="898989"/>
                </a:solidFill>
                <a:latin typeface="Calibri"/>
                <a:ea typeface="Calibri"/>
                <a:cs typeface="Calibri"/>
              </a:rPr>
              <a:t>WHY AFD</a:t>
            </a:r>
            <a:endParaRPr sz="1100" b="1">
              <a:solidFill>
                <a:srgbClr val="898989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" name="TextBox 2"/>
          <p:cNvSpPr>
            <a:spLocks noGrp="1"/>
          </p:cNvSpPr>
          <p:nvPr/>
        </p:nvSpPr>
        <p:spPr>
          <a:xfrm>
            <a:off x="713232" y="408051"/>
            <a:ext cx="10744200" cy="44577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2900" b="1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Attention 与 MoE 的资源需求越不匹配</a:t>
            </a:r>
            <a:endParaRPr sz="2900" b="1">
              <a:solidFill>
                <a:srgbClr val="C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" name="Rectangle 3"/>
          <p:cNvSpPr>
            <a:spLocks noGrp="1"/>
          </p:cNvSpPr>
          <p:nvPr/>
        </p:nvSpPr>
        <p:spPr>
          <a:xfrm>
            <a:off x="612648" y="914400"/>
            <a:ext cx="1444752" cy="2286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5" name="TextBox 4"/>
          <p:cNvSpPr>
            <a:spLocks noGrp="1"/>
          </p:cNvSpPr>
          <p:nvPr/>
        </p:nvSpPr>
        <p:spPr>
          <a:xfrm>
            <a:off x="713232" y="1005840"/>
            <a:ext cx="107899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1550" b="0">
                <a:solidFill>
                  <a:srgbClr val="676767"/>
                </a:solidFill>
                <a:latin typeface="Calibri"/>
                <a:ea typeface="Calibri"/>
                <a:cs typeface="Calibri"/>
              </a:rPr>
              <a:t>Attention 受 KV Cache 容量约束，而 MoE 依赖大批次提升专家 GEMM 效率。</a:t>
            </a:r>
            <a:endParaRPr sz="1550" b="0">
              <a:solidFill>
                <a:srgbClr val="676767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22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01825" y="1671320"/>
            <a:ext cx="9619615" cy="4244975"/>
          </a:xfrm>
          <a:prstGeom prst="rect">
            <a:avLst/>
          </a:prstGeom>
        </p:spPr>
      </p:pic>
      <p:sp>
        <p:nvSpPr>
          <p:cNvPr id="7" name="Rounded Rectangle 6"/>
          <p:cNvSpPr>
            <a:spLocks noGrp="1"/>
          </p:cNvSpPr>
          <p:nvPr/>
        </p:nvSpPr>
        <p:spPr>
          <a:xfrm>
            <a:off x="566928" y="2160143"/>
            <a:ext cx="1161288" cy="804672"/>
          </a:xfrm>
          <a:prstGeom prst="roundRect">
            <a:avLst/>
          </a:prstGeom>
          <a:solidFill>
            <a:srgbClr val="EEF5FF"/>
          </a:solidFill>
          <a:ln w="13970">
            <a:solidFill>
              <a:srgbClr val="1F5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bIns="36576" anchor="ctr"/>
          <a:lstStyle/>
          <a:p>
            <a:pPr algn="ctr">
              <a:buNone/>
            </a:pPr>
            <a:r>
              <a:rPr sz="1500" b="1">
                <a:solidFill>
                  <a:srgbClr val="1F5FB8"/>
                </a:solidFill>
                <a:latin typeface="Calibri"/>
                <a:ea typeface="Calibri"/>
                <a:cs typeface="Calibri"/>
              </a:rPr>
              <a:t>Attention</a:t>
            </a:r>
            <a:endParaRPr sz="1500" b="1">
              <a:solidFill>
                <a:srgbClr val="1F5FB8"/>
              </a:solidFill>
              <a:latin typeface="Calibri"/>
              <a:ea typeface="Calibri"/>
              <a:cs typeface="Calibri"/>
            </a:endParaRPr>
          </a:p>
          <a:p>
            <a:pPr algn="ctr">
              <a:spcBef>
                <a:spcPts val="100"/>
              </a:spcBef>
              <a:buNone/>
            </a:pPr>
            <a:r>
              <a:rPr sz="1050">
                <a:solidFill>
                  <a:srgbClr val="676767"/>
                </a:solidFill>
                <a:latin typeface="Calibri"/>
                <a:ea typeface="Calibri"/>
                <a:cs typeface="Calibri"/>
              </a:rPr>
              <a:t>活跃请求 ↓
KV Cache 读取 ↑</a:t>
            </a:r>
            <a:endParaRPr sz="1050">
              <a:solidFill>
                <a:srgbClr val="676767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" name="Rounded Rectangle 7"/>
          <p:cNvSpPr>
            <a:spLocks noGrp="1"/>
          </p:cNvSpPr>
          <p:nvPr/>
        </p:nvSpPr>
        <p:spPr>
          <a:xfrm>
            <a:off x="566928" y="4187952"/>
            <a:ext cx="1161288" cy="804672"/>
          </a:xfrm>
          <a:prstGeom prst="roundRect">
            <a:avLst/>
          </a:prstGeom>
          <a:solidFill>
            <a:srgbClr val="F1F8EC"/>
          </a:solidFill>
          <a:ln w="13970">
            <a:solidFill>
              <a:srgbClr val="4F8D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bIns="36576" anchor="ctr"/>
          <a:lstStyle/>
          <a:p>
            <a:pPr algn="ctr">
              <a:buNone/>
            </a:pPr>
            <a:r>
              <a:rPr sz="1500" b="1">
                <a:solidFill>
                  <a:srgbClr val="4F8D22"/>
                </a:solidFill>
                <a:latin typeface="Calibri"/>
                <a:ea typeface="Calibri"/>
                <a:cs typeface="Calibri"/>
              </a:rPr>
              <a:t>MoE / FFN</a:t>
            </a:r>
            <a:endParaRPr sz="1500" b="1">
              <a:solidFill>
                <a:srgbClr val="4F8D22"/>
              </a:solidFill>
              <a:latin typeface="Calibri"/>
              <a:ea typeface="Calibri"/>
              <a:cs typeface="Calibri"/>
            </a:endParaRPr>
          </a:p>
          <a:p>
            <a:pPr algn="ctr">
              <a:spcBef>
                <a:spcPts val="100"/>
              </a:spcBef>
              <a:buNone/>
            </a:pPr>
            <a:r>
              <a:rPr sz="1050">
                <a:solidFill>
                  <a:srgbClr val="676767"/>
                </a:solidFill>
                <a:latin typeface="Calibri"/>
                <a:ea typeface="Calibri"/>
                <a:cs typeface="Calibri"/>
              </a:rPr>
              <a:t>Token 批次 ↓
专家利用率 ↓</a:t>
            </a:r>
            <a:endParaRPr sz="1050">
              <a:solidFill>
                <a:srgbClr val="676767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" name="TextBox 8"/>
          <p:cNvSpPr>
            <a:spLocks noGrp="1"/>
          </p:cNvSpPr>
          <p:nvPr/>
        </p:nvSpPr>
        <p:spPr>
          <a:xfrm>
            <a:off x="4407408" y="1353312"/>
            <a:ext cx="338328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1250" b="1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上下文长度：短  →  中  →  长</a:t>
            </a:r>
            <a:endParaRPr sz="1250" b="1">
              <a:solidFill>
                <a:srgbClr val="252525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" name="Rounded Rectangle 9"/>
          <p:cNvSpPr>
            <a:spLocks noGrp="1"/>
          </p:cNvSpPr>
          <p:nvPr/>
        </p:nvSpPr>
        <p:spPr>
          <a:xfrm>
            <a:off x="4904486" y="3325876"/>
            <a:ext cx="2633472" cy="347472"/>
          </a:xfrm>
          <a:prstGeom prst="roundRect">
            <a:avLst/>
          </a:prstGeom>
          <a:solidFill>
            <a:srgbClr val="FFF2F2"/>
          </a:solidFill>
          <a:ln w="1397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anchor="ctr"/>
          <a:lstStyle/>
          <a:p>
            <a:pPr algn="ctr">
              <a:buNone/>
            </a:pPr>
            <a:r>
              <a:rPr sz="1300" b="1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异构需求错配持续放大</a:t>
            </a:r>
            <a:endParaRPr sz="1300" b="1">
              <a:solidFill>
                <a:srgbClr val="C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" name="TextBox 10"/>
          <p:cNvSpPr>
            <a:spLocks noGrp="1"/>
          </p:cNvSpPr>
          <p:nvPr/>
        </p:nvSpPr>
        <p:spPr>
          <a:xfrm>
            <a:off x="4155567" y="5886831"/>
            <a:ext cx="86868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1150" b="1">
                <a:solidFill>
                  <a:srgbClr val="4F8D22"/>
                </a:solidFill>
                <a:latin typeface="Calibri"/>
                <a:ea typeface="Calibri"/>
                <a:cs typeface="Calibri"/>
              </a:rPr>
              <a:t>批次充足</a:t>
            </a:r>
            <a:endParaRPr sz="1150" b="1">
              <a:solidFill>
                <a:srgbClr val="4F8D22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" name="TextBox 11"/>
          <p:cNvSpPr>
            <a:spLocks noGrp="1"/>
          </p:cNvSpPr>
          <p:nvPr/>
        </p:nvSpPr>
        <p:spPr>
          <a:xfrm>
            <a:off x="6669278" y="5897626"/>
            <a:ext cx="86868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1150" b="1">
                <a:solidFill>
                  <a:srgbClr val="B26500"/>
                </a:solidFill>
                <a:latin typeface="Calibri"/>
                <a:ea typeface="Calibri"/>
                <a:cs typeface="Calibri"/>
              </a:rPr>
              <a:t>批次收缩</a:t>
            </a:r>
            <a:endParaRPr sz="1150" b="1">
              <a:solidFill>
                <a:srgbClr val="B265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3" name="TextBox 12"/>
          <p:cNvSpPr>
            <a:spLocks noGrp="1"/>
          </p:cNvSpPr>
          <p:nvPr/>
        </p:nvSpPr>
        <p:spPr>
          <a:xfrm>
            <a:off x="9704959" y="5886196"/>
            <a:ext cx="86868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1150" b="1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批次不足</a:t>
            </a:r>
            <a:endParaRPr sz="1150" b="1">
              <a:solidFill>
                <a:srgbClr val="C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4" name="Rounded Rectangle 13"/>
          <p:cNvSpPr>
            <a:spLocks noGrp="1"/>
          </p:cNvSpPr>
          <p:nvPr/>
        </p:nvSpPr>
        <p:spPr>
          <a:xfrm>
            <a:off x="612648" y="6144768"/>
            <a:ext cx="10972800" cy="365760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sz="14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上下文增长使 Attention 更受内存约束，同时削弱 MoE 的批处理效率</a:t>
            </a:r>
            <a:endParaRPr sz="1450" b="1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5" name="TextBox 14"/>
          <p:cNvSpPr>
            <a:spLocks noGrp="1"/>
          </p:cNvSpPr>
          <p:nvPr/>
        </p:nvSpPr>
        <p:spPr>
          <a:xfrm>
            <a:off x="713232" y="6601968"/>
            <a:ext cx="4572000" cy="1280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800" b="0">
                <a:solidFill>
                  <a:srgbClr val="8D8D8D"/>
                </a:solidFill>
                <a:latin typeface="Calibri"/>
                <a:ea typeface="Calibri"/>
                <a:cs typeface="Calibri"/>
              </a:rPr>
              <a:t>来源：用户提供的 AFD Plugin 动机说明</a:t>
            </a:r>
            <a:endParaRPr sz="800" b="0">
              <a:solidFill>
                <a:srgbClr val="8D8D8D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6" name="TextBox 15"/>
          <p:cNvSpPr>
            <a:spLocks noGrp="1"/>
          </p:cNvSpPr>
          <p:nvPr/>
        </p:nvSpPr>
        <p:spPr>
          <a:xfrm>
            <a:off x="11475720" y="6556248"/>
            <a:ext cx="18288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buNone/>
            </a:pPr>
            <a:r>
              <a:rPr sz="850" b="0">
                <a:solidFill>
                  <a:srgbClr val="797979"/>
                </a:solidFill>
                <a:latin typeface="Calibri"/>
                <a:ea typeface="Calibri"/>
                <a:cs typeface="Calibri"/>
              </a:rPr>
              <a:t>3</a:t>
            </a:r>
            <a:endParaRPr sz="850" b="0">
              <a:solidFill>
                <a:srgbClr val="797979"/>
              </a:solidFill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矩形 44"/>
          <p:cNvSpPr>
            <a:spLocks noGrp="1"/>
          </p:cNvSpPr>
          <p:nvPr/>
        </p:nvSpPr>
        <p:spPr>
          <a:xfrm>
            <a:off x="609600" y="209550"/>
            <a:ext cx="1809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825" b="1">
                <a:solidFill>
                  <a:srgbClr val="898989"/>
                </a:solidFill>
              </a:defRPr>
            </a:pPr>
            <a:r>
              <a:rPr sz="825" b="1">
                <a:solidFill>
                  <a:srgbClr val="898989"/>
                </a:solidFill>
              </a:rPr>
              <a:t>WHY AFD</a:t>
            </a:r>
            <a:endParaRPr sz="825" b="1">
              <a:solidFill>
                <a:srgbClr val="898989"/>
              </a:solidFill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09600" y="419100"/>
            <a:ext cx="10668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250" b="1">
                <a:solidFill>
                  <a:srgbClr val="C00000"/>
                </a:solidFill>
              </a:defRPr>
            </a:pPr>
            <a:r>
              <a:rPr sz="2250" b="1">
                <a:solidFill>
                  <a:srgbClr val="C00000"/>
                </a:solidFill>
              </a:rPr>
              <a:t>Attention–FFN 解耦带来弹性配比、异构部署与低时延</a:t>
            </a:r>
            <a:endParaRPr sz="2250" b="1">
              <a:solidFill>
                <a:srgbClr val="C00000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914400"/>
            <a:ext cx="1428750" cy="28575"/>
          </a:xfrm>
          <a:prstGeom prst="rect">
            <a:avLst/>
          </a:prstGeom>
          <a:solidFill>
            <a:srgbClr val="C00000"/>
          </a:solidFill>
          <a:ln w="0">
            <a:solidFill>
              <a:srgbClr val="C00000"/>
            </a:solidFill>
            <a:prstDash val="solid"/>
          </a:ln>
        </p:spPr>
        <p:txBody>
          <a:bodyPr/>
          <a:lstStyle/>
          <a:p/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1430000" y="6419850"/>
            <a:ext cx="2286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buNone/>
              <a:defRPr sz="825" b="0">
                <a:solidFill>
                  <a:srgbClr val="898989"/>
                </a:solidFill>
              </a:defRPr>
            </a:pPr>
            <a:r>
              <a:rPr sz="825" b="0">
                <a:solidFill>
                  <a:srgbClr val="898989"/>
                </a:solidFill>
              </a:rPr>
              <a:t>4</a:t>
            </a:r>
            <a:endParaRPr sz="825" b="0">
              <a:solidFill>
                <a:srgbClr val="898989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09600" y="1143000"/>
            <a:ext cx="4476750" cy="4876800"/>
          </a:xfrm>
          <a:prstGeom prst="rect">
            <a:avLst/>
          </a:prstGeom>
          <a:solidFill>
            <a:srgbClr val="FAFAFA"/>
          </a:solidFill>
          <a:ln w="9525">
            <a:solidFill>
              <a:srgbClr val="DDDDDD"/>
            </a:solidFill>
            <a:prstDash val="solid"/>
          </a:ln>
        </p:spPr>
        <p:txBody>
          <a:bodyPr/>
          <a:lstStyle/>
          <a:p/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819150" y="1276350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500" b="1">
                <a:solidFill>
                  <a:srgbClr val="C00000"/>
                </a:solidFill>
              </a:defRPr>
            </a:pPr>
            <a:r>
              <a:rPr sz="1500" b="1">
                <a:solidFill>
                  <a:srgbClr val="C00000"/>
                </a:solidFill>
              </a:rPr>
              <a:t>方法：拆分计算角色</a:t>
            </a:r>
            <a:endParaRPr sz="1500" b="1">
              <a:solidFill>
                <a:srgbClr val="C00000"/>
              </a:solidFill>
            </a:endParaRPr>
          </a:p>
        </p:txBody>
      </p:sp>
      <p:pic>
        <p:nvPicPr>
          <p:cNvPr id="57" name="图片 5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2969" y="1657350"/>
            <a:ext cx="2315563" cy="1676400"/>
          </a:xfrm>
          <a:prstGeom prst="rect">
            <a:avLst/>
          </a:prstGeom>
        </p:spPr>
      </p:pic>
      <p:sp>
        <p:nvSpPr>
          <p:cNvPr id="8" name="矩形 7"/>
          <p:cNvSpPr>
            <a:spLocks noGrp="1"/>
          </p:cNvSpPr>
          <p:nvPr/>
        </p:nvSpPr>
        <p:spPr>
          <a:xfrm>
            <a:off x="3676650" y="1971675"/>
            <a:ext cx="1104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00" b="1">
                <a:solidFill>
                  <a:srgbClr val="56870C"/>
                </a:solidFill>
              </a:defRPr>
            </a:pPr>
            <a:r>
              <a:rPr sz="1200" b="1">
                <a:solidFill>
                  <a:srgbClr val="56870C"/>
                </a:solidFill>
              </a:rPr>
              <a:t>N × FFN</a:t>
            </a:r>
            <a:endParaRPr sz="1200" b="1">
              <a:solidFill>
                <a:srgbClr val="56870C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3676650" y="2686050"/>
            <a:ext cx="1104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00" b="1">
                <a:solidFill>
                  <a:srgbClr val="2046A0"/>
                </a:solidFill>
              </a:defRPr>
            </a:pPr>
            <a:r>
              <a:rPr sz="1200" b="1">
                <a:solidFill>
                  <a:srgbClr val="2046A0"/>
                </a:solidFill>
              </a:rPr>
              <a:t>M × Attention</a:t>
            </a:r>
            <a:endParaRPr sz="1200" b="1">
              <a:solidFill>
                <a:srgbClr val="2046A0"/>
              </a:solidFill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819150" y="3314700"/>
            <a:ext cx="40195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125" b="0">
                <a:solidFill>
                  <a:srgbClr val="555757"/>
                </a:solidFill>
              </a:defRPr>
            </a:pPr>
            <a:r>
              <a:rPr sz="1125" b="0">
                <a:solidFill>
                  <a:srgbClr val="555757"/>
                </a:solidFill>
              </a:rPr>
              <a:t>将 Attention 与 FFN 部署到独立集群，</a:t>
            </a:r>
            <a:endParaRPr sz="1125" b="0">
              <a:solidFill>
                <a:srgbClr val="555757"/>
              </a:solidFill>
            </a:endParaRPr>
          </a:p>
          <a:p>
            <a:pPr algn="l">
              <a:buNone/>
              <a:defRPr sz="1125" b="0">
                <a:solidFill>
                  <a:srgbClr val="555757"/>
                </a:solidFill>
              </a:defRPr>
            </a:pPr>
            <a:r>
              <a:rPr sz="1125" b="0">
                <a:solidFill>
                  <a:srgbClr val="555757"/>
                </a:solidFill>
              </a:rPr>
              <a:t>通过 RDMA / NVLink / UB 交换激活。</a:t>
            </a:r>
            <a:endParaRPr sz="1125" b="0">
              <a:solidFill>
                <a:srgbClr val="555757"/>
              </a:solidFill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819150" y="3886200"/>
            <a:ext cx="3714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200" b="1">
                <a:solidFill>
                  <a:srgbClr val="1B1D21"/>
                </a:solidFill>
              </a:defRPr>
            </a:pPr>
            <a:r>
              <a:rPr sz="1200" b="1">
                <a:solidFill>
                  <a:srgbClr val="1B1D21"/>
                </a:solidFill>
              </a:rPr>
              <a:t>外部趋势：吞吐与交互性同时优化</a:t>
            </a:r>
            <a:endParaRPr sz="1200" b="1">
              <a:solidFill>
                <a:srgbClr val="1B1D21"/>
              </a:solidFill>
            </a:endParaRPr>
          </a:p>
        </p:txBody>
      </p:sp>
      <p:pic>
        <p:nvPicPr>
          <p:cNvPr id="62" name="图片 5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1542" y="4171950"/>
            <a:ext cx="2854766" cy="1676400"/>
          </a:xfrm>
          <a:prstGeom prst="rect">
            <a:avLst/>
          </a:prstGeom>
        </p:spPr>
      </p:pic>
      <p:sp>
        <p:nvSpPr>
          <p:cNvPr id="13" name="矩形 12"/>
          <p:cNvSpPr>
            <a:spLocks noGrp="1"/>
          </p:cNvSpPr>
          <p:nvPr/>
        </p:nvSpPr>
        <p:spPr>
          <a:xfrm>
            <a:off x="5314950" y="1143000"/>
            <a:ext cx="6267450" cy="175260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  <a:prstDash val="solid"/>
          </a:ln>
        </p:spPr>
        <p:txBody>
          <a:bodyPr/>
          <a:lstStyle/>
          <a:p/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5524500" y="1257300"/>
            <a:ext cx="1905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425" b="1">
                <a:solidFill>
                  <a:srgbClr val="C00000"/>
                </a:solidFill>
              </a:defRPr>
            </a:pPr>
            <a:r>
              <a:rPr sz="1425" b="1">
                <a:solidFill>
                  <a:srgbClr val="C00000"/>
                </a:solidFill>
              </a:rPr>
              <a:t>01  弹性配比</a:t>
            </a:r>
            <a:endParaRPr sz="1425" b="1">
              <a:solidFill>
                <a:srgbClr val="C00000"/>
              </a:solidFill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7486650" y="1276350"/>
            <a:ext cx="3848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buNone/>
              <a:defRPr sz="975" b="0">
                <a:solidFill>
                  <a:srgbClr val="555757"/>
                </a:solidFill>
              </a:defRPr>
            </a:pPr>
            <a:r>
              <a:rPr sz="975" b="0">
                <a:solidFill>
                  <a:srgbClr val="555757"/>
                </a:solidFill>
              </a:rPr>
              <a:t>解耦后可独立调整 A:F 实例比例，突破共置场景的共同 batch 上限。</a:t>
            </a:r>
            <a:endParaRPr sz="975" b="0">
              <a:solidFill>
                <a:srgbClr val="555757"/>
              </a:solidFill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5619750" y="1562100"/>
            <a:ext cx="25527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975" b="1">
                <a:solidFill>
                  <a:srgbClr val="898989"/>
                </a:solidFill>
              </a:defRPr>
            </a:pPr>
            <a:r>
              <a:rPr sz="975" b="1">
                <a:solidFill>
                  <a:srgbClr val="898989"/>
                </a:solidFill>
              </a:rPr>
              <a:t>共置</a:t>
            </a:r>
            <a:endParaRPr sz="975" b="1">
              <a:solidFill>
                <a:srgbClr val="898989"/>
              </a:solidFill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8458200" y="1562100"/>
            <a:ext cx="28003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975" b="1">
                <a:solidFill>
                  <a:srgbClr val="C00000"/>
                </a:solidFill>
              </a:defRPr>
            </a:pPr>
            <a:r>
              <a:rPr sz="975" b="1">
                <a:solidFill>
                  <a:srgbClr val="C00000"/>
                </a:solidFill>
              </a:rPr>
              <a:t>解耦</a:t>
            </a:r>
            <a:endParaRPr sz="975" b="1">
              <a:solidFill>
                <a:srgbClr val="C00000"/>
              </a:solidFill>
            </a:endParaRPr>
          </a:p>
        </p:txBody>
      </p:sp>
      <p:pic>
        <p:nvPicPr>
          <p:cNvPr id="68" name="图片 6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7434" y="1752600"/>
            <a:ext cx="1517333" cy="1028700"/>
          </a:xfrm>
          <a:prstGeom prst="rect">
            <a:avLst/>
          </a:prstGeom>
        </p:spPr>
      </p:pic>
      <p:pic>
        <p:nvPicPr>
          <p:cNvPr id="69" name="图片 6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88727" y="1752600"/>
            <a:ext cx="1539296" cy="1028700"/>
          </a:xfrm>
          <a:prstGeom prst="rect">
            <a:avLst/>
          </a:prstGeom>
        </p:spPr>
      </p:pic>
      <p:sp>
        <p:nvSpPr>
          <p:cNvPr id="20" name="矩形 19"/>
          <p:cNvSpPr>
            <a:spLocks noGrp="1"/>
          </p:cNvSpPr>
          <p:nvPr/>
        </p:nvSpPr>
        <p:spPr>
          <a:xfrm>
            <a:off x="5314950" y="3048000"/>
            <a:ext cx="6267450" cy="163830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  <a:prstDash val="solid"/>
          </a:ln>
        </p:spPr>
        <p:txBody>
          <a:bodyPr/>
          <a:lstStyle/>
          <a:p/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5524500" y="3143250"/>
            <a:ext cx="1905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425" b="1">
                <a:solidFill>
                  <a:srgbClr val="C00000"/>
                </a:solidFill>
              </a:defRPr>
            </a:pPr>
            <a:r>
              <a:rPr sz="1425" b="1">
                <a:solidFill>
                  <a:srgbClr val="C00000"/>
                </a:solidFill>
              </a:rPr>
              <a:t>02  异构部署</a:t>
            </a:r>
            <a:endParaRPr sz="1425" b="1">
              <a:solidFill>
                <a:srgbClr val="C00000"/>
              </a:solidFill>
            </a:endParaRPr>
          </a:p>
        </p:txBody>
      </p:sp>
      <p:pic>
        <p:nvPicPr>
          <p:cNvPr id="72" name="图片 6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80420" y="3467100"/>
            <a:ext cx="3545811" cy="1066800"/>
          </a:xfrm>
          <a:prstGeom prst="rect">
            <a:avLst/>
          </a:prstGeom>
        </p:spPr>
      </p:pic>
      <p:sp>
        <p:nvSpPr>
          <p:cNvPr id="23" name="矩形 22"/>
          <p:cNvSpPr>
            <a:spLocks noGrp="1"/>
          </p:cNvSpPr>
          <p:nvPr/>
        </p:nvSpPr>
        <p:spPr>
          <a:xfrm>
            <a:off x="9734550" y="3409950"/>
            <a:ext cx="1619250" cy="1104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975" b="0">
                <a:solidFill>
                  <a:srgbClr val="555757"/>
                </a:solidFill>
              </a:defRPr>
            </a:pPr>
            <a:r>
              <a:rPr sz="975" b="0">
                <a:solidFill>
                  <a:srgbClr val="555757"/>
                </a:solidFill>
              </a:rPr>
              <a:t>Attention 与 FFN 可分别选择成本效率更优的硬件。</a:t>
            </a:r>
            <a:endParaRPr sz="975" b="0">
              <a:solidFill>
                <a:srgbClr val="555757"/>
              </a:solidFill>
            </a:endParaRPr>
          </a:p>
          <a:p>
            <a:endParaRPr sz="975"/>
          </a:p>
          <a:p>
            <a:pPr algn="l">
              <a:buNone/>
              <a:defRPr sz="975" b="0">
                <a:solidFill>
                  <a:srgbClr val="555757"/>
                </a:solidFill>
              </a:defRPr>
            </a:pPr>
            <a:r>
              <a:rPr sz="975" b="0">
                <a:solidFill>
                  <a:srgbClr val="555757"/>
                </a:solidFill>
              </a:rPr>
              <a:t>异构组合具备</a:t>
            </a:r>
            <a:endParaRPr sz="975" b="0">
              <a:solidFill>
                <a:srgbClr val="555757"/>
              </a:solidFill>
            </a:endParaRPr>
          </a:p>
          <a:p>
            <a:pPr algn="l">
              <a:buNone/>
              <a:defRPr sz="975" b="0">
                <a:solidFill>
                  <a:srgbClr val="555757"/>
                </a:solidFill>
              </a:defRPr>
            </a:pPr>
            <a:r>
              <a:rPr sz="975" b="0">
                <a:solidFill>
                  <a:srgbClr val="555757"/>
                </a:solidFill>
              </a:rPr>
              <a:t>进一步压低 decode cost 的空间。</a:t>
            </a:r>
            <a:endParaRPr sz="975" b="0">
              <a:solidFill>
                <a:srgbClr val="555757"/>
              </a:solidFill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5314950" y="4838700"/>
            <a:ext cx="6267450" cy="118110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  <a:prstDash val="solid"/>
          </a:ln>
        </p:spPr>
        <p:txBody>
          <a:bodyPr/>
          <a:lstStyle/>
          <a:p/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5524500" y="4933950"/>
            <a:ext cx="1619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425" b="1">
                <a:solidFill>
                  <a:srgbClr val="C00000"/>
                </a:solidFill>
              </a:defRPr>
            </a:pPr>
            <a:r>
              <a:rPr sz="1425" b="1">
                <a:solidFill>
                  <a:srgbClr val="C00000"/>
                </a:solidFill>
              </a:rPr>
              <a:t>03  低时延</a:t>
            </a:r>
            <a:endParaRPr sz="1425" b="1">
              <a:solidFill>
                <a:srgbClr val="C00000"/>
              </a:solidFill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5524500" y="5257800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900" b="1">
                <a:solidFill>
                  <a:srgbClr val="555757"/>
                </a:solidFill>
              </a:defRPr>
            </a:pPr>
            <a:r>
              <a:rPr sz="900" b="1">
                <a:solidFill>
                  <a:srgbClr val="555757"/>
                </a:solidFill>
              </a:rPr>
              <a:t>同步</a:t>
            </a:r>
            <a:endParaRPr sz="900" b="1">
              <a:solidFill>
                <a:srgbClr val="555757"/>
              </a:solidFill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5524500" y="5581650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900" b="1">
                <a:solidFill>
                  <a:srgbClr val="C00000"/>
                </a:solidFill>
              </a:defRPr>
            </a:pPr>
            <a:r>
              <a:rPr sz="900" b="1">
                <a:solidFill>
                  <a:srgbClr val="C00000"/>
                </a:solidFill>
              </a:rPr>
              <a:t>异步</a:t>
            </a:r>
            <a:endParaRPr sz="900" b="1">
              <a:solidFill>
                <a:srgbClr val="C00000"/>
              </a:solidFill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6057900" y="5257800"/>
            <a:ext cx="514350" cy="171450"/>
          </a:xfrm>
          <a:prstGeom prst="rect">
            <a:avLst/>
          </a:prstGeom>
          <a:solidFill>
            <a:srgbClr val="EDF6E7"/>
          </a:solidFill>
          <a:ln w="9525">
            <a:solidFill>
              <a:srgbClr val="56870C"/>
            </a:solidFill>
            <a:prstDash val="solid"/>
          </a:ln>
        </p:spPr>
        <p:txBody>
          <a:bodyPr/>
          <a:lstStyle/>
          <a:p/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6629400" y="5238750"/>
            <a:ext cx="95250" cy="209550"/>
          </a:xfrm>
          <a:prstGeom prst="rect">
            <a:avLst/>
          </a:prstGeom>
          <a:solidFill>
            <a:srgbClr val="E9F1FB"/>
          </a:solidFill>
          <a:ln w="9525">
            <a:solidFill>
              <a:srgbClr val="2046A0"/>
            </a:solidFill>
            <a:prstDash val="solid"/>
          </a:ln>
        </p:spPr>
        <p:txBody>
          <a:bodyPr/>
          <a:lstStyle/>
          <a:p/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6800850" y="5257800"/>
            <a:ext cx="514350" cy="171450"/>
          </a:xfrm>
          <a:prstGeom prst="rect">
            <a:avLst/>
          </a:prstGeom>
          <a:solidFill>
            <a:srgbClr val="EDF6E7"/>
          </a:solidFill>
          <a:ln w="9525">
            <a:solidFill>
              <a:srgbClr val="56870C"/>
            </a:solidFill>
            <a:prstDash val="solid"/>
          </a:ln>
        </p:spPr>
        <p:txBody>
          <a:bodyPr/>
          <a:lstStyle/>
          <a:p/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7372350" y="5238750"/>
            <a:ext cx="95250" cy="209550"/>
          </a:xfrm>
          <a:prstGeom prst="rect">
            <a:avLst/>
          </a:prstGeom>
          <a:solidFill>
            <a:srgbClr val="E9F1FB"/>
          </a:solidFill>
          <a:ln w="9525">
            <a:solidFill>
              <a:srgbClr val="2046A0"/>
            </a:solidFill>
            <a:prstDash val="solid"/>
          </a:ln>
        </p:spPr>
        <p:txBody>
          <a:bodyPr/>
          <a:lstStyle/>
          <a:p/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7543800" y="5257800"/>
            <a:ext cx="514350" cy="171450"/>
          </a:xfrm>
          <a:prstGeom prst="rect">
            <a:avLst/>
          </a:prstGeom>
          <a:solidFill>
            <a:srgbClr val="EDF6E7"/>
          </a:solidFill>
          <a:ln w="9525">
            <a:solidFill>
              <a:srgbClr val="56870C"/>
            </a:solidFill>
            <a:prstDash val="solid"/>
          </a:ln>
        </p:spPr>
        <p:txBody>
          <a:bodyPr/>
          <a:lstStyle/>
          <a:p/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8115300" y="5238750"/>
            <a:ext cx="95250" cy="209550"/>
          </a:xfrm>
          <a:prstGeom prst="rect">
            <a:avLst/>
          </a:prstGeom>
          <a:solidFill>
            <a:srgbClr val="E9F1FB"/>
          </a:solidFill>
          <a:ln w="9525">
            <a:solidFill>
              <a:srgbClr val="2046A0"/>
            </a:solidFill>
            <a:prstDash val="solid"/>
          </a:ln>
        </p:spPr>
        <p:txBody>
          <a:bodyPr/>
          <a:lstStyle/>
          <a:p/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8286750" y="5257800"/>
            <a:ext cx="514350" cy="171450"/>
          </a:xfrm>
          <a:prstGeom prst="rect">
            <a:avLst/>
          </a:prstGeom>
          <a:solidFill>
            <a:srgbClr val="EDF6E7"/>
          </a:solidFill>
          <a:ln w="9525">
            <a:solidFill>
              <a:srgbClr val="56870C"/>
            </a:solidFill>
            <a:prstDash val="solid"/>
          </a:ln>
        </p:spPr>
        <p:txBody>
          <a:bodyPr/>
          <a:lstStyle/>
          <a:p/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8858250" y="5238750"/>
            <a:ext cx="4572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750" b="0">
                <a:solidFill>
                  <a:srgbClr val="898989"/>
                </a:solidFill>
              </a:defRPr>
            </a:pPr>
            <a:r>
              <a:rPr sz="750" b="0">
                <a:solidFill>
                  <a:srgbClr val="898989"/>
                </a:solidFill>
              </a:rPr>
              <a:t>全局屏障</a:t>
            </a:r>
            <a:endParaRPr sz="750" b="0">
              <a:solidFill>
                <a:srgbClr val="898989"/>
              </a:solidFill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6057900" y="5581650"/>
            <a:ext cx="590550" cy="171450"/>
          </a:xfrm>
          <a:prstGeom prst="rect">
            <a:avLst/>
          </a:prstGeom>
          <a:solidFill>
            <a:srgbClr val="EDF6E7"/>
          </a:solidFill>
          <a:ln w="9525">
            <a:solidFill>
              <a:srgbClr val="56870C"/>
            </a:solidFill>
            <a:prstDash val="solid"/>
          </a:ln>
        </p:spPr>
        <p:txBody>
          <a:bodyPr/>
          <a:lstStyle/>
          <a:p/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6705600" y="5581650"/>
            <a:ext cx="171450" cy="171450"/>
          </a:xfrm>
          <a:prstGeom prst="rect">
            <a:avLst/>
          </a:prstGeom>
          <a:solidFill>
            <a:srgbClr val="E9F1FB"/>
          </a:solidFill>
          <a:ln w="9525">
            <a:solidFill>
              <a:srgbClr val="2046A0"/>
            </a:solidFill>
            <a:prstDash val="solid"/>
          </a:ln>
        </p:spPr>
        <p:txBody>
          <a:bodyPr/>
          <a:lstStyle/>
          <a:p/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6934200" y="5629275"/>
            <a:ext cx="495300" cy="171450"/>
          </a:xfrm>
          <a:prstGeom prst="rect">
            <a:avLst/>
          </a:prstGeom>
          <a:solidFill>
            <a:srgbClr val="EDF6E7"/>
          </a:solidFill>
          <a:ln w="9525">
            <a:solidFill>
              <a:srgbClr val="56870C"/>
            </a:solidFill>
            <a:prstDash val="solid"/>
          </a:ln>
        </p:spPr>
        <p:txBody>
          <a:bodyPr/>
          <a:lstStyle/>
          <a:p/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7486650" y="5543550"/>
            <a:ext cx="171450" cy="171450"/>
          </a:xfrm>
          <a:prstGeom prst="rect">
            <a:avLst/>
          </a:prstGeom>
          <a:solidFill>
            <a:srgbClr val="E9F1FB"/>
          </a:solidFill>
          <a:ln w="9525">
            <a:solidFill>
              <a:srgbClr val="2046A0"/>
            </a:solidFill>
            <a:prstDash val="solid"/>
          </a:ln>
        </p:spPr>
        <p:txBody>
          <a:bodyPr/>
          <a:lstStyle/>
          <a:p/>
        </p:txBody>
      </p:sp>
      <p:sp>
        <p:nvSpPr>
          <p:cNvPr id="40" name="矩形 39"/>
          <p:cNvSpPr>
            <a:spLocks noGrp="1"/>
          </p:cNvSpPr>
          <p:nvPr/>
        </p:nvSpPr>
        <p:spPr>
          <a:xfrm>
            <a:off x="7715250" y="5581650"/>
            <a:ext cx="628650" cy="171450"/>
          </a:xfrm>
          <a:prstGeom prst="rect">
            <a:avLst/>
          </a:prstGeom>
          <a:solidFill>
            <a:srgbClr val="EDF6E7"/>
          </a:solidFill>
          <a:ln w="9525">
            <a:solidFill>
              <a:srgbClr val="56870C"/>
            </a:solidFill>
            <a:prstDash val="solid"/>
          </a:ln>
        </p:spPr>
        <p:txBody>
          <a:bodyPr/>
          <a:lstStyle/>
          <a:p/>
        </p:txBody>
      </p:sp>
      <p:sp>
        <p:nvSpPr>
          <p:cNvPr id="41" name="矩形 40"/>
          <p:cNvSpPr>
            <a:spLocks noGrp="1"/>
          </p:cNvSpPr>
          <p:nvPr/>
        </p:nvSpPr>
        <p:spPr>
          <a:xfrm>
            <a:off x="8401050" y="5638800"/>
            <a:ext cx="171450" cy="171450"/>
          </a:xfrm>
          <a:prstGeom prst="rect">
            <a:avLst/>
          </a:prstGeom>
          <a:solidFill>
            <a:srgbClr val="E9F1FB"/>
          </a:solidFill>
          <a:ln w="9525">
            <a:solidFill>
              <a:srgbClr val="2046A0"/>
            </a:solidFill>
            <a:prstDash val="solid"/>
          </a:ln>
        </p:spPr>
        <p:txBody>
          <a:bodyPr/>
          <a:lstStyle/>
          <a:p/>
        </p:txBody>
      </p:sp>
      <p:sp>
        <p:nvSpPr>
          <p:cNvPr id="42" name="矩形 41"/>
          <p:cNvSpPr>
            <a:spLocks noGrp="1"/>
          </p:cNvSpPr>
          <p:nvPr/>
        </p:nvSpPr>
        <p:spPr>
          <a:xfrm>
            <a:off x="8629650" y="5581650"/>
            <a:ext cx="590550" cy="171450"/>
          </a:xfrm>
          <a:prstGeom prst="rect">
            <a:avLst/>
          </a:prstGeom>
          <a:solidFill>
            <a:srgbClr val="EDF6E7"/>
          </a:solidFill>
          <a:ln w="9525">
            <a:solidFill>
              <a:srgbClr val="56870C"/>
            </a:solidFill>
            <a:prstDash val="solid"/>
          </a:ln>
        </p:spPr>
        <p:txBody>
          <a:bodyPr/>
          <a:lstStyle/>
          <a:p/>
        </p:txBody>
      </p:sp>
      <p:sp>
        <p:nvSpPr>
          <p:cNvPr id="43" name="矩形 42"/>
          <p:cNvSpPr>
            <a:spLocks noGrp="1"/>
          </p:cNvSpPr>
          <p:nvPr/>
        </p:nvSpPr>
        <p:spPr>
          <a:xfrm>
            <a:off x="9429750" y="5200650"/>
            <a:ext cx="19240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975" b="0">
                <a:solidFill>
                  <a:srgbClr val="555757"/>
                </a:solidFill>
              </a:defRPr>
            </a:pPr>
            <a:r>
              <a:rPr sz="975" b="0">
                <a:solidFill>
                  <a:srgbClr val="555757"/>
                </a:solidFill>
              </a:rPr>
              <a:t>异步调度消除全局同步屏障，</a:t>
            </a:r>
            <a:endParaRPr sz="975" b="0">
              <a:solidFill>
                <a:srgbClr val="555757"/>
              </a:solidFill>
            </a:endParaRPr>
          </a:p>
          <a:p>
            <a:pPr algn="l">
              <a:buNone/>
              <a:defRPr sz="975" b="0">
                <a:solidFill>
                  <a:srgbClr val="555757"/>
                </a:solidFill>
              </a:defRPr>
            </a:pPr>
            <a:r>
              <a:rPr sz="975" b="0">
                <a:solidFill>
                  <a:srgbClr val="555757"/>
                </a:solidFill>
              </a:rPr>
              <a:t>让通信与计算重叠，减少 idle waiting。</a:t>
            </a:r>
            <a:endParaRPr sz="975" b="0">
              <a:solidFill>
                <a:srgbClr val="555757"/>
              </a:solidFill>
            </a:endParaRPr>
          </a:p>
        </p:txBody>
      </p:sp>
      <p:sp>
        <p:nvSpPr>
          <p:cNvPr id="44" name="矩形 43"/>
          <p:cNvSpPr>
            <a:spLocks noGrp="1"/>
          </p:cNvSpPr>
          <p:nvPr/>
        </p:nvSpPr>
        <p:spPr>
          <a:xfrm>
            <a:off x="609600" y="6419850"/>
            <a:ext cx="10287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675" b="0" i="1">
                <a:solidFill>
                  <a:srgbClr val="898989"/>
                </a:solidFill>
              </a:defRPr>
            </a:pPr>
            <a:r>
              <a:rPr sz="675" b="0" i="1">
                <a:solidFill>
                  <a:srgbClr val="898989"/>
                </a:solidFill>
              </a:rPr>
              <a:t>来源：原始 PPT 第 1 页（Methodology / Benefits）</a:t>
            </a:r>
            <a:endParaRPr sz="675" b="0" i="1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/>
          <p:cNvSpPr>
            <a:spLocks noGrp="1"/>
          </p:cNvSpPr>
          <p:nvPr/>
        </p:nvSpPr>
        <p:spPr>
          <a:xfrm>
            <a:off x="609600" y="209550"/>
            <a:ext cx="1809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825" b="1">
                <a:solidFill>
                  <a:srgbClr val="898989"/>
                </a:solidFill>
              </a:defRPr>
            </a:pPr>
            <a:r>
              <a:rPr sz="825" b="1">
                <a:solidFill>
                  <a:srgbClr val="898989"/>
                </a:solidFill>
              </a:rPr>
              <a:t>PROJECT OVERVIEW</a:t>
            </a:r>
            <a:endParaRPr sz="825" b="1">
              <a:solidFill>
                <a:srgbClr val="898989"/>
              </a:solidFill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09600" y="419100"/>
            <a:ext cx="10668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250" b="1">
                <a:solidFill>
                  <a:srgbClr val="C00000"/>
                </a:solidFill>
              </a:defRPr>
            </a:pPr>
            <a:r>
              <a:rPr sz="2250" b="1">
                <a:solidFill>
                  <a:srgbClr val="C00000"/>
                </a:solidFill>
              </a:rPr>
              <a:t>AFD Plugin 是 vLLM 的 Attention–FFN 解耦外部插件</a:t>
            </a:r>
            <a:endParaRPr sz="2250" b="1">
              <a:solidFill>
                <a:srgbClr val="C00000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914400"/>
            <a:ext cx="1428750" cy="28575"/>
          </a:xfrm>
          <a:prstGeom prst="rect">
            <a:avLst/>
          </a:prstGeom>
          <a:solidFill>
            <a:srgbClr val="C00000"/>
          </a:solidFill>
          <a:ln w="0">
            <a:solidFill>
              <a:srgbClr val="C00000"/>
            </a:solidFill>
            <a:prstDash val="solid"/>
          </a:ln>
        </p:spPr>
        <p:txBody>
          <a:bodyPr/>
          <a:lstStyle/>
          <a:p/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1430000" y="6419850"/>
            <a:ext cx="2286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buNone/>
              <a:defRPr sz="825" b="0">
                <a:solidFill>
                  <a:srgbClr val="898989"/>
                </a:solidFill>
              </a:defRPr>
            </a:pPr>
            <a:r>
              <a:rPr sz="825" b="0">
                <a:solidFill>
                  <a:srgbClr val="898989"/>
                </a:solidFill>
              </a:rPr>
              <a:t>2</a:t>
            </a:r>
            <a:endParaRPr sz="825" b="0">
              <a:solidFill>
                <a:srgbClr val="898989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09600" y="1190625"/>
            <a:ext cx="4762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500" b="1">
                <a:solidFill>
                  <a:srgbClr val="0969DA"/>
                </a:solidFill>
              </a:defRPr>
            </a:pPr>
            <a:r>
              <a:rPr sz="1500" b="1">
                <a:solidFill>
                  <a:srgbClr val="0969DA"/>
                </a:solidFill>
              </a:rPr>
              <a:t>github.com/vllm-project/afd-plugin</a:t>
            </a:r>
            <a:endParaRPr sz="1500" b="1">
              <a:solidFill>
                <a:srgbClr val="0969DA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09600" y="1847850"/>
            <a:ext cx="4762500" cy="9525"/>
          </a:xfrm>
          <a:prstGeom prst="rect">
            <a:avLst/>
          </a:prstGeom>
          <a:solidFill>
            <a:srgbClr val="D0D7DE"/>
          </a:solidFill>
          <a:ln w="0">
            <a:solidFill>
              <a:srgbClr val="D0D7DE"/>
            </a:solidFill>
            <a:prstDash val="solid"/>
          </a:ln>
        </p:spPr>
        <p:txBody>
          <a:bodyPr/>
          <a:lstStyle/>
          <a:p/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09600" y="2019300"/>
            <a:ext cx="46672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275" b="0">
                <a:solidFill>
                  <a:srgbClr val="555757"/>
                </a:solidFill>
              </a:defRPr>
            </a:pPr>
            <a:r>
              <a:rPr sz="1275" b="0">
                <a:solidFill>
                  <a:srgbClr val="555757"/>
                </a:solidFill>
              </a:rPr>
              <a:t>将 Attention 与 FFN / MoE 拆为独立运行角色，通过 Connector 交换激活，并让两侧资源按负载独立扩缩。</a:t>
            </a:r>
            <a:endParaRPr sz="1275" b="0">
              <a:solidFill>
                <a:srgbClr val="555757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609600" y="2952750"/>
            <a:ext cx="4667250" cy="19050"/>
          </a:xfrm>
          <a:prstGeom prst="rect">
            <a:avLst/>
          </a:prstGeom>
          <a:solidFill>
            <a:srgbClr val="2046A0"/>
          </a:solidFill>
          <a:ln w="0">
            <a:solidFill>
              <a:srgbClr val="2046A0"/>
            </a:solidFill>
            <a:prstDash val="solid"/>
          </a:ln>
        </p:spPr>
        <p:txBody>
          <a:bodyPr/>
          <a:lstStyle/>
          <a:p/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609600" y="3048000"/>
            <a:ext cx="1466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200" b="1">
                <a:solidFill>
                  <a:srgbClr val="2046A0"/>
                </a:solidFill>
              </a:defRPr>
            </a:pPr>
            <a:r>
              <a:rPr sz="1200" b="1">
                <a:solidFill>
                  <a:srgbClr val="2046A0"/>
                </a:solidFill>
              </a:rPr>
              <a:t>插件化接入</a:t>
            </a:r>
            <a:endParaRPr sz="1200" b="1">
              <a:solidFill>
                <a:srgbClr val="2046A0"/>
              </a:solidFill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1962150" y="3019425"/>
            <a:ext cx="33147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975" b="0">
                <a:solidFill>
                  <a:srgbClr val="555757"/>
                </a:solidFill>
              </a:defRPr>
            </a:pPr>
            <a:r>
              <a:rPr sz="975" b="0">
                <a:solidFill>
                  <a:srgbClr val="555757"/>
                </a:solidFill>
              </a:rPr>
              <a:t>通过 vllm.general_plugins、role worker、model wrapper 与 additional_config 接入。</a:t>
            </a:r>
            <a:endParaRPr sz="975" b="0">
              <a:solidFill>
                <a:srgbClr val="555757"/>
              </a:solidFill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09600" y="3752850"/>
            <a:ext cx="4667250" cy="19050"/>
          </a:xfrm>
          <a:prstGeom prst="rect">
            <a:avLst/>
          </a:prstGeom>
          <a:solidFill>
            <a:srgbClr val="7757B5"/>
          </a:solidFill>
          <a:ln w="0">
            <a:solidFill>
              <a:srgbClr val="7757B5"/>
            </a:solidFill>
            <a:prstDash val="solid"/>
          </a:ln>
        </p:spPr>
        <p:txBody>
          <a:bodyPr/>
          <a:lstStyle/>
          <a:p/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609600" y="3848100"/>
            <a:ext cx="1466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200" b="1">
                <a:solidFill>
                  <a:srgbClr val="7757B5"/>
                </a:solidFill>
              </a:defRPr>
            </a:pPr>
            <a:r>
              <a:rPr sz="1200" b="1">
                <a:solidFill>
                  <a:srgbClr val="7757B5"/>
                </a:solidFill>
              </a:rPr>
              <a:t>多硬件、多模式</a:t>
            </a:r>
            <a:endParaRPr sz="1200" b="1">
              <a:solidFill>
                <a:srgbClr val="7757B5"/>
              </a:solidFill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1962150" y="3819525"/>
            <a:ext cx="33147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975" b="0">
                <a:solidFill>
                  <a:srgbClr val="555757"/>
                </a:solidFill>
              </a:defRPr>
            </a:pPr>
            <a:r>
              <a:rPr sz="975" b="0">
                <a:solidFill>
                  <a:srgbClr val="555757"/>
                </a:solidFill>
              </a:rPr>
              <a:t>覆盖 CUDA 与 Ascend NPU，支持同步 Decode 与异步 Prefill Connector。</a:t>
            </a:r>
            <a:endParaRPr sz="975" b="0">
              <a:solidFill>
                <a:srgbClr val="555757"/>
              </a:solidFill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609600" y="4552950"/>
            <a:ext cx="4667250" cy="19050"/>
          </a:xfrm>
          <a:prstGeom prst="rect">
            <a:avLst/>
          </a:prstGeom>
          <a:solidFill>
            <a:srgbClr val="56870C"/>
          </a:solidFill>
          <a:ln w="0">
            <a:solidFill>
              <a:srgbClr val="56870C"/>
            </a:solidFill>
            <a:prstDash val="solid"/>
          </a:ln>
        </p:spPr>
        <p:txBody>
          <a:bodyPr/>
          <a:lstStyle/>
          <a:p/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609600" y="4648200"/>
            <a:ext cx="1466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200" b="1">
                <a:solidFill>
                  <a:srgbClr val="56870C"/>
                </a:solidFill>
              </a:defRPr>
            </a:pPr>
            <a:r>
              <a:rPr sz="1200" b="1">
                <a:solidFill>
                  <a:srgbClr val="56870C"/>
                </a:solidFill>
              </a:rPr>
              <a:t>明确的兼容边界</a:t>
            </a:r>
            <a:endParaRPr sz="1200" b="1">
              <a:solidFill>
                <a:srgbClr val="56870C"/>
              </a:solidFill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1962150" y="4619625"/>
            <a:ext cx="33147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975" b="0">
                <a:solidFill>
                  <a:srgbClr val="555757"/>
                </a:solidFill>
              </a:defRPr>
            </a:pPr>
            <a:r>
              <a:rPr sz="975" b="0">
                <a:solidFill>
                  <a:srgbClr val="555757"/>
                </a:solidFill>
              </a:rPr>
              <a:t>不修改 vLLM/vLLM-Ascend source tree。</a:t>
            </a:r>
            <a:endParaRPr sz="975" b="0">
              <a:solidFill>
                <a:srgbClr val="555757"/>
              </a:solidFill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609600" y="5467350"/>
            <a:ext cx="4667250" cy="533400"/>
          </a:xfrm>
          <a:prstGeom prst="rect">
            <a:avLst/>
          </a:prstGeom>
          <a:solidFill>
            <a:srgbClr val="FFF5DF"/>
          </a:solidFill>
          <a:ln w="9525">
            <a:solidFill>
              <a:srgbClr val="ED6D00"/>
            </a:solidFill>
            <a:prstDash val="solid"/>
          </a:ln>
        </p:spPr>
        <p:txBody>
          <a:bodyPr/>
          <a:lstStyle/>
          <a:p/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781050" y="5572125"/>
            <a:ext cx="4324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975" b="0">
                <a:solidFill>
                  <a:srgbClr val="555757"/>
                </a:solidFill>
              </a:defRPr>
            </a:pPr>
            <a:r>
              <a:rPr sz="975" b="0">
                <a:solidFill>
                  <a:srgbClr val="555757"/>
                </a:solidFill>
              </a:rPr>
              <a:t>当前状态：experimental，仍需在更多硬件与大规模场景中验证。</a:t>
            </a:r>
            <a:endParaRPr sz="975" b="0">
              <a:solidFill>
                <a:srgbClr val="555757"/>
              </a:solidFill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5657850" y="1143000"/>
            <a:ext cx="5924550" cy="4857750"/>
          </a:xfrm>
          <a:prstGeom prst="rect">
            <a:avLst/>
          </a:prstGeom>
          <a:solidFill>
            <a:srgbClr val="F6F8FA"/>
          </a:solidFill>
          <a:ln w="9525">
            <a:solidFill>
              <a:srgbClr val="D0D7DE"/>
            </a:solidFill>
            <a:prstDash val="solid"/>
          </a:ln>
        </p:spPr>
        <p:txBody>
          <a:bodyPr/>
          <a:lstStyle/>
          <a:p/>
        </p:txBody>
      </p:sp>
      <p:pic>
        <p:nvPicPr>
          <p:cNvPr id="44" name="图片 42"/>
          <p:cNvPicPr>
            <a:picLocks noChangeAspect="1"/>
          </p:cNvPicPr>
          <p:nvPr/>
        </p:nvPicPr>
        <p:blipFill>
          <a:blip r:embed="rId1"/>
          <a:srcRect l="3296" r="3296"/>
          <a:stretch>
            <a:fillRect/>
          </a:stretch>
        </p:blipFill>
        <p:spPr>
          <a:xfrm>
            <a:off x="5810250" y="1295400"/>
            <a:ext cx="5619750" cy="4552950"/>
          </a:xfrm>
          <a:prstGeom prst="rect">
            <a:avLst/>
          </a:prstGeom>
        </p:spPr>
      </p:pic>
      <p:sp>
        <p:nvSpPr>
          <p:cNvPr id="22" name="矩形 21"/>
          <p:cNvSpPr>
            <a:spLocks noGrp="1"/>
          </p:cNvSpPr>
          <p:nvPr/>
        </p:nvSpPr>
        <p:spPr>
          <a:xfrm>
            <a:off x="609600" y="6419850"/>
            <a:ext cx="10287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675" b="0" i="1">
                <a:solidFill>
                  <a:srgbClr val="898989"/>
                </a:solidFill>
              </a:defRPr>
            </a:pPr>
            <a:r>
              <a:rPr sz="675" b="0" i="1">
                <a:solidFill>
                  <a:srgbClr val="898989"/>
                </a:solidFill>
              </a:rPr>
              <a:t>来源：README.md；https://github.com/vllm-project/afd-plugin</a:t>
            </a:r>
            <a:endParaRPr sz="675" b="0" i="1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矩形 29"/>
          <p:cNvSpPr>
            <a:spLocks noGrp="1"/>
          </p:cNvSpPr>
          <p:nvPr/>
        </p:nvSpPr>
        <p:spPr>
          <a:xfrm>
            <a:off x="609600" y="209550"/>
            <a:ext cx="1809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825" b="1">
                <a:solidFill>
                  <a:srgbClr val="898989"/>
                </a:solidFill>
              </a:defRPr>
            </a:pPr>
            <a:r>
              <a:rPr sz="825" b="1">
                <a:solidFill>
                  <a:srgbClr val="898989"/>
                </a:solidFill>
              </a:rPr>
              <a:t>ARCHITECTURE</a:t>
            </a:r>
            <a:endParaRPr sz="825" b="1">
              <a:solidFill>
                <a:srgbClr val="898989"/>
              </a:solidFill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09600" y="419100"/>
            <a:ext cx="10668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250" b="1">
                <a:solidFill>
                  <a:srgbClr val="C00000"/>
                </a:solidFill>
              </a:defRPr>
            </a:pPr>
            <a:r>
              <a:rPr sz="2250" b="1">
                <a:solidFill>
                  <a:srgbClr val="C00000"/>
                </a:solidFill>
              </a:rPr>
              <a:t>AFD Plugin</a:t>
            </a:r>
            <a:endParaRPr sz="2250" b="1">
              <a:solidFill>
                <a:srgbClr val="C00000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1430000" y="6419850"/>
            <a:ext cx="2286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buNone/>
              <a:defRPr sz="825" b="0">
                <a:solidFill>
                  <a:srgbClr val="898989"/>
                </a:solidFill>
              </a:defRPr>
            </a:pPr>
            <a:r>
              <a:rPr sz="825" b="0">
                <a:solidFill>
                  <a:srgbClr val="898989"/>
                </a:solidFill>
              </a:rPr>
              <a:t>5</a:t>
            </a:r>
            <a:endParaRPr sz="825" b="0">
              <a:solidFill>
                <a:srgbClr val="898989"/>
              </a:solidFill>
            </a:endParaRPr>
          </a:p>
        </p:txBody>
      </p:sp>
      <p:pic>
        <p:nvPicPr>
          <p:cNvPr id="35" name="图片 4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248" y="1247775"/>
            <a:ext cx="7332155" cy="4124325"/>
          </a:xfrm>
          <a:prstGeom prst="rect">
            <a:avLst/>
          </a:prstGeom>
        </p:spPr>
      </p:pic>
      <p:sp>
        <p:nvSpPr>
          <p:cNvPr id="17" name="矩形 16"/>
          <p:cNvSpPr>
            <a:spLocks noGrp="1"/>
          </p:cNvSpPr>
          <p:nvPr/>
        </p:nvSpPr>
        <p:spPr>
          <a:xfrm>
            <a:off x="7953375" y="1271270"/>
            <a:ext cx="36671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125" b="1">
                <a:solidFill>
                  <a:srgbClr val="1B1D21"/>
                </a:solidFill>
              </a:defRPr>
            </a:pPr>
            <a:r>
              <a:rPr sz="1125" b="1">
                <a:solidFill>
                  <a:srgbClr val="1B1D21"/>
                </a:solidFill>
              </a:rPr>
              <a:t>Attention Role｜负责调度、KV Cache 与注意力计算</a:t>
            </a:r>
            <a:endParaRPr sz="1125" b="1">
              <a:solidFill>
                <a:srgbClr val="1B1D21"/>
              </a:solidFill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7953375" y="1480820"/>
            <a:ext cx="3667125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865" b="0">
                <a:solidFill>
                  <a:srgbClr val="555757"/>
                </a:solidFill>
              </a:defRPr>
            </a:pPr>
            <a:r>
              <a:rPr sz="865" b="0">
                <a:solidFill>
                  <a:srgbClr val="555757"/>
                </a:solidFill>
              </a:rPr>
              <a:t>• </a:t>
            </a:r>
            <a:r>
              <a:rPr sz="865" b="1">
                <a:solidFill>
                  <a:srgbClr val="555757"/>
                </a:solidFill>
              </a:rPr>
              <a:t>AFDAttentionWorker：</a:t>
            </a:r>
            <a:r>
              <a:rPr sz="865" b="0">
                <a:solidFill>
                  <a:srgbClr val="555757"/>
                </a:solidFill>
              </a:rPr>
              <a:t>负责请求执行、设备协调、调度与状态管理。
• </a:t>
            </a:r>
            <a:r>
              <a:rPr sz="865" b="1">
                <a:solidFill>
                  <a:srgbClr val="555757"/>
                </a:solidFill>
              </a:rPr>
              <a:t>AFDAttentionModelRunner：</a:t>
            </a:r>
            <a:r>
              <a:rPr sz="865" b="0">
                <a:solidFill>
                  <a:srgbClr val="555757"/>
                </a:solidFill>
              </a:rPr>
              <a:t>组织批次、Attention 前向、KV Cache 与图执行。
• </a:t>
            </a:r>
            <a:r>
              <a:rPr sz="865" b="1">
                <a:solidFill>
                  <a:srgbClr val="555757"/>
                </a:solidFill>
              </a:rPr>
              <a:t>AFD Metadata：</a:t>
            </a:r>
            <a:r>
              <a:rPr sz="865" b="0">
                <a:solidFill>
                  <a:srgbClr val="555757"/>
                </a:solidFill>
              </a:rPr>
              <a:t>维护 DP、uBatch、序列映射及图运行元数据。</a:t>
            </a:r>
            <a:endParaRPr sz="865" b="0">
              <a:solidFill>
                <a:srgbClr val="555757"/>
              </a:solidFill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7953375" y="2266950"/>
            <a:ext cx="3667125" cy="19050"/>
          </a:xfrm>
          <a:prstGeom prst="rect">
            <a:avLst/>
          </a:prstGeom>
          <a:solidFill>
            <a:srgbClr val="C00000"/>
          </a:solidFill>
          <a:ln w="0">
            <a:solidFill>
              <a:srgbClr val="C00000"/>
            </a:solidFill>
            <a:prstDash val="solid"/>
          </a:ln>
        </p:spPr>
        <p:txBody>
          <a:bodyPr/>
          <a:lstStyle/>
          <a:p/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7953375" y="2343150"/>
            <a:ext cx="36671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125" b="1">
                <a:solidFill>
                  <a:srgbClr val="1B1D21"/>
                </a:solidFill>
              </a:defRPr>
            </a:pPr>
            <a:r>
              <a:rPr sz="1125" b="1">
                <a:solidFill>
                  <a:srgbClr val="1B1D21"/>
                </a:solidFill>
              </a:rPr>
              <a:t>AFDConnector｜提供 Send / Recv 等通信能力</a:t>
            </a:r>
            <a:endParaRPr sz="1125" b="1">
              <a:solidFill>
                <a:srgbClr val="1B1D21"/>
              </a:solidFill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7953375" y="2552700"/>
            <a:ext cx="3667125" cy="1009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865" b="0">
                <a:solidFill>
                  <a:srgbClr val="555757"/>
                </a:solidFill>
              </a:defRPr>
            </a:pPr>
            <a:r>
              <a:rPr sz="865" b="0">
                <a:solidFill>
                  <a:srgbClr val="555757"/>
                </a:solidFill>
              </a:rPr>
              <a:t>• </a:t>
            </a:r>
            <a:r>
              <a:rPr sz="865" b="1">
                <a:solidFill>
                  <a:srgbClr val="555757"/>
                </a:solidFill>
              </a:rPr>
              <a:t>P2pNcclAFDConnector：</a:t>
            </a:r>
            <a:r>
              <a:rPr sz="865" b="0">
                <a:solidFill>
                  <a:srgbClr val="555757"/>
                </a:solidFill>
              </a:rPr>
              <a:t>基于 GPU NCCL P2P Send / Recv 传输激活与结果。
• </a:t>
            </a:r>
            <a:r>
              <a:rPr sz="865" b="1">
                <a:solidFill>
                  <a:srgbClr val="555757"/>
                </a:solidFill>
              </a:rPr>
              <a:t>CAMP2pAFDConnector：</a:t>
            </a:r>
            <a:r>
              <a:rPr sz="865" b="0">
                <a:solidFill>
                  <a:srgbClr val="555757"/>
                </a:solidFill>
              </a:rPr>
              <a:t>基于NPU，使用 HCCL / CANN 同步收发张量。
• </a:t>
            </a:r>
            <a:r>
              <a:rPr sz="865" b="1">
                <a:solidFill>
                  <a:srgbClr val="555757"/>
                </a:solidFill>
              </a:rPr>
              <a:t>CAMAsyncAFDConnector：</a:t>
            </a:r>
            <a:r>
              <a:rPr sz="865" b="0">
                <a:solidFill>
                  <a:srgbClr val="555757"/>
                </a:solidFill>
              </a:rPr>
              <a:t>基于NPU，通过 CAM 算子异步交换 MoE 数据。
• </a:t>
            </a:r>
            <a:r>
              <a:rPr sz="865" b="1">
                <a:solidFill>
                  <a:srgbClr val="555757"/>
                </a:solidFill>
              </a:rPr>
              <a:t>Others：</a:t>
            </a:r>
            <a:r>
              <a:rPr sz="865" b="0">
                <a:solidFill>
                  <a:srgbClr val="555757"/>
                </a:solidFill>
              </a:rPr>
              <a:t>预留其他加速器与通信后端的扩展接口。未来可新增</a:t>
            </a:r>
            <a:endParaRPr sz="865" b="0">
              <a:solidFill>
                <a:srgbClr val="555757"/>
              </a:solidFill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7953375" y="3600450"/>
            <a:ext cx="3667125" cy="19050"/>
          </a:xfrm>
          <a:prstGeom prst="rect">
            <a:avLst/>
          </a:prstGeom>
          <a:solidFill>
            <a:srgbClr val="C00000"/>
          </a:solidFill>
          <a:ln w="0">
            <a:solidFill>
              <a:srgbClr val="C00000"/>
            </a:solidFill>
            <a:prstDash val="solid"/>
          </a:ln>
        </p:spPr>
        <p:txBody>
          <a:bodyPr/>
          <a:lstStyle/>
          <a:p/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7953375" y="3676650"/>
            <a:ext cx="36671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125" b="1">
                <a:solidFill>
                  <a:srgbClr val="1B1D21"/>
                </a:solidFill>
              </a:defRPr>
            </a:pPr>
            <a:r>
              <a:rPr sz="1125" b="1">
                <a:solidFill>
                  <a:srgbClr val="1B1D21"/>
                </a:solidFill>
              </a:rPr>
              <a:t>FFN Role｜负责专家计算与结果回传</a:t>
            </a:r>
            <a:endParaRPr sz="1125" b="1">
              <a:solidFill>
                <a:srgbClr val="1B1D21"/>
              </a:solidFill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7953375" y="3886200"/>
            <a:ext cx="3667125" cy="1009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865" b="0">
                <a:solidFill>
                  <a:srgbClr val="555757"/>
                </a:solidFill>
              </a:defRPr>
            </a:pPr>
            <a:r>
              <a:rPr sz="865" b="0">
                <a:solidFill>
                  <a:srgbClr val="555757"/>
                </a:solidFill>
              </a:rPr>
              <a:t>• </a:t>
            </a:r>
            <a:r>
              <a:rPr sz="865" b="1">
                <a:solidFill>
                  <a:srgbClr val="555757"/>
                </a:solidFill>
              </a:rPr>
              <a:t>FFNEngineCore：</a:t>
            </a:r>
            <a:r>
              <a:rPr sz="865" b="0">
                <a:solidFill>
                  <a:srgbClr val="555757"/>
                </a:solidFill>
              </a:rPr>
              <a:t>接收 Attention 激活，提供 FFN 侧调度与核心执行入口。
• </a:t>
            </a:r>
            <a:r>
              <a:rPr sz="865" b="1">
                <a:solidFill>
                  <a:srgbClr val="555757"/>
                </a:solidFill>
              </a:rPr>
              <a:t>AFDFFNWorker：</a:t>
            </a:r>
            <a:r>
              <a:rPr sz="865" b="0">
                <a:solidFill>
                  <a:srgbClr val="555757"/>
                </a:solidFill>
              </a:rPr>
              <a:t>管理设备资源、请求队列和实例执行生命周期。
• </a:t>
            </a:r>
            <a:r>
              <a:rPr sz="865" b="1">
                <a:solidFill>
                  <a:srgbClr val="555757"/>
                </a:solidFill>
              </a:rPr>
              <a:t>AFDFFNModelRunner：</a:t>
            </a:r>
            <a:r>
              <a:rPr sz="865" b="0">
                <a:solidFill>
                  <a:srgbClr val="555757"/>
                </a:solidFill>
              </a:rPr>
              <a:t>组织 FFN / MoE 前向、专家计算与结果聚合。
• </a:t>
            </a:r>
            <a:r>
              <a:rPr sz="865" b="1">
                <a:solidFill>
                  <a:srgbClr val="555757"/>
                </a:solidFill>
              </a:rPr>
              <a:t>FFN Loop：</a:t>
            </a:r>
            <a:r>
              <a:rPr sz="865" b="0">
                <a:solidFill>
                  <a:srgbClr val="555757"/>
                </a:solidFill>
              </a:rPr>
              <a:t>持续接收激活、触发计算，并将结果回传 Attention 实例。</a:t>
            </a:r>
            <a:endParaRPr sz="865" b="0">
              <a:solidFill>
                <a:srgbClr val="555757"/>
              </a:solidFill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7953375" y="4781550"/>
            <a:ext cx="3667125" cy="19050"/>
          </a:xfrm>
          <a:prstGeom prst="rect">
            <a:avLst/>
          </a:prstGeom>
          <a:solidFill>
            <a:srgbClr val="C00000"/>
          </a:solidFill>
          <a:ln w="0">
            <a:solidFill>
              <a:srgbClr val="C00000"/>
            </a:solidFill>
            <a:prstDash val="solid"/>
          </a:ln>
        </p:spPr>
        <p:txBody>
          <a:bodyPr/>
          <a:lstStyle/>
          <a:p/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7953375" y="4857750"/>
            <a:ext cx="36671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125" b="1">
                <a:solidFill>
                  <a:srgbClr val="1B1D21"/>
                </a:solidFill>
              </a:defRPr>
            </a:pPr>
            <a:r>
              <a:rPr sz="1125" b="1">
                <a:solidFill>
                  <a:srgbClr val="1B1D21"/>
                </a:solidFill>
              </a:rPr>
              <a:t>AFD Model Wrappers｜模型适配与运行支撑</a:t>
            </a:r>
            <a:endParaRPr sz="1125" b="1">
              <a:solidFill>
                <a:srgbClr val="1B1D21"/>
              </a:solidFill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7953375" y="5086350"/>
            <a:ext cx="3667125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865" b="0">
                <a:solidFill>
                  <a:srgbClr val="555757"/>
                </a:solidFill>
              </a:defRPr>
            </a:pPr>
            <a:r>
              <a:rPr sz="865" b="0">
                <a:solidFill>
                  <a:srgbClr val="555757"/>
                </a:solidFill>
              </a:rPr>
              <a:t>• </a:t>
            </a:r>
            <a:r>
              <a:rPr sz="865" b="1">
                <a:solidFill>
                  <a:srgbClr val="555757"/>
                </a:solidFill>
              </a:rPr>
              <a:t>AFD Model Wrappers：</a:t>
            </a:r>
            <a:r>
              <a:rPr sz="865" b="0">
                <a:solidFill>
                  <a:srgbClr val="555757"/>
                </a:solidFill>
              </a:rPr>
              <a:t>封装模型层，按 Attention / FFN 角色接入拆分执行路径。
• </a:t>
            </a:r>
            <a:r>
              <a:rPr sz="865" b="1">
                <a:solidFill>
                  <a:srgbClr val="555757"/>
                </a:solidFill>
              </a:rPr>
              <a:t>uBatch 管理：</a:t>
            </a:r>
            <a:r>
              <a:rPr sz="865" b="0">
                <a:solidFill>
                  <a:srgbClr val="555757"/>
                </a:solidFill>
              </a:rPr>
              <a:t>完成微批拆分、阶段衔接与执行节奏控制。</a:t>
            </a:r>
            <a:endParaRPr sz="865" b="0">
              <a:solidFill>
                <a:srgbClr val="555757"/>
              </a:solidFill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609600" y="6153150"/>
            <a:ext cx="971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825" b="0">
                <a:solidFill>
                  <a:srgbClr val="555757"/>
                </a:solidFill>
              </a:defRPr>
            </a:pPr>
            <a:r>
              <a:rPr sz="825" b="0">
                <a:solidFill>
                  <a:srgbClr val="555757"/>
                </a:solidFill>
              </a:rPr>
              <a:t>应用覆盖与核心能力沿用原材料；架构图更新为当前仓库版本</a:t>
            </a:r>
            <a:endParaRPr sz="825" b="0">
              <a:solidFill>
                <a:srgbClr val="555757"/>
              </a:solidFill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609600" y="6419850"/>
            <a:ext cx="10287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675" b="0" i="1">
                <a:solidFill>
                  <a:srgbClr val="898989"/>
                </a:solidFill>
              </a:defRPr>
            </a:pPr>
            <a:r>
              <a:rPr sz="675" b="0" i="1">
                <a:solidFill>
                  <a:srgbClr val="898989"/>
                </a:solidFill>
              </a:rPr>
              <a:t>来源：原始 PPT 第 2 页；docs/assets/vllm-afd-plugin-architecture.svg</a:t>
            </a:r>
            <a:endParaRPr sz="675" b="0" i="1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矩形 29"/>
          <p:cNvSpPr>
            <a:spLocks noGrp="1"/>
          </p:cNvSpPr>
          <p:nvPr/>
        </p:nvSpPr>
        <p:spPr>
          <a:xfrm>
            <a:off x="609600" y="209550"/>
            <a:ext cx="1809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825" b="1">
                <a:solidFill>
                  <a:srgbClr val="898989"/>
                </a:solidFill>
              </a:defRPr>
            </a:pPr>
            <a:r>
              <a:rPr sz="825" b="1">
                <a:solidFill>
                  <a:srgbClr val="898989"/>
                </a:solidFill>
              </a:rPr>
              <a:t>RUNTIME FLOW</a:t>
            </a:r>
            <a:endParaRPr sz="825" b="1">
              <a:solidFill>
                <a:srgbClr val="898989"/>
              </a:solidFill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09600" y="419100"/>
            <a:ext cx="10668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250" b="1">
                <a:solidFill>
                  <a:srgbClr val="C00000"/>
                </a:solidFill>
              </a:defRPr>
            </a:pPr>
            <a:r>
              <a:rPr sz="2250" b="1">
                <a:solidFill>
                  <a:srgbClr val="C00000"/>
                </a:solidFill>
              </a:rPr>
              <a:t>AFD 运行架构：Attention 调度，Connector 传输，FFN 常驻计算</a:t>
            </a:r>
            <a:endParaRPr sz="2250" b="1">
              <a:solidFill>
                <a:srgbClr val="C00000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1430000" y="6419850"/>
            <a:ext cx="2286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buNone/>
              <a:defRPr sz="825" b="0">
                <a:solidFill>
                  <a:srgbClr val="898989"/>
                </a:solidFill>
              </a:defRPr>
            </a:pPr>
            <a:r>
              <a:rPr sz="825" b="0">
                <a:solidFill>
                  <a:srgbClr val="898989"/>
                </a:solidFill>
              </a:rPr>
              <a:t>6</a:t>
            </a:r>
            <a:endParaRPr sz="825" b="0">
              <a:solidFill>
                <a:srgbClr val="898989"/>
              </a:solidFill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609600" y="5905500"/>
            <a:ext cx="109728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Attention 负责调度、KV Cache 与采样；FFN 无 Scheduler，由 Connector 双向传递激活值与计算结果。</a:t>
            </a:r>
            <a:endParaRPr sz="825" b="0">
              <a:solidFill>
                <a:srgbClr val="555757"/>
              </a:solidFill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609600" y="6419850"/>
            <a:ext cx="10287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750" b="0" i="1">
                <a:solidFill>
                  <a:srgbClr val="898989"/>
                </a:solidFill>
              </a:defRPr>
            </a:pPr>
            <a:r>
              <a:rPr sz="750" b="0" i="1">
                <a:solidFill>
                  <a:srgbClr val="898989"/>
                </a:solidFill>
              </a:rPr>
              <a:t>来源：当前 afd-plugin 代码；vllm-afd-plugin-architecture.svg</a:t>
            </a:r>
            <a:endParaRPr sz="675" b="0" i="1">
              <a:solidFill>
                <a:srgbClr val="898989"/>
              </a:solidFill>
            </a:endParaRPr>
          </a:p>
        </p:txBody>
      </p:sp>
      <p:pic>
        <p:nvPicPr>
          <p:cNvPr id="37" name="图片 4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06034"/>
            <a:ext cx="11277600" cy="459830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矩形 29"/>
          <p:cNvSpPr>
            <a:spLocks noGrp="1"/>
          </p:cNvSpPr>
          <p:nvPr/>
        </p:nvSpPr>
        <p:spPr>
          <a:xfrm>
            <a:off x="609600" y="209550"/>
            <a:ext cx="1809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825" b="1">
                <a:solidFill>
                  <a:srgbClr val="898989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1">
                <a:solidFill>
                  <a:srgbClr val="898989"/>
                </a:solidFill>
                <a:latin typeface="微软雅黑"/>
                <a:ea typeface="微软雅黑"/>
                <a:cs typeface="微软雅黑"/>
              </a:rPr>
              <a:t>CONNECTOR CONTRACT</a:t>
            </a:r>
            <a:endParaRPr sz="825" b="1">
              <a:solidFill>
                <a:srgbClr val="898989"/>
              </a:solidFill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09600" y="419100"/>
            <a:ext cx="10668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25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Connector Base：统一生命周期、数据面与控制面契约</a:t>
            </a:r>
            <a:endParaRPr sz="2250" b="1">
              <a:solidFill>
                <a:srgbClr val="C00000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1430000" y="6419850"/>
            <a:ext cx="2286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buNone/>
              <a:defRPr sz="825" b="0">
                <a:solidFill>
                  <a:srgbClr val="898989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0">
                <a:solidFill>
                  <a:srgbClr val="898989"/>
                </a:solidFill>
                <a:latin typeface="微软雅黑"/>
                <a:ea typeface="微软雅黑"/>
                <a:cs typeface="微软雅黑"/>
              </a:rPr>
              <a:t>7</a:t>
            </a:r>
            <a:endParaRPr sz="825" b="0">
              <a:solidFill>
                <a:srgbClr val="898989"/>
              </a:solidFill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7953375" y="1271270"/>
            <a:ext cx="36671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125" b="1">
                <a:solidFill>
                  <a:srgbClr val="1B1D21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1B1D21"/>
                </a:solidFill>
                <a:latin typeface="微软雅黑"/>
                <a:ea typeface="微软雅黑"/>
                <a:cs typeface="微软雅黑"/>
              </a:rPr>
              <a:t>生命周期｜资源由 Connector 自主管理</a:t>
            </a:r>
            <a:endParaRPr sz="1125" b="1">
              <a:solidFill>
                <a:srgbClr val="1B1D21"/>
              </a:solidFill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7953375" y="1480820"/>
            <a:ext cx="3667125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08000"/>
              </a:lnSpc>
              <a:buNone/>
              <a:defRPr sz="975" b="0">
                <a:solidFill>
                  <a:srgbClr val="4A4A4A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4A4A4A"/>
                </a:solidFill>
                <a:latin typeface="微软雅黑"/>
                <a:ea typeface="微软雅黑"/>
                <a:cs typeface="微软雅黑"/>
              </a:rPr>
              <a:t>• parse_extra_config → init_afd_connector → is_initialized → close</a:t>
            </a:r>
            <a:endParaRPr sz="865" b="0">
              <a:solidFill>
                <a:srgbClr val="555757"/>
              </a:solidFill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7953375" y="2266950"/>
            <a:ext cx="3667125" cy="19050"/>
          </a:xfrm>
          <a:prstGeom prst="rect">
            <a:avLst/>
          </a:prstGeom>
          <a:solidFill>
            <a:srgbClr val="C00000"/>
          </a:solidFill>
          <a:ln w="0">
            <a:solidFill>
              <a:srgbClr val="C00000"/>
            </a:solidFill>
            <a:prstDash val="solid"/>
          </a:ln>
        </p:spPr>
        <p:txBody>
          <a:bodyPr/>
          <a:lstStyle/>
          <a:p/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7953375" y="2343150"/>
            <a:ext cx="36671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125" b="1">
                <a:solidFill>
                  <a:srgbClr val="1B1D21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1B1D21"/>
                </a:solidFill>
                <a:latin typeface="微软雅黑"/>
                <a:ea typeface="微软雅黑"/>
                <a:cs typeface="微软雅黑"/>
              </a:rPr>
              <a:t>Attention 数据面｜发起与回收</a:t>
            </a:r>
            <a:endParaRPr sz="1125" b="1">
              <a:solidFill>
                <a:srgbClr val="1B1D21"/>
              </a:solidFill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7953375" y="2552700"/>
            <a:ext cx="3667125" cy="1009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08000"/>
              </a:lnSpc>
              <a:buNone/>
              <a:defRPr sz="975" b="0">
                <a:solidFill>
                  <a:srgbClr val="4A4A4A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4A4A4A"/>
                </a:solidFill>
                <a:latin typeface="微软雅黑"/>
                <a:ea typeface="微软雅黑"/>
                <a:cs typeface="微软雅黑"/>
              </a:rPr>
              <a:t>• send_attn_output(hidden_states, context)；recv_ffn_output(ref_tensor)</a:t>
            </a:r>
            <a:endParaRPr sz="865" b="0">
              <a:solidFill>
                <a:srgbClr val="555757"/>
              </a:solidFill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7953375" y="3600450"/>
            <a:ext cx="3667125" cy="19050"/>
          </a:xfrm>
          <a:prstGeom prst="rect">
            <a:avLst/>
          </a:prstGeom>
          <a:solidFill>
            <a:srgbClr val="C00000"/>
          </a:solidFill>
          <a:ln w="0">
            <a:solidFill>
              <a:srgbClr val="C00000"/>
            </a:solidFill>
            <a:prstDash val="solid"/>
          </a:ln>
        </p:spPr>
        <p:txBody>
          <a:bodyPr/>
          <a:lstStyle/>
          <a:p/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7953375" y="3676650"/>
            <a:ext cx="36671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125" b="1">
                <a:solidFill>
                  <a:srgbClr val="1B1D21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1B1D21"/>
                </a:solidFill>
                <a:latin typeface="微软雅黑"/>
                <a:ea typeface="微软雅黑"/>
                <a:cs typeface="微软雅黑"/>
              </a:rPr>
              <a:t>FFN 数据面｜接收、计算与返回</a:t>
            </a:r>
            <a:endParaRPr sz="1125" b="1">
              <a:solidFill>
                <a:srgbClr val="1B1D21"/>
              </a:solidFill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7953375" y="3886200"/>
            <a:ext cx="3667125" cy="1009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08000"/>
              </a:lnSpc>
              <a:buNone/>
              <a:defRPr sz="975" b="0">
                <a:solidFill>
                  <a:srgbClr val="4A4A4A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4A4A4A"/>
                </a:solidFill>
                <a:latin typeface="微软雅黑"/>
                <a:ea typeface="微软雅黑"/>
                <a:cs typeface="微软雅黑"/>
              </a:rPr>
              <a:t>• recv_attn_output() 返回 payload；send_ffn_output(output, context)</a:t>
            </a:r>
            <a:endParaRPr sz="865" b="0">
              <a:solidFill>
                <a:srgbClr val="555757"/>
              </a:solidFill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7953375" y="4781550"/>
            <a:ext cx="3667125" cy="19050"/>
          </a:xfrm>
          <a:prstGeom prst="rect">
            <a:avLst/>
          </a:prstGeom>
          <a:solidFill>
            <a:srgbClr val="C00000"/>
          </a:solidFill>
          <a:ln w="0">
            <a:solidFill>
              <a:srgbClr val="C00000"/>
            </a:solidFill>
            <a:prstDash val="solid"/>
          </a:ln>
        </p:spPr>
        <p:txBody>
          <a:bodyPr/>
          <a:lstStyle/>
          <a:p/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7953375" y="4857750"/>
            <a:ext cx="36671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125" b="1">
                <a:solidFill>
                  <a:srgbClr val="1B1D21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1B1D21"/>
                </a:solidFill>
                <a:latin typeface="微软雅黑"/>
                <a:ea typeface="微软雅黑"/>
                <a:cs typeface="微软雅黑"/>
              </a:rPr>
              <a:t>可选控制面｜同步 Connector 才启用</a:t>
            </a:r>
            <a:endParaRPr sz="1125" b="1">
              <a:solidFill>
                <a:srgbClr val="1B1D21"/>
              </a:solidFill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7953375" y="5086350"/>
            <a:ext cx="3667125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08000"/>
              </a:lnSpc>
              <a:buNone/>
              <a:defRPr sz="975" b="0">
                <a:solidFill>
                  <a:srgbClr val="4A4A4A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4A4A4A"/>
                </a:solidFill>
                <a:latin typeface="微软雅黑"/>
                <a:ea typeface="微软雅黑"/>
                <a:cs typeface="微软雅黑"/>
              </a:rPr>
              <a:t>• control_plane 传递 DP metadata；CAM Async 由 dispatch payload 驱动</a:t>
            </a:r>
            <a:endParaRPr sz="865" b="0">
              <a:solidFill>
                <a:srgbClr val="555757"/>
              </a:solidFill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609600" y="6153150"/>
            <a:ext cx="971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9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Base 只定义语义与时序；P2P、CAMP2P、CAM Async 负责后端实现。</a:t>
            </a:r>
            <a:endParaRPr sz="825" b="0">
              <a:solidFill>
                <a:srgbClr val="555757"/>
              </a:solidFill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609600" y="6419850"/>
            <a:ext cx="10287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750" b="0" i="1">
                <a:solidFill>
                  <a:srgbClr val="898989"/>
                </a:solidFill>
                <a:latin typeface="微软雅黑"/>
                <a:ea typeface="微软雅黑"/>
                <a:cs typeface="微软雅黑"/>
              </a:defRPr>
            </a:pPr>
            <a:r>
              <a:rPr sz="750" b="0" i="1">
                <a:solidFill>
                  <a:srgbClr val="898989"/>
                </a:solidFill>
                <a:latin typeface="微软雅黑"/>
                <a:ea typeface="微软雅黑"/>
                <a:cs typeface="微软雅黑"/>
              </a:rPr>
              <a:t>来源：afd_plugin/connectors/base.py；docs/design/module/connector_contracts.md</a:t>
            </a:r>
            <a:endParaRPr sz="675" b="0" i="1">
              <a:solidFill>
                <a:srgbClr val="898989"/>
              </a:solidFill>
            </a:endParaRPr>
          </a:p>
        </p:txBody>
      </p:sp>
      <p:pic>
        <p:nvPicPr>
          <p:cNvPr id="48" name="图片 4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8475" y="1247775"/>
            <a:ext cx="7311701" cy="412432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矩形 29"/>
          <p:cNvSpPr>
            <a:spLocks noGrp="1"/>
          </p:cNvSpPr>
          <p:nvPr/>
        </p:nvSpPr>
        <p:spPr>
          <a:xfrm>
            <a:off x="609600" y="209550"/>
            <a:ext cx="1809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825" b="1">
                <a:solidFill>
                  <a:srgbClr val="898989"/>
                </a:solidFill>
              </a:defRPr>
            </a:pPr>
            <a:r>
              <a:rPr sz="825" b="1">
                <a:solidFill>
                  <a:srgbClr val="898989"/>
                </a:solidFill>
              </a:rPr>
              <a:t>ARCHITECTURE</a:t>
            </a:r>
            <a:endParaRPr sz="825" b="1">
              <a:solidFill>
                <a:srgbClr val="898989"/>
              </a:solidFill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09600" y="419100"/>
            <a:ext cx="10668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250" b="1">
                <a:solidFill>
                  <a:srgbClr val="C00000"/>
                </a:solidFill>
              </a:defRPr>
            </a:pPr>
            <a:r>
              <a:rPr sz="2250" b="1">
                <a:solidFill>
                  <a:srgbClr val="C00000"/>
                </a:solidFill>
              </a:rPr>
              <a:t>CAMP2PConnector：双微批完全重叠</a:t>
            </a:r>
            <a:endParaRPr sz="2250" b="1">
              <a:solidFill>
                <a:srgbClr val="C00000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1430000" y="6419850"/>
            <a:ext cx="2286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buNone/>
              <a:defRPr sz="825" b="0">
                <a:solidFill>
                  <a:srgbClr val="898989"/>
                </a:solidFill>
              </a:defRPr>
            </a:pPr>
            <a:r>
              <a:rPr sz="825" b="0">
                <a:solidFill>
                  <a:srgbClr val="898989"/>
                </a:solidFill>
              </a:rPr>
              <a:t>8</a:t>
            </a:r>
            <a:endParaRPr sz="825" b="0">
              <a:solidFill>
                <a:srgbClr val="898989"/>
              </a:solidFill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609600" y="6153150"/>
            <a:ext cx="971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825" b="0">
                <a:solidFill>
                  <a:srgbClr val="555757"/>
                </a:solidFill>
              </a:defRPr>
            </a:pPr>
            <a:r>
              <a:rPr sz="825" b="0">
                <a:solidFill>
                  <a:srgbClr val="555757"/>
                </a:solidFill>
              </a:rPr>
              <a:t>DBO 将通信嵌入双微批流水，Attention 的执行窗口完整覆盖当前批 FFN</a:t>
            </a:r>
            <a:endParaRPr sz="825" b="0">
              <a:solidFill>
                <a:srgbClr val="555757"/>
              </a:solidFill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609600" y="6419850"/>
            <a:ext cx="10287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675" b="0" i="1">
                <a:solidFill>
                  <a:srgbClr val="898989"/>
                </a:solidFill>
              </a:defRPr>
            </a:pPr>
            <a:r>
              <a:rPr sz="675" b="0" i="1">
                <a:solidFill>
                  <a:srgbClr val="898989"/>
                </a:solidFill>
              </a:rPr>
              <a:t>来源：afd-plugin/docs/npu/dbo.png；流水图由 ImageGen 在原图语义上定向润色</a:t>
            </a:r>
            <a:endParaRPr sz="675" b="0" i="1">
              <a:solidFill>
                <a:srgbClr val="898989"/>
              </a:solidFill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609600" y="933450"/>
            <a:ext cx="1066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275" b="0" i="0">
                <a:solidFill>
                  <a:srgbClr val="555757"/>
                </a:solidFill>
              </a:defRPr>
            </a:pPr>
            <a:r>
              <a:rPr sz="1275" b="0" i="0">
                <a:solidFill>
                  <a:srgbClr val="555757"/>
                </a:solidFill>
              </a:rPr>
              <a:t>缩短 FFN 计算段后，下一批 Attention 与 FFN 同步启动，并在 FFN 结束后继续执行，完整隐藏当前批 FFN 时延。</a:t>
            </a:r>
            <a:endParaRPr sz="1275" b="0" i="0">
              <a:solidFill>
                <a:srgbClr val="555757"/>
              </a:solidFill>
            </a:endParaRPr>
          </a:p>
        </p:txBody>
      </p:sp>
      <p:sp>
        <p:nvSpPr>
          <p:cNvPr id="32" name="圆角矩形 31"/>
          <p:cNvSpPr>
            <a:spLocks noGrp="1"/>
          </p:cNvSpPr>
          <p:nvPr/>
        </p:nvSpPr>
        <p:spPr>
          <a:xfrm>
            <a:off x="609600" y="1371600"/>
            <a:ext cx="7429500" cy="314325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9525">
            <a:solidFill>
              <a:srgbClr val="D9E0E5"/>
            </a:solidFill>
            <a:prstDash val="solid"/>
          </a:ln>
        </p:spPr>
        <p:txBody>
          <a:bodyPr/>
          <a:lstStyle/>
          <a:p/>
        </p:txBody>
      </p:sp>
      <p:pic>
        <p:nvPicPr>
          <p:cNvPr id="61" name="图片 5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3900" y="1503408"/>
            <a:ext cx="7200900" cy="2879634"/>
          </a:xfrm>
          <a:prstGeom prst="rect">
            <a:avLst/>
          </a:prstGeom>
        </p:spPr>
      </p:pic>
      <p:sp>
        <p:nvSpPr>
          <p:cNvPr id="34" name="圆角矩形 33"/>
          <p:cNvSpPr>
            <a:spLocks noGrp="1"/>
          </p:cNvSpPr>
          <p:nvPr/>
        </p:nvSpPr>
        <p:spPr>
          <a:xfrm>
            <a:off x="8191500" y="1371600"/>
            <a:ext cx="3314700" cy="3143250"/>
          </a:xfrm>
          <a:prstGeom prst="roundRect">
            <a:avLst>
              <a:gd name="adj" fmla="val 2424"/>
            </a:avLst>
          </a:prstGeom>
          <a:solidFill>
            <a:srgbClr val="F5F7F8"/>
          </a:solidFill>
          <a:ln w="9525">
            <a:solidFill>
              <a:srgbClr val="D9E0E5"/>
            </a:solidFill>
            <a:prstDash val="solid"/>
          </a:ln>
        </p:spPr>
        <p:txBody>
          <a:bodyPr/>
          <a:lstStyle/>
          <a:p/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8343900" y="1504950"/>
            <a:ext cx="1809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500" b="1" i="0">
                <a:solidFill>
                  <a:srgbClr val="C70000"/>
                </a:solidFill>
              </a:defRPr>
            </a:pPr>
            <a:r>
              <a:rPr sz="1500" b="1" i="0">
                <a:solidFill>
                  <a:srgbClr val="C70000"/>
                </a:solidFill>
              </a:rPr>
              <a:t>流水过程</a:t>
            </a:r>
            <a:endParaRPr sz="1500" b="1" i="0">
              <a:solidFill>
                <a:srgbClr val="C70000"/>
              </a:solidFill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8343900" y="1762125"/>
            <a:ext cx="29718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900" b="0" i="0">
                <a:solidFill>
                  <a:srgbClr val="898989"/>
                </a:solidFill>
              </a:defRPr>
            </a:pPr>
            <a:r>
              <a:rPr sz="900" b="0" i="0">
                <a:solidFill>
                  <a:srgbClr val="898989"/>
                </a:solidFill>
              </a:rPr>
              <a:t>双微批持续推进，通信与两类计算交叠执行</a:t>
            </a:r>
            <a:endParaRPr sz="900" b="0" i="0">
              <a:solidFill>
                <a:srgbClr val="898989"/>
              </a:solidFill>
            </a:endParaRPr>
          </a:p>
        </p:txBody>
      </p:sp>
      <p:sp>
        <p:nvSpPr>
          <p:cNvPr id="37" name="圆角矩形 36"/>
          <p:cNvSpPr>
            <a:spLocks noGrp="1"/>
          </p:cNvSpPr>
          <p:nvPr/>
        </p:nvSpPr>
        <p:spPr>
          <a:xfrm>
            <a:off x="8343900" y="2076450"/>
            <a:ext cx="285750" cy="285750"/>
          </a:xfrm>
          <a:prstGeom prst="roundRect">
            <a:avLst>
              <a:gd name="adj" fmla="val 50000"/>
            </a:avLst>
          </a:prstGeom>
          <a:solidFill>
            <a:srgbClr val="C70000"/>
          </a:solidFill>
          <a:ln w="9525">
            <a:solidFill>
              <a:srgbClr val="C70000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1</a:t>
            </a:r>
            <a:endParaRPr sz="1125" b="1">
              <a:solidFill>
                <a:srgbClr val="FFFFFF"/>
              </a:solidFill>
            </a:endParaRPr>
          </a:p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8743950" y="2057400"/>
            <a:ext cx="2571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200" b="1" i="0">
                <a:solidFill>
                  <a:srgbClr val="102A43"/>
                </a:solidFill>
              </a:defRPr>
            </a:pPr>
            <a:r>
              <a:rPr sz="1200" b="1" i="0">
                <a:solidFill>
                  <a:srgbClr val="102A43"/>
                </a:solidFill>
              </a:rPr>
              <a:t>F2A 接收与 Attention</a:t>
            </a:r>
            <a:endParaRPr sz="1200" b="1" i="0">
              <a:solidFill>
                <a:srgbClr val="102A43"/>
              </a:solidFill>
            </a:endParaRPr>
          </a:p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8743950" y="2276475"/>
            <a:ext cx="2571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975" b="0" i="0">
                <a:solidFill>
                  <a:srgbClr val="555757"/>
                </a:solidFill>
              </a:defRPr>
            </a:pPr>
            <a:r>
              <a:rPr sz="975" b="0" i="0">
                <a:solidFill>
                  <a:srgbClr val="555757"/>
                </a:solidFill>
              </a:rPr>
              <a:t>Attention 侧接收上一层 FFN 返回的激活，执行 uBatch1。</a:t>
            </a:r>
            <a:endParaRPr sz="975" b="0" i="0">
              <a:solidFill>
                <a:srgbClr val="555757"/>
              </a:solidFill>
            </a:endParaRPr>
          </a:p>
        </p:txBody>
      </p:sp>
      <p:sp>
        <p:nvSpPr>
          <p:cNvPr id="40" name="圆角矩形 39"/>
          <p:cNvSpPr>
            <a:spLocks noGrp="1"/>
          </p:cNvSpPr>
          <p:nvPr/>
        </p:nvSpPr>
        <p:spPr>
          <a:xfrm>
            <a:off x="8343900" y="2667000"/>
            <a:ext cx="285750" cy="285750"/>
          </a:xfrm>
          <a:prstGeom prst="roundRect">
            <a:avLst>
              <a:gd name="adj" fmla="val 50000"/>
            </a:avLst>
          </a:prstGeom>
          <a:solidFill>
            <a:srgbClr val="C70000"/>
          </a:solidFill>
          <a:ln w="9525">
            <a:solidFill>
              <a:srgbClr val="C70000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2</a:t>
            </a:r>
            <a:endParaRPr sz="1125" b="1">
              <a:solidFill>
                <a:srgbClr val="FFFFFF"/>
              </a:solidFill>
            </a:endParaRPr>
          </a:p>
        </p:txBody>
      </p:sp>
      <p:sp>
        <p:nvSpPr>
          <p:cNvPr id="41" name="矩形 40"/>
          <p:cNvSpPr>
            <a:spLocks noGrp="1"/>
          </p:cNvSpPr>
          <p:nvPr/>
        </p:nvSpPr>
        <p:spPr>
          <a:xfrm>
            <a:off x="8743950" y="2647950"/>
            <a:ext cx="2571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200" b="1" i="0">
                <a:solidFill>
                  <a:srgbClr val="102A43"/>
                </a:solidFill>
              </a:defRPr>
            </a:pPr>
            <a:r>
              <a:rPr sz="1200" b="1" i="0">
                <a:solidFill>
                  <a:srgbClr val="102A43"/>
                </a:solidFill>
              </a:rPr>
              <a:t>A2F 发送</a:t>
            </a:r>
            <a:endParaRPr sz="1200" b="1" i="0">
              <a:solidFill>
                <a:srgbClr val="102A43"/>
              </a:solidFill>
            </a:endParaRPr>
          </a:p>
        </p:txBody>
      </p:sp>
      <p:sp>
        <p:nvSpPr>
          <p:cNvPr id="42" name="矩形 41"/>
          <p:cNvSpPr>
            <a:spLocks noGrp="1"/>
          </p:cNvSpPr>
          <p:nvPr/>
        </p:nvSpPr>
        <p:spPr>
          <a:xfrm>
            <a:off x="8743950" y="2867025"/>
            <a:ext cx="2571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975" b="0" i="0">
                <a:solidFill>
                  <a:srgbClr val="555757"/>
                </a:solidFill>
              </a:defRPr>
            </a:pPr>
            <a:r>
              <a:rPr sz="975" b="0" i="0">
                <a:solidFill>
                  <a:srgbClr val="555757"/>
                </a:solidFill>
              </a:rPr>
              <a:t>uBatch1 完成后立即 P2P 发往 FFN，同时启动 uBatch2。</a:t>
            </a:r>
            <a:endParaRPr sz="975" b="0" i="0">
              <a:solidFill>
                <a:srgbClr val="555757"/>
              </a:solidFill>
            </a:endParaRPr>
          </a:p>
        </p:txBody>
      </p:sp>
      <p:sp>
        <p:nvSpPr>
          <p:cNvPr id="43" name="圆角矩形 42"/>
          <p:cNvSpPr>
            <a:spLocks noGrp="1"/>
          </p:cNvSpPr>
          <p:nvPr/>
        </p:nvSpPr>
        <p:spPr>
          <a:xfrm>
            <a:off x="8343900" y="3257550"/>
            <a:ext cx="285750" cy="285750"/>
          </a:xfrm>
          <a:prstGeom prst="roundRect">
            <a:avLst>
              <a:gd name="adj" fmla="val 50000"/>
            </a:avLst>
          </a:prstGeom>
          <a:solidFill>
            <a:srgbClr val="C70000"/>
          </a:solidFill>
          <a:ln w="9525">
            <a:solidFill>
              <a:srgbClr val="C70000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3</a:t>
            </a:r>
            <a:endParaRPr sz="1125" b="1">
              <a:solidFill>
                <a:srgbClr val="FFFFFF"/>
              </a:solidFill>
            </a:endParaRPr>
          </a:p>
        </p:txBody>
      </p:sp>
      <p:sp>
        <p:nvSpPr>
          <p:cNvPr id="44" name="矩形 43"/>
          <p:cNvSpPr>
            <a:spLocks noGrp="1"/>
          </p:cNvSpPr>
          <p:nvPr/>
        </p:nvSpPr>
        <p:spPr>
          <a:xfrm>
            <a:off x="8743950" y="3238500"/>
            <a:ext cx="2571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200" b="1" i="0">
                <a:solidFill>
                  <a:srgbClr val="102A43"/>
                </a:solidFill>
              </a:defRPr>
            </a:pPr>
            <a:r>
              <a:rPr sz="1200" b="1" i="0">
                <a:solidFill>
                  <a:srgbClr val="102A43"/>
                </a:solidFill>
              </a:rPr>
              <a:t>FFN 完整被覆盖</a:t>
            </a:r>
            <a:endParaRPr sz="1200" b="1" i="0">
              <a:solidFill>
                <a:srgbClr val="102A43"/>
              </a:solidFill>
            </a:endParaRPr>
          </a:p>
        </p:txBody>
      </p:sp>
      <p:sp>
        <p:nvSpPr>
          <p:cNvPr id="45" name="矩形 44"/>
          <p:cNvSpPr>
            <a:spLocks noGrp="1"/>
          </p:cNvSpPr>
          <p:nvPr/>
        </p:nvSpPr>
        <p:spPr>
          <a:xfrm>
            <a:off x="8743950" y="3457575"/>
            <a:ext cx="2571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975" b="0" i="0">
                <a:solidFill>
                  <a:srgbClr val="555757"/>
                </a:solidFill>
              </a:defRPr>
            </a:pPr>
            <a:r>
              <a:rPr sz="975" b="0" i="0">
                <a:solidFill>
                  <a:srgbClr val="555757"/>
                </a:solidFill>
              </a:rPr>
              <a:t>FFN(uBatch1) 完整落在 Attention(uBatch2) 时间窗内。</a:t>
            </a:r>
            <a:endParaRPr sz="975" b="0" i="0">
              <a:solidFill>
                <a:srgbClr val="555757"/>
              </a:solidFill>
            </a:endParaRPr>
          </a:p>
        </p:txBody>
      </p:sp>
      <p:sp>
        <p:nvSpPr>
          <p:cNvPr id="46" name="圆角矩形 45"/>
          <p:cNvSpPr>
            <a:spLocks noGrp="1"/>
          </p:cNvSpPr>
          <p:nvPr/>
        </p:nvSpPr>
        <p:spPr>
          <a:xfrm>
            <a:off x="8343900" y="3848100"/>
            <a:ext cx="285750" cy="285750"/>
          </a:xfrm>
          <a:prstGeom prst="roundRect">
            <a:avLst>
              <a:gd name="adj" fmla="val 50000"/>
            </a:avLst>
          </a:prstGeom>
          <a:solidFill>
            <a:srgbClr val="C70000"/>
          </a:solidFill>
          <a:ln w="9525">
            <a:solidFill>
              <a:srgbClr val="C70000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4</a:t>
            </a:r>
            <a:endParaRPr sz="1125" b="1">
              <a:solidFill>
                <a:srgbClr val="FFFFFF"/>
              </a:solidFill>
            </a:endParaRPr>
          </a:p>
        </p:txBody>
      </p:sp>
      <p:sp>
        <p:nvSpPr>
          <p:cNvPr id="47" name="矩形 46"/>
          <p:cNvSpPr>
            <a:spLocks noGrp="1"/>
          </p:cNvSpPr>
          <p:nvPr/>
        </p:nvSpPr>
        <p:spPr>
          <a:xfrm>
            <a:off x="8743950" y="3829050"/>
            <a:ext cx="2571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200" b="1" i="0">
                <a:solidFill>
                  <a:srgbClr val="102A43"/>
                </a:solidFill>
              </a:defRPr>
            </a:pPr>
            <a:r>
              <a:rPr sz="1200" b="1" i="0">
                <a:solidFill>
                  <a:srgbClr val="102A43"/>
                </a:solidFill>
              </a:rPr>
              <a:t>F2A 返回并进入下一轮</a:t>
            </a:r>
            <a:endParaRPr sz="1200" b="1" i="0">
              <a:solidFill>
                <a:srgbClr val="102A43"/>
              </a:solidFill>
            </a:endParaRPr>
          </a:p>
        </p:txBody>
      </p:sp>
      <p:sp>
        <p:nvSpPr>
          <p:cNvPr id="48" name="矩形 47"/>
          <p:cNvSpPr>
            <a:spLocks noGrp="1"/>
          </p:cNvSpPr>
          <p:nvPr/>
        </p:nvSpPr>
        <p:spPr>
          <a:xfrm>
            <a:off x="8743950" y="4048125"/>
            <a:ext cx="2571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975" b="0" i="0">
                <a:solidFill>
                  <a:srgbClr val="555757"/>
                </a:solidFill>
              </a:defRPr>
            </a:pPr>
            <a:r>
              <a:rPr sz="975" b="0" i="0">
                <a:solidFill>
                  <a:srgbClr val="555757"/>
                </a:solidFill>
              </a:rPr>
              <a:t>FFN 输出发回 Attention；两侧继续处理后续微批。</a:t>
            </a:r>
            <a:endParaRPr sz="975" b="0" i="0">
              <a:solidFill>
                <a:srgbClr val="555757"/>
              </a:solidFill>
            </a:endParaRPr>
          </a:p>
        </p:txBody>
      </p:sp>
      <p:sp>
        <p:nvSpPr>
          <p:cNvPr id="49" name="圆角矩形 48"/>
          <p:cNvSpPr>
            <a:spLocks noGrp="1"/>
          </p:cNvSpPr>
          <p:nvPr/>
        </p:nvSpPr>
        <p:spPr>
          <a:xfrm>
            <a:off x="609600" y="4686300"/>
            <a:ext cx="10896600" cy="1162050"/>
          </a:xfrm>
          <a:prstGeom prst="roundRect">
            <a:avLst>
              <a:gd name="adj" fmla="val 6557"/>
            </a:avLst>
          </a:prstGeom>
          <a:solidFill>
            <a:srgbClr val="FFF4EC"/>
          </a:solidFill>
          <a:ln w="9525">
            <a:solidFill>
              <a:srgbClr val="F1C2A5"/>
            </a:solidFill>
            <a:prstDash val="solid"/>
          </a:ln>
        </p:spPr>
        <p:txBody>
          <a:bodyPr/>
          <a:lstStyle/>
          <a:p/>
        </p:txBody>
      </p:sp>
      <p:sp>
        <p:nvSpPr>
          <p:cNvPr id="50" name="矩形 49"/>
          <p:cNvSpPr>
            <a:spLocks noGrp="1"/>
          </p:cNvSpPr>
          <p:nvPr/>
        </p:nvSpPr>
        <p:spPr>
          <a:xfrm>
            <a:off x="800100" y="4857750"/>
            <a:ext cx="1238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350" b="1" i="0">
                <a:solidFill>
                  <a:srgbClr val="C70000"/>
                </a:solidFill>
              </a:defRPr>
            </a:pPr>
            <a:r>
              <a:rPr sz="1350" b="1" i="0">
                <a:solidFill>
                  <a:srgbClr val="C70000"/>
                </a:solidFill>
              </a:rPr>
              <a:t>关键重叠</a:t>
            </a:r>
            <a:endParaRPr sz="1350" b="1" i="0">
              <a:solidFill>
                <a:srgbClr val="C70000"/>
              </a:solidFill>
            </a:endParaRPr>
          </a:p>
        </p:txBody>
      </p:sp>
      <p:sp>
        <p:nvSpPr>
          <p:cNvPr id="51" name="矩形 50"/>
          <p:cNvSpPr>
            <a:spLocks noGrp="1"/>
          </p:cNvSpPr>
          <p:nvPr/>
        </p:nvSpPr>
        <p:spPr>
          <a:xfrm>
            <a:off x="2095500" y="4791075"/>
            <a:ext cx="4953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650" b="1" i="0">
                <a:solidFill>
                  <a:srgbClr val="102A43"/>
                </a:solidFill>
              </a:defRPr>
            </a:pPr>
            <a:r>
              <a:rPr sz="1650" b="1" i="0">
                <a:solidFill>
                  <a:srgbClr val="102A43"/>
                </a:solidFill>
              </a:rPr>
              <a:t>Attention(uBatch2) 完整覆盖 FFN(uBatch1)</a:t>
            </a:r>
            <a:endParaRPr sz="1650" b="1" i="0">
              <a:solidFill>
                <a:srgbClr val="102A43"/>
              </a:solidFill>
            </a:endParaRPr>
          </a:p>
        </p:txBody>
      </p:sp>
      <p:sp>
        <p:nvSpPr>
          <p:cNvPr id="52" name="矩形 51"/>
          <p:cNvSpPr>
            <a:spLocks noGrp="1"/>
          </p:cNvSpPr>
          <p:nvPr/>
        </p:nvSpPr>
        <p:spPr>
          <a:xfrm>
            <a:off x="800100" y="5219700"/>
            <a:ext cx="103632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125" b="0" i="0">
                <a:solidFill>
                  <a:srgbClr val="555757"/>
                </a:solidFill>
              </a:defRPr>
            </a:pPr>
            <a:r>
              <a:rPr sz="1125" b="0" i="0">
                <a:solidFill>
                  <a:srgbClr val="555757"/>
                </a:solidFill>
              </a:rPr>
              <a:t>Attention 与 FFN 同步启动并延后结束；通信、专家计算与返回阶段持续流水化，减少同步等待。</a:t>
            </a:r>
            <a:endParaRPr sz="1125" b="0" i="0">
              <a:solidFill>
                <a:srgbClr val="555757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矩形 28"/>
          <p:cNvSpPr>
            <a:spLocks noGrp="1"/>
          </p:cNvSpPr>
          <p:nvPr/>
        </p:nvSpPr>
        <p:spPr>
          <a:xfrm>
            <a:off x="609600" y="209550"/>
            <a:ext cx="1809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825" b="1" i="0">
                <a:solidFill>
                  <a:srgbClr val="898989"/>
                </a:solidFill>
              </a:defRPr>
            </a:pPr>
            <a:r>
              <a:rPr sz="825" b="1" i="0">
                <a:solidFill>
                  <a:srgbClr val="898989"/>
                </a:solidFill>
              </a:rPr>
              <a:t>ARCHITECTURE</a:t>
            </a:r>
            <a:endParaRPr sz="825" b="1" i="0">
              <a:solidFill>
                <a:srgbClr val="898989"/>
              </a:solidFill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09600" y="419100"/>
            <a:ext cx="10668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250" b="1" i="0">
                <a:solidFill>
                  <a:srgbClr val="C70000"/>
                </a:solidFill>
              </a:defRPr>
            </a:pPr>
            <a:r>
              <a:rPr sz="2250" b="1" i="0">
                <a:solidFill>
                  <a:srgbClr val="C70000"/>
                </a:solidFill>
              </a:rPr>
              <a:t>Attention–FFN Prefill 分离异步方案</a:t>
            </a:r>
            <a:endParaRPr sz="2250" b="1" i="0">
              <a:solidFill>
                <a:srgbClr val="C70000"/>
              </a:solidFill>
            </a:endParaRPr>
          </a:p>
        </p:txBody>
      </p:sp>
      <p:sp>
        <p:nvSpPr>
          <p:cNvPr id="3" name="圆角矩形 2"/>
          <p:cNvSpPr>
            <a:spLocks noGrp="1"/>
          </p:cNvSpPr>
          <p:nvPr/>
        </p:nvSpPr>
        <p:spPr>
          <a:xfrm>
            <a:off x="609600" y="971550"/>
            <a:ext cx="10896600" cy="1581150"/>
          </a:xfrm>
          <a:prstGeom prst="roundRect">
            <a:avLst>
              <a:gd name="adj" fmla="val 4819"/>
            </a:avLst>
          </a:prstGeom>
          <a:solidFill>
            <a:srgbClr val="F5F7F8"/>
          </a:solidFill>
          <a:ln w="9525">
            <a:solidFill>
              <a:srgbClr val="D9E0E5"/>
            </a:solidFill>
            <a:prstDash val="solid"/>
          </a:ln>
        </p:spPr>
        <p:txBody>
          <a:bodyPr/>
          <a:lstStyle/>
          <a:p/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781050" y="1047750"/>
            <a:ext cx="4381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425" b="1" i="0">
                <a:solidFill>
                  <a:srgbClr val="C70000"/>
                </a:solidFill>
              </a:defRPr>
            </a:pPr>
            <a:r>
              <a:rPr sz="1425" b="1" i="0">
                <a:solidFill>
                  <a:srgbClr val="C70000"/>
                </a:solidFill>
              </a:rPr>
              <a:t>01</a:t>
            </a:r>
            <a:endParaRPr sz="1425" b="1" i="0">
              <a:solidFill>
                <a:srgbClr val="C70000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1276350" y="1047750"/>
            <a:ext cx="98869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350" b="1" i="0">
                <a:solidFill>
                  <a:srgbClr val="1D1D1A"/>
                </a:solidFill>
              </a:defRPr>
            </a:pPr>
            <a:r>
              <a:rPr sz="1350" b="1" i="0">
                <a:solidFill>
                  <a:srgbClr val="1D1D1A"/>
                </a:solidFill>
              </a:rPr>
              <a:t>同步方案：AF不分离，Attn DP2CP16/DP4CP8、FFN EP32</a:t>
            </a:r>
            <a:endParaRPr sz="1350" b="1" i="0">
              <a:solidFill>
                <a:srgbClr val="1D1D1A"/>
              </a:solidFill>
            </a:endParaRPr>
          </a:p>
        </p:txBody>
      </p:sp>
      <p:pic>
        <p:nvPicPr>
          <p:cNvPr id="38" name="图片 3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58595" y="1352550"/>
            <a:ext cx="5902960" cy="1066800"/>
          </a:xfrm>
          <a:prstGeom prst="rect">
            <a:avLst/>
          </a:prstGeom>
        </p:spPr>
      </p:pic>
      <p:pic>
        <p:nvPicPr>
          <p:cNvPr id="39" name="图片 3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7725" y="1181100"/>
            <a:ext cx="2819400" cy="1295400"/>
          </a:xfrm>
          <a:prstGeom prst="rect">
            <a:avLst/>
          </a:prstGeom>
        </p:spPr>
      </p:pic>
      <p:sp>
        <p:nvSpPr>
          <p:cNvPr id="8" name="圆角矩形 7"/>
          <p:cNvSpPr>
            <a:spLocks noGrp="1"/>
          </p:cNvSpPr>
          <p:nvPr/>
        </p:nvSpPr>
        <p:spPr>
          <a:xfrm>
            <a:off x="609600" y="2686050"/>
            <a:ext cx="10896600" cy="1657350"/>
          </a:xfrm>
          <a:prstGeom prst="roundRect">
            <a:avLst>
              <a:gd name="adj" fmla="val 4598"/>
            </a:avLst>
          </a:prstGeom>
          <a:solidFill>
            <a:srgbClr val="EAF4F8"/>
          </a:solidFill>
          <a:ln w="9525">
            <a:solidFill>
              <a:srgbClr val="B8CEE4"/>
            </a:solidFill>
            <a:prstDash val="solid"/>
          </a:ln>
        </p:spPr>
        <p:txBody>
          <a:bodyPr/>
          <a:lstStyle/>
          <a:p/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781050" y="2762250"/>
            <a:ext cx="4381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425" b="1" i="0">
                <a:solidFill>
                  <a:srgbClr val="156082"/>
                </a:solidFill>
              </a:defRPr>
            </a:pPr>
            <a:r>
              <a:rPr sz="1425" b="1" i="0">
                <a:solidFill>
                  <a:srgbClr val="156082"/>
                </a:solidFill>
              </a:rPr>
              <a:t>02</a:t>
            </a:r>
            <a:endParaRPr sz="1425" b="1" i="0">
              <a:solidFill>
                <a:srgbClr val="156082"/>
              </a:solidFill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276350" y="2762250"/>
            <a:ext cx="98869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350" b="1" i="0">
                <a:solidFill>
                  <a:srgbClr val="1D1D1A"/>
                </a:solidFill>
              </a:defRPr>
            </a:pPr>
            <a:r>
              <a:rPr sz="1350" b="1" i="0">
                <a:solidFill>
                  <a:srgbClr val="1D1D1A"/>
                </a:solidFill>
              </a:rPr>
              <a:t>AFD异步方案：AF分离，Attn DP3CP8、FFN EP8</a:t>
            </a:r>
            <a:endParaRPr sz="1350" b="1" i="0">
              <a:solidFill>
                <a:srgbClr val="1D1D1A"/>
              </a:solidFill>
            </a:endParaRPr>
          </a:p>
        </p:txBody>
      </p:sp>
      <p:pic>
        <p:nvPicPr>
          <p:cNvPr id="43" name="图片 3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3980" y="3086100"/>
            <a:ext cx="6542690" cy="1143000"/>
          </a:xfrm>
          <a:prstGeom prst="rect">
            <a:avLst/>
          </a:prstGeom>
        </p:spPr>
      </p:pic>
      <p:sp>
        <p:nvSpPr>
          <p:cNvPr id="12" name="矩形 11"/>
          <p:cNvSpPr>
            <a:spLocks noGrp="1"/>
          </p:cNvSpPr>
          <p:nvPr/>
        </p:nvSpPr>
        <p:spPr>
          <a:xfrm>
            <a:off x="8648700" y="3171825"/>
            <a:ext cx="247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275" b="1" i="0">
                <a:solidFill>
                  <a:srgbClr val="156082"/>
                </a:solidFill>
              </a:defRPr>
            </a:pPr>
            <a:r>
              <a:rPr sz="1275" b="1" i="0">
                <a:solidFill>
                  <a:srgbClr val="156082"/>
                </a:solidFill>
              </a:rPr>
              <a:t>Attention 与 FFN 独立推进</a:t>
            </a:r>
            <a:endParaRPr sz="1275" b="1" i="0">
              <a:solidFill>
                <a:srgbClr val="156082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8648700" y="3495675"/>
            <a:ext cx="24765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050" b="0" i="0">
                <a:solidFill>
                  <a:srgbClr val="555757"/>
                </a:solidFill>
              </a:defRPr>
            </a:pPr>
            <a:r>
              <a:rPr sz="1050" b="0" i="0">
                <a:solidFill>
                  <a:srgbClr val="555757"/>
                </a:solidFill>
              </a:rPr>
              <a:t>A2F send / F2A recv 穿插在请求流水中，EP 侧连续处理各请求的专家计算。</a:t>
            </a:r>
            <a:endParaRPr sz="1050" b="0" i="0">
              <a:solidFill>
                <a:srgbClr val="555757"/>
              </a:solidFill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781050" y="4495800"/>
            <a:ext cx="4381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425" b="1" i="0">
                <a:solidFill>
                  <a:srgbClr val="C70000"/>
                </a:solidFill>
              </a:defRPr>
            </a:pPr>
            <a:r>
              <a:rPr sz="1425" b="1" i="0">
                <a:solidFill>
                  <a:srgbClr val="C70000"/>
                </a:solidFill>
              </a:rPr>
              <a:t>03</a:t>
            </a:r>
            <a:endParaRPr sz="1425" b="1" i="0">
              <a:solidFill>
                <a:srgbClr val="C70000"/>
              </a:solidFill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1276350" y="4495800"/>
            <a:ext cx="98869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350" b="1" i="0">
                <a:solidFill>
                  <a:srgbClr val="1D1D1A"/>
                </a:solidFill>
              </a:defRPr>
            </a:pPr>
            <a:r>
              <a:rPr sz="1350" b="1" i="0">
                <a:solidFill>
                  <a:srgbClr val="1D1D1A"/>
                </a:solidFill>
              </a:rPr>
              <a:t>异步通信算子</a:t>
            </a:r>
            <a:endParaRPr sz="1350" b="1" i="0">
              <a:solidFill>
                <a:srgbClr val="1D1D1A"/>
              </a:solidFill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609600" y="4791075"/>
            <a:ext cx="10896600" cy="9525"/>
          </a:xfrm>
          <a:prstGeom prst="rect">
            <a:avLst/>
          </a:prstGeom>
          <a:solidFill>
            <a:srgbClr val="C70000"/>
          </a:solidFill>
          <a:ln w="0">
            <a:noFill/>
            <a:prstDash val="solid"/>
          </a:ln>
        </p:spPr>
        <p:txBody>
          <a:bodyPr/>
          <a:lstStyle/>
          <a:p/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076950" y="4876800"/>
            <a:ext cx="9525" cy="1066800"/>
          </a:xfrm>
          <a:prstGeom prst="rect">
            <a:avLst/>
          </a:prstGeom>
          <a:solidFill>
            <a:srgbClr val="D9E0E5"/>
          </a:solidFill>
          <a:ln w="0">
            <a:noFill/>
            <a:prstDash val="solid"/>
          </a:ln>
        </p:spPr>
        <p:txBody>
          <a:bodyPr/>
          <a:lstStyle/>
          <a:p/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762000" y="4876800"/>
            <a:ext cx="11620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050" b="1" i="0">
                <a:solidFill>
                  <a:srgbClr val="156082"/>
                </a:solidFill>
              </a:defRPr>
            </a:pPr>
            <a:r>
              <a:rPr sz="1050" b="1" i="0">
                <a:solidFill>
                  <a:srgbClr val="156082"/>
                </a:solidFill>
              </a:rPr>
              <a:t>dispatch_send</a:t>
            </a:r>
            <a:endParaRPr sz="1050" b="1" i="0">
              <a:solidFill>
                <a:srgbClr val="156082"/>
              </a:solidFill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1943100" y="4876800"/>
            <a:ext cx="4048125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940" b="0" i="0">
                <a:solidFill>
                  <a:srgbClr val="555757"/>
                </a:solidFill>
              </a:defRPr>
            </a:pPr>
            <a:r>
              <a:rPr sz="940" b="0" i="0">
                <a:solidFill>
                  <a:srgbClr val="555757"/>
                </a:solidFill>
              </a:rPr>
              <a:t>Attention卡根据路由表将每个token按top-k选择分发到对应MoE Expert卡的共享内存中，同时均匀分配token给各卡的共享专家。</a:t>
            </a:r>
            <a:endParaRPr sz="940" b="0" i="0">
              <a:solidFill>
                <a:srgbClr val="555757"/>
              </a:solidFill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6248400" y="4876800"/>
            <a:ext cx="11620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050" b="1" i="0">
                <a:solidFill>
                  <a:srgbClr val="2D9D8F"/>
                </a:solidFill>
              </a:defRPr>
            </a:pPr>
            <a:r>
              <a:rPr sz="1050" b="1" i="0">
                <a:solidFill>
                  <a:srgbClr val="2D9D8F"/>
                </a:solidFill>
              </a:rPr>
              <a:t>dispatch_recv</a:t>
            </a:r>
            <a:endParaRPr sz="1050" b="1" i="0">
              <a:solidFill>
                <a:srgbClr val="2D9D8F"/>
              </a:solidFill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7429500" y="4876800"/>
            <a:ext cx="4048125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940" b="0" i="0">
                <a:solidFill>
                  <a:srgbClr val="555757"/>
                </a:solidFill>
              </a:defRPr>
            </a:pPr>
            <a:r>
              <a:rPr sz="940" b="0" i="0">
                <a:solidFill>
                  <a:srgbClr val="555757"/>
                </a:solidFill>
              </a:rPr>
              <a:t>MoEExpert卡轮询各Attention卡的共享内存，等待数据就绪后将token按专家维度重排收集到本地buffer，输出每个专家收到的token及元信息供后续计算使用。</a:t>
            </a:r>
            <a:endParaRPr sz="940" b="0" i="0">
              <a:solidFill>
                <a:srgbClr val="555757"/>
              </a:solidFill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762000" y="5448300"/>
            <a:ext cx="11620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050" b="1" i="0">
                <a:solidFill>
                  <a:srgbClr val="E97132"/>
                </a:solidFill>
              </a:defRPr>
            </a:pPr>
            <a:r>
              <a:rPr sz="1050" b="1" i="0">
                <a:solidFill>
                  <a:srgbClr val="E97132"/>
                </a:solidFill>
              </a:rPr>
              <a:t>combine_send</a:t>
            </a:r>
            <a:endParaRPr sz="1050" b="1" i="0">
              <a:solidFill>
                <a:srgbClr val="E97132"/>
              </a:solidFill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1943100" y="5448300"/>
            <a:ext cx="4048125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940" b="0" i="0">
                <a:solidFill>
                  <a:srgbClr val="555757"/>
                </a:solidFill>
              </a:defRPr>
            </a:pPr>
            <a:r>
              <a:rPr sz="940" b="0" i="0">
                <a:solidFill>
                  <a:srgbClr val="555757"/>
                </a:solidFill>
              </a:rPr>
              <a:t>MoEExpert卡完成本地专家计算后，根据dispatch_recv产出的元信息将路由专家和共享专家的计算结果按原路写回对应Attention卡的共享内存。</a:t>
            </a:r>
            <a:endParaRPr sz="940" b="0" i="0">
              <a:solidFill>
                <a:srgbClr val="555757"/>
              </a:solidFill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6248400" y="5448300"/>
            <a:ext cx="11620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050" b="1" i="0">
                <a:solidFill>
                  <a:srgbClr val="4F8F13"/>
                </a:solidFill>
              </a:defRPr>
            </a:pPr>
            <a:r>
              <a:rPr sz="1050" b="1" i="0">
                <a:solidFill>
                  <a:srgbClr val="4F8F13"/>
                </a:solidFill>
              </a:rPr>
              <a:t>combine_recv</a:t>
            </a:r>
            <a:endParaRPr sz="1050" b="1" i="0">
              <a:solidFill>
                <a:srgbClr val="4F8F13"/>
              </a:solidFill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7429500" y="5448300"/>
            <a:ext cx="4048125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940" b="0" i="0">
                <a:solidFill>
                  <a:srgbClr val="555757"/>
                </a:solidFill>
              </a:defRPr>
            </a:pPr>
            <a:r>
              <a:rPr sz="940" b="0" i="0">
                <a:solidFill>
                  <a:srgbClr val="555757"/>
                </a:solidFill>
              </a:rPr>
              <a:t>Attention卡等待所有MoE Expert卡回传完成，遍历路由表从共享内存中读出每个token的top-k专家输出与共享专家输出，按门控分数加权累加得到最终token输出。</a:t>
            </a:r>
            <a:endParaRPr sz="940" b="0" i="0">
              <a:solidFill>
                <a:srgbClr val="555757"/>
              </a:solidFill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609600" y="6153150"/>
            <a:ext cx="971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825" b="0" i="0">
                <a:solidFill>
                  <a:srgbClr val="555757"/>
                </a:solidFill>
              </a:defRPr>
            </a:pPr>
            <a:r>
              <a:rPr sz="825" b="0" i="0">
                <a:solidFill>
                  <a:srgbClr val="555757"/>
                </a:solidFill>
              </a:rPr>
              <a:t>同步与异步方案对比；四个通信算子说明保持原材料内容</a:t>
            </a:r>
            <a:endParaRPr sz="825" b="0" i="0">
              <a:solidFill>
                <a:srgbClr val="555757"/>
              </a:solidFill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609600" y="6419850"/>
            <a:ext cx="10287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675" b="0" i="1">
                <a:solidFill>
                  <a:srgbClr val="898989"/>
                </a:solidFill>
              </a:defRPr>
            </a:pPr>
            <a:r>
              <a:rPr sz="675" b="0" i="1">
                <a:solidFill>
                  <a:srgbClr val="898989"/>
                </a:solidFill>
              </a:rPr>
              <a:t>来源：AFD-Plugin(2).pptx 第 6 页</a:t>
            </a:r>
            <a:endParaRPr sz="675" b="0" i="1">
              <a:solidFill>
                <a:srgbClr val="898989"/>
              </a:solidFill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11430000" y="6419850"/>
            <a:ext cx="2286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buNone/>
              <a:defRPr sz="825" b="0" i="0">
                <a:solidFill>
                  <a:srgbClr val="898989"/>
                </a:solidFill>
              </a:defRPr>
            </a:pPr>
            <a:r>
              <a:rPr sz="825" b="0" i="0">
                <a:solidFill>
                  <a:srgbClr val="898989"/>
                </a:solidFill>
              </a:rPr>
              <a:t>9</a:t>
            </a:r>
            <a:endParaRPr sz="825" b="0" i="0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矩形 28"/>
          <p:cNvSpPr>
            <a:spLocks noGrp="1"/>
          </p:cNvSpPr>
          <p:nvPr/>
        </p:nvSpPr>
        <p:spPr>
          <a:xfrm>
            <a:off x="609600" y="209550"/>
            <a:ext cx="1809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825" b="1" i="0">
                <a:solidFill>
                  <a:srgbClr val="898989"/>
                </a:solidFill>
              </a:defRPr>
            </a:pPr>
            <a:r>
              <a:rPr sz="825" b="1" i="0">
                <a:solidFill>
                  <a:srgbClr val="898989"/>
                </a:solidFill>
              </a:rPr>
              <a:t>USAGE</a:t>
            </a:r>
            <a:endParaRPr sz="825" b="1" i="0">
              <a:solidFill>
                <a:srgbClr val="898989"/>
              </a:solidFill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09600" y="419100"/>
            <a:ext cx="10668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250" b="1" i="0">
                <a:solidFill>
                  <a:srgbClr val="C70000"/>
                </a:solidFill>
              </a:defRPr>
            </a:pPr>
            <a:r>
              <a:rPr sz="2250" b="1" i="0">
                <a:solidFill>
                  <a:srgbClr val="C70000"/>
                </a:solidFill>
              </a:rPr>
              <a:t>Usage：分别启动 Attention 与 FFN 实例</a:t>
            </a:r>
            <a:endParaRPr sz="2250" b="1" i="0">
              <a:solidFill>
                <a:srgbClr val="C70000"/>
              </a:solidFill>
            </a:endParaRPr>
          </a:p>
        </p:txBody>
      </p:sp>
      <p:sp>
        <p:nvSpPr>
          <p:cNvPr id="3" name="圆角矩形 2"/>
          <p:cNvSpPr>
            <a:spLocks noGrp="1"/>
          </p:cNvSpPr>
          <p:nvPr/>
        </p:nvSpPr>
        <p:spPr>
          <a:xfrm>
            <a:off x="609600" y="1028700"/>
            <a:ext cx="10896600" cy="2266950"/>
          </a:xfrm>
          <a:prstGeom prst="roundRect">
            <a:avLst>
              <a:gd name="adj" fmla="val 4819"/>
            </a:avLst>
          </a:prstGeom>
          <a:noFill/>
          <a:ln w="9525">
            <a:solidFill>
              <a:srgbClr val="D9E0E5"/>
            </a:solidFill>
            <a:prstDash val="solid"/>
          </a:ln>
        </p:spPr>
        <p:txBody>
          <a:bodyPr/>
          <a:lstStyle/>
          <a:p/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781050" y="1104900"/>
            <a:ext cx="4381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425" b="1" i="0">
                <a:solidFill>
                  <a:srgbClr val="C70000"/>
                </a:solidFill>
              </a:defRPr>
            </a:pPr>
            <a:r>
              <a:rPr sz="1425" b="1" i="0">
                <a:solidFill>
                  <a:srgbClr val="C70000"/>
                </a:solidFill>
              </a:rPr>
              <a:t>01</a:t>
            </a:r>
            <a:endParaRPr sz="1425" b="1" i="0">
              <a:solidFill>
                <a:srgbClr val="C70000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1276350" y="1104900"/>
            <a:ext cx="98869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350" b="1" i="0">
                <a:solidFill>
                  <a:srgbClr val="1D1D1A"/>
                </a:solidFill>
              </a:defRPr>
            </a:pPr>
            <a:r>
              <a:rPr sz="1350" b="1" i="0">
                <a:solidFill>
                  <a:srgbClr val="1D1D1A"/>
                </a:solidFill>
              </a:rPr>
              <a:t>GPU Attention-side shape</a:t>
            </a:r>
            <a:endParaRPr sz="1350" b="1" i="0">
              <a:solidFill>
                <a:srgbClr val="1D1D1A"/>
              </a:solidFill>
            </a:endParaRPr>
          </a:p>
        </p:txBody>
      </p:sp>
      <p:sp>
        <p:nvSpPr>
          <p:cNvPr id="30" name="图片 33"/>
          <p:cNvSpPr>
            <a:spLocks noGrp="1"/>
          </p:cNvSpPr>
          <p:nvPr/>
        </p:nvSpPr>
        <p:spPr>
          <a:xfrm>
            <a:off x="0" y="0"/>
            <a:ext cx="0" cy="0"/>
          </a:xfrm>
        </p:spPr>
        <p:txBody>
          <a:bodyPr/>
          <a:lstStyle/>
          <a:p/>
        </p:txBody>
      </p:sp>
      <p:pic>
        <p:nvPicPr>
          <p:cNvPr id="42" name="图片 3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0" cy="0"/>
          </a:xfrm>
          <a:prstGeom prst="rect">
            <a:avLst/>
          </a:prstGeom>
        </p:spPr>
      </p:pic>
      <p:sp>
        <p:nvSpPr>
          <p:cNvPr id="31" name="图片 34"/>
          <p:cNvSpPr>
            <a:spLocks noGrp="1"/>
          </p:cNvSpPr>
          <p:nvPr/>
        </p:nvSpPr>
        <p:spPr>
          <a:xfrm>
            <a:off x="0" y="0"/>
            <a:ext cx="0" cy="0"/>
          </a:xfrm>
        </p:spPr>
        <p:txBody>
          <a:bodyPr/>
          <a:lstStyle/>
          <a:p/>
        </p:txBody>
      </p:sp>
      <p:pic>
        <p:nvPicPr>
          <p:cNvPr id="44" name="图片 3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0" cy="0"/>
          </a:xfrm>
          <a:prstGeom prst="rect">
            <a:avLst/>
          </a:prstGeom>
        </p:spPr>
      </p:pic>
      <p:sp>
        <p:nvSpPr>
          <p:cNvPr id="8" name="圆角矩形 7"/>
          <p:cNvSpPr>
            <a:spLocks noGrp="1"/>
          </p:cNvSpPr>
          <p:nvPr/>
        </p:nvSpPr>
        <p:spPr>
          <a:xfrm>
            <a:off x="609600" y="3429000"/>
            <a:ext cx="10896600" cy="2362200"/>
          </a:xfrm>
          <a:prstGeom prst="roundRect">
            <a:avLst>
              <a:gd name="adj" fmla="val 4598"/>
            </a:avLst>
          </a:prstGeom>
          <a:noFill/>
          <a:ln w="9525">
            <a:solidFill>
              <a:srgbClr val="B8CEE4"/>
            </a:solidFill>
            <a:prstDash val="solid"/>
          </a:ln>
        </p:spPr>
        <p:txBody>
          <a:bodyPr/>
          <a:lstStyle/>
          <a:p/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781050" y="3505200"/>
            <a:ext cx="4381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425" b="1" i="0">
                <a:solidFill>
                  <a:srgbClr val="156082"/>
                </a:solidFill>
              </a:defRPr>
            </a:pPr>
            <a:r>
              <a:rPr sz="1425" b="1" i="0">
                <a:solidFill>
                  <a:srgbClr val="156082"/>
                </a:solidFill>
              </a:rPr>
              <a:t>02</a:t>
            </a:r>
            <a:endParaRPr sz="1425" b="1" i="0">
              <a:solidFill>
                <a:srgbClr val="156082"/>
              </a:solidFill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276350" y="3505200"/>
            <a:ext cx="98869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350" b="1" i="0">
                <a:solidFill>
                  <a:srgbClr val="1D1D1A"/>
                </a:solidFill>
              </a:defRPr>
            </a:pPr>
            <a:r>
              <a:rPr sz="1350" b="1" i="0">
                <a:solidFill>
                  <a:srgbClr val="1D1D1A"/>
                </a:solidFill>
              </a:rPr>
              <a:t>GPU FFN-side shape</a:t>
            </a:r>
            <a:endParaRPr sz="1350" b="1" i="0">
              <a:solidFill>
                <a:srgbClr val="1D1D1A"/>
              </a:solidFill>
            </a:endParaRPr>
          </a:p>
        </p:txBody>
      </p:sp>
      <p:sp>
        <p:nvSpPr>
          <p:cNvPr id="32" name="图片 38"/>
          <p:cNvSpPr>
            <a:spLocks noGrp="1"/>
          </p:cNvSpPr>
          <p:nvPr/>
        </p:nvSpPr>
        <p:spPr>
          <a:xfrm>
            <a:off x="0" y="0"/>
            <a:ext cx="0" cy="0"/>
          </a:xfrm>
        </p:spPr>
        <p:txBody>
          <a:bodyPr/>
          <a:lstStyle/>
          <a:p/>
        </p:txBody>
      </p:sp>
      <p:pic>
        <p:nvPicPr>
          <p:cNvPr id="49" name="图片 3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0" cy="0"/>
          </a:xfrm>
          <a:prstGeom prst="rect">
            <a:avLst/>
          </a:prstGeom>
        </p:spPr>
      </p:pic>
      <p:sp>
        <p:nvSpPr>
          <p:cNvPr id="12" name="矩形 11"/>
          <p:cNvSpPr>
            <a:spLocks noGrp="1"/>
          </p:cNvSpPr>
          <p:nvPr/>
        </p:nvSpPr>
        <p:spPr>
          <a:xfrm>
            <a:off x="876300" y="1428750"/>
            <a:ext cx="10287000" cy="1714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015" b="1" i="0">
                <a:solidFill>
                  <a:srgbClr val="202124"/>
                </a:solidFill>
              </a:defRPr>
            </a:pPr>
            <a:r>
              <a:rPr sz="1015" b="1" i="0">
                <a:solidFill>
                  <a:srgbClr val="202124"/>
                </a:solidFill>
              </a:rPr>
              <a:t>vllm serve /path/to/DeepSeek-V2-Lite \</a:t>
            </a:r>
            <a:endParaRPr sz="1275" b="1" i="0">
              <a:solidFill>
                <a:srgbClr val="156082"/>
              </a:solidFill>
            </a:endParaRPr>
          </a:p>
          <a:p>
            <a:pPr algn="l">
              <a:buNone/>
              <a:defRPr sz="1015" b="1" i="0">
                <a:solidFill>
                  <a:srgbClr val="202124"/>
                </a:solidFill>
              </a:defRPr>
            </a:pPr>
            <a:r>
              <a:rPr sz="1015" b="1" i="0">
                <a:solidFill>
                  <a:srgbClr val="202124"/>
                </a:solidFill>
              </a:rPr>
              <a:t>  --served-model-name deepseek-v2-lite-afd-attention \</a:t>
            </a:r>
            <a:endParaRPr sz="1275" b="1" i="0">
              <a:solidFill>
                <a:srgbClr val="156082"/>
              </a:solidFill>
            </a:endParaRPr>
          </a:p>
          <a:p>
            <a:pPr algn="l">
              <a:buNone/>
              <a:defRPr sz="1015" b="1" i="0">
                <a:solidFill>
                  <a:srgbClr val="202124"/>
                </a:solidFill>
              </a:defRPr>
            </a:pPr>
            <a:r>
              <a:rPr sz="1015" b="1" i="0">
                <a:solidFill>
                  <a:srgbClr val="202124"/>
                </a:solidFill>
              </a:rPr>
              <a:t>  --data-parallel-size 1 \</a:t>
            </a:r>
            <a:endParaRPr sz="1275" b="1" i="0">
              <a:solidFill>
                <a:srgbClr val="156082"/>
              </a:solidFill>
            </a:endParaRPr>
          </a:p>
          <a:p>
            <a:pPr algn="l">
              <a:buNone/>
              <a:defRPr sz="1015" b="1" i="0">
                <a:solidFill>
                  <a:srgbClr val="202124"/>
                </a:solidFill>
              </a:defRPr>
            </a:pPr>
            <a:r>
              <a:rPr sz="1015" b="1" i="0">
                <a:solidFill>
                  <a:srgbClr val="202124"/>
                </a:solidFill>
              </a:rPr>
              <a:t>  --tensor-parallel-size 1 \</a:t>
            </a:r>
            <a:endParaRPr sz="1275" b="1" i="0">
              <a:solidFill>
                <a:srgbClr val="156082"/>
              </a:solidFill>
            </a:endParaRPr>
          </a:p>
          <a:p>
            <a:pPr algn="l">
              <a:buNone/>
              <a:defRPr sz="1015" b="1" i="0">
                <a:solidFill>
                  <a:srgbClr val="202124"/>
                </a:solidFill>
              </a:defRPr>
            </a:pPr>
            <a:r>
              <a:rPr sz="1015" b="1" i="0">
                <a:solidFill>
                  <a:srgbClr val="202124"/>
                </a:solidFill>
              </a:rPr>
              <a:t>  --enable-expert-parallel \</a:t>
            </a:r>
            <a:endParaRPr sz="1275" b="1" i="0">
              <a:solidFill>
                <a:srgbClr val="156082"/>
              </a:solidFill>
            </a:endParaRPr>
          </a:p>
          <a:p>
            <a:pPr algn="l">
              <a:buNone/>
              <a:defRPr sz="1015" b="1" i="0">
                <a:solidFill>
                  <a:srgbClr val="202124"/>
                </a:solidFill>
              </a:defRPr>
            </a:pPr>
            <a:r>
              <a:rPr sz="1015" b="1" i="0">
                <a:solidFill>
                  <a:srgbClr val="202124"/>
                </a:solidFill>
              </a:rPr>
              <a:t>  --enforce-eager \</a:t>
            </a:r>
            <a:endParaRPr sz="1275" b="1" i="0">
              <a:solidFill>
                <a:srgbClr val="156082"/>
              </a:solidFill>
            </a:endParaRPr>
          </a:p>
          <a:p>
            <a:pPr algn="l">
              <a:buNone/>
              <a:defRPr sz="1015" b="1" i="0">
                <a:solidFill>
                  <a:srgbClr val="202124"/>
                </a:solidFill>
              </a:defRPr>
            </a:pPr>
            <a:r>
              <a:rPr sz="1015" b="1" i="0">
                <a:solidFill>
                  <a:srgbClr val="202124"/>
                </a:solidFill>
              </a:rPr>
              <a:t>  --host 127.0.0.1 \</a:t>
            </a:r>
            <a:endParaRPr sz="1275" b="1" i="0">
              <a:solidFill>
                <a:srgbClr val="156082"/>
              </a:solidFill>
            </a:endParaRPr>
          </a:p>
          <a:p>
            <a:pPr algn="l">
              <a:buNone/>
              <a:defRPr sz="1015" b="1" i="0">
                <a:solidFill>
                  <a:srgbClr val="202124"/>
                </a:solidFill>
              </a:defRPr>
            </a:pPr>
            <a:r>
              <a:rPr sz="1015" b="1" i="0">
                <a:solidFill>
                  <a:srgbClr val="202124"/>
                </a:solidFill>
              </a:rPr>
              <a:t>  --port 18000 \</a:t>
            </a:r>
            <a:endParaRPr sz="1275" b="1" i="0">
              <a:solidFill>
                <a:srgbClr val="156082"/>
              </a:solidFill>
            </a:endParaRPr>
          </a:p>
          <a:p>
            <a:pPr algn="l">
              <a:buNone/>
              <a:defRPr sz="1015" b="1" i="0">
                <a:solidFill>
                  <a:srgbClr val="202124"/>
                </a:solidFill>
              </a:defRPr>
            </a:pPr>
            <a:r>
              <a:rPr sz="1015" b="1" i="0">
                <a:solidFill>
                  <a:srgbClr val="202124"/>
                </a:solidFill>
              </a:rPr>
              <a:t>  --additional-config '{"afd":{"role":"attention","connector":"P2pNcclAFDConnector","host":"127.0.0.1","port":6239,"num_attention_ranks":1,"num_ffn_ranks":1}}'</a:t>
            </a:r>
            <a:endParaRPr sz="1275" b="1" i="0">
              <a:solidFill>
                <a:srgbClr val="156082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876300" y="3829050"/>
            <a:ext cx="10287000" cy="180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015" b="0" i="0">
                <a:solidFill>
                  <a:srgbClr val="202124"/>
                </a:solidFill>
              </a:defRPr>
            </a:pPr>
            <a:r>
              <a:rPr sz="1015" b="0" i="0">
                <a:solidFill>
                  <a:srgbClr val="202124"/>
                </a:solidFill>
              </a:rPr>
              <a:t>vllm serve /path/to/DeepSeek-V2-Lite \</a:t>
            </a:r>
            <a:endParaRPr sz="1050" b="0" i="0">
              <a:solidFill>
                <a:srgbClr val="555757"/>
              </a:solidFill>
            </a:endParaRPr>
          </a:p>
          <a:p>
            <a:pPr algn="l">
              <a:buNone/>
              <a:defRPr sz="1015" b="0" i="0">
                <a:solidFill>
                  <a:srgbClr val="202124"/>
                </a:solidFill>
              </a:defRPr>
            </a:pPr>
            <a:r>
              <a:rPr sz="1015" b="0" i="0">
                <a:solidFill>
                  <a:srgbClr val="202124"/>
                </a:solidFill>
              </a:rPr>
              <a:t>  --served-model-name deepseek-v2-lite-afd-ffn \</a:t>
            </a:r>
            <a:endParaRPr sz="1050" b="0" i="0">
              <a:solidFill>
                <a:srgbClr val="555757"/>
              </a:solidFill>
            </a:endParaRPr>
          </a:p>
          <a:p>
            <a:pPr algn="l">
              <a:buNone/>
              <a:defRPr sz="1015" b="0" i="0">
                <a:solidFill>
                  <a:srgbClr val="202124"/>
                </a:solidFill>
              </a:defRPr>
            </a:pPr>
            <a:r>
              <a:rPr sz="1015" b="0" i="0">
                <a:solidFill>
                  <a:srgbClr val="202124"/>
                </a:solidFill>
              </a:rPr>
              <a:t>  --data-parallel-size 1 \</a:t>
            </a:r>
            <a:endParaRPr sz="1050" b="0" i="0">
              <a:solidFill>
                <a:srgbClr val="555757"/>
              </a:solidFill>
            </a:endParaRPr>
          </a:p>
          <a:p>
            <a:pPr algn="l">
              <a:buNone/>
              <a:defRPr sz="1015" b="0" i="0">
                <a:solidFill>
                  <a:srgbClr val="202124"/>
                </a:solidFill>
              </a:defRPr>
            </a:pPr>
            <a:r>
              <a:rPr sz="1015" b="0" i="0">
                <a:solidFill>
                  <a:srgbClr val="202124"/>
                </a:solidFill>
              </a:rPr>
              <a:t>  --tensor-parallel-size 1 \</a:t>
            </a:r>
            <a:endParaRPr sz="1050" b="0" i="0">
              <a:solidFill>
                <a:srgbClr val="555757"/>
              </a:solidFill>
            </a:endParaRPr>
          </a:p>
          <a:p>
            <a:pPr algn="l">
              <a:buNone/>
              <a:defRPr sz="1015" b="0" i="0">
                <a:solidFill>
                  <a:srgbClr val="202124"/>
                </a:solidFill>
              </a:defRPr>
            </a:pPr>
            <a:r>
              <a:rPr sz="1015" b="0" i="0">
                <a:solidFill>
                  <a:srgbClr val="202124"/>
                </a:solidFill>
              </a:rPr>
              <a:t>  --enable-expert-parallel \</a:t>
            </a:r>
            <a:endParaRPr sz="1050" b="0" i="0">
              <a:solidFill>
                <a:srgbClr val="555757"/>
              </a:solidFill>
            </a:endParaRPr>
          </a:p>
          <a:p>
            <a:pPr algn="l">
              <a:buNone/>
              <a:defRPr sz="1015" b="0" i="0">
                <a:solidFill>
                  <a:srgbClr val="202124"/>
                </a:solidFill>
              </a:defRPr>
            </a:pPr>
            <a:r>
              <a:rPr sz="1015" b="0" i="0">
                <a:solidFill>
                  <a:srgbClr val="202124"/>
                </a:solidFill>
              </a:rPr>
              <a:t>  --enforce-eager \</a:t>
            </a:r>
            <a:endParaRPr sz="1050" b="0" i="0">
              <a:solidFill>
                <a:srgbClr val="555757"/>
              </a:solidFill>
            </a:endParaRPr>
          </a:p>
          <a:p>
            <a:pPr algn="l">
              <a:buNone/>
              <a:defRPr sz="1015" b="0" i="0">
                <a:solidFill>
                  <a:srgbClr val="202124"/>
                </a:solidFill>
              </a:defRPr>
            </a:pPr>
            <a:r>
              <a:rPr sz="1015" b="0" i="0">
                <a:solidFill>
                  <a:srgbClr val="202124"/>
                </a:solidFill>
              </a:rPr>
              <a:t>  --host 127.0.0.1 \</a:t>
            </a:r>
            <a:endParaRPr sz="1050" b="0" i="0">
              <a:solidFill>
                <a:srgbClr val="555757"/>
              </a:solidFill>
            </a:endParaRPr>
          </a:p>
          <a:p>
            <a:pPr algn="l">
              <a:buNone/>
              <a:defRPr sz="1015" b="0" i="0">
                <a:solidFill>
                  <a:srgbClr val="202124"/>
                </a:solidFill>
              </a:defRPr>
            </a:pPr>
            <a:r>
              <a:rPr sz="1015" b="0" i="0">
                <a:solidFill>
                  <a:srgbClr val="202124"/>
                </a:solidFill>
              </a:rPr>
              <a:t>  --port 18001 \</a:t>
            </a:r>
            <a:endParaRPr sz="1050" b="0" i="0">
              <a:solidFill>
                <a:srgbClr val="555757"/>
              </a:solidFill>
            </a:endParaRPr>
          </a:p>
          <a:p>
            <a:pPr algn="l">
              <a:buNone/>
              <a:defRPr sz="1015" b="0" i="0">
                <a:solidFill>
                  <a:srgbClr val="202124"/>
                </a:solidFill>
              </a:defRPr>
            </a:pPr>
            <a:r>
              <a:rPr sz="1015" b="0" i="0">
                <a:solidFill>
                  <a:srgbClr val="202124"/>
                </a:solidFill>
              </a:rPr>
              <a:t>  --additional-config '{"afd":{"role":"ffn","connector":"P2pNcclAFDConnector","host":"127.0.0.1","port":6239,"num_attention_ranks":1,"num_ffn_ranks":1}}'</a:t>
            </a:r>
            <a:endParaRPr sz="1050" b="0" i="0">
              <a:solidFill>
                <a:srgbClr val="555757"/>
              </a:solidFill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425" b="1" i="0">
                <a:solidFill>
                  <a:srgbClr val="C70000"/>
                </a:solidFill>
              </a:defRPr>
            </a:pPr>
            <a:endParaRPr sz="1425" b="1" i="0">
              <a:solidFill>
                <a:srgbClr val="C70000"/>
              </a:solidFill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350" b="1" i="0">
                <a:solidFill>
                  <a:srgbClr val="1D1D1A"/>
                </a:solidFill>
              </a:defRPr>
            </a:pPr>
            <a:endParaRPr sz="1350" b="1" i="0">
              <a:solidFill>
                <a:srgbClr val="1D1D1A"/>
              </a:solidFill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0" y="0"/>
            <a:ext cx="0" cy="0"/>
          </a:xfrm>
          <a:prstGeom prst="rect">
            <a:avLst/>
          </a:prstGeom>
          <a:solidFill>
            <a:srgbClr val="C70000"/>
          </a:solidFill>
          <a:ln w="0">
            <a:noFill/>
            <a:prstDash val="solid"/>
          </a:ln>
        </p:spPr>
        <p:txBody>
          <a:bodyPr/>
          <a:lstStyle/>
          <a:p/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0" y="0"/>
            <a:ext cx="0" cy="0"/>
          </a:xfrm>
          <a:prstGeom prst="rect">
            <a:avLst/>
          </a:prstGeom>
          <a:solidFill>
            <a:srgbClr val="D9E0E5"/>
          </a:solidFill>
          <a:ln w="0">
            <a:noFill/>
            <a:prstDash val="solid"/>
          </a:ln>
        </p:spPr>
        <p:txBody>
          <a:bodyPr/>
          <a:lstStyle/>
          <a:p/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050" b="1" i="0">
                <a:solidFill>
                  <a:srgbClr val="156082"/>
                </a:solidFill>
              </a:defRPr>
            </a:pPr>
            <a:endParaRPr sz="1050" b="1" i="0">
              <a:solidFill>
                <a:srgbClr val="156082"/>
              </a:solidFill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940" b="0" i="0">
                <a:solidFill>
                  <a:srgbClr val="555757"/>
                </a:solidFill>
              </a:defRPr>
            </a:pPr>
            <a:endParaRPr sz="940" b="0" i="0">
              <a:solidFill>
                <a:srgbClr val="555757"/>
              </a:solidFill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050" b="1" i="0">
                <a:solidFill>
                  <a:srgbClr val="2D9D8F"/>
                </a:solidFill>
              </a:defRPr>
            </a:pPr>
            <a:endParaRPr sz="1050" b="1" i="0">
              <a:solidFill>
                <a:srgbClr val="2D9D8F"/>
              </a:solidFill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940" b="0" i="0">
                <a:solidFill>
                  <a:srgbClr val="555757"/>
                </a:solidFill>
              </a:defRPr>
            </a:pPr>
            <a:endParaRPr sz="940" b="0" i="0">
              <a:solidFill>
                <a:srgbClr val="555757"/>
              </a:solidFill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050" b="1" i="0">
                <a:solidFill>
                  <a:srgbClr val="E97132"/>
                </a:solidFill>
              </a:defRPr>
            </a:pPr>
            <a:endParaRPr sz="1050" b="1" i="0">
              <a:solidFill>
                <a:srgbClr val="E97132"/>
              </a:solidFill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940" b="0" i="0">
                <a:solidFill>
                  <a:srgbClr val="555757"/>
                </a:solidFill>
              </a:defRPr>
            </a:pPr>
            <a:endParaRPr sz="940" b="0" i="0">
              <a:solidFill>
                <a:srgbClr val="555757"/>
              </a:solidFill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050" b="1" i="0">
                <a:solidFill>
                  <a:srgbClr val="4F8F13"/>
                </a:solidFill>
              </a:defRPr>
            </a:pPr>
            <a:endParaRPr sz="1050" b="1" i="0">
              <a:solidFill>
                <a:srgbClr val="4F8F13"/>
              </a:solidFill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940" b="0" i="0">
                <a:solidFill>
                  <a:srgbClr val="555757"/>
                </a:solidFill>
              </a:defRPr>
            </a:pPr>
            <a:endParaRPr sz="940" b="0" i="0">
              <a:solidFill>
                <a:srgbClr val="555757"/>
              </a:solidFill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609600" y="6153150"/>
            <a:ext cx="971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825" b="0" i="0">
                <a:solidFill>
                  <a:srgbClr val="555757"/>
                </a:solidFill>
              </a:defRPr>
            </a:pPr>
            <a:r>
              <a:rPr sz="825" b="0" i="0">
                <a:solidFill>
                  <a:srgbClr val="555757"/>
                </a:solidFill>
              </a:rPr>
              <a:t>同一组 host / port 与 rank 数配置必须在两侧保持一致</a:t>
            </a:r>
            <a:endParaRPr sz="825" b="0" i="0">
              <a:solidFill>
                <a:srgbClr val="555757"/>
              </a:solidFill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609600" y="6419850"/>
            <a:ext cx="10287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675" b="0" i="1">
                <a:solidFill>
                  <a:srgbClr val="898989"/>
                </a:solidFill>
              </a:defRPr>
            </a:pPr>
            <a:r>
              <a:rPr sz="675" b="0" i="1">
                <a:solidFill>
                  <a:srgbClr val="898989"/>
                </a:solidFill>
              </a:rPr>
              <a:t>来源：AFD Plugin README · GPU P2P serving example</a:t>
            </a:r>
            <a:endParaRPr sz="675" b="0" i="1">
              <a:solidFill>
                <a:srgbClr val="898989"/>
              </a:solidFill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11315700" y="6419850"/>
            <a:ext cx="3429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buNone/>
              <a:defRPr sz="825" b="0" i="0">
                <a:solidFill>
                  <a:srgbClr val="898989"/>
                </a:solidFill>
              </a:defRPr>
            </a:pPr>
            <a:r>
              <a:rPr sz="825" b="0" i="0">
                <a:solidFill>
                  <a:srgbClr val="898989"/>
                </a:solidFill>
              </a:rPr>
              <a:t>10</a:t>
            </a:r>
            <a:endParaRPr sz="825" b="0" i="0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/>
          <p:cNvSpPr>
            <a:spLocks noGrp="1"/>
          </p:cNvSpPr>
          <p:nvPr/>
        </p:nvSpPr>
        <p:spPr>
          <a:xfrm>
            <a:off x="609600" y="209550"/>
            <a:ext cx="1809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825" b="1">
                <a:solidFill>
                  <a:srgbClr val="898989"/>
                </a:solidFill>
              </a:defRPr>
            </a:pPr>
            <a:r>
              <a:rPr sz="825" b="1">
                <a:solidFill>
                  <a:srgbClr val="898989"/>
                </a:solidFill>
              </a:rPr>
              <a:t>SYNC DECODE RESULTS</a:t>
            </a:r>
            <a:endParaRPr sz="825" b="1">
              <a:solidFill>
                <a:srgbClr val="898989"/>
              </a:solidFill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09600" y="419100"/>
            <a:ext cx="10668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250" b="1">
                <a:solidFill>
                  <a:srgbClr val="C00000"/>
                </a:solidFill>
              </a:defRPr>
            </a:pPr>
            <a:r>
              <a:rPr sz="2250" b="1">
                <a:solidFill>
                  <a:srgbClr val="C00000"/>
                </a:solidFill>
              </a:rPr>
              <a:t>64A16F 提升 9%–11%，但 A:F 配比决定收益方向</a:t>
            </a:r>
            <a:endParaRPr sz="2250" b="1">
              <a:solidFill>
                <a:srgbClr val="C00000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914400"/>
            <a:ext cx="1428750" cy="28575"/>
          </a:xfrm>
          <a:prstGeom prst="rect">
            <a:avLst/>
          </a:prstGeom>
          <a:solidFill>
            <a:srgbClr val="C00000"/>
          </a:solidFill>
          <a:ln w="0">
            <a:solidFill>
              <a:srgbClr val="C00000"/>
            </a:solidFill>
            <a:prstDash val="solid"/>
          </a:ln>
        </p:spPr>
        <p:txBody>
          <a:bodyPr/>
          <a:lstStyle/>
          <a:p/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1315700" y="6419850"/>
            <a:ext cx="3429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buNone/>
              <a:defRPr sz="825" b="0">
                <a:solidFill>
                  <a:srgbClr val="898989"/>
                </a:solidFill>
              </a:defRPr>
            </a:pPr>
            <a:r>
              <a:rPr sz="825" b="0">
                <a:solidFill>
                  <a:srgbClr val="898989"/>
                </a:solidFill>
              </a:rPr>
              <a:t>11</a:t>
            </a:r>
            <a:endParaRPr sz="825" b="0">
              <a:solidFill>
                <a:srgbClr val="898989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09600" y="1009650"/>
            <a:ext cx="10972800" cy="438150"/>
          </a:xfrm>
          <a:prstGeom prst="rect">
            <a:avLst/>
          </a:prstGeom>
          <a:solidFill>
            <a:srgbClr val="FFF5DF"/>
          </a:solidFill>
          <a:ln w="9525">
            <a:solidFill>
              <a:srgbClr val="ED6D00"/>
            </a:solidFill>
            <a:prstDash val="solid"/>
          </a:ln>
        </p:spPr>
        <p:txBody>
          <a:bodyPr/>
          <a:lstStyle/>
          <a:p/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781050" y="1085850"/>
            <a:ext cx="106299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940" b="0">
                <a:solidFill>
                  <a:srgbClr val="555757"/>
                </a:solidFill>
              </a:defRPr>
            </a:pPr>
            <a:r>
              <a:rPr sz="940" b="0">
                <a:solidFill>
                  <a:srgbClr val="555757"/>
                </a:solidFill>
              </a:rPr>
              <a:t>测试口径：版本 v0.19.1rc1；DeepSeek-V3.2 W8A8、Ascend 910C，输出长度 512–1,536 tokens，吞吐按物理 die 归一化。结果使用 forced expert balancing，仅用于受控性能对比，不代表精度或生产 serving。</a:t>
            </a:r>
            <a:endParaRPr sz="940" b="0">
              <a:solidFill>
                <a:srgbClr val="555757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66750" y="1504950"/>
            <a:ext cx="5334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125" b="1">
                <a:solidFill>
                  <a:srgbClr val="2046A0"/>
                </a:solidFill>
              </a:defRPr>
            </a:pPr>
            <a:r>
              <a:rPr sz="1125" b="1">
                <a:solidFill>
                  <a:srgbClr val="2046A0"/>
                </a:solidFill>
              </a:rPr>
              <a:t>16K input</a:t>
            </a:r>
            <a:endParaRPr sz="1125" b="1">
              <a:solidFill>
                <a:srgbClr val="2046A0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191250" y="1504950"/>
            <a:ext cx="5334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125" b="1">
                <a:solidFill>
                  <a:srgbClr val="56870C"/>
                </a:solidFill>
              </a:defRPr>
            </a:pPr>
            <a:r>
              <a:rPr sz="1125" b="1">
                <a:solidFill>
                  <a:srgbClr val="56870C"/>
                </a:solidFill>
              </a:rPr>
              <a:t>32K input</a:t>
            </a:r>
            <a:endParaRPr sz="1125" b="1">
              <a:solidFill>
                <a:srgbClr val="56870C"/>
              </a:solidFill>
            </a:endParaRPr>
          </a:p>
        </p:txBody>
      </p:sp>
      <p:pic>
        <p:nvPicPr>
          <p:cNvPr id="28" name="图片 2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9300" y="1752600"/>
            <a:ext cx="4462226" cy="2266950"/>
          </a:xfrm>
          <a:prstGeom prst="rect">
            <a:avLst/>
          </a:prstGeom>
        </p:spPr>
      </p:pic>
      <p:pic>
        <p:nvPicPr>
          <p:cNvPr id="29" name="图片 2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0475" y="1752600"/>
            <a:ext cx="4462226" cy="2266950"/>
          </a:xfrm>
          <a:prstGeom prst="rect">
            <a:avLst/>
          </a:prstGeom>
        </p:spPr>
      </p:pic>
      <p:graphicFrame>
        <p:nvGraphicFramePr>
          <p:cNvPr id="30" name="表格 25"/>
          <p:cNvGraphicFramePr/>
          <p:nvPr/>
        </p:nvGraphicFramePr>
        <p:xfrm>
          <a:off x="609600" y="4114800"/>
          <a:ext cx="10972800" cy="125730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1828800"/>
                <a:gridCol w="1828800"/>
                <a:gridCol w="1828800"/>
                <a:gridCol w="1828800"/>
              </a:tblGrid>
              <a:tr h="4191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25" b="1">
                          <a:solidFill>
                            <a:srgbClr val="FFFFFF"/>
                          </a:solidFill>
                        </a:rPr>
                        <a:t>Input</a:t>
                      </a:r>
                      <a:endParaRPr sz="1125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25" b="1">
                          <a:solidFill>
                            <a:srgbClr val="FFFFFF"/>
                          </a:solidFill>
                        </a:rPr>
                        <a:t>EP64</a:t>
                      </a:r>
                      <a:endParaRPr sz="1125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25" b="1">
                          <a:solidFill>
                            <a:srgbClr val="FFFFFF"/>
                          </a:solidFill>
                        </a:rPr>
                        <a:t>48A16F</a:t>
                      </a:r>
                      <a:endParaRPr sz="1125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25" b="1">
                          <a:solidFill>
                            <a:srgbClr val="FFFFFF"/>
                          </a:solidFill>
                        </a:rPr>
                        <a:t>Δ vs EP64</a:t>
                      </a:r>
                      <a:endParaRPr sz="1125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25" b="1">
                          <a:solidFill>
                            <a:srgbClr val="FFFFFF"/>
                          </a:solidFill>
                        </a:rPr>
                        <a:t>64A16F</a:t>
                      </a:r>
                      <a:endParaRPr sz="1125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25" b="1">
                          <a:solidFill>
                            <a:srgbClr val="FFFFFF"/>
                          </a:solidFill>
                        </a:rPr>
                        <a:t>Δ vs EP64</a:t>
                      </a:r>
                      <a:endParaRPr sz="1125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25" b="0">
                          <a:solidFill>
                            <a:srgbClr val="1B1D21"/>
                          </a:solidFill>
                        </a:rPr>
                        <a:t>16K</a:t>
                      </a:r>
                      <a:endParaRPr sz="1125" b="0">
                        <a:solidFill>
                          <a:srgbClr val="1B1D21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25" b="0">
                          <a:solidFill>
                            <a:srgbClr val="1B1D21"/>
                          </a:solidFill>
                        </a:rPr>
                        <a:t>232.6</a:t>
                      </a:r>
                      <a:endParaRPr sz="1125" b="0">
                        <a:solidFill>
                          <a:srgbClr val="1B1D21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25" b="0">
                          <a:solidFill>
                            <a:srgbClr val="1B1D21"/>
                          </a:solidFill>
                        </a:rPr>
                        <a:t>220.3</a:t>
                      </a:r>
                      <a:endParaRPr sz="1125" b="0">
                        <a:solidFill>
                          <a:srgbClr val="1B1D21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555757"/>
                          </a:solidFill>
                        </a:rPr>
                        <a:t>−5.3%</a:t>
                      </a:r>
                      <a:endParaRPr sz="1200" b="1">
                        <a:solidFill>
                          <a:srgbClr val="555757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25" b="0">
                          <a:solidFill>
                            <a:srgbClr val="1B1D21"/>
                          </a:solidFill>
                        </a:rPr>
                        <a:t>258.9</a:t>
                      </a:r>
                      <a:endParaRPr sz="1125" b="0">
                        <a:solidFill>
                          <a:srgbClr val="1B1D21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1">
                          <a:solidFill>
                            <a:srgbClr val="C00000"/>
                          </a:solidFill>
                        </a:rPr>
                        <a:t>+11.3%</a:t>
                      </a:r>
                      <a:endParaRPr sz="1350" b="1">
                        <a:solidFill>
                          <a:srgbClr val="C00000"/>
                        </a:solidFill>
                      </a:endParaRPr>
                    </a:p>
                  </a:txBody>
                  <a:tcPr>
                    <a:solidFill>
                      <a:srgbClr val="FCE8E8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25" b="0">
                          <a:solidFill>
                            <a:srgbClr val="1B1D21"/>
                          </a:solidFill>
                        </a:rPr>
                        <a:t>32K</a:t>
                      </a:r>
                      <a:endParaRPr sz="1125" b="0">
                        <a:solidFill>
                          <a:srgbClr val="1B1D21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25" b="0">
                          <a:solidFill>
                            <a:srgbClr val="1B1D21"/>
                          </a:solidFill>
                        </a:rPr>
                        <a:t>168.2</a:t>
                      </a:r>
                      <a:endParaRPr sz="1125" b="0">
                        <a:solidFill>
                          <a:srgbClr val="1B1D21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25" b="0">
                          <a:solidFill>
                            <a:srgbClr val="1B1D21"/>
                          </a:solidFill>
                        </a:rPr>
                        <a:t>151.4</a:t>
                      </a:r>
                      <a:endParaRPr sz="1125" b="0">
                        <a:solidFill>
                          <a:srgbClr val="1B1D21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555757"/>
                          </a:solidFill>
                        </a:rPr>
                        <a:t>−10.0%</a:t>
                      </a:r>
                      <a:endParaRPr sz="1200" b="1">
                        <a:solidFill>
                          <a:srgbClr val="555757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25" b="0">
                          <a:solidFill>
                            <a:srgbClr val="1B1D21"/>
                          </a:solidFill>
                        </a:rPr>
                        <a:t>183.3</a:t>
                      </a:r>
                      <a:endParaRPr sz="1125" b="0">
                        <a:solidFill>
                          <a:srgbClr val="1B1D21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1">
                          <a:solidFill>
                            <a:srgbClr val="C00000"/>
                          </a:solidFill>
                        </a:rPr>
                        <a:t>+9.0%</a:t>
                      </a:r>
                      <a:endParaRPr sz="1350" b="1">
                        <a:solidFill>
                          <a:srgbClr val="C00000"/>
                        </a:solidFill>
                      </a:endParaRPr>
                    </a:p>
                  </a:txBody>
                  <a:tcPr>
                    <a:solidFill>
                      <a:srgbClr val="FCE8E8"/>
                    </a:solidFill>
                  </a:tcPr>
                </a:tc>
              </a:tr>
            </a:tbl>
          </a:graphicData>
        </a:graphic>
      </p:graphicFrame>
      <p:sp>
        <p:nvSpPr>
          <p:cNvPr id="12" name="矩形 11"/>
          <p:cNvSpPr>
            <a:spLocks noGrp="1"/>
          </p:cNvSpPr>
          <p:nvPr/>
        </p:nvSpPr>
        <p:spPr>
          <a:xfrm>
            <a:off x="609600" y="5562600"/>
            <a:ext cx="10972800" cy="438150"/>
          </a:xfrm>
          <a:prstGeom prst="rect">
            <a:avLst/>
          </a:prstGeom>
          <a:solidFill>
            <a:srgbClr val="C00000"/>
          </a:solidFill>
          <a:ln w="0">
            <a:solidFill>
              <a:srgbClr val="C00000"/>
            </a:solidFill>
            <a:prstDash val="solid"/>
          </a:ln>
        </p:spPr>
        <p:txBody>
          <a:bodyPr/>
          <a:lstStyle/>
          <a:p/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781050" y="5591175"/>
            <a:ext cx="106299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解耦提供了资源配比的调参空间，但不保证任意 A:F 比例都更快</a:t>
            </a:r>
            <a:endParaRPr sz="1350" b="1">
              <a:solidFill>
                <a:srgbClr val="FFFFFF"/>
              </a:solidFill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609600" y="6191250"/>
            <a:ext cx="10287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825" b="0">
                <a:solidFill>
                  <a:srgbClr val="555757"/>
                </a:solidFill>
              </a:defRPr>
            </a:pPr>
            <a:r>
              <a:rPr sz="1400">
                <a:solidFill>
                  <a:srgbClr val="555757"/>
                </a:solidFill>
              </a:rPr>
              <a:t>测试设置：版本 v0.19.1rc1；开启专家强制均衡（forced expert balancing）</a:t>
            </a:r>
            <a:r>
              <a:rPr sz="1400"/>
              <a:t>单位：output tokens/s/die</a:t>
            </a:r>
            <a:endParaRPr sz="1400" b="0" i="1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/>
          <p:cNvSpPr>
            <a:spLocks noGrp="1"/>
          </p:cNvSpPr>
          <p:nvPr/>
        </p:nvSpPr>
        <p:spPr>
          <a:xfrm>
            <a:off x="609600" y="209550"/>
            <a:ext cx="1809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825" b="1">
                <a:solidFill>
                  <a:srgbClr val="898989"/>
                </a:solidFill>
              </a:defRPr>
            </a:pPr>
            <a:r>
              <a:rPr sz="825" b="1">
                <a:solidFill>
                  <a:srgbClr val="898989"/>
                </a:solidFill>
              </a:rPr>
              <a:t>ASYNC PREFILL RESULTS</a:t>
            </a:r>
            <a:endParaRPr sz="825" b="1">
              <a:solidFill>
                <a:srgbClr val="898989"/>
              </a:solidFill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09600" y="419100"/>
            <a:ext cx="10668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250" b="1">
                <a:solidFill>
                  <a:srgbClr val="C00000"/>
                </a:solidFill>
              </a:defRPr>
            </a:pPr>
            <a:r>
              <a:rPr sz="2250" b="1">
                <a:solidFill>
                  <a:srgbClr val="C00000"/>
                </a:solidFill>
              </a:rPr>
              <a:t>异步 AFD：P50 TTFT 降低 60%+，有效吞吐最高提升 2.2×</a:t>
            </a:r>
            <a:endParaRPr sz="2250" b="1">
              <a:solidFill>
                <a:srgbClr val="C00000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914400"/>
            <a:ext cx="1428750" cy="28575"/>
          </a:xfrm>
          <a:prstGeom prst="rect">
            <a:avLst/>
          </a:prstGeom>
          <a:solidFill>
            <a:srgbClr val="C00000"/>
          </a:solidFill>
          <a:ln w="0">
            <a:solidFill>
              <a:srgbClr val="C00000"/>
            </a:solidFill>
            <a:prstDash val="solid"/>
          </a:ln>
        </p:spPr>
        <p:txBody>
          <a:bodyPr/>
          <a:lstStyle/>
          <a:p/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1315700" y="6419850"/>
            <a:ext cx="3429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buNone/>
              <a:defRPr sz="825" b="0">
                <a:solidFill>
                  <a:srgbClr val="898989"/>
                </a:solidFill>
              </a:defRPr>
            </a:pPr>
            <a:r>
              <a:rPr sz="825" b="0">
                <a:solidFill>
                  <a:srgbClr val="898989"/>
                </a:solidFill>
              </a:rPr>
              <a:t>12</a:t>
            </a:r>
            <a:endParaRPr sz="825" b="0">
              <a:solidFill>
                <a:srgbClr val="898989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09600" y="1028700"/>
            <a:ext cx="10972800" cy="400050"/>
          </a:xfrm>
          <a:prstGeom prst="rect">
            <a:avLst/>
          </a:prstGeom>
          <a:solidFill>
            <a:srgbClr val="F7F7F7"/>
          </a:solidFill>
          <a:ln w="9525">
            <a:solidFill>
              <a:srgbClr val="DDDDDD"/>
            </a:solidFill>
            <a:prstDash val="solid"/>
          </a:ln>
        </p:spPr>
        <p:txBody>
          <a:bodyPr/>
          <a:lstStyle/>
          <a:p/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800100" y="1095375"/>
            <a:ext cx="2571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050" b="1">
                <a:solidFill>
                  <a:srgbClr val="2046A0"/>
                </a:solidFill>
              </a:defRPr>
            </a:pPr>
            <a:r>
              <a:rPr sz="1050" b="1">
                <a:solidFill>
                  <a:srgbClr val="2046A0"/>
                </a:solidFill>
              </a:rPr>
              <a:t>模型：DeepSeek-V3.2</a:t>
            </a:r>
            <a:endParaRPr sz="1050" b="1">
              <a:solidFill>
                <a:srgbClr val="2046A0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3638550" y="1095375"/>
            <a:ext cx="4857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050" b="1">
                <a:solidFill>
                  <a:srgbClr val="56870C"/>
                </a:solidFill>
              </a:defRPr>
            </a:pPr>
            <a:r>
              <a:rPr sz="1050" b="1">
                <a:solidFill>
                  <a:srgbClr val="56870C"/>
                </a:solidFill>
              </a:rPr>
              <a:t>对比：DP4PCP8  vs.  AFD（DP3PCP3 + EP8）</a:t>
            </a:r>
            <a:endParaRPr sz="1050" b="1">
              <a:solidFill>
                <a:srgbClr val="56870C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8782050" y="1095375"/>
            <a:ext cx="2609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buNone/>
              <a:defRPr sz="1050" b="1">
                <a:solidFill>
                  <a:srgbClr val="ED6D00"/>
                </a:solidFill>
              </a:defRPr>
            </a:pPr>
            <a:r>
              <a:rPr sz="1050" b="1">
                <a:solidFill>
                  <a:srgbClr val="ED6D00"/>
                </a:solidFill>
              </a:rPr>
              <a:t>硬件：Ascend 910C</a:t>
            </a:r>
            <a:endParaRPr sz="1050" b="1">
              <a:solidFill>
                <a:srgbClr val="ED6D00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609600" y="1581150"/>
            <a:ext cx="5334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00" b="1">
                <a:solidFill>
                  <a:srgbClr val="1B1D21"/>
                </a:solidFill>
              </a:defRPr>
            </a:pPr>
            <a:r>
              <a:rPr sz="1200" b="1">
                <a:solidFill>
                  <a:srgbClr val="1B1D21"/>
                </a:solidFill>
              </a:rPr>
              <a:t>AFD 在各分位 TTFT 上均优于 DP4PCP8</a:t>
            </a:r>
            <a:endParaRPr sz="1200" b="1">
              <a:solidFill>
                <a:srgbClr val="1B1D21"/>
              </a:solidFill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6248400" y="1581150"/>
            <a:ext cx="5334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00" b="1">
                <a:solidFill>
                  <a:srgbClr val="1B1D21"/>
                </a:solidFill>
              </a:defRPr>
            </a:pPr>
            <a:r>
              <a:rPr sz="1200" b="1">
                <a:solidFill>
                  <a:srgbClr val="1B1D21"/>
                </a:solidFill>
              </a:rPr>
              <a:t>SLO 越严格，AFD 的有效吞吐优势越明显</a:t>
            </a:r>
            <a:endParaRPr sz="1200" b="1">
              <a:solidFill>
                <a:srgbClr val="1B1D21"/>
              </a:solidFill>
            </a:endParaRPr>
          </a:p>
        </p:txBody>
      </p:sp>
      <p:pic>
        <p:nvPicPr>
          <p:cNvPr id="36" name="图片 3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" y="1890235"/>
            <a:ext cx="5334000" cy="2582230"/>
          </a:xfrm>
          <a:prstGeom prst="rect">
            <a:avLst/>
          </a:prstGeom>
        </p:spPr>
      </p:pic>
      <p:pic>
        <p:nvPicPr>
          <p:cNvPr id="37" name="图片 3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5153" y="1885950"/>
            <a:ext cx="5060494" cy="2590800"/>
          </a:xfrm>
          <a:prstGeom prst="rect">
            <a:avLst/>
          </a:prstGeom>
        </p:spPr>
      </p:pic>
      <p:sp>
        <p:nvSpPr>
          <p:cNvPr id="13" name="矩形 12"/>
          <p:cNvSpPr>
            <a:spLocks noGrp="1"/>
          </p:cNvSpPr>
          <p:nvPr/>
        </p:nvSpPr>
        <p:spPr>
          <a:xfrm>
            <a:off x="609600" y="4667250"/>
            <a:ext cx="5334000" cy="723900"/>
          </a:xfrm>
          <a:prstGeom prst="rect">
            <a:avLst/>
          </a:prstGeom>
          <a:solidFill>
            <a:srgbClr val="E9F1FB"/>
          </a:solidFill>
          <a:ln w="9525">
            <a:solidFill>
              <a:srgbClr val="2046A0"/>
            </a:solidFill>
            <a:prstDash val="solid"/>
          </a:ln>
        </p:spPr>
        <p:txBody>
          <a:bodyPr/>
          <a:lstStyle/>
          <a:p/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781050" y="4772025"/>
            <a:ext cx="7810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125" b="1">
                <a:solidFill>
                  <a:srgbClr val="2046A0"/>
                </a:solidFill>
              </a:defRPr>
            </a:pPr>
            <a:r>
              <a:rPr sz="1125" b="1">
                <a:solidFill>
                  <a:srgbClr val="2046A0"/>
                </a:solidFill>
              </a:rPr>
              <a:t>TTFT</a:t>
            </a:r>
            <a:endParaRPr sz="1125" b="1">
              <a:solidFill>
                <a:srgbClr val="2046A0"/>
              </a:solidFill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1543050" y="4752975"/>
            <a:ext cx="42291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050" b="0">
                <a:solidFill>
                  <a:srgbClr val="1B1D21"/>
                </a:solidFill>
              </a:defRPr>
            </a:pPr>
            <a:r>
              <a:rPr sz="1050" b="0">
                <a:solidFill>
                  <a:srgbClr val="1B1D21"/>
                </a:solidFill>
              </a:rPr>
              <a:t>中负载（RQS 6–10）：P50 TTFT 降低 60%–70%；高负载（&gt;14）：仍降低 25%。</a:t>
            </a:r>
            <a:endParaRPr sz="1050" b="0">
              <a:solidFill>
                <a:srgbClr val="1B1D21"/>
              </a:solidFill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6248400" y="4667250"/>
            <a:ext cx="5334000" cy="723900"/>
          </a:xfrm>
          <a:prstGeom prst="rect">
            <a:avLst/>
          </a:prstGeom>
          <a:solidFill>
            <a:srgbClr val="EDF6E7"/>
          </a:solidFill>
          <a:ln w="9525">
            <a:solidFill>
              <a:srgbClr val="56870C"/>
            </a:solidFill>
            <a:prstDash val="solid"/>
          </a:ln>
        </p:spPr>
        <p:txBody>
          <a:bodyPr/>
          <a:lstStyle/>
          <a:p/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419850" y="4772025"/>
            <a:ext cx="10001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125" b="1">
                <a:solidFill>
                  <a:srgbClr val="56870C"/>
                </a:solidFill>
              </a:defRPr>
            </a:pPr>
            <a:r>
              <a:rPr sz="1125" b="1">
                <a:solidFill>
                  <a:srgbClr val="56870C"/>
                </a:solidFill>
              </a:rPr>
              <a:t>GOODPUT</a:t>
            </a:r>
            <a:endParaRPr sz="1125" b="1">
              <a:solidFill>
                <a:srgbClr val="56870C"/>
              </a:solidFill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7410450" y="4752975"/>
            <a:ext cx="4000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050" b="0">
                <a:solidFill>
                  <a:srgbClr val="1B1D21"/>
                </a:solidFill>
              </a:defRPr>
            </a:pPr>
            <a:r>
              <a:rPr sz="1050" b="0">
                <a:solidFill>
                  <a:srgbClr val="1B1D21"/>
                </a:solidFill>
              </a:rPr>
              <a:t>TTFT SLO 2s：0.223 vs. 0.095 req/s/die；SLO 5s：0.272 vs. 0.218 req/s/die。</a:t>
            </a:r>
            <a:endParaRPr sz="1050" b="0">
              <a:solidFill>
                <a:srgbClr val="1B1D21"/>
              </a:solidFill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609600" y="5562600"/>
            <a:ext cx="10972800" cy="438150"/>
          </a:xfrm>
          <a:prstGeom prst="rect">
            <a:avLst/>
          </a:prstGeom>
          <a:solidFill>
            <a:srgbClr val="C00000"/>
          </a:solidFill>
          <a:ln w="0">
            <a:solidFill>
              <a:srgbClr val="C00000"/>
            </a:solidFill>
            <a:prstDash val="solid"/>
          </a:ln>
        </p:spPr>
        <p:txBody>
          <a:bodyPr/>
          <a:lstStyle/>
          <a:p/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781050" y="5591175"/>
            <a:ext cx="106299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异步 AFD 同时改善尾延迟与 SLO 有效吞吐</a:t>
            </a:r>
            <a:endParaRPr sz="1350" b="1">
              <a:solidFill>
                <a:srgbClr val="FFFFFF"/>
              </a:solidFill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609600" y="6029325"/>
            <a:ext cx="971550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825" b="0">
                <a:solidFill>
                  <a:srgbClr val="555757"/>
                </a:solidFill>
              </a:defRPr>
            </a:pPr>
            <a:r>
              <a:rPr sz="1400" b="0">
                <a:solidFill>
                  <a:srgbClr val="555757"/>
                </a:solidFill>
              </a:rPr>
              <a:t>测试设置：版本 v0.19.1rc1；使用减层模型，并开启专家强制均衡（forced expert balancing）</a:t>
            </a:r>
            <a:endParaRPr sz="1400" b="0">
              <a:solidFill>
                <a:srgbClr val="555757"/>
              </a:solidFill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609600" y="6419850"/>
            <a:ext cx="10287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675" b="0" i="1">
                <a:solidFill>
                  <a:srgbClr val="898989"/>
                </a:solidFill>
              </a:defRPr>
            </a:pPr>
            <a:r>
              <a:rPr sz="675" b="0" i="1">
                <a:solidFill>
                  <a:srgbClr val="898989"/>
                </a:solidFill>
              </a:rPr>
              <a:t>来源：原始 PPT 第 4 页；DeepSeek-V3.2 / Ascend 910C</a:t>
            </a:r>
            <a:endParaRPr sz="675" b="0" i="1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矩形 24"/>
          <p:cNvSpPr>
            <a:spLocks noGrp="1"/>
          </p:cNvSpPr>
          <p:nvPr/>
        </p:nvSpPr>
        <p:spPr>
          <a:xfrm>
            <a:off x="609600" y="209550"/>
            <a:ext cx="1809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825" b="1" i="0">
                <a:solidFill>
                  <a:srgbClr val="898989"/>
                </a:solidFill>
              </a:defRPr>
            </a:pPr>
            <a:r>
              <a:rPr sz="825" b="1" i="0">
                <a:solidFill>
                  <a:srgbClr val="898989"/>
                </a:solidFill>
              </a:rPr>
              <a:t>NEXT STEPS</a:t>
            </a:r>
            <a:endParaRPr sz="825" b="1" i="0">
              <a:solidFill>
                <a:srgbClr val="898989"/>
              </a:solidFill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09600" y="419100"/>
            <a:ext cx="10668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250" b="1" i="0">
                <a:solidFill>
                  <a:srgbClr val="C70000"/>
                </a:solidFill>
              </a:defRPr>
            </a:pPr>
            <a:r>
              <a:rPr sz="2250" b="1" i="0">
                <a:solidFill>
                  <a:srgbClr val="C70000"/>
                </a:solidFill>
              </a:rPr>
              <a:t>下一步：从实验性插件走向社区化与规模化验证</a:t>
            </a:r>
            <a:endParaRPr sz="2250" b="1" i="0">
              <a:solidFill>
                <a:srgbClr val="C70000"/>
              </a:solidFill>
            </a:endParaRPr>
          </a:p>
        </p:txBody>
      </p:sp>
      <p:sp>
        <p:nvSpPr>
          <p:cNvPr id="3" name="圆角矩形 2"/>
          <p:cNvSpPr>
            <a:spLocks noGrp="1"/>
          </p:cNvSpPr>
          <p:nvPr/>
        </p:nvSpPr>
        <p:spPr>
          <a:xfrm>
            <a:off x="609600" y="1028700"/>
            <a:ext cx="10896600" cy="819150"/>
          </a:xfrm>
          <a:prstGeom prst="roundRect">
            <a:avLst>
              <a:gd name="adj" fmla="val 9302"/>
            </a:avLst>
          </a:prstGeom>
          <a:solidFill>
            <a:srgbClr val="FFF4EC"/>
          </a:solidFill>
          <a:ln w="9525">
            <a:solidFill>
              <a:srgbClr val="F1C2A5"/>
            </a:solidFill>
            <a:prstDash val="solid"/>
          </a:ln>
        </p:spPr>
        <p:txBody>
          <a:bodyPr/>
          <a:lstStyle/>
          <a:p/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819150" y="1162050"/>
            <a:ext cx="12001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350" b="1" i="0">
                <a:solidFill>
                  <a:srgbClr val="C70000"/>
                </a:solidFill>
              </a:defRPr>
            </a:pPr>
            <a:r>
              <a:rPr sz="1350" b="1" i="0">
                <a:solidFill>
                  <a:srgbClr val="C70000"/>
                </a:solidFill>
              </a:rPr>
              <a:t>当前边界</a:t>
            </a:r>
            <a:endParaRPr sz="1350" b="1" i="0">
              <a:solidFill>
                <a:srgbClr val="C70000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2038350" y="1133475"/>
            <a:ext cx="91821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125" b="1" i="0">
                <a:solidFill>
                  <a:srgbClr val="102A43"/>
                </a:solidFill>
              </a:defRPr>
            </a:pPr>
            <a:r>
              <a:rPr sz="1125" b="1" i="0">
                <a:solidFill>
                  <a:srgbClr val="102A43"/>
                </a:solidFill>
              </a:rPr>
              <a:t>vLLM 版本精确绑定 · Model Runner v1 · Decode-only Graph · DBO 固定 2 uBatch · 硬件门控 E2E</a:t>
            </a:r>
            <a:endParaRPr sz="1125" b="1" i="0">
              <a:solidFill>
                <a:srgbClr val="102A43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819150" y="1466850"/>
            <a:ext cx="10401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050" b="0" i="0">
                <a:solidFill>
                  <a:srgbClr val="555757"/>
                </a:solidFill>
              </a:defRPr>
            </a:pPr>
            <a:r>
              <a:rPr sz="1050" b="0" i="0">
                <a:solidFill>
                  <a:srgbClr val="555757"/>
                </a:solidFill>
              </a:rPr>
              <a:t>社区发布前置：推进 PR #263 评审与站点构建，并确认 vllm-project/afd-plugin、README、Recipe 和 Issues 入口可公开访问。</a:t>
            </a:r>
            <a:endParaRPr sz="1050" b="0" i="0">
              <a:solidFill>
                <a:srgbClr val="555757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409700" y="2314575"/>
            <a:ext cx="8610600" cy="38100"/>
          </a:xfrm>
          <a:prstGeom prst="rect">
            <a:avLst/>
          </a:prstGeom>
          <a:solidFill>
            <a:srgbClr val="D9E0E5"/>
          </a:solidFill>
          <a:ln w="0">
            <a:noFill/>
            <a:prstDash val="solid"/>
          </a:ln>
        </p:spPr>
        <p:txBody>
          <a:bodyPr/>
          <a:lstStyle/>
          <a:p/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1152525" y="2085975"/>
            <a:ext cx="552450" cy="495300"/>
          </a:xfrm>
          <a:prstGeom prst="roundRect">
            <a:avLst>
              <a:gd name="adj" fmla="val 50000"/>
            </a:avLst>
          </a:prstGeom>
          <a:solidFill>
            <a:srgbClr val="C70000"/>
          </a:solidFill>
          <a:ln w="9525">
            <a:solidFill>
              <a:srgbClr val="C70000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01</a:t>
            </a:r>
            <a:endParaRPr sz="1050" b="1">
              <a:solidFill>
                <a:srgbClr val="FFFFFF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685800" y="2724150"/>
            <a:ext cx="2400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00" b="1" i="0">
                <a:solidFill>
                  <a:srgbClr val="C70000"/>
                </a:solidFill>
              </a:defRPr>
            </a:pPr>
            <a:r>
              <a:rPr sz="1500" b="1" i="0">
                <a:solidFill>
                  <a:srgbClr val="C70000"/>
                </a:solidFill>
              </a:rPr>
              <a:t>社区发布</a:t>
            </a:r>
            <a:endParaRPr sz="1500" b="1" i="0">
              <a:solidFill>
                <a:srgbClr val="C70000"/>
              </a:solidFill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685800" y="3105150"/>
            <a:ext cx="2400300" cy="180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050" b="0" i="0">
                <a:solidFill>
                  <a:srgbClr val="555757"/>
                </a:solidFill>
              </a:defRPr>
            </a:pPr>
            <a:r>
              <a:rPr sz="1050" b="0" i="0">
                <a:solidFill>
                  <a:srgbClr val="555757"/>
                </a:solidFill>
              </a:rPr>
              <a:t>① 合并 PR #263，完成站点 CI 构建与发布</a:t>
            </a:r>
            <a:endParaRPr sz="1050" b="0" i="0">
              <a:solidFill>
                <a:srgbClr val="555757"/>
              </a:solidFill>
            </a:endParaRPr>
          </a:p>
          <a:p>
            <a:endParaRPr sz="1050"/>
          </a:p>
          <a:p>
            <a:pPr algn="l">
              <a:buNone/>
              <a:defRPr sz="1050" b="0" i="0">
                <a:solidFill>
                  <a:srgbClr val="555757"/>
                </a:solidFill>
              </a:defRPr>
            </a:pPr>
            <a:r>
              <a:rPr sz="1050" b="0" i="0">
                <a:solidFill>
                  <a:srgbClr val="555757"/>
                </a:solidFill>
              </a:rPr>
              <a:t>② 确认 canonical repo、README、Recipe 与 Issues 入口可访问</a:t>
            </a:r>
            <a:endParaRPr sz="1050" b="0" i="0">
              <a:solidFill>
                <a:srgbClr val="555757"/>
              </a:solidFill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4010025" y="2085975"/>
            <a:ext cx="552450" cy="495300"/>
          </a:xfrm>
          <a:prstGeom prst="roundRect">
            <a:avLst>
              <a:gd name="adj" fmla="val 50000"/>
            </a:avLst>
          </a:prstGeom>
          <a:solidFill>
            <a:srgbClr val="156082"/>
          </a:solidFill>
          <a:ln w="9525">
            <a:solidFill>
              <a:srgbClr val="156082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02</a:t>
            </a:r>
            <a:endParaRPr sz="1050" b="1">
              <a:solidFill>
                <a:srgbClr val="FFFFFF"/>
              </a:solidFill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3086100" y="2724150"/>
            <a:ext cx="2400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00" b="1" i="0">
                <a:solidFill>
                  <a:srgbClr val="156082"/>
                </a:solidFill>
              </a:defRPr>
            </a:pPr>
            <a:r>
              <a:rPr sz="1500" b="1" i="0">
                <a:solidFill>
                  <a:srgbClr val="156082"/>
                </a:solidFill>
              </a:rPr>
              <a:t>兼容与执行</a:t>
            </a:r>
            <a:endParaRPr sz="1500" b="1" i="0">
              <a:solidFill>
                <a:srgbClr val="156082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3086100" y="3105150"/>
            <a:ext cx="2400300" cy="180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050" b="0" i="0">
                <a:solidFill>
                  <a:srgbClr val="555757"/>
                </a:solidFill>
              </a:defRPr>
            </a:pPr>
            <a:r>
              <a:rPr sz="1050" b="0" i="0">
                <a:solidFill>
                  <a:srgbClr val="555757"/>
                </a:solidFill>
              </a:rPr>
              <a:t>① 跟进新版 vLLM，评估 Model Runner v2，收敛兼容 Patch</a:t>
            </a:r>
            <a:endParaRPr sz="1050" b="0" i="0">
              <a:solidFill>
                <a:srgbClr val="555757"/>
              </a:solidFill>
            </a:endParaRPr>
          </a:p>
          <a:p>
            <a:endParaRPr sz="1050"/>
          </a:p>
          <a:p>
            <a:pPr algn="l">
              <a:buNone/>
              <a:defRPr sz="1050" b="0" i="0">
                <a:solidFill>
                  <a:srgbClr val="555757"/>
                </a:solidFill>
              </a:defRPr>
            </a:pPr>
            <a:r>
              <a:rPr sz="1050" b="0" i="0">
                <a:solidFill>
                  <a:srgbClr val="555757"/>
                </a:solidFill>
              </a:rPr>
              <a:t>② 扩展 Graph、uBatch、异步 Stage 与 Rank Topology</a:t>
            </a:r>
            <a:endParaRPr sz="1050" b="0" i="0">
              <a:solidFill>
                <a:srgbClr val="555757"/>
              </a:solidFill>
            </a:endParaRPr>
          </a:p>
        </p:txBody>
      </p:sp>
      <p:sp>
        <p:nvSpPr>
          <p:cNvPr id="14" name="圆角矩形 13"/>
          <p:cNvSpPr>
            <a:spLocks noGrp="1"/>
          </p:cNvSpPr>
          <p:nvPr/>
        </p:nvSpPr>
        <p:spPr>
          <a:xfrm>
            <a:off x="6867525" y="2085975"/>
            <a:ext cx="552450" cy="495300"/>
          </a:xfrm>
          <a:prstGeom prst="roundRect">
            <a:avLst>
              <a:gd name="adj" fmla="val 50000"/>
            </a:avLst>
          </a:prstGeom>
          <a:solidFill>
            <a:srgbClr val="4F8F13"/>
          </a:solidFill>
          <a:ln w="9525">
            <a:solidFill>
              <a:srgbClr val="4F8F13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03</a:t>
            </a:r>
            <a:endParaRPr sz="1050" b="1">
              <a:solidFill>
                <a:srgbClr val="FFFFFF"/>
              </a:solidFill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5943600" y="2724150"/>
            <a:ext cx="2400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00" b="1" i="0">
                <a:solidFill>
                  <a:srgbClr val="4F8F13"/>
                </a:solidFill>
              </a:defRPr>
            </a:pPr>
            <a:r>
              <a:rPr sz="1500" b="1" i="0">
                <a:solidFill>
                  <a:srgbClr val="4F8F13"/>
                </a:solidFill>
              </a:rPr>
              <a:t>验证与覆盖</a:t>
            </a:r>
            <a:endParaRPr sz="1500" b="1" i="0">
              <a:solidFill>
                <a:srgbClr val="4F8F13"/>
              </a:solidFill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5943600" y="3105150"/>
            <a:ext cx="2400300" cy="180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050" b="0" i="0">
                <a:solidFill>
                  <a:srgbClr val="555757"/>
                </a:solidFill>
              </a:defRPr>
            </a:pPr>
            <a:r>
              <a:rPr sz="1050" b="0" i="0">
                <a:solidFill>
                  <a:srgbClr val="555757"/>
                </a:solidFill>
              </a:rPr>
              <a:t>① 增加 DeepSeek V4 与 Kimi K3 支持，覆盖准确性、TTFT/ITL、吞吐、稳定性与多节点验证</a:t>
            </a:r>
            <a:endParaRPr sz="1050" b="0" i="0">
              <a:solidFill>
                <a:srgbClr val="555757"/>
              </a:solidFill>
            </a:endParaRPr>
          </a:p>
          <a:p>
            <a:endParaRPr sz="1050"/>
          </a:p>
          <a:p>
            <a:pPr algn="l">
              <a:buNone/>
              <a:defRPr sz="1050" b="0" i="0">
                <a:solidFill>
                  <a:srgbClr val="555757"/>
                </a:solidFill>
              </a:defRPr>
            </a:pPr>
            <a:r>
              <a:rPr sz="1050" b="0" i="0">
                <a:solidFill>
                  <a:srgbClr val="555757"/>
                </a:solidFill>
              </a:rPr>
              <a:t>② 扩展 MoE 模型与 Connector，并同步发布 Recipe</a:t>
            </a:r>
            <a:endParaRPr sz="1050" b="0" i="0">
              <a:solidFill>
                <a:srgbClr val="555757"/>
              </a:solidFill>
            </a:endParaRPr>
          </a:p>
        </p:txBody>
      </p:sp>
      <p:sp>
        <p:nvSpPr>
          <p:cNvPr id="17" name="圆角矩形 16"/>
          <p:cNvSpPr>
            <a:spLocks noGrp="1"/>
          </p:cNvSpPr>
          <p:nvPr/>
        </p:nvSpPr>
        <p:spPr>
          <a:xfrm>
            <a:off x="9725025" y="2085975"/>
            <a:ext cx="552450" cy="495300"/>
          </a:xfrm>
          <a:prstGeom prst="roundRect">
            <a:avLst>
              <a:gd name="adj" fmla="val 50000"/>
            </a:avLst>
          </a:prstGeom>
          <a:solidFill>
            <a:srgbClr val="7652C9"/>
          </a:solidFill>
          <a:ln w="9525">
            <a:solidFill>
              <a:srgbClr val="7652C9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04</a:t>
            </a:r>
            <a:endParaRPr sz="1050" b="1">
              <a:solidFill>
                <a:srgbClr val="FFFFFF"/>
              </a:solidFill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8801100" y="2724150"/>
            <a:ext cx="2400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00" b="1" i="0">
                <a:solidFill>
                  <a:srgbClr val="7652C9"/>
                </a:solidFill>
              </a:defRPr>
            </a:pPr>
            <a:r>
              <a:rPr sz="1500" b="1" i="0">
                <a:solidFill>
                  <a:srgbClr val="7652C9"/>
                </a:solidFill>
              </a:rPr>
              <a:t>新场景探索</a:t>
            </a:r>
            <a:endParaRPr sz="1500" b="1" i="0">
              <a:solidFill>
                <a:srgbClr val="7652C9"/>
              </a:solidFill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8801100" y="3105150"/>
            <a:ext cx="2400300" cy="180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050" b="0" i="0">
                <a:solidFill>
                  <a:srgbClr val="555757"/>
                </a:solidFill>
              </a:defRPr>
            </a:pPr>
            <a:r>
              <a:rPr sz="1050" b="0" i="0">
                <a:solidFill>
                  <a:srgbClr val="555757"/>
                </a:solidFill>
              </a:rPr>
              <a:t>① 对接 vLLM-Omni 与多模态流水：AR / DiT 等阶段</a:t>
            </a:r>
            <a:endParaRPr sz="1050" b="0" i="0">
              <a:solidFill>
                <a:srgbClr val="555757"/>
              </a:solidFill>
            </a:endParaRPr>
          </a:p>
          <a:p>
            <a:endParaRPr sz="1050"/>
          </a:p>
          <a:p>
            <a:pPr algn="l">
              <a:buNone/>
              <a:defRPr sz="1050" b="0" i="0">
                <a:solidFill>
                  <a:srgbClr val="555757"/>
                </a:solidFill>
              </a:defRPr>
            </a:pPr>
            <a:r>
              <a:rPr sz="1050" b="0" i="0">
                <a:solidFill>
                  <a:srgbClr val="555757"/>
                </a:solidFill>
              </a:rPr>
              <a:t>② 异构硬件与互联：优化调度、放置与通信计算重叠</a:t>
            </a:r>
            <a:endParaRPr sz="1050" b="0" i="0">
              <a:solidFill>
                <a:srgbClr val="555757"/>
              </a:solidFill>
            </a:endParaRPr>
          </a:p>
        </p:txBody>
      </p:sp>
      <p:sp>
        <p:nvSpPr>
          <p:cNvPr id="20" name="圆角矩形 19"/>
          <p:cNvSpPr>
            <a:spLocks noGrp="1"/>
          </p:cNvSpPr>
          <p:nvPr/>
        </p:nvSpPr>
        <p:spPr>
          <a:xfrm>
            <a:off x="609600" y="5219700"/>
            <a:ext cx="10896600" cy="781050"/>
          </a:xfrm>
          <a:prstGeom prst="roundRect">
            <a:avLst>
              <a:gd name="adj" fmla="val 9756"/>
            </a:avLst>
          </a:prstGeom>
          <a:solidFill>
            <a:srgbClr val="C70000"/>
          </a:solidFill>
          <a:ln w="9525">
            <a:solidFill>
              <a:srgbClr val="C70000"/>
            </a:solidFill>
            <a:prstDash val="solid"/>
          </a:ln>
        </p:spPr>
        <p:txBody>
          <a:bodyPr/>
          <a:lstStyle/>
          <a:p/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933450" y="5353050"/>
            <a:ext cx="102489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00" b="1" i="0">
                <a:solidFill>
                  <a:srgbClr val="FFFFFF"/>
                </a:solidFill>
              </a:defRPr>
            </a:pPr>
            <a:r>
              <a:rPr sz="1500" b="1" i="0">
                <a:solidFill>
                  <a:srgbClr val="FFFFFF"/>
                </a:solidFill>
              </a:rPr>
              <a:t>目标：让 AFD 从“可运行的外部插件”演进为可复现、可扩展、可与上游协同的 MoE Serving 能力。</a:t>
            </a:r>
            <a:endParaRPr sz="1500" b="1" i="0">
              <a:solidFill>
                <a:srgbClr val="FFFFFF"/>
              </a:solidFill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609600" y="6153150"/>
            <a:ext cx="971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825" b="0" i="0">
                <a:solidFill>
                  <a:srgbClr val="555757"/>
                </a:solidFill>
              </a:defRPr>
            </a:pPr>
            <a:r>
              <a:rPr sz="825" b="0" i="0">
                <a:solidFill>
                  <a:srgbClr val="555757"/>
                </a:solidFill>
              </a:rPr>
              <a:t>路线图基于 PR #263 的 Current Scope and Roadmap；阶段顺序按社区发布与工程依赖整理</a:t>
            </a:r>
            <a:endParaRPr sz="825" b="0" i="0">
              <a:solidFill>
                <a:srgbClr val="555757"/>
              </a:solidFill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609600" y="6419850"/>
            <a:ext cx="10287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675" b="0" i="1">
                <a:solidFill>
                  <a:srgbClr val="898989"/>
                </a:solidFill>
              </a:defRPr>
            </a:pPr>
            <a:r>
              <a:rPr sz="675" b="0" i="1">
                <a:solidFill>
                  <a:srgbClr val="898989"/>
                </a:solidFill>
              </a:rPr>
              <a:t>来源：github.com/vllm-project/vllm-project.github.io/pull/263（2026-07-23 访问）</a:t>
            </a:r>
            <a:endParaRPr sz="675" b="0" i="1">
              <a:solidFill>
                <a:srgbClr val="898989"/>
              </a:solidFill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11315700" y="6419850"/>
            <a:ext cx="3429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buNone/>
              <a:defRPr sz="825" b="0" i="0">
                <a:solidFill>
                  <a:srgbClr val="898989"/>
                </a:solidFill>
              </a:defRPr>
            </a:pPr>
            <a:r>
              <a:rPr sz="825" b="0" i="0">
                <a:solidFill>
                  <a:srgbClr val="898989"/>
                </a:solidFill>
              </a:rPr>
              <a:t>13</a:t>
            </a:r>
            <a:endParaRPr sz="825" b="0" i="0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>
            <a:spLocks noGrp="1"/>
          </p:cNvSpPr>
          <p:nvPr/>
        </p:nvSpPr>
        <p:spPr>
          <a:xfrm>
            <a:off x="713232" y="408051"/>
            <a:ext cx="10744200" cy="44577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29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AFD Plugin Community </a:t>
            </a:r>
            <a:endParaRPr sz="2900" b="1">
              <a:solidFill>
                <a:srgbClr val="C000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Rectangle 3"/>
          <p:cNvSpPr>
            <a:spLocks noGrp="1"/>
          </p:cNvSpPr>
          <p:nvPr/>
        </p:nvSpPr>
        <p:spPr>
          <a:xfrm>
            <a:off x="612648" y="914400"/>
            <a:ext cx="1444752" cy="2286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6" name="Rectangle 5"/>
          <p:cNvSpPr>
            <a:spLocks noGrp="1"/>
          </p:cNvSpPr>
          <p:nvPr/>
        </p:nvSpPr>
        <p:spPr>
          <a:xfrm>
            <a:off x="713232" y="1481328"/>
            <a:ext cx="3401568" cy="435254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7" name="Rectangle 6"/>
          <p:cNvSpPr>
            <a:spLocks noGrp="1"/>
          </p:cNvSpPr>
          <p:nvPr/>
        </p:nvSpPr>
        <p:spPr>
          <a:xfrm>
            <a:off x="713232" y="1481328"/>
            <a:ext cx="3401568" cy="50292"/>
          </a:xfrm>
          <a:prstGeom prst="rect">
            <a:avLst/>
          </a:prstGeom>
          <a:solidFill>
            <a:srgbClr val="242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8" name="Rectangle 7"/>
          <p:cNvSpPr>
            <a:spLocks noGrp="1"/>
          </p:cNvSpPr>
          <p:nvPr/>
        </p:nvSpPr>
        <p:spPr>
          <a:xfrm>
            <a:off x="914400" y="1691640"/>
            <a:ext cx="420624" cy="274320"/>
          </a:xfrm>
          <a:prstGeom prst="rect">
            <a:avLst/>
          </a:prstGeom>
          <a:solidFill>
            <a:srgbClr val="242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>
              <a:buNone/>
            </a:pPr>
            <a:r>
              <a:rPr sz="1100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01</a:t>
            </a:r>
            <a:endParaRPr sz="1100" b="1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9" name="TextBox 8"/>
          <p:cNvSpPr>
            <a:spLocks noGrp="1"/>
          </p:cNvSpPr>
          <p:nvPr/>
        </p:nvSpPr>
        <p:spPr>
          <a:xfrm>
            <a:off x="1444752" y="1636776"/>
            <a:ext cx="2459736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1800" b="1">
                <a:solidFill>
                  <a:srgbClr val="252525"/>
                </a:solidFill>
                <a:latin typeface="微软雅黑"/>
                <a:ea typeface="微软雅黑"/>
                <a:cs typeface="微软雅黑"/>
              </a:rPr>
              <a:t>项目首页</a:t>
            </a:r>
            <a:endParaRPr sz="1800" b="1">
              <a:solidFill>
                <a:srgbClr val="25252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TextBox 9"/>
          <p:cNvSpPr>
            <a:spLocks noGrp="1"/>
          </p:cNvSpPr>
          <p:nvPr/>
        </p:nvSpPr>
        <p:spPr>
          <a:xfrm>
            <a:off x="1444752" y="1920240"/>
            <a:ext cx="2459736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1050" b="0">
                <a:solidFill>
                  <a:srgbClr val="898989"/>
                </a:solidFill>
                <a:latin typeface="微软雅黑"/>
                <a:ea typeface="微软雅黑"/>
                <a:cs typeface="微软雅黑"/>
              </a:rPr>
              <a:t>Code · Docs · Issues</a:t>
            </a:r>
            <a:endParaRPr sz="1050" b="0">
              <a:solidFill>
                <a:srgbClr val="89898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Rectangle 10"/>
          <p:cNvSpPr>
            <a:spLocks noGrp="1"/>
          </p:cNvSpPr>
          <p:nvPr/>
        </p:nvSpPr>
        <p:spPr>
          <a:xfrm>
            <a:off x="1307592" y="2304288"/>
            <a:ext cx="2212848" cy="2212848"/>
          </a:xfrm>
          <a:prstGeom prst="rect">
            <a:avLst/>
          </a:prstGeom>
          <a:solidFill>
            <a:srgbClr val="F7F7F7"/>
          </a:solidFill>
          <a:ln w="889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pic>
        <p:nvPicPr>
          <p:cNvPr id="47" name="Picture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99032" y="2395728"/>
            <a:ext cx="2029968" cy="2029968"/>
          </a:xfrm>
          <a:prstGeom prst="rect">
            <a:avLst/>
          </a:prstGeom>
        </p:spPr>
      </p:pic>
      <p:sp>
        <p:nvSpPr>
          <p:cNvPr id="13" name="TextBox 12"/>
          <p:cNvSpPr>
            <a:spLocks noGrp="1"/>
          </p:cNvSpPr>
          <p:nvPr/>
        </p:nvSpPr>
        <p:spPr>
          <a:xfrm>
            <a:off x="941832" y="4645152"/>
            <a:ext cx="2944368" cy="4297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020" b="1">
                <a:solidFill>
                  <a:srgbClr val="24292E"/>
                </a:solidFill>
                <a:latin typeface="Arial" panose="020B0604020202090204"/>
                <a:ea typeface="Arial" panose="020B0604020202090204"/>
                <a:cs typeface="Arial" panose="020B0604020202090204"/>
                <a:hlinkClick r:id="rId2"/>
              </a:rPr>
              <a:t>github.com/vllm-project/
afd-plugin</a:t>
            </a:r>
            <a:endParaRPr sz="1020" b="1">
              <a:solidFill>
                <a:srgbClr val="24292E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" name="TextBox 13"/>
          <p:cNvSpPr>
            <a:spLocks noGrp="1"/>
          </p:cNvSpPr>
          <p:nvPr/>
        </p:nvSpPr>
        <p:spPr>
          <a:xfrm>
            <a:off x="1024128" y="5157216"/>
            <a:ext cx="2779776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030" b="0">
                <a:solidFill>
                  <a:srgbClr val="555757"/>
                </a:solidFill>
                <a:latin typeface="微软雅黑"/>
                <a:ea typeface="微软雅黑"/>
                <a:cs typeface="微软雅黑"/>
              </a:rPr>
              <a:t>查看代码、架构文档与最新进展</a:t>
            </a:r>
            <a:endParaRPr sz="1030" b="0">
              <a:solidFill>
                <a:srgbClr val="55575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5" name="Rectangle 14"/>
          <p:cNvSpPr>
            <a:spLocks noGrp="1"/>
          </p:cNvSpPr>
          <p:nvPr/>
        </p:nvSpPr>
        <p:spPr>
          <a:xfrm>
            <a:off x="4398264" y="1481328"/>
            <a:ext cx="3401568" cy="435254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6" name="Rectangle 15"/>
          <p:cNvSpPr>
            <a:spLocks noGrp="1"/>
          </p:cNvSpPr>
          <p:nvPr/>
        </p:nvSpPr>
        <p:spPr>
          <a:xfrm>
            <a:off x="4398264" y="1481328"/>
            <a:ext cx="3401568" cy="50292"/>
          </a:xfrm>
          <a:prstGeom prst="rect">
            <a:avLst/>
          </a:prstGeom>
          <a:solidFill>
            <a:srgbClr val="C400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7" name="Rectangle 16"/>
          <p:cNvSpPr>
            <a:spLocks noGrp="1"/>
          </p:cNvSpPr>
          <p:nvPr/>
        </p:nvSpPr>
        <p:spPr>
          <a:xfrm>
            <a:off x="4599431" y="1691640"/>
            <a:ext cx="420624" cy="274320"/>
          </a:xfrm>
          <a:prstGeom prst="rect">
            <a:avLst/>
          </a:prstGeom>
          <a:solidFill>
            <a:srgbClr val="C400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>
              <a:buNone/>
            </a:pPr>
            <a:r>
              <a:rPr sz="1100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02</a:t>
            </a:r>
            <a:endParaRPr sz="1100" b="1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8" name="TextBox 17"/>
          <p:cNvSpPr>
            <a:spLocks noGrp="1"/>
          </p:cNvSpPr>
          <p:nvPr/>
        </p:nvSpPr>
        <p:spPr>
          <a:xfrm>
            <a:off x="5129783" y="1636776"/>
            <a:ext cx="2459736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1800" b="1">
                <a:solidFill>
                  <a:srgbClr val="252525"/>
                </a:solidFill>
                <a:latin typeface="微软雅黑"/>
                <a:ea typeface="微软雅黑"/>
                <a:cs typeface="微软雅黑"/>
              </a:rPr>
              <a:t>Developer Slack</a:t>
            </a:r>
            <a:endParaRPr sz="1800" b="1">
              <a:solidFill>
                <a:srgbClr val="25252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9" name="TextBox 18"/>
          <p:cNvSpPr>
            <a:spLocks noGrp="1"/>
          </p:cNvSpPr>
          <p:nvPr/>
        </p:nvSpPr>
        <p:spPr>
          <a:xfrm>
            <a:off x="5129783" y="1920240"/>
            <a:ext cx="2459736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1050" b="0">
                <a:solidFill>
                  <a:srgbClr val="898989"/>
                </a:solidFill>
                <a:latin typeface="微软雅黑"/>
                <a:ea typeface="微软雅黑"/>
                <a:cs typeface="微软雅黑"/>
              </a:rPr>
              <a:t>Discussion · Collaboration</a:t>
            </a:r>
            <a:endParaRPr sz="1050" b="0">
              <a:solidFill>
                <a:srgbClr val="89898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0" name="Rectangle 19"/>
          <p:cNvSpPr>
            <a:spLocks noGrp="1"/>
          </p:cNvSpPr>
          <p:nvPr/>
        </p:nvSpPr>
        <p:spPr>
          <a:xfrm>
            <a:off x="4992624" y="2304288"/>
            <a:ext cx="2212848" cy="2212848"/>
          </a:xfrm>
          <a:prstGeom prst="rect">
            <a:avLst/>
          </a:prstGeom>
          <a:solidFill>
            <a:srgbClr val="F7F7F7"/>
          </a:solidFill>
          <a:ln w="889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pic>
        <p:nvPicPr>
          <p:cNvPr id="56" name="Picture 2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4064" y="2395728"/>
            <a:ext cx="2029968" cy="2029968"/>
          </a:xfrm>
          <a:prstGeom prst="rect">
            <a:avLst/>
          </a:prstGeom>
        </p:spPr>
      </p:pic>
      <p:sp>
        <p:nvSpPr>
          <p:cNvPr id="22" name="TextBox 21"/>
          <p:cNvSpPr>
            <a:spLocks noGrp="1"/>
          </p:cNvSpPr>
          <p:nvPr/>
        </p:nvSpPr>
        <p:spPr>
          <a:xfrm>
            <a:off x="4626864" y="4645152"/>
            <a:ext cx="2944368" cy="4297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020" b="1">
                <a:solidFill>
                  <a:srgbClr val="C40054"/>
                </a:solidFill>
                <a:latin typeface="Arial" panose="020B0604020202090204"/>
                <a:ea typeface="Arial" panose="020B0604020202090204"/>
                <a:cs typeface="Arial" panose="020B0604020202090204"/>
                <a:hlinkClick r:id="rId4"/>
              </a:rPr>
              <a:t>vllm-dev.slack.com/archives/
C0B4C1D84GG</a:t>
            </a:r>
            <a:endParaRPr sz="1020" b="1">
              <a:solidFill>
                <a:srgbClr val="C40054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3" name="TextBox 22"/>
          <p:cNvSpPr>
            <a:spLocks noGrp="1"/>
          </p:cNvSpPr>
          <p:nvPr/>
        </p:nvSpPr>
        <p:spPr>
          <a:xfrm>
            <a:off x="4709159" y="5157216"/>
            <a:ext cx="2779776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030" b="0">
                <a:solidFill>
                  <a:srgbClr val="555757"/>
                </a:solidFill>
                <a:latin typeface="微软雅黑"/>
                <a:ea typeface="微软雅黑"/>
                <a:cs typeface="微软雅黑"/>
              </a:rPr>
              <a:t>加入 vLLM Developer Slack 后访问频道</a:t>
            </a:r>
            <a:endParaRPr sz="1030" b="0">
              <a:solidFill>
                <a:srgbClr val="55575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4" name="Rectangle 23"/>
          <p:cNvSpPr>
            <a:spLocks noGrp="1"/>
          </p:cNvSpPr>
          <p:nvPr/>
        </p:nvSpPr>
        <p:spPr>
          <a:xfrm>
            <a:off x="8083296" y="1481328"/>
            <a:ext cx="3401568" cy="435254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25" name="Rectangle 24"/>
          <p:cNvSpPr>
            <a:spLocks noGrp="1"/>
          </p:cNvSpPr>
          <p:nvPr/>
        </p:nvSpPr>
        <p:spPr>
          <a:xfrm>
            <a:off x="8083296" y="1481328"/>
            <a:ext cx="3401568" cy="50292"/>
          </a:xfrm>
          <a:prstGeom prst="rect">
            <a:avLst/>
          </a:prstGeom>
          <a:solidFill>
            <a:srgbClr val="2DA4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26" name="Rectangle 25"/>
          <p:cNvSpPr>
            <a:spLocks noGrp="1"/>
          </p:cNvSpPr>
          <p:nvPr/>
        </p:nvSpPr>
        <p:spPr>
          <a:xfrm>
            <a:off x="8284464" y="1691640"/>
            <a:ext cx="420624" cy="274320"/>
          </a:xfrm>
          <a:prstGeom prst="rect">
            <a:avLst/>
          </a:prstGeom>
          <a:solidFill>
            <a:srgbClr val="2DA4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>
              <a:buNone/>
            </a:pPr>
            <a:r>
              <a:rPr sz="1100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03</a:t>
            </a:r>
            <a:endParaRPr sz="1100" b="1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7" name="TextBox 26"/>
          <p:cNvSpPr>
            <a:spLocks noGrp="1"/>
          </p:cNvSpPr>
          <p:nvPr/>
        </p:nvSpPr>
        <p:spPr>
          <a:xfrm>
            <a:off x="8814816" y="1636776"/>
            <a:ext cx="2459736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1800" b="1">
                <a:solidFill>
                  <a:srgbClr val="252525"/>
                </a:solidFill>
                <a:latin typeface="微软雅黑"/>
                <a:ea typeface="微软雅黑"/>
                <a:cs typeface="微软雅黑"/>
              </a:rPr>
              <a:t>WeChat 社群</a:t>
            </a:r>
            <a:endParaRPr sz="1800" b="1">
              <a:solidFill>
                <a:srgbClr val="25252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8" name="TextBox 27"/>
          <p:cNvSpPr>
            <a:spLocks noGrp="1"/>
          </p:cNvSpPr>
          <p:nvPr/>
        </p:nvSpPr>
        <p:spPr>
          <a:xfrm>
            <a:off x="8814816" y="1920240"/>
            <a:ext cx="2459736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1050" b="0">
                <a:solidFill>
                  <a:srgbClr val="898989"/>
                </a:solidFill>
                <a:latin typeface="微软雅黑"/>
                <a:ea typeface="微软雅黑"/>
                <a:cs typeface="微软雅黑"/>
              </a:rPr>
              <a:t>Chinese Developer Community</a:t>
            </a:r>
            <a:endParaRPr sz="1050" b="0">
              <a:solidFill>
                <a:srgbClr val="89898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9" name="Rectangle 28"/>
          <p:cNvSpPr>
            <a:spLocks noGrp="1"/>
          </p:cNvSpPr>
          <p:nvPr/>
        </p:nvSpPr>
        <p:spPr>
          <a:xfrm>
            <a:off x="8677656" y="2304288"/>
            <a:ext cx="2212848" cy="2212848"/>
          </a:xfrm>
          <a:prstGeom prst="rect">
            <a:avLst/>
          </a:prstGeom>
          <a:solidFill>
            <a:srgbClr val="F7F7F7"/>
          </a:solidFill>
          <a:ln w="889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pic>
        <p:nvPicPr>
          <p:cNvPr id="65" name="Picture 2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69096" y="2395728"/>
            <a:ext cx="2029968" cy="2029968"/>
          </a:xfrm>
          <a:prstGeom prst="rect">
            <a:avLst/>
          </a:prstGeom>
        </p:spPr>
      </p:pic>
      <p:sp>
        <p:nvSpPr>
          <p:cNvPr id="31" name="TextBox 30"/>
          <p:cNvSpPr>
            <a:spLocks noGrp="1"/>
          </p:cNvSpPr>
          <p:nvPr/>
        </p:nvSpPr>
        <p:spPr>
          <a:xfrm>
            <a:off x="8311896" y="4645152"/>
            <a:ext cx="2944368" cy="4297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020" b="1">
                <a:solidFill>
                  <a:srgbClr val="2DA44E"/>
                </a:solidFill>
                <a:latin typeface="微软雅黑"/>
                <a:ea typeface="微软雅黑"/>
                <a:cs typeface="微软雅黑"/>
              </a:rPr>
              <a:t>afd-plugin 开发者交流群</a:t>
            </a:r>
            <a:endParaRPr sz="1020" b="1">
              <a:solidFill>
                <a:srgbClr val="2DA44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2" name="TextBox 31"/>
          <p:cNvSpPr>
            <a:spLocks noGrp="1"/>
          </p:cNvSpPr>
          <p:nvPr/>
        </p:nvSpPr>
        <p:spPr>
          <a:xfrm>
            <a:off x="8394192" y="5157216"/>
            <a:ext cx="2779776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030" b="0">
                <a:solidFill>
                  <a:srgbClr val="555757"/>
                </a:solidFill>
                <a:latin typeface="微软雅黑"/>
                <a:ea typeface="微软雅黑"/>
                <a:cs typeface="微软雅黑"/>
              </a:rPr>
              <a:t>二维码取自项目仓库，请以最新版本为准</a:t>
            </a:r>
            <a:endParaRPr sz="1030" b="0">
              <a:solidFill>
                <a:srgbClr val="55575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5" name="TextBox 34"/>
          <p:cNvSpPr>
            <a:spLocks noGrp="1"/>
          </p:cNvSpPr>
          <p:nvPr/>
        </p:nvSpPr>
        <p:spPr>
          <a:xfrm>
            <a:off x="11384280" y="6556248"/>
            <a:ext cx="27432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buNone/>
            </a:pPr>
            <a:r>
              <a:rPr sz="850" b="0">
                <a:solidFill>
                  <a:srgbClr val="898989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15</a:t>
            </a:r>
            <a:endParaRPr sz="850" b="0">
              <a:solidFill>
                <a:srgbClr val="898989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矩形 29"/>
          <p:cNvSpPr>
            <a:spLocks noGrp="1"/>
          </p:cNvSpPr>
          <p:nvPr/>
        </p:nvSpPr>
        <p:spPr>
          <a:xfrm>
            <a:off x="609600" y="209550"/>
            <a:ext cx="1809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825" b="1">
                <a:solidFill>
                  <a:srgbClr val="898989"/>
                </a:solidFill>
              </a:defRPr>
            </a:pPr>
            <a:r>
              <a:rPr sz="825" b="1">
                <a:solidFill>
                  <a:srgbClr val="898989"/>
                </a:solidFill>
              </a:rPr>
              <a:t>COMMUNITY UPDATE</a:t>
            </a:r>
            <a:endParaRPr sz="825" b="1">
              <a:solidFill>
                <a:srgbClr val="898989"/>
              </a:solidFill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09600" y="419100"/>
            <a:ext cx="10668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250" b="1">
                <a:solidFill>
                  <a:srgbClr val="C00000"/>
                </a:solidFill>
              </a:defRPr>
            </a:pPr>
            <a:r>
              <a:rPr sz="2250" b="1">
                <a:solidFill>
                  <a:srgbClr val="C00000"/>
                </a:solidFill>
              </a:rPr>
              <a:t>社区进展：底座升级完成，模型与工程体系同步推进</a:t>
            </a:r>
            <a:endParaRPr sz="2250" b="1">
              <a:solidFill>
                <a:srgbClr val="C00000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1315700" y="6419850"/>
            <a:ext cx="3429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buNone/>
              <a:defRPr sz="825" b="0">
                <a:solidFill>
                  <a:srgbClr val="898989"/>
                </a:solidFill>
              </a:defRPr>
            </a:pPr>
            <a:r>
              <a:rPr sz="825" b="0">
                <a:solidFill>
                  <a:srgbClr val="898989"/>
                </a:solidFill>
              </a:rPr>
              <a:t>14</a:t>
            </a:r>
            <a:endParaRPr sz="825" b="0">
              <a:solidFill>
                <a:srgbClr val="898989"/>
              </a:solidFill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09600" y="1295400"/>
            <a:ext cx="2381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125" b="1">
                <a:solidFill>
                  <a:srgbClr val="1B1D21"/>
                </a:solidFill>
              </a:defRPr>
            </a:pPr>
            <a:r>
              <a:rPr sz="1125" b="1">
                <a:solidFill>
                  <a:srgbClr val="1B1D21"/>
                </a:solidFill>
              </a:rPr>
              <a:t>模型适配｜Qwen3 与 DeepSeek V4 进入实现评审</a:t>
            </a:r>
            <a:endParaRPr sz="1125" b="1">
              <a:solidFill>
                <a:srgbClr val="1B1D21"/>
              </a:solidFill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3143250" y="1257300"/>
            <a:ext cx="84772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865" b="0">
                <a:solidFill>
                  <a:srgbClr val="555757"/>
                </a:solidFill>
              </a:defRPr>
            </a:pPr>
            <a:r>
              <a:rPr sz="865" b="0">
                <a:solidFill>
                  <a:srgbClr val="555757"/>
                </a:solidFill>
              </a:rPr>
              <a:t>• Qwen3 MoE GPU：PR #216 开放，已提交 30B / 235B GPU 验证证据；Qwen3.5 / 3.6 由 #179 与 PR #181 推进。</a:t>
            </a:r>
            <a:br>
              <a:rPr sz="865" b="0">
                <a:solidFill>
                  <a:srgbClr val="555757"/>
                </a:solidFill>
              </a:rPr>
            </a:br>
            <a:r>
              <a:rPr sz="865" b="0">
                <a:solidFill>
                  <a:srgbClr val="555757"/>
                </a:solidFill>
              </a:rPr>
              <a:t>• DeepSeek V4：GPU PR #191 开放；NPU 拆分为 CAMAsync #227 与 CAMP2p #228，仍待实现与硬件验收。</a:t>
            </a:r>
            <a:br>
              <a:rPr sz="865" b="0">
                <a:solidFill>
                  <a:srgbClr val="555757"/>
                </a:solidFill>
              </a:rPr>
            </a:br>
            <a:endParaRPr sz="865" b="0">
              <a:solidFill>
                <a:srgbClr val="555757"/>
              </a:solidFill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609600" y="2152650"/>
            <a:ext cx="11010900" cy="19050"/>
          </a:xfrm>
          <a:prstGeom prst="rect">
            <a:avLst/>
          </a:prstGeom>
          <a:solidFill>
            <a:srgbClr val="C00000"/>
          </a:solidFill>
          <a:ln w="0">
            <a:solidFill>
              <a:srgbClr val="C00000"/>
            </a:solidFill>
            <a:prstDash val="solid"/>
          </a:ln>
        </p:spPr>
        <p:txBody>
          <a:bodyPr/>
          <a:lstStyle/>
          <a:p/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609600" y="2419350"/>
            <a:ext cx="2381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125" b="1">
                <a:solidFill>
                  <a:srgbClr val="1B1D21"/>
                </a:solidFill>
              </a:defRPr>
            </a:pPr>
            <a:r>
              <a:rPr sz="1125" b="1">
                <a:solidFill>
                  <a:srgbClr val="1B1D21"/>
                </a:solidFill>
              </a:rPr>
              <a:t>运行时升级｜GPU / NPU 已切换至 vLLM 0.26.0 基线</a:t>
            </a:r>
            <a:endParaRPr sz="1125" b="1">
              <a:solidFill>
                <a:srgbClr val="1B1D21"/>
              </a:solidFill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3143250" y="2381250"/>
            <a:ext cx="84772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865" b="0">
                <a:solidFill>
                  <a:srgbClr val="555757"/>
                </a:solidFill>
              </a:defRPr>
            </a:pPr>
            <a:r>
              <a:rPr sz="865" b="0">
                <a:solidFill>
                  <a:srgbClr val="555757"/>
                </a:solidFill>
              </a:rPr>
              <a:t>• PR #186 已合并，GPU #167 与 NPU #168 已关闭；后续模型适配统一以精确 vLLM 0.26.0 为基线。</a:t>
            </a:r>
            <a:br>
              <a:rPr sz="865" b="0">
                <a:solidFill>
                  <a:srgbClr val="555757"/>
                </a:solidFill>
              </a:rPr>
            </a:br>
            <a:r>
              <a:rPr sz="865" b="0">
                <a:solidFill>
                  <a:srgbClr val="555757"/>
                </a:solidFill>
              </a:rPr>
              <a:t>• NPU 支持仍要求锁定 vLLM-Ascend、镜像及 CANN / torch-npu 等完整软件栈，不从 GPU 结果推导。</a:t>
            </a:r>
            <a:br>
              <a:rPr sz="865" b="0">
                <a:solidFill>
                  <a:srgbClr val="555757"/>
                </a:solidFill>
              </a:rPr>
            </a:br>
            <a:br>
              <a:rPr sz="865" b="0">
                <a:solidFill>
                  <a:srgbClr val="555757"/>
                </a:solidFill>
              </a:rPr>
            </a:br>
            <a:endParaRPr sz="865" b="0">
              <a:solidFill>
                <a:srgbClr val="555757"/>
              </a:solidFill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609600" y="3276600"/>
            <a:ext cx="11010900" cy="19050"/>
          </a:xfrm>
          <a:prstGeom prst="rect">
            <a:avLst/>
          </a:prstGeom>
          <a:solidFill>
            <a:srgbClr val="C00000"/>
          </a:solidFill>
          <a:ln w="0">
            <a:solidFill>
              <a:srgbClr val="C00000"/>
            </a:solidFill>
            <a:prstDash val="solid"/>
          </a:ln>
        </p:spPr>
        <p:txBody>
          <a:bodyPr/>
          <a:lstStyle/>
          <a:p/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609600" y="3543300"/>
            <a:ext cx="2381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125" b="1">
                <a:solidFill>
                  <a:srgbClr val="1B1D21"/>
                </a:solidFill>
              </a:defRPr>
            </a:pPr>
            <a:r>
              <a:rPr sz="1125" b="1">
                <a:solidFill>
                  <a:srgbClr val="1B1D21"/>
                </a:solidFill>
              </a:rPr>
              <a:t>CI 与 E2E｜统一场景、准确性门槛与清理检查</a:t>
            </a:r>
            <a:endParaRPr sz="1125" b="1">
              <a:solidFill>
                <a:srgbClr val="1B1D21"/>
              </a:solidFill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3143250" y="3505200"/>
            <a:ext cx="84772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865" b="0">
                <a:solidFill>
                  <a:srgbClr val="555757"/>
                </a:solidFill>
              </a:defRPr>
            </a:pPr>
            <a:r>
              <a:rPr sz="865" b="0">
                <a:solidFill>
                  <a:srgbClr val="555757"/>
                </a:solidFill>
              </a:rPr>
              <a:t>• E2E 重构 PR #222 聚焦 baseline-graph、AFD eager、AFD graph、AFD graph + DBO 四个固定场景。</a:t>
            </a:r>
            <a:br>
              <a:rPr sz="865" b="0">
                <a:solidFill>
                  <a:srgbClr val="555757"/>
                </a:solidFill>
              </a:rPr>
            </a:br>
            <a:r>
              <a:rPr sz="865" b="0">
                <a:solidFill>
                  <a:srgbClr val="555757"/>
                </a:solidFill>
              </a:rPr>
              <a:t>• PR 门禁采用 GSM8K-7，周度运行完整 GSM8K；GPU / NPU 共用配置并强化失败判定、进程与设备资源清理。</a:t>
            </a:r>
            <a:br>
              <a:rPr sz="865" b="0">
                <a:solidFill>
                  <a:srgbClr val="555757"/>
                </a:solidFill>
              </a:rPr>
            </a:br>
            <a:br>
              <a:rPr sz="865" b="0">
                <a:solidFill>
                  <a:srgbClr val="555757"/>
                </a:solidFill>
              </a:rPr>
            </a:br>
            <a:endParaRPr sz="865" b="0">
              <a:solidFill>
                <a:srgbClr val="555757"/>
              </a:solidFill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609600" y="4400550"/>
            <a:ext cx="11010900" cy="19050"/>
          </a:xfrm>
          <a:prstGeom prst="rect">
            <a:avLst/>
          </a:prstGeom>
          <a:solidFill>
            <a:srgbClr val="C00000"/>
          </a:solidFill>
          <a:ln w="0">
            <a:solidFill>
              <a:srgbClr val="C00000"/>
            </a:solidFill>
            <a:prstDash val="solid"/>
          </a:ln>
        </p:spPr>
        <p:txBody>
          <a:bodyPr/>
          <a:lstStyle/>
          <a:p/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609600" y="4667250"/>
            <a:ext cx="2381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125" b="1">
                <a:solidFill>
                  <a:srgbClr val="1B1D21"/>
                </a:solidFill>
              </a:defRPr>
            </a:pPr>
            <a:r>
              <a:rPr sz="1125" b="1">
                <a:solidFill>
                  <a:srgbClr val="1B1D21"/>
                </a:solidFill>
              </a:rPr>
              <a:t>工程 Skills｜模型适配完成，版本升级流程建设中</a:t>
            </a:r>
            <a:endParaRPr sz="1125" b="1">
              <a:solidFill>
                <a:srgbClr val="1B1D21"/>
              </a:solidFill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3143250" y="4629150"/>
            <a:ext cx="84772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865" b="0">
                <a:solidFill>
                  <a:srgbClr val="555757"/>
                </a:solidFill>
              </a:defRPr>
            </a:pPr>
            <a:r>
              <a:rPr sz="865" b="0">
                <a:solidFill>
                  <a:srgbClr val="555757"/>
                </a:solidFill>
              </a:rPr>
              <a:t>• 模型适配 Skill：PR #205 已合并，覆盖可行性、最小实现、GPU / NPU 独立验证和证据报告。</a:t>
            </a:r>
            <a:br>
              <a:rPr sz="865" b="0">
                <a:solidFill>
                  <a:srgbClr val="555757"/>
                </a:solidFill>
              </a:rPr>
            </a:br>
            <a:r>
              <a:rPr sz="865" b="0">
                <a:solidFill>
                  <a:srgbClr val="555757"/>
                </a:solidFill>
              </a:rPr>
              <a:t>• GPU 升级 Skill #224 与 NPU 升级 Skill #202 进行中，目标是固化版本审计、Patch 处置和 E2E 交接流程。</a:t>
            </a:r>
            <a:br>
              <a:rPr sz="865" b="0">
                <a:solidFill>
                  <a:srgbClr val="555757"/>
                </a:solidFill>
              </a:rPr>
            </a:br>
            <a:endParaRPr sz="865" b="0">
              <a:solidFill>
                <a:srgbClr val="555757"/>
              </a:solidFill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609600" y="6153150"/>
            <a:ext cx="971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825" b="0">
                <a:solidFill>
                  <a:srgbClr val="555757"/>
                </a:solidFill>
              </a:defRPr>
            </a:pPr>
            <a:r>
              <a:rPr sz="825" b="0">
                <a:solidFill>
                  <a:srgbClr val="555757"/>
                </a:solidFill>
              </a:rPr>
              <a:t>状态口径：仅合并事项标为完成；Open PR / Issue 不等于正式支持或生产就绪。</a:t>
            </a:r>
            <a:endParaRPr sz="825" b="0">
              <a:solidFill>
                <a:srgbClr val="555757"/>
              </a:solidFill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609600" y="6419850"/>
            <a:ext cx="10287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675" b="0" i="1">
                <a:solidFill>
                  <a:srgbClr val="898989"/>
                </a:solidFill>
              </a:defRPr>
            </a:pPr>
            <a:r>
              <a:rPr sz="675" b="0" i="1">
                <a:solidFill>
                  <a:srgbClr val="898989"/>
                </a:solidFill>
              </a:rPr>
              <a:t>来源：vllm-project/afd-plugin #167 #168 #179 #186 #191 #202 #205 #216 #222 #224 #227 #228（2026-08-12）</a:t>
            </a:r>
            <a:endParaRPr sz="675" b="0" i="1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ection-16"/>
          <p:cNvSpPr>
            <a:spLocks noGrp="1"/>
          </p:cNvSpPr>
          <p:nvPr/>
        </p:nvSpPr>
        <p:spPr>
          <a:xfrm>
            <a:off x="609600" y="209550"/>
            <a:ext cx="2286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825" b="1">
                <a:solidFill>
                  <a:srgbClr val="898989"/>
                </a:solidFill>
                <a:latin typeface="Calibri"/>
                <a:ea typeface="Calibri"/>
                <a:cs typeface="Calibri"/>
              </a:defRPr>
            </a:pPr>
            <a:r>
              <a:rPr sz="825" b="1">
                <a:solidFill>
                  <a:srgbClr val="898989"/>
                </a:solidFill>
                <a:latin typeface="Calibri"/>
                <a:ea typeface="Calibri"/>
                <a:cs typeface="Calibri"/>
              </a:rPr>
              <a:t>ASYNC PREFILL DATASET</a:t>
            </a:r>
            <a:endParaRPr sz="825" b="1">
              <a:solidFill>
                <a:srgbClr val="898989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" name="title-16"/>
          <p:cNvSpPr>
            <a:spLocks noGrp="1"/>
          </p:cNvSpPr>
          <p:nvPr/>
        </p:nvSpPr>
        <p:spPr>
          <a:xfrm>
            <a:off x="609600" y="419100"/>
            <a:ext cx="10668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25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压测数据集的输入长度分布</a:t>
            </a:r>
            <a:endParaRPr sz="2250" b="1">
              <a:solidFill>
                <a:srgbClr val="C000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title-rule-16"/>
          <p:cNvSpPr>
            <a:spLocks noGrp="1"/>
          </p:cNvSpPr>
          <p:nvPr/>
        </p:nvSpPr>
        <p:spPr>
          <a:xfrm>
            <a:off x="609600" y="914400"/>
            <a:ext cx="1428750" cy="28575"/>
          </a:xfrm>
          <a:prstGeom prst="rect">
            <a:avLst/>
          </a:prstGeom>
          <a:solidFill>
            <a:srgbClr val="C00000"/>
          </a:solidFill>
          <a:ln w="0">
            <a:solidFill>
              <a:srgbClr val="C00000"/>
            </a:solidFill>
            <a:prstDash val="solid"/>
          </a:ln>
        </p:spPr>
      </p:sp>
      <p:sp>
        <p:nvSpPr>
          <p:cNvPr id="4" name="metadata-bg-16"/>
          <p:cNvSpPr>
            <a:spLocks noGrp="1"/>
          </p:cNvSpPr>
          <p:nvPr/>
        </p:nvSpPr>
        <p:spPr>
          <a:xfrm>
            <a:off x="609600" y="1028700"/>
            <a:ext cx="10972800" cy="400050"/>
          </a:xfrm>
          <a:prstGeom prst="rect">
            <a:avLst/>
          </a:prstGeom>
          <a:solidFill>
            <a:srgbClr val="F5F5F5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5" name="model-16"/>
          <p:cNvSpPr>
            <a:spLocks noGrp="1"/>
          </p:cNvSpPr>
          <p:nvPr/>
        </p:nvSpPr>
        <p:spPr>
          <a:xfrm>
            <a:off x="800100" y="1095375"/>
            <a:ext cx="238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50" b="1">
                <a:solidFill>
                  <a:srgbClr val="234CA5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234CA5"/>
                </a:solidFill>
                <a:latin typeface="微软雅黑"/>
                <a:ea typeface="微软雅黑"/>
                <a:cs typeface="微软雅黑"/>
              </a:rPr>
              <a:t>模型：dsv4-flash</a:t>
            </a:r>
            <a:endParaRPr sz="1050" b="1">
              <a:solidFill>
                <a:srgbClr val="234CA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dataset-16"/>
          <p:cNvSpPr>
            <a:spLocks noGrp="1"/>
          </p:cNvSpPr>
          <p:nvPr/>
        </p:nvSpPr>
        <p:spPr>
          <a:xfrm>
            <a:off x="3048000" y="1095375"/>
            <a:ext cx="619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975" b="1">
                <a:solidFill>
                  <a:srgbClr val="4F8A10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4F8A10"/>
                </a:solidFill>
                <a:latin typeface="微软雅黑"/>
                <a:ea typeface="微软雅黑"/>
                <a:cs typeface="微软雅黑"/>
              </a:rPr>
              <a:t>数据集：Mooncake trace-derived WildChat workload</a:t>
            </a:r>
            <a:endParaRPr sz="975" b="1">
              <a:solidFill>
                <a:srgbClr val="4F8A1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requests-16"/>
          <p:cNvSpPr>
            <a:spLocks noGrp="1"/>
          </p:cNvSpPr>
          <p:nvPr/>
        </p:nvSpPr>
        <p:spPr>
          <a:xfrm>
            <a:off x="9334500" y="1095375"/>
            <a:ext cx="2057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975" b="1">
                <a:solidFill>
                  <a:srgbClr val="F06A00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06A00"/>
                </a:solidFill>
                <a:latin typeface="微软雅黑"/>
                <a:ea typeface="微软雅黑"/>
                <a:cs typeface="微软雅黑"/>
              </a:rPr>
              <a:t>正式请求：1,536</a:t>
            </a:r>
            <a:endParaRPr sz="975" b="1">
              <a:solidFill>
                <a:srgbClr val="F06A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chart-heading-16"/>
          <p:cNvSpPr>
            <a:spLocks noGrp="1"/>
          </p:cNvSpPr>
          <p:nvPr/>
        </p:nvSpPr>
        <p:spPr>
          <a:xfrm>
            <a:off x="609600" y="1504950"/>
            <a:ext cx="6953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50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输入 token 长度区间占比</a:t>
            </a:r>
            <a:endParaRPr sz="1500" b="1">
              <a:solidFill>
                <a:srgbClr val="22222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table-heading-16"/>
          <p:cNvSpPr>
            <a:spLocks noGrp="1"/>
          </p:cNvSpPr>
          <p:nvPr/>
        </p:nvSpPr>
        <p:spPr>
          <a:xfrm>
            <a:off x="8001000" y="1504950"/>
            <a:ext cx="3581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50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关键统计</a:t>
            </a:r>
            <a:endParaRPr sz="1500" b="1">
              <a:solidFill>
                <a:srgbClr val="222222"/>
              </a:solidFill>
              <a:latin typeface="微软雅黑"/>
              <a:ea typeface="微软雅黑"/>
              <a:cs typeface="微软雅黑"/>
            </a:endParaRPr>
          </a:p>
        </p:txBody>
      </p:sp>
      <p:graphicFrame>
        <p:nvGraphicFramePr>
          <p:cNvPr id="30" name="Chart"/>
          <p:cNvGraphicFramePr/>
          <p:nvPr/>
        </p:nvGraphicFramePr>
        <p:xfrm>
          <a:off x="609600" y="1809750"/>
          <a:ext cx="6953250" cy="3524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31" name="dataset-table-16"/>
          <p:cNvGraphicFramePr/>
          <p:nvPr/>
        </p:nvGraphicFramePr>
        <p:xfrm>
          <a:off x="8001000" y="1809750"/>
          <a:ext cx="3581400" cy="3524250"/>
        </p:xfrm>
        <a:graphic>
          <a:graphicData uri="http://schemas.openxmlformats.org/drawingml/2006/table">
            <a:tbl>
              <a:tblPr firstRow="1" bandRow="1"/>
              <a:tblGrid>
                <a:gridCol w="1619250"/>
                <a:gridCol w="1962150"/>
              </a:tblGrid>
              <a:tr h="35242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7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统计项</a:t>
                      </a:r>
                      <a:endParaRPr sz="975" b="1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8100" marR="38100" marT="19050" marB="19050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7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数值</a:t>
                      </a:r>
                      <a:endParaRPr sz="975" b="1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8100" marR="38100" marT="19050" marB="19050">
                    <a:solidFill>
                      <a:srgbClr val="222222"/>
                    </a:solidFill>
                  </a:tcPr>
                </a:tc>
              </a:tr>
              <a:tr h="35242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正式请求</a:t>
                      </a:r>
                      <a:endParaRPr sz="900" b="1">
                        <a:solidFill>
                          <a:srgbClr val="222222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76200" marR="38100" marT="19050" marB="1905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1">
                          <a:solidFill>
                            <a:srgbClr val="234CA5"/>
                          </a:solidFill>
                          <a:latin typeface="Calibri"/>
                          <a:ea typeface="Calibri"/>
                          <a:cs typeface="Calibri"/>
                        </a:rPr>
                        <a:t>1,536</a:t>
                      </a:r>
                      <a:endParaRPr sz="900" b="1">
                        <a:solidFill>
                          <a:srgbClr val="234CA5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38100" marR="38100" marT="19050" marB="19050"/>
                </a:tc>
              </a:tr>
              <a:tr h="35242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Formal windows</a:t>
                      </a:r>
                      <a:endParaRPr sz="900" b="1">
                        <a:solidFill>
                          <a:srgbClr val="222222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76200" marR="38100" marT="19050" marB="1905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1">
                          <a:solidFill>
                            <a:srgbClr val="234CA5"/>
                          </a:solidFill>
                          <a:latin typeface="Calibri"/>
                          <a:ea typeface="Calibri"/>
                          <a:cs typeface="Calibri"/>
                        </a:rPr>
                        <a:t>3 × 512</a:t>
                      </a:r>
                      <a:endParaRPr sz="900" b="1">
                        <a:solidFill>
                          <a:srgbClr val="234CA5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38100" marR="38100" marT="19050" marB="19050"/>
                </a:tc>
              </a:tr>
              <a:tr h="35242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平均输入长度</a:t>
                      </a:r>
                      <a:endParaRPr sz="900" b="1">
                        <a:solidFill>
                          <a:srgbClr val="222222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76200" marR="38100" marT="19050" marB="1905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1">
                          <a:solidFill>
                            <a:srgbClr val="234CA5"/>
                          </a:solidFill>
                          <a:latin typeface="Calibri"/>
                          <a:ea typeface="Calibri"/>
                          <a:cs typeface="Calibri"/>
                        </a:rPr>
                        <a:t>10,288 tokens</a:t>
                      </a:r>
                      <a:endParaRPr sz="900" b="1">
                        <a:solidFill>
                          <a:srgbClr val="234CA5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38100" marR="38100" marT="19050" marB="19050"/>
                </a:tc>
              </a:tr>
              <a:tr h="35242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P50</a:t>
                      </a:r>
                      <a:endParaRPr sz="900" b="1">
                        <a:solidFill>
                          <a:srgbClr val="222222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76200" marR="38100" marT="19050" marB="1905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1">
                          <a:solidFill>
                            <a:srgbClr val="234CA5"/>
                          </a:solidFill>
                          <a:latin typeface="Calibri"/>
                          <a:ea typeface="Calibri"/>
                          <a:cs typeface="Calibri"/>
                        </a:rPr>
                        <a:t>6,369 tokens</a:t>
                      </a:r>
                      <a:endParaRPr sz="900" b="1">
                        <a:solidFill>
                          <a:srgbClr val="234CA5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38100" marR="38100" marT="19050" marB="19050"/>
                </a:tc>
              </a:tr>
              <a:tr h="35242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P75</a:t>
                      </a:r>
                      <a:endParaRPr sz="900" b="1">
                        <a:solidFill>
                          <a:srgbClr val="222222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76200" marR="38100" marT="19050" marB="1905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1">
                          <a:solidFill>
                            <a:srgbClr val="234CA5"/>
                          </a:solidFill>
                          <a:latin typeface="Calibri"/>
                          <a:ea typeface="Calibri"/>
                          <a:cs typeface="Calibri"/>
                        </a:rPr>
                        <a:t>14,379 tokens</a:t>
                      </a:r>
                      <a:endParaRPr sz="900" b="1">
                        <a:solidFill>
                          <a:srgbClr val="234CA5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38100" marR="38100" marT="19050" marB="19050"/>
                </a:tc>
              </a:tr>
              <a:tr h="35242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P90</a:t>
                      </a:r>
                      <a:endParaRPr sz="900" b="1">
                        <a:solidFill>
                          <a:srgbClr val="222222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76200" marR="38100" marT="19050" marB="1905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1">
                          <a:solidFill>
                            <a:srgbClr val="234CA5"/>
                          </a:solidFill>
                          <a:latin typeface="Calibri"/>
                          <a:ea typeface="Calibri"/>
                          <a:cs typeface="Calibri"/>
                        </a:rPr>
                        <a:t>24,794 tokens</a:t>
                      </a:r>
                      <a:endParaRPr sz="900" b="1">
                        <a:solidFill>
                          <a:srgbClr val="234CA5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38100" marR="38100" marT="19050" marB="19050"/>
                </a:tc>
              </a:tr>
              <a:tr h="35242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P95</a:t>
                      </a:r>
                      <a:endParaRPr sz="900" b="1">
                        <a:solidFill>
                          <a:srgbClr val="222222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76200" marR="38100" marT="19050" marB="1905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1">
                          <a:solidFill>
                            <a:srgbClr val="234CA5"/>
                          </a:solidFill>
                          <a:latin typeface="Calibri"/>
                          <a:ea typeface="Calibri"/>
                          <a:cs typeface="Calibri"/>
                        </a:rPr>
                        <a:t>32,213 tokens</a:t>
                      </a:r>
                      <a:endParaRPr sz="900" b="1">
                        <a:solidFill>
                          <a:srgbClr val="234CA5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38100" marR="38100" marT="19050" marB="19050"/>
                </a:tc>
              </a:tr>
              <a:tr h="35242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P99</a:t>
                      </a:r>
                      <a:endParaRPr sz="900" b="1">
                        <a:solidFill>
                          <a:srgbClr val="222222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76200" marR="38100" marT="19050" marB="1905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1">
                          <a:solidFill>
                            <a:srgbClr val="234CA5"/>
                          </a:solidFill>
                          <a:latin typeface="Calibri"/>
                          <a:ea typeface="Calibri"/>
                          <a:cs typeface="Calibri"/>
                        </a:rPr>
                        <a:t>54,280 tokens</a:t>
                      </a:r>
                      <a:endParaRPr sz="900" b="1">
                        <a:solidFill>
                          <a:srgbClr val="234CA5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38100" marR="38100" marT="19050" marB="19050"/>
                </a:tc>
              </a:tr>
              <a:tr h="35242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最小 / 最大</a:t>
                      </a:r>
                      <a:endParaRPr sz="900" b="1">
                        <a:solidFill>
                          <a:srgbClr val="222222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76200" marR="38100" marT="19050" marB="1905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1">
                          <a:solidFill>
                            <a:srgbClr val="234CA5"/>
                          </a:solidFill>
                          <a:latin typeface="Calibri"/>
                          <a:ea typeface="Calibri"/>
                          <a:cs typeface="Calibri"/>
                        </a:rPr>
                        <a:t>891 / 63,778 tokens</a:t>
                      </a:r>
                      <a:endParaRPr sz="900" b="1">
                        <a:solidFill>
                          <a:srgbClr val="234CA5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38100" marR="38100" marT="19050" marB="19050"/>
                </a:tc>
              </a:tr>
            </a:tbl>
          </a:graphicData>
        </a:graphic>
      </p:graphicFrame>
      <p:sp>
        <p:nvSpPr>
          <p:cNvPr id="12" name="conclusion-bg-16"/>
          <p:cNvSpPr>
            <a:spLocks noGrp="1"/>
          </p:cNvSpPr>
          <p:nvPr/>
        </p:nvSpPr>
        <p:spPr>
          <a:xfrm>
            <a:off x="609600" y="5476875"/>
            <a:ext cx="10972800" cy="457200"/>
          </a:xfrm>
          <a:prstGeom prst="rect">
            <a:avLst/>
          </a:prstGeom>
          <a:solidFill>
            <a:srgbClr val="EDF3FC"/>
          </a:solidFill>
          <a:ln w="12383">
            <a:solidFill>
              <a:srgbClr val="4472C4"/>
            </a:solidFill>
            <a:prstDash val="solid"/>
          </a:ln>
        </p:spPr>
      </p:sp>
      <p:sp>
        <p:nvSpPr>
          <p:cNvPr id="13" name="conclusion-label-16"/>
          <p:cNvSpPr>
            <a:spLocks noGrp="1"/>
          </p:cNvSpPr>
          <p:nvPr/>
        </p:nvSpPr>
        <p:spPr>
          <a:xfrm>
            <a:off x="819150" y="5581650"/>
            <a:ext cx="7143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1">
                <a:solidFill>
                  <a:srgbClr val="234CA5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234CA5"/>
                </a:solidFill>
                <a:latin typeface="微软雅黑"/>
                <a:ea typeface="微软雅黑"/>
                <a:cs typeface="微软雅黑"/>
              </a:rPr>
              <a:t>结论</a:t>
            </a:r>
            <a:endParaRPr sz="1125" b="1">
              <a:solidFill>
                <a:srgbClr val="234CA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conclusion-16"/>
          <p:cNvSpPr>
            <a:spLocks noGrp="1"/>
          </p:cNvSpPr>
          <p:nvPr/>
        </p:nvSpPr>
        <p:spPr>
          <a:xfrm>
            <a:off x="1524000" y="5543550"/>
            <a:ext cx="98488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65% 的请求不少于 4K tokens，43% 不少于 8K；P99 为 54.3K，覆盖明显的长输入尾部。</a:t>
            </a:r>
            <a:endParaRPr sz="1125" b="0">
              <a:solidFill>
                <a:srgbClr val="22222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5" name="settings-16"/>
          <p:cNvSpPr>
            <a:spLocks noGrp="1"/>
          </p:cNvSpPr>
          <p:nvPr/>
        </p:nvSpPr>
        <p:spPr>
          <a:xfrm>
            <a:off x="609600" y="6019800"/>
            <a:ext cx="10668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8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构成：3 个 formal window，每组 512 请求；每个请求输出长度固定为 1 token</a:t>
            </a:r>
            <a:endParaRPr sz="825" b="0">
              <a:solidFill>
                <a:srgbClr val="66666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6" name="source-16"/>
          <p:cNvSpPr>
            <a:spLocks noGrp="1"/>
          </p:cNvSpPr>
          <p:nvPr/>
        </p:nvSpPr>
        <p:spPr>
          <a:xfrm>
            <a:off x="609600" y="6267450"/>
            <a:ext cx="8572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675" b="0">
                <a:solidFill>
                  <a:srgbClr val="898989"/>
                </a:solidFill>
                <a:latin typeface="微软雅黑"/>
                <a:ea typeface="微软雅黑"/>
                <a:cs typeface="微软雅黑"/>
              </a:defRPr>
            </a:pPr>
            <a:r>
              <a:rPr sz="675" b="0">
                <a:solidFill>
                  <a:srgbClr val="898989"/>
                </a:solidFill>
                <a:latin typeface="微软雅黑"/>
                <a:ea typeface="微软雅黑"/>
                <a:cs typeface="微软雅黑"/>
              </a:rPr>
              <a:t>来源：formal_0_1_2_vllm_bench.jsonl；输入长度与 Mooncake 参考序列一致</a:t>
            </a:r>
            <a:endParaRPr sz="675" b="0">
              <a:solidFill>
                <a:srgbClr val="89898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7" name="page-16"/>
          <p:cNvSpPr>
            <a:spLocks noGrp="1"/>
          </p:cNvSpPr>
          <p:nvPr/>
        </p:nvSpPr>
        <p:spPr>
          <a:xfrm>
            <a:off x="11315700" y="6553200"/>
            <a:ext cx="3429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600" b="0">
                <a:solidFill>
                  <a:srgbClr val="898989"/>
                </a:solidFill>
                <a:latin typeface="Calibri"/>
                <a:ea typeface="Calibri"/>
                <a:cs typeface="Calibri"/>
              </a:defRPr>
            </a:pPr>
            <a:r>
              <a:rPr sz="600" b="0">
                <a:solidFill>
                  <a:srgbClr val="898989"/>
                </a:solidFill>
                <a:latin typeface="Calibri"/>
                <a:ea typeface="Calibri"/>
                <a:cs typeface="Calibri"/>
              </a:rPr>
              <a:t>16</a:t>
            </a:r>
            <a:endParaRPr sz="600" b="0">
              <a:solidFill>
                <a:srgbClr val="898989"/>
              </a:solidFill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ection-20"/>
          <p:cNvSpPr>
            <a:spLocks noGrp="1"/>
          </p:cNvSpPr>
          <p:nvPr/>
        </p:nvSpPr>
        <p:spPr>
          <a:xfrm>
            <a:off x="609600" y="209550"/>
            <a:ext cx="2286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825" b="1">
                <a:solidFill>
                  <a:srgbClr val="898989"/>
                </a:solidFill>
                <a:latin typeface="Calibri"/>
                <a:ea typeface="Calibri"/>
                <a:cs typeface="Calibri"/>
              </a:defRPr>
            </a:pPr>
            <a:r>
              <a:rPr sz="825" b="1">
                <a:solidFill>
                  <a:srgbClr val="898989"/>
                </a:solidFill>
                <a:latin typeface="Calibri"/>
                <a:ea typeface="Calibri"/>
                <a:cs typeface="Calibri"/>
              </a:rPr>
              <a:t>ASYNC PREFILL RESULTS</a:t>
            </a:r>
            <a:endParaRPr sz="825" b="1">
              <a:solidFill>
                <a:srgbClr val="898989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" name="title-20"/>
          <p:cNvSpPr>
            <a:spLocks noGrp="1"/>
          </p:cNvSpPr>
          <p:nvPr/>
        </p:nvSpPr>
        <p:spPr>
          <a:xfrm>
            <a:off x="609600" y="419100"/>
            <a:ext cx="10668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buNone/>
              <a:defRPr sz="2175" b="1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AFD DP4TP2 与 EP16 DP4TP4 / DP8TP2：TTFT 对比（4K）</a:t>
            </a:r>
            <a:endParaRPr sz="2175" b="1">
              <a:solidFill>
                <a:srgbClr val="C000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title-rule-20"/>
          <p:cNvSpPr>
            <a:spLocks noGrp="1"/>
          </p:cNvSpPr>
          <p:nvPr/>
        </p:nvSpPr>
        <p:spPr>
          <a:xfrm>
            <a:off x="609600" y="914400"/>
            <a:ext cx="1428750" cy="28575"/>
          </a:xfrm>
          <a:prstGeom prst="rect">
            <a:avLst/>
          </a:prstGeom>
          <a:solidFill>
            <a:srgbClr val="C00000"/>
          </a:solidFill>
          <a:ln w="0">
            <a:solidFill>
              <a:srgbClr val="C00000"/>
            </a:solidFill>
            <a:prstDash val="solid"/>
          </a:ln>
        </p:spPr>
      </p:sp>
      <p:sp>
        <p:nvSpPr>
          <p:cNvPr id="4" name="metadata-bg-20"/>
          <p:cNvSpPr>
            <a:spLocks noGrp="1"/>
          </p:cNvSpPr>
          <p:nvPr/>
        </p:nvSpPr>
        <p:spPr>
          <a:xfrm>
            <a:off x="609600" y="1028700"/>
            <a:ext cx="10972800" cy="400050"/>
          </a:xfrm>
          <a:prstGeom prst="rect">
            <a:avLst/>
          </a:prstGeom>
          <a:solidFill>
            <a:srgbClr val="F5F5F5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5" name="model-20"/>
          <p:cNvSpPr>
            <a:spLocks noGrp="1"/>
          </p:cNvSpPr>
          <p:nvPr/>
        </p:nvSpPr>
        <p:spPr>
          <a:xfrm>
            <a:off x="800100" y="1095375"/>
            <a:ext cx="238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50" b="1">
                <a:solidFill>
                  <a:srgbClr val="234CA5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234CA5"/>
                </a:solidFill>
                <a:latin typeface="微软雅黑"/>
                <a:ea typeface="微软雅黑"/>
                <a:cs typeface="微软雅黑"/>
              </a:rPr>
              <a:t>模型：dsv4-flash</a:t>
            </a:r>
            <a:endParaRPr sz="1050" b="1">
              <a:solidFill>
                <a:srgbClr val="234CA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comparison-20"/>
          <p:cNvSpPr>
            <a:spLocks noGrp="1"/>
          </p:cNvSpPr>
          <p:nvPr/>
        </p:nvSpPr>
        <p:spPr>
          <a:xfrm>
            <a:off x="3476625" y="1095375"/>
            <a:ext cx="5619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buNone/>
              <a:defRPr sz="1125" b="0">
                <a:solidFill>
                  <a:srgbClr val="528A00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528A00"/>
                </a:solidFill>
                <a:latin typeface="微软雅黑"/>
                <a:ea typeface="微软雅黑"/>
                <a:cs typeface="微软雅黑"/>
              </a:rPr>
              <a:t>AFD DP4TP2 + EP8（64K）对比 EP16 两种布局（4K）</a:t>
            </a:r>
            <a:endParaRPr sz="1125" b="0">
              <a:solidFill>
                <a:srgbClr val="528A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hardware-20"/>
          <p:cNvSpPr>
            <a:spLocks noGrp="1"/>
          </p:cNvSpPr>
          <p:nvPr/>
        </p:nvSpPr>
        <p:spPr>
          <a:xfrm>
            <a:off x="9144000" y="1095375"/>
            <a:ext cx="2247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975" b="1">
                <a:solidFill>
                  <a:srgbClr val="F06A00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06A00"/>
                </a:solidFill>
                <a:latin typeface="微软雅黑"/>
                <a:ea typeface="微软雅黑"/>
                <a:cs typeface="微软雅黑"/>
              </a:rPr>
              <a:t>硬件：Ascend 910C</a:t>
            </a:r>
            <a:endParaRPr sz="975" b="1">
              <a:solidFill>
                <a:srgbClr val="F06A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chart-heading-20"/>
          <p:cNvSpPr>
            <a:spLocks noGrp="1"/>
          </p:cNvSpPr>
          <p:nvPr/>
        </p:nvSpPr>
        <p:spPr>
          <a:xfrm>
            <a:off x="609600" y="1466850"/>
            <a:ext cx="6191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buNone/>
              <a:defRPr sz="150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不同 RPS 下的 TTFT 分位点（秒）</a:t>
            </a:r>
            <a:endParaRPr sz="1500" b="1">
              <a:solidFill>
                <a:srgbClr val="22222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table-heading-20"/>
          <p:cNvSpPr>
            <a:spLocks noGrp="1"/>
          </p:cNvSpPr>
          <p:nvPr/>
        </p:nvSpPr>
        <p:spPr>
          <a:xfrm>
            <a:off x="7029450" y="1466850"/>
            <a:ext cx="45529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buNone/>
              <a:defRPr sz="150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TTFT 明细（秒）</a:t>
            </a:r>
            <a:endParaRPr sz="1500" b="1">
              <a:solidFill>
                <a:srgbClr val="22222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8" name="conclusion-20"/>
          <p:cNvSpPr>
            <a:spLocks noGrp="1"/>
          </p:cNvSpPr>
          <p:nvPr/>
        </p:nvSpPr>
        <p:spPr>
          <a:xfrm>
            <a:off x="609600" y="5514975"/>
            <a:ext cx="6191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>
              <a:buNone/>
              <a:defRPr sz="12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AFD P99（RPS 2/3/4）：6.98 / 11.06 / 20.28 秒</a:t>
            </a:r>
            <a:endParaRPr sz="1200" b="0">
              <a:solidFill>
                <a:srgbClr val="222222"/>
              </a:solidFill>
              <a:latin typeface="微软雅黑"/>
              <a:ea typeface="微软雅黑"/>
              <a:cs typeface="微软雅黑"/>
            </a:endParaRPr>
          </a:p>
          <a:p>
            <a:pPr>
              <a:buNone/>
              <a:defRPr sz="12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RPS=4：P99 最低为 DP8TP2（12.99 秒）</a:t>
            </a:r>
            <a:endParaRPr sz="1200" b="0">
              <a:solidFill>
                <a:srgbClr val="22222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9" name="settings-20"/>
          <p:cNvSpPr>
            <a:spLocks noGrp="1"/>
          </p:cNvSpPr>
          <p:nvPr/>
        </p:nvSpPr>
        <p:spPr>
          <a:xfrm>
            <a:off x="609600" y="6067425"/>
            <a:ext cx="10972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buNone/>
              <a:defRPr sz="8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AFD MBT=64K（本次），EP16 两种布局均为 MBT=4K。各取三轮分位数均值，红色粗体为同 RPS / 分位最小值。</a:t>
            </a:r>
            <a:endParaRPr sz="825" b="0">
              <a:solidFill>
                <a:srgbClr val="66666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0" name="source-20"/>
          <p:cNvSpPr>
            <a:spLocks noGrp="1"/>
          </p:cNvSpPr>
          <p:nvPr/>
        </p:nvSpPr>
        <p:spPr>
          <a:xfrm>
            <a:off x="609600" y="6305550"/>
            <a:ext cx="10972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buNone/>
              <a:defRPr sz="825" b="0">
                <a:solidFill>
                  <a:srgbClr val="777777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0">
                <a:solidFill>
                  <a:srgbClr val="777777"/>
                </a:solidFill>
                <a:latin typeface="微软雅黑"/>
                <a:ea typeface="微软雅黑"/>
                <a:cs typeface="微软雅黑"/>
              </a:rPr>
              <a:t>来源：AFD 为本次 20260908-rps234 批次，EP16 沿用上一版 2026-09-07/08 批次。跨批次、MBT 与节点比较。</a:t>
            </a:r>
            <a:endParaRPr sz="825" b="0">
              <a:solidFill>
                <a:srgbClr val="77777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1" name="page-20"/>
          <p:cNvSpPr>
            <a:spLocks noGrp="1"/>
          </p:cNvSpPr>
          <p:nvPr/>
        </p:nvSpPr>
        <p:spPr>
          <a:xfrm>
            <a:off x="11315700" y="6553200"/>
            <a:ext cx="3429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r">
              <a:buNone/>
              <a:defRPr sz="750" b="0">
                <a:solidFill>
                  <a:srgbClr val="777777"/>
                </a:solidFill>
                <a:latin typeface="微软雅黑"/>
                <a:ea typeface="微软雅黑"/>
                <a:cs typeface="微软雅黑"/>
              </a:defRPr>
            </a:pPr>
            <a:r>
              <a:rPr sz="750" b="0">
                <a:solidFill>
                  <a:srgbClr val="777777"/>
                </a:solidFill>
                <a:latin typeface="微软雅黑"/>
                <a:ea typeface="微软雅黑"/>
                <a:cs typeface="微软雅黑"/>
              </a:rPr>
              <a:t>1</a:t>
            </a:r>
            <a:endParaRPr sz="750" b="0">
              <a:solidFill>
                <a:srgbClr val="777777"/>
              </a:solidFill>
              <a:latin typeface="微软雅黑"/>
              <a:ea typeface="微软雅黑"/>
              <a:cs typeface="微软雅黑"/>
            </a:endParaRPr>
          </a:p>
        </p:txBody>
      </p:sp>
      <p:graphicFrame>
        <p:nvGraphicFramePr>
          <p:cNvPr id="50" name="Chart"/>
          <p:cNvGraphicFramePr/>
          <p:nvPr/>
        </p:nvGraphicFramePr>
        <p:xfrm>
          <a:off x="609600" y="1790700"/>
          <a:ext cx="1981200" cy="16859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51" name="Chart"/>
          <p:cNvGraphicFramePr/>
          <p:nvPr/>
        </p:nvGraphicFramePr>
        <p:xfrm>
          <a:off x="2705100" y="1790700"/>
          <a:ext cx="1981200" cy="16859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2" name="Chart"/>
          <p:cNvGraphicFramePr/>
          <p:nvPr/>
        </p:nvGraphicFramePr>
        <p:xfrm>
          <a:off x="4800600" y="1790700"/>
          <a:ext cx="1981200" cy="16859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3" name="Chart"/>
          <p:cNvGraphicFramePr/>
          <p:nvPr/>
        </p:nvGraphicFramePr>
        <p:xfrm>
          <a:off x="933450" y="3629025"/>
          <a:ext cx="2686050" cy="16668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54" name="Chart"/>
          <p:cNvGraphicFramePr/>
          <p:nvPr/>
        </p:nvGraphicFramePr>
        <p:xfrm>
          <a:off x="3790950" y="3629025"/>
          <a:ext cx="2686050" cy="16668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28" name="矩形 27"/>
          <p:cNvSpPr>
            <a:spLocks noGrp="1"/>
          </p:cNvSpPr>
          <p:nvPr/>
        </p:nvSpPr>
        <p:spPr>
          <a:xfrm>
            <a:off x="838200" y="5286375"/>
            <a:ext cx="180975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975" b="1">
                <a:solidFill>
                  <a:srgbClr val="F2A300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2A300"/>
                </a:solidFill>
                <a:latin typeface="微软雅黑"/>
                <a:ea typeface="微软雅黑"/>
                <a:cs typeface="微软雅黑"/>
              </a:rPr>
              <a:t>AFD 64K（本次）</a:t>
            </a:r>
            <a:endParaRPr sz="975" b="1">
              <a:solidFill>
                <a:srgbClr val="F2A3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2809875" y="5286375"/>
            <a:ext cx="1762125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975" b="1">
                <a:solidFill>
                  <a:srgbClr val="548235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548235"/>
                </a:solidFill>
                <a:latin typeface="微软雅黑"/>
                <a:ea typeface="微软雅黑"/>
                <a:cs typeface="微软雅黑"/>
              </a:rPr>
              <a:t>EP16 DP4TP4 4K</a:t>
            </a:r>
            <a:endParaRPr sz="975" b="1">
              <a:solidFill>
                <a:srgbClr val="54823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4667250" y="5286375"/>
            <a:ext cx="1762125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975" b="1">
                <a:solidFill>
                  <a:srgbClr val="4472C4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4472C4"/>
                </a:solidFill>
                <a:latin typeface="微软雅黑"/>
                <a:ea typeface="微软雅黑"/>
                <a:cs typeface="微软雅黑"/>
              </a:rPr>
              <a:t>EP16 DP8TP2 4K</a:t>
            </a:r>
            <a:endParaRPr sz="975" b="1">
              <a:solidFill>
                <a:srgbClr val="4472C4"/>
              </a:solidFill>
              <a:latin typeface="微软雅黑"/>
              <a:ea typeface="微软雅黑"/>
              <a:cs typeface="微软雅黑"/>
            </a:endParaRPr>
          </a:p>
        </p:txBody>
      </p:sp>
      <p:graphicFrame>
        <p:nvGraphicFramePr>
          <p:cNvPr id="58" name="表格 52"/>
          <p:cNvGraphicFramePr/>
          <p:nvPr/>
        </p:nvGraphicFramePr>
        <p:xfrm>
          <a:off x="7029450" y="1724025"/>
          <a:ext cx="4552950" cy="4133850"/>
        </p:xfrm>
        <a:graphic>
          <a:graphicData uri="http://schemas.openxmlformats.org/drawingml/2006/table">
            <a:tbl>
              <a:tblPr/>
              <a:tblGrid>
                <a:gridCol w="476250"/>
                <a:gridCol w="590550"/>
                <a:gridCol w="1162050"/>
                <a:gridCol w="1162050"/>
                <a:gridCol w="1162050"/>
              </a:tblGrid>
              <a:tr h="4191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65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RPS</a:t>
                      </a:r>
                      <a:endParaRPr sz="1165" b="1">
                        <a:solidFill>
                          <a:srgbClr val="111111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65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分位</a:t>
                      </a:r>
                      <a:endParaRPr sz="1165" b="1">
                        <a:solidFill>
                          <a:srgbClr val="111111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65" b="1">
                          <a:solidFill>
                            <a:srgbClr val="F2A3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AFD</a:t>
                      </a:r>
                      <a:endParaRPr sz="1165" b="1">
                        <a:solidFill>
                          <a:srgbClr val="F2A3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  <a:p>
                      <a:pPr algn="ctr">
                        <a:buNone/>
                      </a:pPr>
                      <a:r>
                        <a:rPr sz="1165" b="1">
                          <a:solidFill>
                            <a:srgbClr val="F2A3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64K</a:t>
                      </a:r>
                      <a:endParaRPr sz="1165" b="1">
                        <a:solidFill>
                          <a:srgbClr val="F2A3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65" b="1">
                          <a:solidFill>
                            <a:srgbClr val="54823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DP4TP4</a:t>
                      </a:r>
                      <a:endParaRPr sz="1165" b="1">
                        <a:solidFill>
                          <a:srgbClr val="548235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  <a:p>
                      <a:pPr algn="ctr">
                        <a:buNone/>
                      </a:pPr>
                      <a:r>
                        <a:rPr sz="1165" b="1">
                          <a:solidFill>
                            <a:srgbClr val="54823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4K</a:t>
                      </a:r>
                      <a:endParaRPr sz="1165" b="1">
                        <a:solidFill>
                          <a:srgbClr val="548235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65" b="1">
                          <a:solidFill>
                            <a:srgbClr val="4472C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DP8TP2</a:t>
                      </a:r>
                      <a:endParaRPr sz="1165" b="1">
                        <a:solidFill>
                          <a:srgbClr val="4472C4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  <a:p>
                      <a:pPr algn="ctr">
                        <a:buNone/>
                      </a:pPr>
                      <a:r>
                        <a:rPr sz="1165" b="1">
                          <a:solidFill>
                            <a:srgbClr val="4472C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4K</a:t>
                      </a:r>
                      <a:endParaRPr sz="1165" b="1">
                        <a:solidFill>
                          <a:srgbClr val="4472C4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E7E6E6"/>
                    </a:solidFill>
                  </a:tcPr>
                </a:tc>
              </a:tr>
              <a:tr h="247650">
                <a:tc rowSpan="5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</a:t>
                      </a:r>
                      <a:endParaRPr sz="1275" b="1">
                        <a:solidFill>
                          <a:srgbClr val="111111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P25</a:t>
                      </a:r>
                      <a:endParaRPr sz="1275" b="1">
                        <a:solidFill>
                          <a:srgbClr val="111111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0.65</a:t>
                      </a:r>
                      <a:endParaRPr sz="1275" b="1">
                        <a:solidFill>
                          <a:srgbClr val="C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1.11</a:t>
                      </a:r>
                      <a:endParaRPr sz="1275" b="0">
                        <a:solidFill>
                          <a:srgbClr val="111111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1.23</a:t>
                      </a:r>
                      <a:endParaRPr sz="1275" b="0">
                        <a:solidFill>
                          <a:srgbClr val="111111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</a:tr>
              <a:tr h="247650">
                <a:tc vMerge="1"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P50</a:t>
                      </a:r>
                      <a:endParaRPr sz="1275" b="1">
                        <a:solidFill>
                          <a:srgbClr val="111111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1.11</a:t>
                      </a:r>
                      <a:endParaRPr sz="1275" b="1">
                        <a:solidFill>
                          <a:srgbClr val="C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1.82</a:t>
                      </a:r>
                      <a:endParaRPr sz="1275" b="0">
                        <a:solidFill>
                          <a:srgbClr val="111111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1.98</a:t>
                      </a:r>
                      <a:endParaRPr sz="1275" b="0">
                        <a:solidFill>
                          <a:srgbClr val="111111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</a:tr>
              <a:tr h="247650">
                <a:tc vMerge="1"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P90</a:t>
                      </a:r>
                      <a:endParaRPr sz="1275" b="1">
                        <a:solidFill>
                          <a:srgbClr val="111111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3.44</a:t>
                      </a:r>
                      <a:endParaRPr sz="1275" b="1">
                        <a:solidFill>
                          <a:srgbClr val="C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4.63</a:t>
                      </a:r>
                      <a:endParaRPr sz="1275" b="0">
                        <a:solidFill>
                          <a:srgbClr val="111111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5.12</a:t>
                      </a:r>
                      <a:endParaRPr sz="1275" b="0">
                        <a:solidFill>
                          <a:srgbClr val="111111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</a:tr>
              <a:tr h="247650">
                <a:tc vMerge="1"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P95</a:t>
                      </a:r>
                      <a:endParaRPr sz="1275" b="1">
                        <a:solidFill>
                          <a:srgbClr val="111111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4.80</a:t>
                      </a:r>
                      <a:endParaRPr sz="1275" b="1">
                        <a:solidFill>
                          <a:srgbClr val="C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6.01</a:t>
                      </a:r>
                      <a:endParaRPr sz="1275" b="0">
                        <a:solidFill>
                          <a:srgbClr val="111111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6.48</a:t>
                      </a:r>
                      <a:endParaRPr sz="1275" b="0">
                        <a:solidFill>
                          <a:srgbClr val="111111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</a:tr>
              <a:tr h="247650">
                <a:tc vMerge="1"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P99</a:t>
                      </a:r>
                      <a:endParaRPr sz="1275" b="1">
                        <a:solidFill>
                          <a:srgbClr val="111111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6.98</a:t>
                      </a:r>
                      <a:endParaRPr sz="1275" b="1">
                        <a:solidFill>
                          <a:srgbClr val="C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8.30</a:t>
                      </a:r>
                      <a:endParaRPr sz="1275" b="0">
                        <a:solidFill>
                          <a:srgbClr val="111111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10.24</a:t>
                      </a:r>
                      <a:endParaRPr sz="1275" b="0">
                        <a:solidFill>
                          <a:srgbClr val="111111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</a:tr>
              <a:tr h="247650">
                <a:tc rowSpan="5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</a:t>
                      </a:r>
                      <a:endParaRPr sz="1275" b="1">
                        <a:solidFill>
                          <a:srgbClr val="111111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P25</a:t>
                      </a:r>
                      <a:endParaRPr sz="1275" b="1">
                        <a:solidFill>
                          <a:srgbClr val="111111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1.02</a:t>
                      </a:r>
                      <a:endParaRPr sz="1275" b="1">
                        <a:solidFill>
                          <a:srgbClr val="C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1.84</a:t>
                      </a:r>
                      <a:endParaRPr sz="1275" b="0">
                        <a:solidFill>
                          <a:srgbClr val="111111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1.60</a:t>
                      </a:r>
                      <a:endParaRPr sz="1275" b="0">
                        <a:solidFill>
                          <a:srgbClr val="111111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</a:tr>
              <a:tr h="247650">
                <a:tc vMerge="1"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P50</a:t>
                      </a:r>
                      <a:endParaRPr sz="1275" b="1">
                        <a:solidFill>
                          <a:srgbClr val="111111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1.97</a:t>
                      </a:r>
                      <a:endParaRPr sz="1275" b="1">
                        <a:solidFill>
                          <a:srgbClr val="C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3.19</a:t>
                      </a:r>
                      <a:endParaRPr sz="1275" b="0">
                        <a:solidFill>
                          <a:srgbClr val="111111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2.53</a:t>
                      </a:r>
                      <a:endParaRPr sz="1275" b="0">
                        <a:solidFill>
                          <a:srgbClr val="111111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</a:tr>
              <a:tr h="247650">
                <a:tc vMerge="1"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P90</a:t>
                      </a:r>
                      <a:endParaRPr sz="1275" b="1">
                        <a:solidFill>
                          <a:srgbClr val="111111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6.58</a:t>
                      </a:r>
                      <a:endParaRPr sz="1275" b="0">
                        <a:solidFill>
                          <a:srgbClr val="111111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7.62</a:t>
                      </a:r>
                      <a:endParaRPr sz="1275" b="0">
                        <a:solidFill>
                          <a:srgbClr val="111111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6.21</a:t>
                      </a:r>
                      <a:endParaRPr sz="1275" b="1">
                        <a:solidFill>
                          <a:srgbClr val="C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</a:tr>
              <a:tr h="247650">
                <a:tc vMerge="1"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P95</a:t>
                      </a:r>
                      <a:endParaRPr sz="1275" b="1">
                        <a:solidFill>
                          <a:srgbClr val="111111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8.42</a:t>
                      </a:r>
                      <a:endParaRPr sz="1275" b="0">
                        <a:solidFill>
                          <a:srgbClr val="111111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9.20</a:t>
                      </a:r>
                      <a:endParaRPr sz="1275" b="0">
                        <a:solidFill>
                          <a:srgbClr val="111111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8.02</a:t>
                      </a:r>
                      <a:endParaRPr sz="1275" b="1">
                        <a:solidFill>
                          <a:srgbClr val="C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</a:tr>
              <a:tr h="247650">
                <a:tc vMerge="1"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P99</a:t>
                      </a:r>
                      <a:endParaRPr sz="1275" b="1">
                        <a:solidFill>
                          <a:srgbClr val="111111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11.06</a:t>
                      </a:r>
                      <a:endParaRPr sz="1275" b="1">
                        <a:solidFill>
                          <a:srgbClr val="C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12.91</a:t>
                      </a:r>
                      <a:endParaRPr sz="1275" b="0">
                        <a:solidFill>
                          <a:srgbClr val="111111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11.16</a:t>
                      </a:r>
                      <a:endParaRPr sz="1275" b="0">
                        <a:solidFill>
                          <a:srgbClr val="111111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</a:tr>
              <a:tr h="247650">
                <a:tc rowSpan="5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</a:t>
                      </a:r>
                      <a:endParaRPr sz="1275" b="1">
                        <a:solidFill>
                          <a:srgbClr val="111111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P25</a:t>
                      </a:r>
                      <a:endParaRPr sz="1275" b="1">
                        <a:solidFill>
                          <a:srgbClr val="111111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4.81</a:t>
                      </a:r>
                      <a:endParaRPr sz="1275" b="0">
                        <a:solidFill>
                          <a:srgbClr val="111111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22.17</a:t>
                      </a:r>
                      <a:endParaRPr sz="1275" b="0">
                        <a:solidFill>
                          <a:srgbClr val="111111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2.17</a:t>
                      </a:r>
                      <a:endParaRPr sz="1275" b="1">
                        <a:solidFill>
                          <a:srgbClr val="C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</a:tr>
              <a:tr h="247650">
                <a:tc vMerge="1"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P50</a:t>
                      </a:r>
                      <a:endParaRPr sz="1275" b="1">
                        <a:solidFill>
                          <a:srgbClr val="111111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8.41</a:t>
                      </a:r>
                      <a:endParaRPr sz="1275" b="0">
                        <a:solidFill>
                          <a:srgbClr val="111111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30.07</a:t>
                      </a:r>
                      <a:endParaRPr sz="1275" b="0">
                        <a:solidFill>
                          <a:srgbClr val="111111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3.49</a:t>
                      </a:r>
                      <a:endParaRPr sz="1275" b="1">
                        <a:solidFill>
                          <a:srgbClr val="C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</a:tr>
              <a:tr h="247650">
                <a:tc vMerge="1"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P90</a:t>
                      </a:r>
                      <a:endParaRPr sz="1275" b="1">
                        <a:solidFill>
                          <a:srgbClr val="111111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14.76</a:t>
                      </a:r>
                      <a:endParaRPr sz="1275" b="0">
                        <a:solidFill>
                          <a:srgbClr val="111111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47.34</a:t>
                      </a:r>
                      <a:endParaRPr sz="1275" b="0">
                        <a:solidFill>
                          <a:srgbClr val="111111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8.14</a:t>
                      </a:r>
                      <a:endParaRPr sz="1275" b="1">
                        <a:solidFill>
                          <a:srgbClr val="C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</a:tr>
              <a:tr h="247650">
                <a:tc vMerge="1"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P95</a:t>
                      </a:r>
                      <a:endParaRPr sz="1275" b="1">
                        <a:solidFill>
                          <a:srgbClr val="111111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16.80</a:t>
                      </a:r>
                      <a:endParaRPr sz="1275" b="0">
                        <a:solidFill>
                          <a:srgbClr val="111111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51.25</a:t>
                      </a:r>
                      <a:endParaRPr sz="1275" b="0">
                        <a:solidFill>
                          <a:srgbClr val="111111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10.19</a:t>
                      </a:r>
                      <a:endParaRPr sz="1275" b="1">
                        <a:solidFill>
                          <a:srgbClr val="C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</a:tr>
              <a:tr h="247650">
                <a:tc vMerge="1"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P99</a:t>
                      </a:r>
                      <a:endParaRPr sz="1275" b="1">
                        <a:solidFill>
                          <a:srgbClr val="111111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20.28</a:t>
                      </a:r>
                      <a:endParaRPr sz="1275" b="0">
                        <a:solidFill>
                          <a:srgbClr val="111111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56.95</a:t>
                      </a:r>
                      <a:endParaRPr sz="1275" b="0">
                        <a:solidFill>
                          <a:srgbClr val="111111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12.99</a:t>
                      </a:r>
                      <a:endParaRPr sz="1275" b="1">
                        <a:solidFill>
                          <a:srgbClr val="C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ection-20"/>
          <p:cNvSpPr>
            <a:spLocks noGrp="1"/>
          </p:cNvSpPr>
          <p:nvPr/>
        </p:nvSpPr>
        <p:spPr>
          <a:xfrm>
            <a:off x="609600" y="209550"/>
            <a:ext cx="2286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825" b="1">
                <a:solidFill>
                  <a:srgbClr val="898989"/>
                </a:solidFill>
                <a:latin typeface="Calibri"/>
                <a:ea typeface="Calibri"/>
                <a:cs typeface="Calibri"/>
              </a:defRPr>
            </a:pPr>
            <a:r>
              <a:rPr sz="825" b="1">
                <a:solidFill>
                  <a:srgbClr val="898989"/>
                </a:solidFill>
                <a:latin typeface="Calibri"/>
                <a:ea typeface="Calibri"/>
                <a:cs typeface="Calibri"/>
              </a:rPr>
              <a:t>ASYNC PREFILL RESULTS</a:t>
            </a:r>
            <a:endParaRPr sz="825" b="1">
              <a:solidFill>
                <a:srgbClr val="898989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" name="title-20"/>
          <p:cNvSpPr>
            <a:spLocks noGrp="1"/>
          </p:cNvSpPr>
          <p:nvPr/>
        </p:nvSpPr>
        <p:spPr>
          <a:xfrm>
            <a:off x="609600" y="419100"/>
            <a:ext cx="10668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buNone/>
              <a:defRPr sz="2175" b="1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AFD DP4TP2 与 EP16 DP4TP4 / DP8TP2：TTFT 对比（8K）</a:t>
            </a:r>
            <a:endParaRPr sz="2175" b="1">
              <a:solidFill>
                <a:srgbClr val="C000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title-rule-20"/>
          <p:cNvSpPr>
            <a:spLocks noGrp="1"/>
          </p:cNvSpPr>
          <p:nvPr/>
        </p:nvSpPr>
        <p:spPr>
          <a:xfrm>
            <a:off x="609600" y="914400"/>
            <a:ext cx="1428750" cy="28575"/>
          </a:xfrm>
          <a:prstGeom prst="rect">
            <a:avLst/>
          </a:prstGeom>
          <a:solidFill>
            <a:srgbClr val="C00000"/>
          </a:solidFill>
          <a:ln w="0">
            <a:solidFill>
              <a:srgbClr val="C00000"/>
            </a:solidFill>
            <a:prstDash val="solid"/>
          </a:ln>
        </p:spPr>
      </p:sp>
      <p:sp>
        <p:nvSpPr>
          <p:cNvPr id="4" name="metadata-bg-20"/>
          <p:cNvSpPr>
            <a:spLocks noGrp="1"/>
          </p:cNvSpPr>
          <p:nvPr/>
        </p:nvSpPr>
        <p:spPr>
          <a:xfrm>
            <a:off x="609600" y="1028700"/>
            <a:ext cx="10972800" cy="400050"/>
          </a:xfrm>
          <a:prstGeom prst="rect">
            <a:avLst/>
          </a:prstGeom>
          <a:solidFill>
            <a:srgbClr val="F5F5F5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5" name="model-20"/>
          <p:cNvSpPr>
            <a:spLocks noGrp="1"/>
          </p:cNvSpPr>
          <p:nvPr/>
        </p:nvSpPr>
        <p:spPr>
          <a:xfrm>
            <a:off x="800100" y="1095375"/>
            <a:ext cx="238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50" b="1">
                <a:solidFill>
                  <a:srgbClr val="234CA5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234CA5"/>
                </a:solidFill>
                <a:latin typeface="微软雅黑"/>
                <a:ea typeface="微软雅黑"/>
                <a:cs typeface="微软雅黑"/>
              </a:rPr>
              <a:t>模型：dsv4-flash</a:t>
            </a:r>
            <a:endParaRPr sz="1050" b="1">
              <a:solidFill>
                <a:srgbClr val="234CA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comparison-20"/>
          <p:cNvSpPr>
            <a:spLocks noGrp="1"/>
          </p:cNvSpPr>
          <p:nvPr/>
        </p:nvSpPr>
        <p:spPr>
          <a:xfrm>
            <a:off x="3476625" y="1095375"/>
            <a:ext cx="5619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buNone/>
              <a:defRPr sz="1125" b="0">
                <a:solidFill>
                  <a:srgbClr val="528A00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528A00"/>
                </a:solidFill>
                <a:latin typeface="微软雅黑"/>
                <a:ea typeface="微软雅黑"/>
                <a:cs typeface="微软雅黑"/>
              </a:rPr>
              <a:t>AFD DP4TP2 + EP8（64K）对比 EP16 两种布局（8K）</a:t>
            </a:r>
            <a:endParaRPr sz="1125" b="0">
              <a:solidFill>
                <a:srgbClr val="528A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hardware-20"/>
          <p:cNvSpPr>
            <a:spLocks noGrp="1"/>
          </p:cNvSpPr>
          <p:nvPr/>
        </p:nvSpPr>
        <p:spPr>
          <a:xfrm>
            <a:off x="9144000" y="1095375"/>
            <a:ext cx="2247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975" b="1">
                <a:solidFill>
                  <a:srgbClr val="F06A00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06A00"/>
                </a:solidFill>
                <a:latin typeface="微软雅黑"/>
                <a:ea typeface="微软雅黑"/>
                <a:cs typeface="微软雅黑"/>
              </a:rPr>
              <a:t>硬件：Ascend 910C</a:t>
            </a:r>
            <a:endParaRPr sz="975" b="1">
              <a:solidFill>
                <a:srgbClr val="F06A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chart-heading-20"/>
          <p:cNvSpPr>
            <a:spLocks noGrp="1"/>
          </p:cNvSpPr>
          <p:nvPr/>
        </p:nvSpPr>
        <p:spPr>
          <a:xfrm>
            <a:off x="609600" y="1466850"/>
            <a:ext cx="6191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buNone/>
              <a:defRPr sz="150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不同 RPS 下的 TTFT 分位点（秒）</a:t>
            </a:r>
            <a:endParaRPr sz="1500" b="1">
              <a:solidFill>
                <a:srgbClr val="22222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table-heading-20"/>
          <p:cNvSpPr>
            <a:spLocks noGrp="1"/>
          </p:cNvSpPr>
          <p:nvPr/>
        </p:nvSpPr>
        <p:spPr>
          <a:xfrm>
            <a:off x="7029450" y="1466850"/>
            <a:ext cx="45529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buNone/>
              <a:defRPr sz="150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TTFT 明细（秒）</a:t>
            </a:r>
            <a:endParaRPr sz="1500" b="1">
              <a:solidFill>
                <a:srgbClr val="22222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8" name="conclusion-20"/>
          <p:cNvSpPr>
            <a:spLocks noGrp="1"/>
          </p:cNvSpPr>
          <p:nvPr/>
        </p:nvSpPr>
        <p:spPr>
          <a:xfrm>
            <a:off x="609600" y="5514975"/>
            <a:ext cx="6191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>
              <a:buNone/>
              <a:defRPr sz="12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AFD P99（RPS 2/3/4）：6.98 / 11.06 / 20.28 秒</a:t>
            </a:r>
            <a:endParaRPr sz="1200" b="0">
              <a:solidFill>
                <a:srgbClr val="222222"/>
              </a:solidFill>
              <a:latin typeface="微软雅黑"/>
              <a:ea typeface="微软雅黑"/>
              <a:cs typeface="微软雅黑"/>
            </a:endParaRPr>
          </a:p>
          <a:p>
            <a:pPr>
              <a:buNone/>
              <a:defRPr sz="12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RPS=4：P99 最低为 DP8TP2（15.90 秒）</a:t>
            </a:r>
            <a:endParaRPr sz="1200" b="0">
              <a:solidFill>
                <a:srgbClr val="22222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9" name="settings-20"/>
          <p:cNvSpPr>
            <a:spLocks noGrp="1"/>
          </p:cNvSpPr>
          <p:nvPr/>
        </p:nvSpPr>
        <p:spPr>
          <a:xfrm>
            <a:off x="609600" y="6067425"/>
            <a:ext cx="10972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buNone/>
              <a:defRPr sz="8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AFD MBT=64K（本次），EP16 两种布局均为 MBT=8K。各取三轮分位数均值，红色粗体为同 RPS / 分位最小值。</a:t>
            </a:r>
            <a:endParaRPr sz="825" b="0">
              <a:solidFill>
                <a:srgbClr val="66666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0" name="source-20"/>
          <p:cNvSpPr>
            <a:spLocks noGrp="1"/>
          </p:cNvSpPr>
          <p:nvPr/>
        </p:nvSpPr>
        <p:spPr>
          <a:xfrm>
            <a:off x="609600" y="6305550"/>
            <a:ext cx="10972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buNone/>
              <a:defRPr sz="825" b="0">
                <a:solidFill>
                  <a:srgbClr val="777777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0">
                <a:solidFill>
                  <a:srgbClr val="777777"/>
                </a:solidFill>
                <a:latin typeface="微软雅黑"/>
                <a:ea typeface="微软雅黑"/>
                <a:cs typeface="微软雅黑"/>
              </a:rPr>
              <a:t>来源：AFD 为本次 20260908-rps234 批次，EP16 沿用上一版 2026-09-07/08 批次。跨批次、MBT 与节点比较。</a:t>
            </a:r>
            <a:endParaRPr sz="825" b="0">
              <a:solidFill>
                <a:srgbClr val="77777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1" name="page-20"/>
          <p:cNvSpPr>
            <a:spLocks noGrp="1"/>
          </p:cNvSpPr>
          <p:nvPr/>
        </p:nvSpPr>
        <p:spPr>
          <a:xfrm>
            <a:off x="11315700" y="6553200"/>
            <a:ext cx="3429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r">
              <a:buNone/>
              <a:defRPr sz="750" b="0">
                <a:solidFill>
                  <a:srgbClr val="777777"/>
                </a:solidFill>
                <a:latin typeface="微软雅黑"/>
                <a:ea typeface="微软雅黑"/>
                <a:cs typeface="微软雅黑"/>
              </a:defRPr>
            </a:pPr>
            <a:r>
              <a:rPr sz="750" b="0">
                <a:solidFill>
                  <a:srgbClr val="777777"/>
                </a:solidFill>
                <a:latin typeface="微软雅黑"/>
                <a:ea typeface="微软雅黑"/>
                <a:cs typeface="微软雅黑"/>
              </a:rPr>
              <a:t>2</a:t>
            </a:r>
            <a:endParaRPr sz="750" b="0">
              <a:solidFill>
                <a:srgbClr val="777777"/>
              </a:solidFill>
              <a:latin typeface="微软雅黑"/>
              <a:ea typeface="微软雅黑"/>
              <a:cs typeface="微软雅黑"/>
            </a:endParaRPr>
          </a:p>
        </p:txBody>
      </p:sp>
      <p:graphicFrame>
        <p:nvGraphicFramePr>
          <p:cNvPr id="50" name="Chart"/>
          <p:cNvGraphicFramePr/>
          <p:nvPr/>
        </p:nvGraphicFramePr>
        <p:xfrm>
          <a:off x="609600" y="1790700"/>
          <a:ext cx="1981200" cy="16859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51" name="Chart"/>
          <p:cNvGraphicFramePr/>
          <p:nvPr/>
        </p:nvGraphicFramePr>
        <p:xfrm>
          <a:off x="2705100" y="1790700"/>
          <a:ext cx="1981200" cy="16859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2" name="Chart"/>
          <p:cNvGraphicFramePr/>
          <p:nvPr/>
        </p:nvGraphicFramePr>
        <p:xfrm>
          <a:off x="4800600" y="1790700"/>
          <a:ext cx="1981200" cy="16859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3" name="Chart"/>
          <p:cNvGraphicFramePr/>
          <p:nvPr/>
        </p:nvGraphicFramePr>
        <p:xfrm>
          <a:off x="933450" y="3629025"/>
          <a:ext cx="2686050" cy="16668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54" name="Chart"/>
          <p:cNvGraphicFramePr/>
          <p:nvPr/>
        </p:nvGraphicFramePr>
        <p:xfrm>
          <a:off x="3790950" y="3629025"/>
          <a:ext cx="2686050" cy="16668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28" name="矩形 27"/>
          <p:cNvSpPr>
            <a:spLocks noGrp="1"/>
          </p:cNvSpPr>
          <p:nvPr/>
        </p:nvSpPr>
        <p:spPr>
          <a:xfrm>
            <a:off x="838200" y="5286375"/>
            <a:ext cx="180975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975" b="1">
                <a:solidFill>
                  <a:srgbClr val="F2A300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2A300"/>
                </a:solidFill>
                <a:latin typeface="微软雅黑"/>
                <a:ea typeface="微软雅黑"/>
                <a:cs typeface="微软雅黑"/>
              </a:rPr>
              <a:t>AFD 64K（本次）</a:t>
            </a:r>
            <a:endParaRPr sz="975" b="1">
              <a:solidFill>
                <a:srgbClr val="F2A3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2809875" y="5286375"/>
            <a:ext cx="1762125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975" b="1">
                <a:solidFill>
                  <a:srgbClr val="548235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548235"/>
                </a:solidFill>
                <a:latin typeface="微软雅黑"/>
                <a:ea typeface="微软雅黑"/>
                <a:cs typeface="微软雅黑"/>
              </a:rPr>
              <a:t>EP16 DP4TP4 8K</a:t>
            </a:r>
            <a:endParaRPr sz="975" b="1">
              <a:solidFill>
                <a:srgbClr val="54823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4667250" y="5286375"/>
            <a:ext cx="1762125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975" b="1">
                <a:solidFill>
                  <a:srgbClr val="4472C4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4472C4"/>
                </a:solidFill>
                <a:latin typeface="微软雅黑"/>
                <a:ea typeface="微软雅黑"/>
                <a:cs typeface="微软雅黑"/>
              </a:rPr>
              <a:t>EP16 DP8TP2 8K</a:t>
            </a:r>
            <a:endParaRPr sz="975" b="1">
              <a:solidFill>
                <a:srgbClr val="4472C4"/>
              </a:solidFill>
              <a:latin typeface="微软雅黑"/>
              <a:ea typeface="微软雅黑"/>
              <a:cs typeface="微软雅黑"/>
            </a:endParaRPr>
          </a:p>
        </p:txBody>
      </p:sp>
      <p:graphicFrame>
        <p:nvGraphicFramePr>
          <p:cNvPr id="58" name="表格 52"/>
          <p:cNvGraphicFramePr/>
          <p:nvPr/>
        </p:nvGraphicFramePr>
        <p:xfrm>
          <a:off x="7029450" y="1724025"/>
          <a:ext cx="4552950" cy="4133850"/>
        </p:xfrm>
        <a:graphic>
          <a:graphicData uri="http://schemas.openxmlformats.org/drawingml/2006/table">
            <a:tbl>
              <a:tblPr/>
              <a:tblGrid>
                <a:gridCol w="476250"/>
                <a:gridCol w="590550"/>
                <a:gridCol w="1162050"/>
                <a:gridCol w="1162050"/>
                <a:gridCol w="1162050"/>
              </a:tblGrid>
              <a:tr h="4191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65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RPS</a:t>
                      </a:r>
                      <a:endParaRPr sz="1165" b="1">
                        <a:solidFill>
                          <a:srgbClr val="111111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65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分位</a:t>
                      </a:r>
                      <a:endParaRPr sz="1165" b="1">
                        <a:solidFill>
                          <a:srgbClr val="111111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65" b="1">
                          <a:solidFill>
                            <a:srgbClr val="F2A3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AFD</a:t>
                      </a:r>
                      <a:endParaRPr sz="1165" b="1">
                        <a:solidFill>
                          <a:srgbClr val="F2A3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  <a:p>
                      <a:pPr algn="ctr">
                        <a:buNone/>
                      </a:pPr>
                      <a:r>
                        <a:rPr sz="1165" b="1">
                          <a:solidFill>
                            <a:srgbClr val="F2A3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64K</a:t>
                      </a:r>
                      <a:endParaRPr sz="1165" b="1">
                        <a:solidFill>
                          <a:srgbClr val="F2A3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65" b="1">
                          <a:solidFill>
                            <a:srgbClr val="54823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DP4TP4</a:t>
                      </a:r>
                      <a:endParaRPr sz="1165" b="1">
                        <a:solidFill>
                          <a:srgbClr val="548235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  <a:p>
                      <a:pPr algn="ctr">
                        <a:buNone/>
                      </a:pPr>
                      <a:r>
                        <a:rPr sz="1165" b="1">
                          <a:solidFill>
                            <a:srgbClr val="54823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8K</a:t>
                      </a:r>
                      <a:endParaRPr sz="1165" b="1">
                        <a:solidFill>
                          <a:srgbClr val="548235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65" b="1">
                          <a:solidFill>
                            <a:srgbClr val="4472C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DP8TP2</a:t>
                      </a:r>
                      <a:endParaRPr sz="1165" b="1">
                        <a:solidFill>
                          <a:srgbClr val="4472C4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  <a:p>
                      <a:pPr algn="ctr">
                        <a:buNone/>
                      </a:pPr>
                      <a:r>
                        <a:rPr sz="1165" b="1">
                          <a:solidFill>
                            <a:srgbClr val="4472C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8K</a:t>
                      </a:r>
                      <a:endParaRPr sz="1165" b="1">
                        <a:solidFill>
                          <a:srgbClr val="4472C4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E7E6E6"/>
                    </a:solidFill>
                  </a:tcPr>
                </a:tc>
              </a:tr>
              <a:tr h="247650">
                <a:tc rowSpan="5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</a:t>
                      </a:r>
                      <a:endParaRPr sz="1275" b="1">
                        <a:solidFill>
                          <a:srgbClr val="111111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P25</a:t>
                      </a:r>
                      <a:endParaRPr sz="1275" b="1">
                        <a:solidFill>
                          <a:srgbClr val="111111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0.65</a:t>
                      </a:r>
                      <a:endParaRPr sz="1275" b="1">
                        <a:solidFill>
                          <a:srgbClr val="C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1.79</a:t>
                      </a:r>
                      <a:endParaRPr sz="1275" b="0">
                        <a:solidFill>
                          <a:srgbClr val="111111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2.29</a:t>
                      </a:r>
                      <a:endParaRPr sz="1275" b="0">
                        <a:solidFill>
                          <a:srgbClr val="111111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</a:tr>
              <a:tr h="247650">
                <a:tc vMerge="1"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P50</a:t>
                      </a:r>
                      <a:endParaRPr sz="1275" b="1">
                        <a:solidFill>
                          <a:srgbClr val="111111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1.11</a:t>
                      </a:r>
                      <a:endParaRPr sz="1275" b="1">
                        <a:solidFill>
                          <a:srgbClr val="C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2.57</a:t>
                      </a:r>
                      <a:endParaRPr sz="1275" b="0">
                        <a:solidFill>
                          <a:srgbClr val="111111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3.25</a:t>
                      </a:r>
                      <a:endParaRPr sz="1275" b="0">
                        <a:solidFill>
                          <a:srgbClr val="111111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</a:tr>
              <a:tr h="247650">
                <a:tc vMerge="1"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P90</a:t>
                      </a:r>
                      <a:endParaRPr sz="1275" b="1">
                        <a:solidFill>
                          <a:srgbClr val="111111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3.44</a:t>
                      </a:r>
                      <a:endParaRPr sz="1275" b="1">
                        <a:solidFill>
                          <a:srgbClr val="C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5.29</a:t>
                      </a:r>
                      <a:endParaRPr sz="1275" b="0">
                        <a:solidFill>
                          <a:srgbClr val="111111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6.66</a:t>
                      </a:r>
                      <a:endParaRPr sz="1275" b="0">
                        <a:solidFill>
                          <a:srgbClr val="111111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</a:tr>
              <a:tr h="247650">
                <a:tc vMerge="1"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P95</a:t>
                      </a:r>
                      <a:endParaRPr sz="1275" b="1">
                        <a:solidFill>
                          <a:srgbClr val="111111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4.80</a:t>
                      </a:r>
                      <a:endParaRPr sz="1275" b="1">
                        <a:solidFill>
                          <a:srgbClr val="C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6.62</a:t>
                      </a:r>
                      <a:endParaRPr sz="1275" b="0">
                        <a:solidFill>
                          <a:srgbClr val="111111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8.25</a:t>
                      </a:r>
                      <a:endParaRPr sz="1275" b="0">
                        <a:solidFill>
                          <a:srgbClr val="111111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</a:tr>
              <a:tr h="247650">
                <a:tc vMerge="1"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P99</a:t>
                      </a:r>
                      <a:endParaRPr sz="1275" b="1">
                        <a:solidFill>
                          <a:srgbClr val="111111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6.98</a:t>
                      </a:r>
                      <a:endParaRPr sz="1275" b="1">
                        <a:solidFill>
                          <a:srgbClr val="C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8.89</a:t>
                      </a:r>
                      <a:endParaRPr sz="1275" b="0">
                        <a:solidFill>
                          <a:srgbClr val="111111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11.98</a:t>
                      </a:r>
                      <a:endParaRPr sz="1275" b="0">
                        <a:solidFill>
                          <a:srgbClr val="111111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</a:tr>
              <a:tr h="247650">
                <a:tc rowSpan="5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</a:t>
                      </a:r>
                      <a:endParaRPr sz="1275" b="1">
                        <a:solidFill>
                          <a:srgbClr val="111111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P25</a:t>
                      </a:r>
                      <a:endParaRPr sz="1275" b="1">
                        <a:solidFill>
                          <a:srgbClr val="111111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1.02</a:t>
                      </a:r>
                      <a:endParaRPr sz="1275" b="1">
                        <a:solidFill>
                          <a:srgbClr val="C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2.58</a:t>
                      </a:r>
                      <a:endParaRPr sz="1275" b="0">
                        <a:solidFill>
                          <a:srgbClr val="111111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3.12</a:t>
                      </a:r>
                      <a:endParaRPr sz="1275" b="0">
                        <a:solidFill>
                          <a:srgbClr val="111111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</a:tr>
              <a:tr h="247650">
                <a:tc vMerge="1"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P50</a:t>
                      </a:r>
                      <a:endParaRPr sz="1275" b="1">
                        <a:solidFill>
                          <a:srgbClr val="111111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1.97</a:t>
                      </a:r>
                      <a:endParaRPr sz="1275" b="1">
                        <a:solidFill>
                          <a:srgbClr val="C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3.65</a:t>
                      </a:r>
                      <a:endParaRPr sz="1275" b="0">
                        <a:solidFill>
                          <a:srgbClr val="111111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4.21</a:t>
                      </a:r>
                      <a:endParaRPr sz="1275" b="0">
                        <a:solidFill>
                          <a:srgbClr val="111111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</a:tr>
              <a:tr h="247650">
                <a:tc vMerge="1"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P90</a:t>
                      </a:r>
                      <a:endParaRPr sz="1275" b="1">
                        <a:solidFill>
                          <a:srgbClr val="111111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6.58</a:t>
                      </a:r>
                      <a:endParaRPr sz="1275" b="1">
                        <a:solidFill>
                          <a:srgbClr val="C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7.25</a:t>
                      </a:r>
                      <a:endParaRPr sz="1275" b="0">
                        <a:solidFill>
                          <a:srgbClr val="111111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8.35</a:t>
                      </a:r>
                      <a:endParaRPr sz="1275" b="0">
                        <a:solidFill>
                          <a:srgbClr val="111111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</a:tr>
              <a:tr h="247650">
                <a:tc vMerge="1"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P95</a:t>
                      </a:r>
                      <a:endParaRPr sz="1275" b="1">
                        <a:solidFill>
                          <a:srgbClr val="111111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8.42</a:t>
                      </a:r>
                      <a:endParaRPr sz="1275" b="1">
                        <a:solidFill>
                          <a:srgbClr val="C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8.58</a:t>
                      </a:r>
                      <a:endParaRPr sz="1275" b="0">
                        <a:solidFill>
                          <a:srgbClr val="111111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10.07</a:t>
                      </a:r>
                      <a:endParaRPr sz="1275" b="0">
                        <a:solidFill>
                          <a:srgbClr val="111111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</a:tr>
              <a:tr h="247650">
                <a:tc vMerge="1"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P99</a:t>
                      </a:r>
                      <a:endParaRPr sz="1275" b="1">
                        <a:solidFill>
                          <a:srgbClr val="111111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11.06</a:t>
                      </a:r>
                      <a:endParaRPr sz="1275" b="0">
                        <a:solidFill>
                          <a:srgbClr val="111111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11.06</a:t>
                      </a:r>
                      <a:endParaRPr sz="1275" b="1">
                        <a:solidFill>
                          <a:srgbClr val="C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13.45</a:t>
                      </a:r>
                      <a:endParaRPr sz="1275" b="0">
                        <a:solidFill>
                          <a:srgbClr val="111111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</a:tr>
              <a:tr h="247650">
                <a:tc rowSpan="5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</a:t>
                      </a:r>
                      <a:endParaRPr sz="1275" b="1">
                        <a:solidFill>
                          <a:srgbClr val="111111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P25</a:t>
                      </a:r>
                      <a:endParaRPr sz="1275" b="1">
                        <a:solidFill>
                          <a:srgbClr val="111111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4.81</a:t>
                      </a:r>
                      <a:endParaRPr sz="1275" b="0">
                        <a:solidFill>
                          <a:srgbClr val="111111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5.96</a:t>
                      </a:r>
                      <a:endParaRPr sz="1275" b="0">
                        <a:solidFill>
                          <a:srgbClr val="111111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3.73</a:t>
                      </a:r>
                      <a:endParaRPr sz="1275" b="1">
                        <a:solidFill>
                          <a:srgbClr val="C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</a:tr>
              <a:tr h="247650">
                <a:tc vMerge="1"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P50</a:t>
                      </a:r>
                      <a:endParaRPr sz="1275" b="1">
                        <a:solidFill>
                          <a:srgbClr val="111111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8.41</a:t>
                      </a:r>
                      <a:endParaRPr sz="1275" b="0">
                        <a:solidFill>
                          <a:srgbClr val="111111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8.62</a:t>
                      </a:r>
                      <a:endParaRPr sz="1275" b="0">
                        <a:solidFill>
                          <a:srgbClr val="111111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5.15</a:t>
                      </a:r>
                      <a:endParaRPr sz="1275" b="1">
                        <a:solidFill>
                          <a:srgbClr val="C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</a:tr>
              <a:tr h="247650">
                <a:tc vMerge="1"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P90</a:t>
                      </a:r>
                      <a:endParaRPr sz="1275" b="1">
                        <a:solidFill>
                          <a:srgbClr val="111111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14.76</a:t>
                      </a:r>
                      <a:endParaRPr sz="1275" b="0">
                        <a:solidFill>
                          <a:srgbClr val="111111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15.06</a:t>
                      </a:r>
                      <a:endParaRPr sz="1275" b="0">
                        <a:solidFill>
                          <a:srgbClr val="111111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10.12</a:t>
                      </a:r>
                      <a:endParaRPr sz="1275" b="1">
                        <a:solidFill>
                          <a:srgbClr val="C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</a:tr>
              <a:tr h="247650">
                <a:tc vMerge="1"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P95</a:t>
                      </a:r>
                      <a:endParaRPr sz="1275" b="1">
                        <a:solidFill>
                          <a:srgbClr val="111111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16.80</a:t>
                      </a:r>
                      <a:endParaRPr sz="1275" b="0">
                        <a:solidFill>
                          <a:srgbClr val="111111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16.85</a:t>
                      </a:r>
                      <a:endParaRPr sz="1275" b="0">
                        <a:solidFill>
                          <a:srgbClr val="111111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12.03</a:t>
                      </a:r>
                      <a:endParaRPr sz="1275" b="1">
                        <a:solidFill>
                          <a:srgbClr val="C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</a:tr>
              <a:tr h="247650">
                <a:tc vMerge="1"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P99</a:t>
                      </a:r>
                      <a:endParaRPr sz="1275" b="1">
                        <a:solidFill>
                          <a:srgbClr val="111111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20.28</a:t>
                      </a:r>
                      <a:endParaRPr sz="1275" b="0">
                        <a:solidFill>
                          <a:srgbClr val="111111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20.39</a:t>
                      </a:r>
                      <a:endParaRPr sz="1275" b="0">
                        <a:solidFill>
                          <a:srgbClr val="111111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15.90</a:t>
                      </a:r>
                      <a:endParaRPr sz="1275" b="1">
                        <a:solidFill>
                          <a:srgbClr val="C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ection-20"/>
          <p:cNvSpPr>
            <a:spLocks noGrp="1"/>
          </p:cNvSpPr>
          <p:nvPr/>
        </p:nvSpPr>
        <p:spPr>
          <a:xfrm>
            <a:off x="609600" y="209550"/>
            <a:ext cx="2286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825" b="1">
                <a:solidFill>
                  <a:srgbClr val="898989"/>
                </a:solidFill>
                <a:latin typeface="Calibri"/>
                <a:ea typeface="Calibri"/>
                <a:cs typeface="Calibri"/>
              </a:defRPr>
            </a:pPr>
            <a:r>
              <a:rPr sz="825" b="1">
                <a:solidFill>
                  <a:srgbClr val="898989"/>
                </a:solidFill>
                <a:latin typeface="Calibri"/>
                <a:ea typeface="Calibri"/>
                <a:cs typeface="Calibri"/>
              </a:rPr>
              <a:t>ASYNC PREFILL RESULTS</a:t>
            </a:r>
            <a:endParaRPr sz="825" b="1">
              <a:solidFill>
                <a:srgbClr val="898989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" name="title-20"/>
          <p:cNvSpPr>
            <a:spLocks noGrp="1"/>
          </p:cNvSpPr>
          <p:nvPr/>
        </p:nvSpPr>
        <p:spPr>
          <a:xfrm>
            <a:off x="609600" y="419100"/>
            <a:ext cx="10668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buNone/>
              <a:defRPr sz="2175" b="1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AFD DP4TP2 与 EP16 DP4TP4 / DP8TP2：TTFT 对比（16K）</a:t>
            </a:r>
            <a:endParaRPr sz="2175" b="1">
              <a:solidFill>
                <a:srgbClr val="C000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title-rule-20"/>
          <p:cNvSpPr>
            <a:spLocks noGrp="1"/>
          </p:cNvSpPr>
          <p:nvPr/>
        </p:nvSpPr>
        <p:spPr>
          <a:xfrm>
            <a:off x="609600" y="914400"/>
            <a:ext cx="1428750" cy="28575"/>
          </a:xfrm>
          <a:prstGeom prst="rect">
            <a:avLst/>
          </a:prstGeom>
          <a:solidFill>
            <a:srgbClr val="C00000"/>
          </a:solidFill>
          <a:ln w="0">
            <a:solidFill>
              <a:srgbClr val="C00000"/>
            </a:solidFill>
            <a:prstDash val="solid"/>
          </a:ln>
        </p:spPr>
      </p:sp>
      <p:sp>
        <p:nvSpPr>
          <p:cNvPr id="4" name="metadata-bg-20"/>
          <p:cNvSpPr>
            <a:spLocks noGrp="1"/>
          </p:cNvSpPr>
          <p:nvPr/>
        </p:nvSpPr>
        <p:spPr>
          <a:xfrm>
            <a:off x="609600" y="1028700"/>
            <a:ext cx="10972800" cy="400050"/>
          </a:xfrm>
          <a:prstGeom prst="rect">
            <a:avLst/>
          </a:prstGeom>
          <a:solidFill>
            <a:srgbClr val="F5F5F5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5" name="model-20"/>
          <p:cNvSpPr>
            <a:spLocks noGrp="1"/>
          </p:cNvSpPr>
          <p:nvPr/>
        </p:nvSpPr>
        <p:spPr>
          <a:xfrm>
            <a:off x="800100" y="1095375"/>
            <a:ext cx="238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50" b="1">
                <a:solidFill>
                  <a:srgbClr val="234CA5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234CA5"/>
                </a:solidFill>
                <a:latin typeface="微软雅黑"/>
                <a:ea typeface="微软雅黑"/>
                <a:cs typeface="微软雅黑"/>
              </a:rPr>
              <a:t>模型：dsv4-flash</a:t>
            </a:r>
            <a:endParaRPr sz="1050" b="1">
              <a:solidFill>
                <a:srgbClr val="234CA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comparison-20"/>
          <p:cNvSpPr>
            <a:spLocks noGrp="1"/>
          </p:cNvSpPr>
          <p:nvPr/>
        </p:nvSpPr>
        <p:spPr>
          <a:xfrm>
            <a:off x="3476625" y="1095375"/>
            <a:ext cx="5619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buNone/>
              <a:defRPr sz="1125" b="0">
                <a:solidFill>
                  <a:srgbClr val="528A00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528A00"/>
                </a:solidFill>
                <a:latin typeface="微软雅黑"/>
                <a:ea typeface="微软雅黑"/>
                <a:cs typeface="微软雅黑"/>
              </a:rPr>
              <a:t>AFD DP4TP2 + EP8（64K）对比 EP16 两种布局（16K）</a:t>
            </a:r>
            <a:endParaRPr sz="1125" b="0">
              <a:solidFill>
                <a:srgbClr val="528A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hardware-20"/>
          <p:cNvSpPr>
            <a:spLocks noGrp="1"/>
          </p:cNvSpPr>
          <p:nvPr/>
        </p:nvSpPr>
        <p:spPr>
          <a:xfrm>
            <a:off x="9144000" y="1095375"/>
            <a:ext cx="2247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975" b="1">
                <a:solidFill>
                  <a:srgbClr val="F06A00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06A00"/>
                </a:solidFill>
                <a:latin typeface="微软雅黑"/>
                <a:ea typeface="微软雅黑"/>
                <a:cs typeface="微软雅黑"/>
              </a:rPr>
              <a:t>硬件：Ascend 910C</a:t>
            </a:r>
            <a:endParaRPr sz="975" b="1">
              <a:solidFill>
                <a:srgbClr val="F06A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chart-heading-20"/>
          <p:cNvSpPr>
            <a:spLocks noGrp="1"/>
          </p:cNvSpPr>
          <p:nvPr/>
        </p:nvSpPr>
        <p:spPr>
          <a:xfrm>
            <a:off x="609600" y="1466850"/>
            <a:ext cx="6191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buNone/>
              <a:defRPr sz="150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不同 RPS 下的 TTFT 分位点（秒）</a:t>
            </a:r>
            <a:endParaRPr sz="1500" b="1">
              <a:solidFill>
                <a:srgbClr val="22222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table-heading-20"/>
          <p:cNvSpPr>
            <a:spLocks noGrp="1"/>
          </p:cNvSpPr>
          <p:nvPr/>
        </p:nvSpPr>
        <p:spPr>
          <a:xfrm>
            <a:off x="7029450" y="1466850"/>
            <a:ext cx="45529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buNone/>
              <a:defRPr sz="150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TTFT 明细（秒）</a:t>
            </a:r>
            <a:endParaRPr sz="1500" b="1">
              <a:solidFill>
                <a:srgbClr val="22222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8" name="conclusion-20"/>
          <p:cNvSpPr>
            <a:spLocks noGrp="1"/>
          </p:cNvSpPr>
          <p:nvPr/>
        </p:nvSpPr>
        <p:spPr>
          <a:xfrm>
            <a:off x="609600" y="5514975"/>
            <a:ext cx="6191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>
              <a:buNone/>
              <a:defRPr sz="12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AFD P99（RPS 2/3/4）：6.98 / 11.06 / 20.28 秒</a:t>
            </a:r>
            <a:endParaRPr sz="1200" b="0">
              <a:solidFill>
                <a:srgbClr val="222222"/>
              </a:solidFill>
              <a:latin typeface="微软雅黑"/>
              <a:ea typeface="微软雅黑"/>
              <a:cs typeface="微软雅黑"/>
            </a:endParaRPr>
          </a:p>
          <a:p>
            <a:pPr>
              <a:buNone/>
              <a:defRPr sz="12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RPS=4：P99 最低为 DP4TP4（18.25 秒）</a:t>
            </a:r>
            <a:endParaRPr sz="1200" b="0">
              <a:solidFill>
                <a:srgbClr val="22222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9" name="settings-20"/>
          <p:cNvSpPr>
            <a:spLocks noGrp="1"/>
          </p:cNvSpPr>
          <p:nvPr/>
        </p:nvSpPr>
        <p:spPr>
          <a:xfrm>
            <a:off x="609600" y="6067425"/>
            <a:ext cx="10972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buNone/>
              <a:defRPr sz="8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AFD MBT=64K（本次），EP16 两种布局均为 MBT=16K。各取三轮分位数均值，红色粗体为同 RPS / 分位最小值。</a:t>
            </a:r>
            <a:endParaRPr sz="825" b="0">
              <a:solidFill>
                <a:srgbClr val="66666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0" name="source-20"/>
          <p:cNvSpPr>
            <a:spLocks noGrp="1"/>
          </p:cNvSpPr>
          <p:nvPr/>
        </p:nvSpPr>
        <p:spPr>
          <a:xfrm>
            <a:off x="609600" y="6305550"/>
            <a:ext cx="10972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buNone/>
              <a:defRPr sz="825" b="0">
                <a:solidFill>
                  <a:srgbClr val="777777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0">
                <a:solidFill>
                  <a:srgbClr val="777777"/>
                </a:solidFill>
                <a:latin typeface="微软雅黑"/>
                <a:ea typeface="微软雅黑"/>
                <a:cs typeface="微软雅黑"/>
              </a:rPr>
              <a:t>来源：AFD 为本次 20260908-rps234 批次，EP16 沿用上一版 2026-09-07/08 批次。跨批次、MBT 与节点比较。</a:t>
            </a:r>
            <a:endParaRPr sz="825" b="0">
              <a:solidFill>
                <a:srgbClr val="77777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1" name="page-20"/>
          <p:cNvSpPr>
            <a:spLocks noGrp="1"/>
          </p:cNvSpPr>
          <p:nvPr/>
        </p:nvSpPr>
        <p:spPr>
          <a:xfrm>
            <a:off x="11315700" y="6553200"/>
            <a:ext cx="3429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r">
              <a:buNone/>
              <a:defRPr sz="750" b="0">
                <a:solidFill>
                  <a:srgbClr val="777777"/>
                </a:solidFill>
                <a:latin typeface="微软雅黑"/>
                <a:ea typeface="微软雅黑"/>
                <a:cs typeface="微软雅黑"/>
              </a:defRPr>
            </a:pPr>
            <a:r>
              <a:rPr sz="750" b="0">
                <a:solidFill>
                  <a:srgbClr val="777777"/>
                </a:solidFill>
                <a:latin typeface="微软雅黑"/>
                <a:ea typeface="微软雅黑"/>
                <a:cs typeface="微软雅黑"/>
              </a:rPr>
              <a:t>3</a:t>
            </a:r>
            <a:endParaRPr sz="750" b="0">
              <a:solidFill>
                <a:srgbClr val="777777"/>
              </a:solidFill>
              <a:latin typeface="微软雅黑"/>
              <a:ea typeface="微软雅黑"/>
              <a:cs typeface="微软雅黑"/>
            </a:endParaRPr>
          </a:p>
        </p:txBody>
      </p:sp>
      <p:graphicFrame>
        <p:nvGraphicFramePr>
          <p:cNvPr id="50" name="Chart"/>
          <p:cNvGraphicFramePr/>
          <p:nvPr/>
        </p:nvGraphicFramePr>
        <p:xfrm>
          <a:off x="609600" y="1790700"/>
          <a:ext cx="1981200" cy="16859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51" name="Chart"/>
          <p:cNvGraphicFramePr/>
          <p:nvPr/>
        </p:nvGraphicFramePr>
        <p:xfrm>
          <a:off x="2705100" y="1790700"/>
          <a:ext cx="1981200" cy="16859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2" name="Chart"/>
          <p:cNvGraphicFramePr/>
          <p:nvPr/>
        </p:nvGraphicFramePr>
        <p:xfrm>
          <a:off x="4800600" y="1790700"/>
          <a:ext cx="1981200" cy="16859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3" name="Chart"/>
          <p:cNvGraphicFramePr/>
          <p:nvPr/>
        </p:nvGraphicFramePr>
        <p:xfrm>
          <a:off x="933450" y="3629025"/>
          <a:ext cx="2686050" cy="16668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54" name="Chart"/>
          <p:cNvGraphicFramePr/>
          <p:nvPr/>
        </p:nvGraphicFramePr>
        <p:xfrm>
          <a:off x="3790950" y="3629025"/>
          <a:ext cx="2686050" cy="16668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28" name="矩形 27"/>
          <p:cNvSpPr>
            <a:spLocks noGrp="1"/>
          </p:cNvSpPr>
          <p:nvPr/>
        </p:nvSpPr>
        <p:spPr>
          <a:xfrm>
            <a:off x="838200" y="5286375"/>
            <a:ext cx="180975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975" b="1">
                <a:solidFill>
                  <a:srgbClr val="F2A300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2A300"/>
                </a:solidFill>
                <a:latin typeface="微软雅黑"/>
                <a:ea typeface="微软雅黑"/>
                <a:cs typeface="微软雅黑"/>
              </a:rPr>
              <a:t>AFD 64K（本次）</a:t>
            </a:r>
            <a:endParaRPr sz="975" b="1">
              <a:solidFill>
                <a:srgbClr val="F2A3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2809875" y="5286375"/>
            <a:ext cx="1762125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975" b="1">
                <a:solidFill>
                  <a:srgbClr val="548235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548235"/>
                </a:solidFill>
                <a:latin typeface="微软雅黑"/>
                <a:ea typeface="微软雅黑"/>
                <a:cs typeface="微软雅黑"/>
              </a:rPr>
              <a:t>EP16 DP4TP4 16K</a:t>
            </a:r>
            <a:endParaRPr sz="975" b="1">
              <a:solidFill>
                <a:srgbClr val="54823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4667250" y="5286375"/>
            <a:ext cx="1762125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975" b="1">
                <a:solidFill>
                  <a:srgbClr val="4472C4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4472C4"/>
                </a:solidFill>
                <a:latin typeface="微软雅黑"/>
                <a:ea typeface="微软雅黑"/>
                <a:cs typeface="微软雅黑"/>
              </a:rPr>
              <a:t>EP16 DP8TP2 16K</a:t>
            </a:r>
            <a:endParaRPr sz="975" b="1">
              <a:solidFill>
                <a:srgbClr val="4472C4"/>
              </a:solidFill>
              <a:latin typeface="微软雅黑"/>
              <a:ea typeface="微软雅黑"/>
              <a:cs typeface="微软雅黑"/>
            </a:endParaRPr>
          </a:p>
        </p:txBody>
      </p:sp>
      <p:graphicFrame>
        <p:nvGraphicFramePr>
          <p:cNvPr id="58" name="表格 52"/>
          <p:cNvGraphicFramePr/>
          <p:nvPr/>
        </p:nvGraphicFramePr>
        <p:xfrm>
          <a:off x="7029450" y="1724025"/>
          <a:ext cx="4552950" cy="4133850"/>
        </p:xfrm>
        <a:graphic>
          <a:graphicData uri="http://schemas.openxmlformats.org/drawingml/2006/table">
            <a:tbl>
              <a:tblPr/>
              <a:tblGrid>
                <a:gridCol w="476250"/>
                <a:gridCol w="590550"/>
                <a:gridCol w="1162050"/>
                <a:gridCol w="1162050"/>
                <a:gridCol w="1162050"/>
              </a:tblGrid>
              <a:tr h="4191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65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RPS</a:t>
                      </a:r>
                      <a:endParaRPr sz="1165" b="1">
                        <a:solidFill>
                          <a:srgbClr val="111111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65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分位</a:t>
                      </a:r>
                      <a:endParaRPr sz="1165" b="1">
                        <a:solidFill>
                          <a:srgbClr val="111111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65" b="1">
                          <a:solidFill>
                            <a:srgbClr val="F2A3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AFD</a:t>
                      </a:r>
                      <a:endParaRPr sz="1165" b="1">
                        <a:solidFill>
                          <a:srgbClr val="F2A3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  <a:p>
                      <a:pPr algn="ctr">
                        <a:buNone/>
                      </a:pPr>
                      <a:r>
                        <a:rPr sz="1165" b="1">
                          <a:solidFill>
                            <a:srgbClr val="F2A3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64K</a:t>
                      </a:r>
                      <a:endParaRPr sz="1165" b="1">
                        <a:solidFill>
                          <a:srgbClr val="F2A3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65" b="1">
                          <a:solidFill>
                            <a:srgbClr val="54823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DP4TP4</a:t>
                      </a:r>
                      <a:endParaRPr sz="1165" b="1">
                        <a:solidFill>
                          <a:srgbClr val="548235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  <a:p>
                      <a:pPr algn="ctr">
                        <a:buNone/>
                      </a:pPr>
                      <a:r>
                        <a:rPr sz="1165" b="1">
                          <a:solidFill>
                            <a:srgbClr val="54823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16K</a:t>
                      </a:r>
                      <a:endParaRPr sz="1165" b="1">
                        <a:solidFill>
                          <a:srgbClr val="548235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65" b="1">
                          <a:solidFill>
                            <a:srgbClr val="4472C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DP8TP2</a:t>
                      </a:r>
                      <a:endParaRPr sz="1165" b="1">
                        <a:solidFill>
                          <a:srgbClr val="4472C4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  <a:p>
                      <a:pPr algn="ctr">
                        <a:buNone/>
                      </a:pPr>
                      <a:r>
                        <a:rPr sz="1165" b="1">
                          <a:solidFill>
                            <a:srgbClr val="4472C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16K</a:t>
                      </a:r>
                      <a:endParaRPr sz="1165" b="1">
                        <a:solidFill>
                          <a:srgbClr val="4472C4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E7E6E6"/>
                    </a:solidFill>
                  </a:tcPr>
                </a:tc>
              </a:tr>
              <a:tr h="247650">
                <a:tc rowSpan="5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</a:t>
                      </a:r>
                      <a:endParaRPr sz="1275" b="1">
                        <a:solidFill>
                          <a:srgbClr val="111111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P25</a:t>
                      </a:r>
                      <a:endParaRPr sz="1275" b="1">
                        <a:solidFill>
                          <a:srgbClr val="111111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0.65</a:t>
                      </a:r>
                      <a:endParaRPr sz="1275" b="1">
                        <a:solidFill>
                          <a:srgbClr val="C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3.55</a:t>
                      </a:r>
                      <a:endParaRPr sz="1275" b="0">
                        <a:solidFill>
                          <a:srgbClr val="111111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5.43</a:t>
                      </a:r>
                      <a:endParaRPr sz="1275" b="0">
                        <a:solidFill>
                          <a:srgbClr val="111111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</a:tr>
              <a:tr h="247650">
                <a:tc vMerge="1"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P50</a:t>
                      </a:r>
                      <a:endParaRPr sz="1275" b="1">
                        <a:solidFill>
                          <a:srgbClr val="111111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1.11</a:t>
                      </a:r>
                      <a:endParaRPr sz="1275" b="1">
                        <a:solidFill>
                          <a:srgbClr val="C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4.69</a:t>
                      </a:r>
                      <a:endParaRPr sz="1275" b="0">
                        <a:solidFill>
                          <a:srgbClr val="111111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7.06</a:t>
                      </a:r>
                      <a:endParaRPr sz="1275" b="0">
                        <a:solidFill>
                          <a:srgbClr val="111111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</a:tr>
              <a:tr h="247650">
                <a:tc vMerge="1"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P90</a:t>
                      </a:r>
                      <a:endParaRPr sz="1275" b="1">
                        <a:solidFill>
                          <a:srgbClr val="111111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3.44</a:t>
                      </a:r>
                      <a:endParaRPr sz="1275" b="1">
                        <a:solidFill>
                          <a:srgbClr val="C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7.84</a:t>
                      </a:r>
                      <a:endParaRPr sz="1275" b="0">
                        <a:solidFill>
                          <a:srgbClr val="111111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11.34</a:t>
                      </a:r>
                      <a:endParaRPr sz="1275" b="0">
                        <a:solidFill>
                          <a:srgbClr val="111111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</a:tr>
              <a:tr h="247650">
                <a:tc vMerge="1"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P95</a:t>
                      </a:r>
                      <a:endParaRPr sz="1275" b="1">
                        <a:solidFill>
                          <a:srgbClr val="111111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4.80</a:t>
                      </a:r>
                      <a:endParaRPr sz="1275" b="1">
                        <a:solidFill>
                          <a:srgbClr val="C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9.16</a:t>
                      </a:r>
                      <a:endParaRPr sz="1275" b="0">
                        <a:solidFill>
                          <a:srgbClr val="111111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13.31</a:t>
                      </a:r>
                      <a:endParaRPr sz="1275" b="0">
                        <a:solidFill>
                          <a:srgbClr val="111111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</a:tr>
              <a:tr h="247650">
                <a:tc vMerge="1"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P99</a:t>
                      </a:r>
                      <a:endParaRPr sz="1275" b="1">
                        <a:solidFill>
                          <a:srgbClr val="111111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6.98</a:t>
                      </a:r>
                      <a:endParaRPr sz="1275" b="1">
                        <a:solidFill>
                          <a:srgbClr val="C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12.01</a:t>
                      </a:r>
                      <a:endParaRPr sz="1275" b="0">
                        <a:solidFill>
                          <a:srgbClr val="111111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16.57</a:t>
                      </a:r>
                      <a:endParaRPr sz="1275" b="0">
                        <a:solidFill>
                          <a:srgbClr val="111111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</a:tr>
              <a:tr h="247650">
                <a:tc rowSpan="5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</a:t>
                      </a:r>
                      <a:endParaRPr sz="1275" b="1">
                        <a:solidFill>
                          <a:srgbClr val="111111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P25</a:t>
                      </a:r>
                      <a:endParaRPr sz="1275" b="1">
                        <a:solidFill>
                          <a:srgbClr val="111111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1.02</a:t>
                      </a:r>
                      <a:endParaRPr sz="1275" b="1">
                        <a:solidFill>
                          <a:srgbClr val="C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4.69</a:t>
                      </a:r>
                      <a:endParaRPr sz="1275" b="0">
                        <a:solidFill>
                          <a:srgbClr val="111111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7.35</a:t>
                      </a:r>
                      <a:endParaRPr sz="1275" b="0">
                        <a:solidFill>
                          <a:srgbClr val="111111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</a:tr>
              <a:tr h="247650">
                <a:tc vMerge="1"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P50</a:t>
                      </a:r>
                      <a:endParaRPr sz="1275" b="1">
                        <a:solidFill>
                          <a:srgbClr val="111111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1.97</a:t>
                      </a:r>
                      <a:endParaRPr sz="1275" b="1">
                        <a:solidFill>
                          <a:srgbClr val="C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5.82</a:t>
                      </a:r>
                      <a:endParaRPr sz="1275" b="0">
                        <a:solidFill>
                          <a:srgbClr val="111111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8.87</a:t>
                      </a:r>
                      <a:endParaRPr sz="1275" b="0">
                        <a:solidFill>
                          <a:srgbClr val="111111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</a:tr>
              <a:tr h="247650">
                <a:tc vMerge="1"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P90</a:t>
                      </a:r>
                      <a:endParaRPr sz="1275" b="1">
                        <a:solidFill>
                          <a:srgbClr val="111111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6.58</a:t>
                      </a:r>
                      <a:endParaRPr sz="1275" b="1">
                        <a:solidFill>
                          <a:srgbClr val="C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9.60</a:t>
                      </a:r>
                      <a:endParaRPr sz="1275" b="0">
                        <a:solidFill>
                          <a:srgbClr val="111111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14.12</a:t>
                      </a:r>
                      <a:endParaRPr sz="1275" b="0">
                        <a:solidFill>
                          <a:srgbClr val="111111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</a:tr>
              <a:tr h="247650">
                <a:tc vMerge="1"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P95</a:t>
                      </a:r>
                      <a:endParaRPr sz="1275" b="1">
                        <a:solidFill>
                          <a:srgbClr val="111111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8.42</a:t>
                      </a:r>
                      <a:endParaRPr sz="1275" b="1">
                        <a:solidFill>
                          <a:srgbClr val="C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11.05</a:t>
                      </a:r>
                      <a:endParaRPr sz="1275" b="0">
                        <a:solidFill>
                          <a:srgbClr val="111111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16.09</a:t>
                      </a:r>
                      <a:endParaRPr sz="1275" b="0">
                        <a:solidFill>
                          <a:srgbClr val="111111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</a:tr>
              <a:tr h="247650">
                <a:tc vMerge="1"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P99</a:t>
                      </a:r>
                      <a:endParaRPr sz="1275" b="1">
                        <a:solidFill>
                          <a:srgbClr val="111111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11.06</a:t>
                      </a:r>
                      <a:endParaRPr sz="1275" b="1">
                        <a:solidFill>
                          <a:srgbClr val="C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14.08</a:t>
                      </a:r>
                      <a:endParaRPr sz="1275" b="0">
                        <a:solidFill>
                          <a:srgbClr val="111111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19.75</a:t>
                      </a:r>
                      <a:endParaRPr sz="1275" b="0">
                        <a:solidFill>
                          <a:srgbClr val="111111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</a:tr>
              <a:tr h="247650">
                <a:tc rowSpan="5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</a:t>
                      </a:r>
                      <a:endParaRPr sz="1275" b="1">
                        <a:solidFill>
                          <a:srgbClr val="111111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P25</a:t>
                      </a:r>
                      <a:endParaRPr sz="1275" b="1">
                        <a:solidFill>
                          <a:srgbClr val="111111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4.81</a:t>
                      </a:r>
                      <a:endParaRPr sz="1275" b="1">
                        <a:solidFill>
                          <a:srgbClr val="C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6.09</a:t>
                      </a:r>
                      <a:endParaRPr sz="1275" b="0">
                        <a:solidFill>
                          <a:srgbClr val="111111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7.48</a:t>
                      </a:r>
                      <a:endParaRPr sz="1275" b="0">
                        <a:solidFill>
                          <a:srgbClr val="111111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</a:tr>
              <a:tr h="247650">
                <a:tc vMerge="1"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P50</a:t>
                      </a:r>
                      <a:endParaRPr sz="1275" b="1">
                        <a:solidFill>
                          <a:srgbClr val="111111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8.41</a:t>
                      </a:r>
                      <a:endParaRPr sz="1275" b="0">
                        <a:solidFill>
                          <a:srgbClr val="111111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8.40</a:t>
                      </a:r>
                      <a:endParaRPr sz="1275" b="1">
                        <a:solidFill>
                          <a:srgbClr val="C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9.21</a:t>
                      </a:r>
                      <a:endParaRPr sz="1275" b="0">
                        <a:solidFill>
                          <a:srgbClr val="111111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</a:tr>
              <a:tr h="247650">
                <a:tc vMerge="1"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P90</a:t>
                      </a:r>
                      <a:endParaRPr sz="1275" b="1">
                        <a:solidFill>
                          <a:srgbClr val="111111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14.76</a:t>
                      </a:r>
                      <a:endParaRPr sz="1275" b="0">
                        <a:solidFill>
                          <a:srgbClr val="111111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13.61</a:t>
                      </a:r>
                      <a:endParaRPr sz="1275" b="1">
                        <a:solidFill>
                          <a:srgbClr val="C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14.69</a:t>
                      </a:r>
                      <a:endParaRPr sz="1275" b="0">
                        <a:solidFill>
                          <a:srgbClr val="111111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</a:tr>
              <a:tr h="247650">
                <a:tc vMerge="1"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P95</a:t>
                      </a:r>
                      <a:endParaRPr sz="1275" b="1">
                        <a:solidFill>
                          <a:srgbClr val="111111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16.80</a:t>
                      </a:r>
                      <a:endParaRPr sz="1275" b="0">
                        <a:solidFill>
                          <a:srgbClr val="111111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15.12</a:t>
                      </a:r>
                      <a:endParaRPr sz="1275" b="1">
                        <a:solidFill>
                          <a:srgbClr val="C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16.66</a:t>
                      </a:r>
                      <a:endParaRPr sz="1275" b="0">
                        <a:solidFill>
                          <a:srgbClr val="111111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</a:tr>
              <a:tr h="247650">
                <a:tc vMerge="1"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P99</a:t>
                      </a:r>
                      <a:endParaRPr sz="1275" b="1">
                        <a:solidFill>
                          <a:srgbClr val="111111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20.28</a:t>
                      </a:r>
                      <a:endParaRPr sz="1275" b="0">
                        <a:solidFill>
                          <a:srgbClr val="111111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18.25</a:t>
                      </a:r>
                      <a:endParaRPr sz="1275" b="1">
                        <a:solidFill>
                          <a:srgbClr val="C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20.54</a:t>
                      </a:r>
                      <a:endParaRPr sz="1275" b="0">
                        <a:solidFill>
                          <a:srgbClr val="111111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>
            <a:spLocks noGrp="1"/>
          </p:cNvSpPr>
          <p:nvPr/>
        </p:nvSpPr>
        <p:spPr>
          <a:xfrm>
            <a:off x="695325" y="257175"/>
            <a:ext cx="4762500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825" b="1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825" b="1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ASYNC PREFILL RESULTS</a:t>
            </a:r>
            <a:endParaRPr sz="825" b="1">
              <a:solidFill>
                <a:srgbClr val="888888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95325" y="495300"/>
            <a:ext cx="1085850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AFD TP2 / EP8：MBT 64K 下的 DP 扩展吞吐</a:t>
            </a:r>
            <a:endParaRPr sz="2100" b="1">
              <a:solidFill>
                <a:srgbClr val="C00000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4350" y="1095375"/>
            <a:ext cx="8286750" cy="5524500"/>
          </a:xfrm>
          <a:prstGeom prst="rect">
            <a:avLst/>
          </a:prstGeom>
        </p:spPr>
      </p:pic>
      <p:sp>
        <p:nvSpPr>
          <p:cNvPr id="4" name="矩形 3"/>
          <p:cNvSpPr>
            <a:spLocks noGrp="1"/>
          </p:cNvSpPr>
          <p:nvPr/>
        </p:nvSpPr>
        <p:spPr>
          <a:xfrm>
            <a:off x="9020175" y="1524000"/>
            <a:ext cx="2552700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DP10 至 DP12</a:t>
            </a:r>
            <a:endParaRPr sz="1650" b="1">
              <a:solidFill>
                <a:srgbClr val="C000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9020175" y="1990725"/>
            <a:ext cx="255270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8.79 → 8.91 req/s</a:t>
            </a:r>
            <a:endParaRPr sz="1800" b="1">
              <a:solidFill>
                <a:srgbClr val="22222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9020175" y="2486025"/>
            <a:ext cx="255270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最高实测吞吐增加 1.4%</a:t>
            </a:r>
            <a:endParaRPr sz="1350" b="0">
              <a:solidFill>
                <a:srgbClr val="22222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9020175" y="3238500"/>
            <a:ext cx="25527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统计口径</a:t>
            </a:r>
            <a:endParaRPr sz="1500" b="1">
              <a:solidFill>
                <a:srgbClr val="22222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9020175" y="3657600"/>
            <a:ext cx="2552700" cy="990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各负载档位先取重复均值，再选最高值。</a:t>
            </a:r>
            <a:endParaRPr sz="1200" b="0">
              <a:solidFill>
                <a:srgbClr val="222222"/>
              </a:solidFill>
              <a:latin typeface="微软雅黑"/>
              <a:ea typeface="微软雅黑"/>
              <a:cs typeface="微软雅黑"/>
            </a:endParaRPr>
          </a:p>
          <a:p>
            <a:pPr>
              <a:defRPr sz="12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DP4：历史 3 轮</a:t>
            </a:r>
            <a:endParaRPr sz="1200" b="0">
              <a:solidFill>
                <a:srgbClr val="222222"/>
              </a:solidFill>
              <a:latin typeface="微软雅黑"/>
              <a:ea typeface="微软雅黑"/>
              <a:cs typeface="微软雅黑"/>
            </a:endParaRPr>
          </a:p>
          <a:p>
            <a:pPr>
              <a:defRPr sz="12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DP6–12：本次 2 轮</a:t>
            </a:r>
            <a:endParaRPr sz="1200" b="0">
              <a:solidFill>
                <a:srgbClr val="22222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9020175" y="5057775"/>
            <a:ext cx="2552700" cy="876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DP10、DP12 最高仅测到目标 10 RPS，绝对容量上限尚未确认。</a:t>
            </a:r>
            <a:endParaRPr sz="1200" b="0">
              <a:solidFill>
                <a:srgbClr val="66666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1458575" y="6562725"/>
            <a:ext cx="304800" cy="1524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67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675" b="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29</a:t>
            </a:r>
            <a:endParaRPr sz="675" b="0">
              <a:solidFill>
                <a:srgbClr val="888888"/>
              </a:solidFill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>
            <a:spLocks noGrp="1"/>
          </p:cNvSpPr>
          <p:nvPr/>
        </p:nvSpPr>
        <p:spPr>
          <a:xfrm>
            <a:off x="695325" y="257175"/>
            <a:ext cx="4762500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825" b="1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825" b="1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ASYNC PREFILL SLO</a:t>
            </a:r>
            <a:endParaRPr sz="825" b="1">
              <a:solidFill>
                <a:srgbClr val="888888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95325" y="495300"/>
            <a:ext cx="1085850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AFD DP4TP2 与 EP16：TTFT SLO 达标率（对照 4K）</a:t>
            </a:r>
            <a:endParaRPr sz="2100" b="1">
              <a:solidFill>
                <a:srgbClr val="C000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95325" y="1047750"/>
            <a:ext cx="10858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555555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模型：dsv4-flash    单机 16 NPU die    TTFT 基准门槛：10 秒    达标率目标：90%</a:t>
            </a:r>
            <a:endParaRPr sz="1275" b="0">
              <a:solidFill>
                <a:srgbClr val="55555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476375" y="1476375"/>
            <a:ext cx="333375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1">
                <a:solidFill>
                  <a:srgbClr val="F0A000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F0A000"/>
                </a:solidFill>
                <a:latin typeface="Calibri"/>
                <a:ea typeface="Calibri"/>
                <a:cs typeface="Calibri"/>
              </a:rPr>
              <a:t>AFD DP4TP2 64K</a:t>
            </a:r>
            <a:endParaRPr sz="1200" b="1">
              <a:solidFill>
                <a:srgbClr val="F0A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4857750" y="1476375"/>
            <a:ext cx="333375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1">
                <a:solidFill>
                  <a:srgbClr val="548235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548235"/>
                </a:solidFill>
                <a:latin typeface="Calibri"/>
                <a:ea typeface="Calibri"/>
                <a:cs typeface="Calibri"/>
              </a:rPr>
              <a:t>EP16 DP4TP4 4K</a:t>
            </a:r>
            <a:endParaRPr sz="1200" b="1">
              <a:solidFill>
                <a:srgbClr val="548235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8239125" y="1476375"/>
            <a:ext cx="333375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1">
                <a:solidFill>
                  <a:srgbClr val="4472C4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4472C4"/>
                </a:solidFill>
                <a:latin typeface="Calibri"/>
                <a:ea typeface="Calibri"/>
                <a:cs typeface="Calibri"/>
              </a:rPr>
              <a:t>EP16 DP8TP2 4K</a:t>
            </a:r>
            <a:endParaRPr sz="1200" b="1">
              <a:solidFill>
                <a:srgbClr val="4472C4"/>
              </a:solidFill>
              <a:latin typeface="Calibri"/>
              <a:ea typeface="Calibri"/>
              <a:cs typeface="Calibri"/>
            </a:endParaRPr>
          </a:p>
        </p:txBody>
      </p:sp>
      <p:graphicFrame>
        <p:nvGraphicFramePr>
          <p:cNvPr id="20" name="Chart"/>
          <p:cNvGraphicFramePr/>
          <p:nvPr/>
        </p:nvGraphicFramePr>
        <p:xfrm>
          <a:off x="600075" y="1933575"/>
          <a:ext cx="5314950" cy="31718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21" name="Chart"/>
          <p:cNvGraphicFramePr/>
          <p:nvPr/>
        </p:nvGraphicFramePr>
        <p:xfrm>
          <a:off x="6267450" y="1933575"/>
          <a:ext cx="5314950" cy="31718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9" name="矩形 8"/>
          <p:cNvSpPr>
            <a:spLocks noGrp="1"/>
          </p:cNvSpPr>
          <p:nvPr/>
        </p:nvSpPr>
        <p:spPr>
          <a:xfrm>
            <a:off x="695325" y="5295900"/>
            <a:ext cx="108585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RPS=4、TTFT≤10s：AFD 63.0%，EP16 DP4TP4 9.2%，EP16 DP8TP2 94.7%</a:t>
            </a:r>
            <a:endParaRPr sz="1500" b="1">
              <a:solidFill>
                <a:srgbClr val="22222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695325" y="5781675"/>
            <a:ext cx="1085850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达标率＝成功且 TTFT≤门槛的请求数 / 1536。每轮计算后取三轮均值，失败请求计未达标。</a:t>
            </a:r>
            <a:endParaRPr sz="1050" b="0">
              <a:solidFill>
                <a:srgbClr val="55555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95325" y="6038850"/>
            <a:ext cx="1085850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左图对应总 RPS 2 / 3 / 4，折线仅连接已测点。右图为同批逐请求数据的门槛扫描，Scale 越小越严格。</a:t>
            </a:r>
            <a:endParaRPr sz="975" b="0">
              <a:solidFill>
                <a:srgbClr val="66666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95325" y="6286500"/>
            <a:ext cx="10858500" cy="2190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00" b="0">
                <a:solidFill>
                  <a:srgbClr val="777777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777777"/>
                </a:solidFill>
                <a:latin typeface="微软雅黑"/>
                <a:ea typeface="微软雅黑"/>
                <a:cs typeface="微软雅黑"/>
              </a:rPr>
              <a:t>AFD MBT=64K，EP16 MBT=4K。沿用原第 17 页批次及节点，属于跨配置比较。仅 TTFT SLO，不含 TPOT。</a:t>
            </a:r>
            <a:endParaRPr sz="900" b="0">
              <a:solidFill>
                <a:srgbClr val="77777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11458575" y="6562725"/>
            <a:ext cx="333375" cy="1524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67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675" b="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30</a:t>
            </a:r>
            <a:endParaRPr sz="675" b="0">
              <a:solidFill>
                <a:srgbClr val="888888"/>
              </a:solidFill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>
            <a:spLocks noGrp="1"/>
          </p:cNvSpPr>
          <p:nvPr/>
        </p:nvSpPr>
        <p:spPr>
          <a:xfrm>
            <a:off x="695325" y="257175"/>
            <a:ext cx="4762500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825" b="1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825" b="1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ASYNC PREFILL SLO</a:t>
            </a:r>
            <a:endParaRPr sz="825" b="1">
              <a:solidFill>
                <a:srgbClr val="888888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95325" y="495300"/>
            <a:ext cx="1085850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AFD DP4TP2 与 EP16：TTFT SLO 达标率（对照 8K）</a:t>
            </a:r>
            <a:endParaRPr sz="2100" b="1">
              <a:solidFill>
                <a:srgbClr val="C000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95325" y="1047750"/>
            <a:ext cx="10858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555555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模型：dsv4-flash    单机 16 NPU die    TTFT 基准门槛：10 秒    达标率目标：90%</a:t>
            </a:r>
            <a:endParaRPr sz="1275" b="0">
              <a:solidFill>
                <a:srgbClr val="55555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476375" y="1476375"/>
            <a:ext cx="333375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1">
                <a:solidFill>
                  <a:srgbClr val="F0A000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F0A000"/>
                </a:solidFill>
                <a:latin typeface="Calibri"/>
                <a:ea typeface="Calibri"/>
                <a:cs typeface="Calibri"/>
              </a:rPr>
              <a:t>AFD DP4TP2 64K</a:t>
            </a:r>
            <a:endParaRPr sz="1200" b="1">
              <a:solidFill>
                <a:srgbClr val="F0A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4857750" y="1476375"/>
            <a:ext cx="333375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1">
                <a:solidFill>
                  <a:srgbClr val="548235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548235"/>
                </a:solidFill>
                <a:latin typeface="Calibri"/>
                <a:ea typeface="Calibri"/>
                <a:cs typeface="Calibri"/>
              </a:rPr>
              <a:t>EP16 DP4TP4 8K</a:t>
            </a:r>
            <a:endParaRPr sz="1200" b="1">
              <a:solidFill>
                <a:srgbClr val="548235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8239125" y="1476375"/>
            <a:ext cx="333375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1">
                <a:solidFill>
                  <a:srgbClr val="4472C4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4472C4"/>
                </a:solidFill>
                <a:latin typeface="Calibri"/>
                <a:ea typeface="Calibri"/>
                <a:cs typeface="Calibri"/>
              </a:rPr>
              <a:t>EP16 DP8TP2 8K</a:t>
            </a:r>
            <a:endParaRPr sz="1200" b="1">
              <a:solidFill>
                <a:srgbClr val="4472C4"/>
              </a:solidFill>
              <a:latin typeface="Calibri"/>
              <a:ea typeface="Calibri"/>
              <a:cs typeface="Calibri"/>
            </a:endParaRPr>
          </a:p>
        </p:txBody>
      </p:sp>
      <p:graphicFrame>
        <p:nvGraphicFramePr>
          <p:cNvPr id="20" name="Chart"/>
          <p:cNvGraphicFramePr/>
          <p:nvPr/>
        </p:nvGraphicFramePr>
        <p:xfrm>
          <a:off x="600075" y="1933575"/>
          <a:ext cx="5314950" cy="31718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21" name="Chart"/>
          <p:cNvGraphicFramePr/>
          <p:nvPr/>
        </p:nvGraphicFramePr>
        <p:xfrm>
          <a:off x="6267450" y="1933575"/>
          <a:ext cx="5314950" cy="31718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9" name="矩形 8"/>
          <p:cNvSpPr>
            <a:spLocks noGrp="1"/>
          </p:cNvSpPr>
          <p:nvPr/>
        </p:nvSpPr>
        <p:spPr>
          <a:xfrm>
            <a:off x="695325" y="5295900"/>
            <a:ext cx="108585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RPS=4、TTFT≤10s：AFD 63.0%，EP16 DP4TP4 62.5%，EP16 DP8TP2 89.6%</a:t>
            </a:r>
            <a:endParaRPr sz="1500" b="1">
              <a:solidFill>
                <a:srgbClr val="22222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695325" y="5781675"/>
            <a:ext cx="1085850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达标率＝成功且 TTFT≤门槛的请求数 / 1536。每轮计算后取三轮均值，失败请求计未达标。</a:t>
            </a:r>
            <a:endParaRPr sz="1050" b="0">
              <a:solidFill>
                <a:srgbClr val="55555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95325" y="6038850"/>
            <a:ext cx="1085850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左图对应总 RPS 2 / 3 / 4，折线仅连接已测点。右图为同批逐请求数据的门槛扫描，Scale 越小越严格。</a:t>
            </a:r>
            <a:endParaRPr sz="975" b="0">
              <a:solidFill>
                <a:srgbClr val="66666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95325" y="6286500"/>
            <a:ext cx="10858500" cy="2190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00" b="0">
                <a:solidFill>
                  <a:srgbClr val="777777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777777"/>
                </a:solidFill>
                <a:latin typeface="微软雅黑"/>
                <a:ea typeface="微软雅黑"/>
                <a:cs typeface="微软雅黑"/>
              </a:rPr>
              <a:t>AFD MBT=64K，EP16 MBT=8K。沿用原第 18 页批次及节点，属于跨配置比较。仅 TTFT SLO，不含 TPOT。</a:t>
            </a:r>
            <a:endParaRPr sz="900" b="0">
              <a:solidFill>
                <a:srgbClr val="77777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11458575" y="6562725"/>
            <a:ext cx="333375" cy="1524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67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675" b="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31</a:t>
            </a:r>
            <a:endParaRPr sz="675" b="0">
              <a:solidFill>
                <a:srgbClr val="888888"/>
              </a:solidFill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>
            <a:spLocks noGrp="1"/>
          </p:cNvSpPr>
          <p:nvPr/>
        </p:nvSpPr>
        <p:spPr>
          <a:xfrm>
            <a:off x="695325" y="257175"/>
            <a:ext cx="4762500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825" b="1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825" b="1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ASYNC PREFILL SLO</a:t>
            </a:r>
            <a:endParaRPr sz="825" b="1">
              <a:solidFill>
                <a:srgbClr val="888888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95325" y="495300"/>
            <a:ext cx="1085850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AFD DP4TP2 与 EP16：TTFT SLO 达标率（对照 16K）</a:t>
            </a:r>
            <a:endParaRPr sz="2100" b="1">
              <a:solidFill>
                <a:srgbClr val="C000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95325" y="1047750"/>
            <a:ext cx="10858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555555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模型：dsv4-flash    单机 16 NPU die    TTFT 基准门槛：10 秒    达标率目标：90%</a:t>
            </a:r>
            <a:endParaRPr sz="1275" b="0">
              <a:solidFill>
                <a:srgbClr val="55555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476375" y="1476375"/>
            <a:ext cx="333375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1">
                <a:solidFill>
                  <a:srgbClr val="F0A000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F0A000"/>
                </a:solidFill>
                <a:latin typeface="Calibri"/>
                <a:ea typeface="Calibri"/>
                <a:cs typeface="Calibri"/>
              </a:rPr>
              <a:t>AFD DP4TP2 64K</a:t>
            </a:r>
            <a:endParaRPr sz="1200" b="1">
              <a:solidFill>
                <a:srgbClr val="F0A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4857750" y="1476375"/>
            <a:ext cx="333375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1">
                <a:solidFill>
                  <a:srgbClr val="548235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548235"/>
                </a:solidFill>
                <a:latin typeface="Calibri"/>
                <a:ea typeface="Calibri"/>
                <a:cs typeface="Calibri"/>
              </a:rPr>
              <a:t>EP16 DP4TP4 16K</a:t>
            </a:r>
            <a:endParaRPr sz="1200" b="1">
              <a:solidFill>
                <a:srgbClr val="548235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8239125" y="1476375"/>
            <a:ext cx="333375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1">
                <a:solidFill>
                  <a:srgbClr val="4472C4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4472C4"/>
                </a:solidFill>
                <a:latin typeface="Calibri"/>
                <a:ea typeface="Calibri"/>
                <a:cs typeface="Calibri"/>
              </a:rPr>
              <a:t>EP16 DP8TP2 16K</a:t>
            </a:r>
            <a:endParaRPr sz="1200" b="1">
              <a:solidFill>
                <a:srgbClr val="4472C4"/>
              </a:solidFill>
              <a:latin typeface="Calibri"/>
              <a:ea typeface="Calibri"/>
              <a:cs typeface="Calibri"/>
            </a:endParaRPr>
          </a:p>
        </p:txBody>
      </p:sp>
      <p:graphicFrame>
        <p:nvGraphicFramePr>
          <p:cNvPr id="20" name="Chart"/>
          <p:cNvGraphicFramePr/>
          <p:nvPr/>
        </p:nvGraphicFramePr>
        <p:xfrm>
          <a:off x="600075" y="1933575"/>
          <a:ext cx="5314950" cy="31718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21" name="Chart"/>
          <p:cNvGraphicFramePr/>
          <p:nvPr/>
        </p:nvGraphicFramePr>
        <p:xfrm>
          <a:off x="6267450" y="1933575"/>
          <a:ext cx="5314950" cy="31718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9" name="矩形 8"/>
          <p:cNvSpPr>
            <a:spLocks noGrp="1"/>
          </p:cNvSpPr>
          <p:nvPr/>
        </p:nvSpPr>
        <p:spPr>
          <a:xfrm>
            <a:off x="695325" y="5295900"/>
            <a:ext cx="108585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RPS=4、TTFT≤10s：AFD 63.0%，EP16 DP4TP4 66.3%，EP16 DP8TP2 59.6%</a:t>
            </a:r>
            <a:endParaRPr sz="1500" b="1">
              <a:solidFill>
                <a:srgbClr val="22222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695325" y="5781675"/>
            <a:ext cx="1085850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达标率＝成功且 TTFT≤门槛的请求数 / 1536。每轮计算后取三轮均值，失败请求计未达标。</a:t>
            </a:r>
            <a:endParaRPr sz="1050" b="0">
              <a:solidFill>
                <a:srgbClr val="55555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95325" y="6038850"/>
            <a:ext cx="1085850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左图对应总 RPS 2 / 3 / 4，折线仅连接已测点。右图为同批逐请求数据的门槛扫描，Scale 越小越严格。</a:t>
            </a:r>
            <a:endParaRPr sz="975" b="0">
              <a:solidFill>
                <a:srgbClr val="66666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95325" y="6286500"/>
            <a:ext cx="10858500" cy="2190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00" b="0">
                <a:solidFill>
                  <a:srgbClr val="777777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777777"/>
                </a:solidFill>
                <a:latin typeface="微软雅黑"/>
                <a:ea typeface="微软雅黑"/>
                <a:cs typeface="微软雅黑"/>
              </a:rPr>
              <a:t>AFD MBT=64K，EP16 MBT=16K。沿用原第 19 页批次及节点，属于跨配置比较。仅 TTFT SLO，不含 TPOT。</a:t>
            </a:r>
            <a:endParaRPr sz="900" b="0">
              <a:solidFill>
                <a:srgbClr val="77777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11458575" y="6562725"/>
            <a:ext cx="333375" cy="1524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67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675" b="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32</a:t>
            </a:r>
            <a:endParaRPr sz="675" b="0">
              <a:solidFill>
                <a:srgbClr val="888888"/>
              </a:solidFill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SYNC PREFILL SUPPLEMENT"/>
          <p:cNvSpPr>
            <a:spLocks noGrp="1"/>
          </p:cNvSpPr>
          <p:nvPr/>
        </p:nvSpPr>
        <p:spPr>
          <a:xfrm>
            <a:off x="609600" y="228600"/>
            <a:ext cx="66675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825" b="1">
                <a:solidFill>
                  <a:srgbClr val="898989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1">
                <a:solidFill>
                  <a:srgbClr val="898989"/>
                </a:solidFill>
                <a:latin typeface="微软雅黑"/>
                <a:ea typeface="微软雅黑"/>
                <a:cs typeface="微软雅黑"/>
              </a:rPr>
              <a:t>ASYNC PREFILL RESULTS</a:t>
            </a:r>
            <a:endParaRPr sz="825" b="1">
              <a:solidFill>
                <a:srgbClr val="89898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" name="AFD DP4TP2 + FFN EP8：不同 MBT 与 RPS 的"/>
          <p:cNvSpPr>
            <a:spLocks noGrp="1"/>
          </p:cNvSpPr>
          <p:nvPr/>
        </p:nvSpPr>
        <p:spPr>
          <a:xfrm>
            <a:off x="609600" y="476250"/>
            <a:ext cx="1097280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AFD DP4TP2 + FFN EP8：不同 MBT 与 RPS 的 TTFT</a:t>
            </a:r>
            <a:endParaRPr sz="2100" b="1">
              <a:solidFill>
                <a:srgbClr val="C000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补充实验：单机 16 die，dsv4-flash，同一 1,536 "/>
          <p:cNvSpPr>
            <a:spLocks noGrp="1"/>
          </p:cNvSpPr>
          <p:nvPr/>
        </p:nvSpPr>
        <p:spPr>
          <a:xfrm>
            <a:off x="609600" y="1066800"/>
            <a:ext cx="10972800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125" b="0">
                <a:solidFill>
                  <a:srgbClr val="234CA5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234CA5"/>
                </a:solidFill>
                <a:latin typeface="微软雅黑"/>
                <a:ea typeface="微软雅黑"/>
                <a:cs typeface="微软雅黑"/>
              </a:rPr>
              <a:t>本次实验：单机 16 die，dsv4-flash，同一 1,536 请求序列，输出 1 token</a:t>
            </a:r>
            <a:endParaRPr sz="1125" b="0">
              <a:solidFill>
                <a:srgbClr val="234CA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23"/>
          <p:cNvSpPr>
            <a:spLocks noGrp="1"/>
          </p:cNvSpPr>
          <p:nvPr/>
        </p:nvSpPr>
        <p:spPr>
          <a:xfrm>
            <a:off x="11239500" y="6524625"/>
            <a:ext cx="333375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750" b="0">
                <a:solidFill>
                  <a:srgbClr val="777777"/>
                </a:solidFill>
                <a:latin typeface="微软雅黑"/>
                <a:ea typeface="微软雅黑"/>
                <a:cs typeface="微软雅黑"/>
              </a:defRPr>
            </a:pPr>
            <a:r>
              <a:rPr sz="750" b="0">
                <a:solidFill>
                  <a:srgbClr val="777777"/>
                </a:solidFill>
                <a:latin typeface="微软雅黑"/>
                <a:ea typeface="微软雅黑"/>
                <a:cs typeface="微软雅黑"/>
              </a:rPr>
              <a:t>20</a:t>
            </a:r>
            <a:endParaRPr sz="750" b="0">
              <a:solidFill>
                <a:srgbClr val="77777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平均 TTFT（秒）"/>
          <p:cNvSpPr>
            <a:spLocks noGrp="1"/>
          </p:cNvSpPr>
          <p:nvPr/>
        </p:nvSpPr>
        <p:spPr>
          <a:xfrm>
            <a:off x="609600" y="1524000"/>
            <a:ext cx="581025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575" b="1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平均 TTFT（秒）</a:t>
            </a:r>
            <a:endParaRPr sz="1575" b="1">
              <a:solidFill>
                <a:srgbClr val="22222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每格：均值 / P99（秒）"/>
          <p:cNvSpPr>
            <a:spLocks noGrp="1"/>
          </p:cNvSpPr>
          <p:nvPr/>
        </p:nvSpPr>
        <p:spPr>
          <a:xfrm>
            <a:off x="6667500" y="1524000"/>
            <a:ext cx="485775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575" b="1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每格：均值 / P99（秒）</a:t>
            </a:r>
            <a:endParaRPr sz="1575" b="1">
              <a:solidFill>
                <a:srgbClr val="222222"/>
              </a:solidFill>
              <a:latin typeface="微软雅黑"/>
              <a:ea typeface="微软雅黑"/>
              <a:cs typeface="微软雅黑"/>
            </a:endParaRPr>
          </a:p>
        </p:txBody>
      </p:sp>
      <p:graphicFrame>
        <p:nvGraphicFramePr>
          <p:cNvPr id="20" name="表格 17"/>
          <p:cNvGraphicFramePr/>
          <p:nvPr/>
        </p:nvGraphicFramePr>
        <p:xfrm>
          <a:off x="6667500" y="1952625"/>
          <a:ext cx="4905375" cy="2809875"/>
        </p:xfrm>
        <a:graphic>
          <a:graphicData uri="http://schemas.openxmlformats.org/drawingml/2006/table">
            <a:tbl>
              <a:tblPr/>
              <a:tblGrid>
                <a:gridCol w="704850"/>
                <a:gridCol w="1400175"/>
                <a:gridCol w="1400175"/>
                <a:gridCol w="1400175"/>
              </a:tblGrid>
              <a:tr h="56197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7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MBT</a:t>
                      </a:r>
                      <a:endParaRPr sz="1275" b="1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RPS 2</a:t>
                      </a:r>
                      <a:endParaRPr sz="1275" b="1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RPS 3</a:t>
                      </a:r>
                      <a:endParaRPr sz="1275" b="1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RPS 4</a:t>
                      </a:r>
                      <a:endParaRPr sz="1275" b="1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>
                    <a:solidFill>
                      <a:srgbClr val="222222"/>
                    </a:solidFill>
                  </a:tcPr>
                </a:tc>
              </a:tr>
              <a:tr h="56197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75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8K</a:t>
                      </a:r>
                      <a:endParaRPr sz="1275" b="0">
                        <a:solidFill>
                          <a:srgbClr val="222222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1.97 / 7.97</a:t>
                      </a:r>
                      <a:endParaRPr sz="1275" b="0">
                        <a:solidFill>
                          <a:srgbClr val="222222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4.00 / 13.68</a:t>
                      </a:r>
                      <a:endParaRPr sz="1275" b="0">
                        <a:solidFill>
                          <a:srgbClr val="222222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32.12 / 59.81</a:t>
                      </a:r>
                      <a:endParaRPr sz="1275" b="0">
                        <a:solidFill>
                          <a:srgbClr val="222222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56197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75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16K</a:t>
                      </a:r>
                      <a:endParaRPr sz="1275" b="0">
                        <a:solidFill>
                          <a:srgbClr val="222222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1.54 / 7.05</a:t>
                      </a:r>
                      <a:endParaRPr sz="1275" b="0">
                        <a:solidFill>
                          <a:srgbClr val="222222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2.63 / 9.98</a:t>
                      </a:r>
                      <a:endParaRPr sz="1275" b="0">
                        <a:solidFill>
                          <a:srgbClr val="222222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10.16 / 21.35</a:t>
                      </a:r>
                      <a:endParaRPr sz="1275" b="0">
                        <a:solidFill>
                          <a:srgbClr val="222222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197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75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32K</a:t>
                      </a:r>
                      <a:endParaRPr sz="1275" b="0">
                        <a:solidFill>
                          <a:srgbClr val="222222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1.67 / 7.07</a:t>
                      </a:r>
                      <a:endParaRPr sz="1275" b="0">
                        <a:solidFill>
                          <a:srgbClr val="222222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2.77 / 11.01</a:t>
                      </a:r>
                      <a:endParaRPr sz="1275" b="0">
                        <a:solidFill>
                          <a:srgbClr val="222222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7.54 / 18.52</a:t>
                      </a:r>
                      <a:endParaRPr sz="1275" b="0">
                        <a:solidFill>
                          <a:srgbClr val="222222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56197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75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64K</a:t>
                      </a:r>
                      <a:endParaRPr sz="1275" b="0">
                        <a:solidFill>
                          <a:srgbClr val="222222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1.62 / 6.98</a:t>
                      </a:r>
                      <a:endParaRPr sz="1275" b="0">
                        <a:solidFill>
                          <a:srgbClr val="222222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2.90 / 11.06</a:t>
                      </a:r>
                      <a:endParaRPr sz="1275" b="0">
                        <a:solidFill>
                          <a:srgbClr val="222222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8.56 / 20.28</a:t>
                      </a:r>
                      <a:endParaRPr sz="1275" b="0">
                        <a:solidFill>
                          <a:srgbClr val="222222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PS 2/3：16K 的平均 TTFT 最低&#10;RPS 4：32K 的"/>
          <p:cNvSpPr>
            <a:spLocks noGrp="1"/>
          </p:cNvSpPr>
          <p:nvPr/>
        </p:nvSpPr>
        <p:spPr>
          <a:xfrm>
            <a:off x="6667500" y="5000625"/>
            <a:ext cx="4905375" cy="723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575" b="1">
                <a:solidFill>
                  <a:srgbClr val="234CA5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234CA5"/>
                </a:solidFill>
                <a:latin typeface="微软雅黑"/>
                <a:ea typeface="微软雅黑"/>
                <a:cs typeface="微软雅黑"/>
              </a:rPr>
              <a:t>RPS 2/3：16K 的平均 TTFT 最低</a:t>
            </a:r>
            <a:endParaRPr sz="1575" b="1">
              <a:solidFill>
                <a:srgbClr val="234CA5"/>
              </a:solidFill>
              <a:latin typeface="微软雅黑"/>
              <a:ea typeface="微软雅黑"/>
              <a:cs typeface="微软雅黑"/>
            </a:endParaRPr>
          </a:p>
          <a:p>
            <a:pPr>
              <a:buNone/>
              <a:defRPr sz="1575" b="1">
                <a:solidFill>
                  <a:srgbClr val="234CA5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234CA5"/>
                </a:solidFill>
                <a:latin typeface="微软雅黑"/>
                <a:ea typeface="微软雅黑"/>
                <a:cs typeface="微软雅黑"/>
              </a:rPr>
              <a:t>RPS 4：32K 的平均值与 P99 最低</a:t>
            </a:r>
            <a:endParaRPr sz="1575" b="1">
              <a:solidFill>
                <a:srgbClr val="234CA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8K/16K/32K 各 1 轮，64K 为 3 轮均值，节点不同。此"/>
          <p:cNvSpPr>
            <a:spLocks noGrp="1"/>
          </p:cNvSpPr>
          <p:nvPr/>
        </p:nvSpPr>
        <p:spPr>
          <a:xfrm>
            <a:off x="609600" y="6124575"/>
            <a:ext cx="10953750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900" b="0">
                <a:solidFill>
                  <a:srgbClr val="777777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777777"/>
                </a:solidFill>
                <a:latin typeface="微软雅黑"/>
                <a:ea typeface="微软雅黑"/>
                <a:cs typeface="微软雅黑"/>
              </a:rPr>
              <a:t>本次 09-08/09 批次：8K/16K/32K 各 1 轮，64K 为 3 轮均值。节点不同，64K 与前页 AFD 数据一致。</a:t>
            </a:r>
            <a:endParaRPr sz="900" b="0">
              <a:solidFill>
                <a:srgbClr val="777777"/>
              </a:solidFill>
              <a:latin typeface="微软雅黑"/>
              <a:ea typeface="微软雅黑"/>
              <a:cs typeface="微软雅黑"/>
            </a:endParaRPr>
          </a:p>
        </p:txBody>
      </p:sp>
      <p:graphicFrame>
        <p:nvGraphicFramePr>
          <p:cNvPr id="23" name="Chart"/>
          <p:cNvGraphicFramePr/>
          <p:nvPr/>
        </p:nvGraphicFramePr>
        <p:xfrm>
          <a:off x="609600" y="1924050"/>
          <a:ext cx="5715000" cy="34766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SYNC PREFILL SUPPLEMENT"/>
          <p:cNvSpPr>
            <a:spLocks noGrp="1"/>
          </p:cNvSpPr>
          <p:nvPr/>
        </p:nvSpPr>
        <p:spPr>
          <a:xfrm>
            <a:off x="609600" y="228600"/>
            <a:ext cx="66675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825" b="1">
                <a:solidFill>
                  <a:srgbClr val="898989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1">
                <a:solidFill>
                  <a:srgbClr val="898989"/>
                </a:solidFill>
                <a:latin typeface="微软雅黑"/>
                <a:ea typeface="微软雅黑"/>
                <a:cs typeface="微软雅黑"/>
              </a:rPr>
              <a:t>ASYNC PREFILL RESULTS</a:t>
            </a:r>
            <a:endParaRPr sz="825" b="1">
              <a:solidFill>
                <a:srgbClr val="89898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" name="MBT 调整收益：以同一 RPS 的 AFD 64K 为基准"/>
          <p:cNvSpPr>
            <a:spLocks noGrp="1"/>
          </p:cNvSpPr>
          <p:nvPr/>
        </p:nvSpPr>
        <p:spPr>
          <a:xfrm>
            <a:off x="609600" y="476250"/>
            <a:ext cx="1097280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MBT 调整收益：以同一 RPS 的 AFD 64K 为基准</a:t>
            </a:r>
            <a:endParaRPr sz="2100" b="1">
              <a:solidFill>
                <a:srgbClr val="C000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收益 = 1 − 当前 MBT 的 TTFT / 64K 的 TTFT"/>
          <p:cNvSpPr>
            <a:spLocks noGrp="1"/>
          </p:cNvSpPr>
          <p:nvPr/>
        </p:nvSpPr>
        <p:spPr>
          <a:xfrm>
            <a:off x="609600" y="1066800"/>
            <a:ext cx="10972800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125" b="0">
                <a:solidFill>
                  <a:srgbClr val="234CA5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234CA5"/>
                </a:solidFill>
                <a:latin typeface="微软雅黑"/>
                <a:ea typeface="微软雅黑"/>
                <a:cs typeface="微软雅黑"/>
              </a:rPr>
              <a:t>收益 = 1 − 当前 MBT 的 TTFT / 64K 的 TTFT。正值表示延迟降低，负值表示增加</a:t>
            </a:r>
            <a:endParaRPr sz="1125" b="0">
              <a:solidFill>
                <a:srgbClr val="234CA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24"/>
          <p:cNvSpPr>
            <a:spLocks noGrp="1"/>
          </p:cNvSpPr>
          <p:nvPr/>
        </p:nvSpPr>
        <p:spPr>
          <a:xfrm>
            <a:off x="11239500" y="6524625"/>
            <a:ext cx="333375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750" b="0">
                <a:solidFill>
                  <a:srgbClr val="777777"/>
                </a:solidFill>
                <a:latin typeface="微软雅黑"/>
                <a:ea typeface="微软雅黑"/>
                <a:cs typeface="微软雅黑"/>
              </a:defRPr>
            </a:pPr>
            <a:r>
              <a:rPr sz="750" b="0">
                <a:solidFill>
                  <a:srgbClr val="777777"/>
                </a:solidFill>
                <a:latin typeface="微软雅黑"/>
                <a:ea typeface="微软雅黑"/>
                <a:cs typeface="微软雅黑"/>
              </a:rPr>
              <a:t>21</a:t>
            </a:r>
            <a:endParaRPr sz="750" b="0">
              <a:solidFill>
                <a:srgbClr val="77777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每格：平均 TTFT 降幅 / P99 降幅"/>
          <p:cNvSpPr>
            <a:spLocks noGrp="1"/>
          </p:cNvSpPr>
          <p:nvPr/>
        </p:nvSpPr>
        <p:spPr>
          <a:xfrm>
            <a:off x="609600" y="1562100"/>
            <a:ext cx="1047750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65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每格：平均 TTFT 降幅 / P99 降幅</a:t>
            </a:r>
            <a:endParaRPr sz="1650" b="1">
              <a:solidFill>
                <a:srgbClr val="222222"/>
              </a:solidFill>
              <a:latin typeface="微软雅黑"/>
              <a:ea typeface="微软雅黑"/>
              <a:cs typeface="微软雅黑"/>
            </a:endParaRPr>
          </a:p>
        </p:txBody>
      </p:sp>
      <p:graphicFrame>
        <p:nvGraphicFramePr>
          <p:cNvPr id="17" name="表格 14"/>
          <p:cNvGraphicFramePr/>
          <p:nvPr/>
        </p:nvGraphicFramePr>
        <p:xfrm>
          <a:off x="609600" y="2000250"/>
          <a:ext cx="10972800" cy="2476500"/>
        </p:xfrm>
        <a:graphic>
          <a:graphicData uri="http://schemas.openxmlformats.org/drawingml/2006/table">
            <a:tbl>
              <a:tblPr/>
              <a:tblGrid>
                <a:gridCol w="1428750"/>
                <a:gridCol w="3181350"/>
                <a:gridCol w="3181350"/>
                <a:gridCol w="3181350"/>
              </a:tblGrid>
              <a:tr h="4953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7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MBT</a:t>
                      </a:r>
                      <a:endParaRPr sz="1575" b="1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7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RPS 2</a:t>
                      </a:r>
                      <a:endParaRPr sz="1575" b="1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7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RPS 3</a:t>
                      </a:r>
                      <a:endParaRPr sz="1575" b="1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7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RPS 4</a:t>
                      </a:r>
                      <a:endParaRPr sz="1575" b="1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>
                    <a:solidFill>
                      <a:srgbClr val="222222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75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8K</a:t>
                      </a:r>
                      <a:endParaRPr sz="1575" b="0">
                        <a:solidFill>
                          <a:srgbClr val="222222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75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−21.8% / −14.2%</a:t>
                      </a:r>
                      <a:endParaRPr sz="1575" b="0">
                        <a:solidFill>
                          <a:srgbClr val="222222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75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−38.3% / −23.7%</a:t>
                      </a:r>
                      <a:endParaRPr sz="1575" b="0">
                        <a:solidFill>
                          <a:srgbClr val="222222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75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−275.4% / −194.8%</a:t>
                      </a:r>
                      <a:endParaRPr sz="1575" b="0">
                        <a:solidFill>
                          <a:srgbClr val="222222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75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16K</a:t>
                      </a:r>
                      <a:endParaRPr sz="1575" b="0">
                        <a:solidFill>
                          <a:srgbClr val="222222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75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+5.2% / −1.0%</a:t>
                      </a:r>
                      <a:endParaRPr sz="1575" b="0">
                        <a:solidFill>
                          <a:srgbClr val="222222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75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+9.3% / +9.7%</a:t>
                      </a:r>
                      <a:endParaRPr sz="1575" b="0">
                        <a:solidFill>
                          <a:srgbClr val="222222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75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−18.7% / −5.3%</a:t>
                      </a:r>
                      <a:endParaRPr sz="1575" b="0">
                        <a:solidFill>
                          <a:srgbClr val="222222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75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32K</a:t>
                      </a:r>
                      <a:endParaRPr sz="1575" b="0">
                        <a:solidFill>
                          <a:srgbClr val="222222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75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−3.1% / −1.3%</a:t>
                      </a:r>
                      <a:endParaRPr sz="1575" b="0">
                        <a:solidFill>
                          <a:srgbClr val="222222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75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+4.5% / +0.4%</a:t>
                      </a:r>
                      <a:endParaRPr sz="1575" b="0">
                        <a:solidFill>
                          <a:srgbClr val="222222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75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+11.8% / +8.7%</a:t>
                      </a:r>
                      <a:endParaRPr sz="1575" b="0">
                        <a:solidFill>
                          <a:srgbClr val="222222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75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64K</a:t>
                      </a:r>
                      <a:endParaRPr sz="1575" b="0">
                        <a:solidFill>
                          <a:srgbClr val="222222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75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+0.0% / +0.0%</a:t>
                      </a:r>
                      <a:endParaRPr sz="1575" b="0">
                        <a:solidFill>
                          <a:srgbClr val="222222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75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+0.0% / +0.0%</a:t>
                      </a:r>
                      <a:endParaRPr sz="1575" b="0">
                        <a:solidFill>
                          <a:srgbClr val="222222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75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+0.0% / +0.0%</a:t>
                      </a:r>
                      <a:endParaRPr sz="1575" b="0">
                        <a:solidFill>
                          <a:srgbClr val="222222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PS=4：32K 相比 64K，平均 TTFT 降低 11.8%，P"/>
          <p:cNvSpPr>
            <a:spLocks noGrp="1"/>
          </p:cNvSpPr>
          <p:nvPr/>
        </p:nvSpPr>
        <p:spPr>
          <a:xfrm>
            <a:off x="609600" y="4762500"/>
            <a:ext cx="1095375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800" b="1">
                <a:solidFill>
                  <a:srgbClr val="234CA5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234CA5"/>
                </a:solidFill>
                <a:latin typeface="微软雅黑"/>
                <a:ea typeface="微软雅黑"/>
                <a:cs typeface="微软雅黑"/>
              </a:rPr>
              <a:t>RPS=4：32K 相比 64K，平均 TTFT 降低 11.8%，P99 降低 8.7%</a:t>
            </a:r>
            <a:endParaRPr sz="1800" b="1">
              <a:solidFill>
                <a:srgbClr val="234CA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8K 在 RPS=4 的实际 QPS 仅 3.465，平均 TTFT "/>
          <p:cNvSpPr>
            <a:spLocks noGrp="1"/>
          </p:cNvSpPr>
          <p:nvPr/>
        </p:nvSpPr>
        <p:spPr>
          <a:xfrm>
            <a:off x="609600" y="5267325"/>
            <a:ext cx="10953750" cy="6381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5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8K 在 RPS=4 的实际 QPS 仅 3.465，平均 TTFT 达 32.12 秒。</a:t>
            </a:r>
            <a:endParaRPr sz="1500" b="0">
              <a:solidFill>
                <a:srgbClr val="222222"/>
              </a:solidFill>
              <a:latin typeface="微软雅黑"/>
              <a:ea typeface="微软雅黑"/>
              <a:cs typeface="微软雅黑"/>
            </a:endParaRPr>
          </a:p>
          <a:p>
            <a:pPr>
              <a:buNone/>
              <a:defRPr sz="15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当前数据支持负载相关的 MBT 选择，尚不能认定单轮最优值具有稳定优势。</a:t>
            </a:r>
            <a:endParaRPr sz="1500" b="0">
              <a:solidFill>
                <a:srgbClr val="22222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8K/16K/32K 各 1 轮，64K 为 3 轮均值。这里只比较 "/>
          <p:cNvSpPr>
            <a:spLocks noGrp="1"/>
          </p:cNvSpPr>
          <p:nvPr/>
        </p:nvSpPr>
        <p:spPr>
          <a:xfrm>
            <a:off x="609600" y="6124575"/>
            <a:ext cx="10953750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900" b="0">
                <a:solidFill>
                  <a:srgbClr val="777777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777777"/>
                </a:solidFill>
                <a:latin typeface="微软雅黑"/>
                <a:ea typeface="微软雅黑"/>
                <a:cs typeface="微软雅黑"/>
              </a:rPr>
              <a:t>本次 09-08/09 批次：8K/16K/32K 各 1 轮，64K 为 3 轮均值。比较 AFD 内部参数收益，节点和轮数不同。</a:t>
            </a:r>
            <a:endParaRPr sz="900" b="0">
              <a:solidFill>
                <a:srgbClr val="777777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ASYNC PREFILL SUPPLEMENT"/>
          <p:cNvSpPr>
            <a:spLocks noGrp="1"/>
          </p:cNvSpPr>
          <p:nvPr/>
        </p:nvSpPr>
        <p:spPr>
          <a:xfrm>
            <a:off x="609600" y="228600"/>
            <a:ext cx="66675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825" b="1">
                <a:solidFill>
                  <a:srgbClr val="898989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1">
                <a:solidFill>
                  <a:srgbClr val="898989"/>
                </a:solidFill>
                <a:latin typeface="微软雅黑"/>
                <a:ea typeface="微软雅黑"/>
                <a:cs typeface="微软雅黑"/>
              </a:rPr>
              <a:t>ASYNC PREFILL RESULTS</a:t>
            </a:r>
            <a:endParaRPr sz="825" b="1">
              <a:solidFill>
                <a:srgbClr val="89898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" name="64K：RPS 从 3 增至 4，三轮都出现 TTFT 上升"/>
          <p:cNvSpPr>
            <a:spLocks noGrp="1"/>
          </p:cNvSpPr>
          <p:nvPr/>
        </p:nvSpPr>
        <p:spPr>
          <a:xfrm>
            <a:off x="609600" y="476250"/>
            <a:ext cx="1097280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64K：RPS 从 3 增至 4，三轮都出现 TTFT 上升</a:t>
            </a:r>
            <a:endParaRPr sz="2100" b="1">
              <a:solidFill>
                <a:srgbClr val="C000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同一数据集与输入顺序，输出 1 token。RPS=3 为 4,608"/>
          <p:cNvSpPr>
            <a:spLocks noGrp="1"/>
          </p:cNvSpPr>
          <p:nvPr/>
        </p:nvSpPr>
        <p:spPr>
          <a:xfrm>
            <a:off x="609600" y="1066800"/>
            <a:ext cx="10972800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125" b="0">
                <a:solidFill>
                  <a:srgbClr val="234CA5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234CA5"/>
                </a:solidFill>
                <a:latin typeface="微软雅黑"/>
                <a:ea typeface="微软雅黑"/>
                <a:cs typeface="微软雅黑"/>
              </a:rPr>
              <a:t>同一数据集与输入顺序，输出 1 token。RPS=3 为 4,608 成功，RPS=4 为 4,607 成功、1 失败</a:t>
            </a:r>
            <a:endParaRPr sz="1125" b="0">
              <a:solidFill>
                <a:srgbClr val="234CA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26"/>
          <p:cNvSpPr>
            <a:spLocks noGrp="1"/>
          </p:cNvSpPr>
          <p:nvPr/>
        </p:nvSpPr>
        <p:spPr>
          <a:xfrm>
            <a:off x="11239500" y="6524625"/>
            <a:ext cx="333375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750" b="0">
                <a:solidFill>
                  <a:srgbClr val="777777"/>
                </a:solidFill>
                <a:latin typeface="微软雅黑"/>
                <a:ea typeface="微软雅黑"/>
                <a:cs typeface="微软雅黑"/>
              </a:defRPr>
            </a:pPr>
            <a:r>
              <a:rPr sz="750" b="0">
                <a:solidFill>
                  <a:srgbClr val="777777"/>
                </a:solidFill>
                <a:latin typeface="微软雅黑"/>
                <a:ea typeface="微软雅黑"/>
                <a:cs typeface="微软雅黑"/>
              </a:rPr>
              <a:t>23</a:t>
            </a:r>
            <a:endParaRPr sz="750" b="0">
              <a:solidFill>
                <a:srgbClr val="77777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三轮均值：平均 2.90s / 8.56s，P50 1.97s / 8"/>
          <p:cNvSpPr>
            <a:spLocks noGrp="1"/>
          </p:cNvSpPr>
          <p:nvPr/>
        </p:nvSpPr>
        <p:spPr>
          <a:xfrm>
            <a:off x="609600" y="1562100"/>
            <a:ext cx="1097280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575" b="1">
                <a:solidFill>
                  <a:srgbClr val="234CA5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234CA5"/>
                </a:solidFill>
                <a:latin typeface="微软雅黑"/>
                <a:ea typeface="微软雅黑"/>
                <a:cs typeface="微软雅黑"/>
              </a:rPr>
              <a:t>三轮均值：平均 2.90s / 8.56s，P50 1.97s / 8.41s，P99 11.06s / 20.28s</a:t>
            </a:r>
            <a:endParaRPr sz="1575" b="1">
              <a:solidFill>
                <a:srgbClr val="234CA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逐轮平均 TTFT（秒）"/>
          <p:cNvSpPr>
            <a:spLocks noGrp="1"/>
          </p:cNvSpPr>
          <p:nvPr/>
        </p:nvSpPr>
        <p:spPr>
          <a:xfrm>
            <a:off x="6572250" y="2019300"/>
            <a:ext cx="495300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575" b="1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逐轮平均 TTFT（秒）</a:t>
            </a:r>
            <a:endParaRPr sz="1575" b="1">
              <a:solidFill>
                <a:srgbClr val="222222"/>
              </a:solidFill>
              <a:latin typeface="微软雅黑"/>
              <a:ea typeface="微软雅黑"/>
              <a:cs typeface="微软雅黑"/>
            </a:endParaRPr>
          </a:p>
        </p:txBody>
      </p:sp>
      <p:graphicFrame>
        <p:nvGraphicFramePr>
          <p:cNvPr id="21" name="表格 18"/>
          <p:cNvGraphicFramePr/>
          <p:nvPr/>
        </p:nvGraphicFramePr>
        <p:xfrm>
          <a:off x="6572250" y="2466975"/>
          <a:ext cx="5000625" cy="2124076"/>
        </p:xfrm>
        <a:graphic>
          <a:graphicData uri="http://schemas.openxmlformats.org/drawingml/2006/table">
            <a:tbl>
              <a:tblPr/>
              <a:tblGrid>
                <a:gridCol w="904875"/>
                <a:gridCol w="1381125"/>
                <a:gridCol w="1381125"/>
                <a:gridCol w="1333500"/>
              </a:tblGrid>
              <a:tr h="53101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7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轮次</a:t>
                      </a:r>
                      <a:endParaRPr sz="1575" b="1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7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RPS 3</a:t>
                      </a:r>
                      <a:endParaRPr sz="1575" b="1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7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RPS 4</a:t>
                      </a:r>
                      <a:endParaRPr sz="1575" b="1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7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倍数</a:t>
                      </a:r>
                      <a:endParaRPr sz="1575" b="1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>
                    <a:solidFill>
                      <a:srgbClr val="222222"/>
                    </a:solidFill>
                  </a:tcPr>
                </a:tc>
              </a:tr>
              <a:tr h="53101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75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</a:t>
                      </a:r>
                      <a:endParaRPr sz="1575" b="0">
                        <a:solidFill>
                          <a:srgbClr val="222222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75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2.96</a:t>
                      </a:r>
                      <a:endParaRPr sz="1575" b="0">
                        <a:solidFill>
                          <a:srgbClr val="222222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75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9.84</a:t>
                      </a:r>
                      <a:endParaRPr sz="1575" b="0">
                        <a:solidFill>
                          <a:srgbClr val="222222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75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3.32×</a:t>
                      </a:r>
                      <a:endParaRPr sz="1575" b="0">
                        <a:solidFill>
                          <a:srgbClr val="222222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53101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75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</a:t>
                      </a:r>
                      <a:endParaRPr sz="1575" b="0">
                        <a:solidFill>
                          <a:srgbClr val="222222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75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2.89</a:t>
                      </a:r>
                      <a:endParaRPr sz="1575" b="0">
                        <a:solidFill>
                          <a:srgbClr val="222222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75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8.07</a:t>
                      </a:r>
                      <a:endParaRPr sz="1575" b="0">
                        <a:solidFill>
                          <a:srgbClr val="222222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75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2.79×</a:t>
                      </a:r>
                      <a:endParaRPr sz="1575" b="0">
                        <a:solidFill>
                          <a:srgbClr val="222222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101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75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</a:t>
                      </a:r>
                      <a:endParaRPr sz="1575" b="0">
                        <a:solidFill>
                          <a:srgbClr val="222222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75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2.84</a:t>
                      </a:r>
                      <a:endParaRPr sz="1575" b="0">
                        <a:solidFill>
                          <a:srgbClr val="222222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75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7.76</a:t>
                      </a:r>
                      <a:endParaRPr sz="1575" b="0">
                        <a:solidFill>
                          <a:srgbClr val="222222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75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2.73×</a:t>
                      </a:r>
                      <a:endParaRPr sz="1575" b="0">
                        <a:solidFill>
                          <a:srgbClr val="222222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9" name="平均 TTFT 增至 2.95 倍&#10;实际 QPS 仅从 2.980 增"/>
          <p:cNvSpPr>
            <a:spLocks noGrp="1"/>
          </p:cNvSpPr>
          <p:nvPr/>
        </p:nvSpPr>
        <p:spPr>
          <a:xfrm>
            <a:off x="6572250" y="4857750"/>
            <a:ext cx="5000625" cy="685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650" b="1">
                <a:solidFill>
                  <a:srgbClr val="234CA5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234CA5"/>
                </a:solidFill>
                <a:latin typeface="微软雅黑"/>
                <a:ea typeface="微软雅黑"/>
                <a:cs typeface="微软雅黑"/>
              </a:rPr>
              <a:t>平均 TTFT 增至 2.95 倍</a:t>
            </a:r>
            <a:endParaRPr sz="1650" b="1">
              <a:solidFill>
                <a:srgbClr val="234CA5"/>
              </a:solidFill>
              <a:latin typeface="微软雅黑"/>
              <a:ea typeface="微软雅黑"/>
              <a:cs typeface="微软雅黑"/>
            </a:endParaRPr>
          </a:p>
          <a:p>
            <a:pPr>
              <a:buNone/>
              <a:defRPr sz="1650" b="1">
                <a:solidFill>
                  <a:srgbClr val="234CA5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234CA5"/>
                </a:solidFill>
                <a:latin typeface="微软雅黑"/>
                <a:ea typeface="微软雅黑"/>
                <a:cs typeface="微软雅黑"/>
              </a:rPr>
              <a:t>实际 QPS 仅从 2.980 增至 3.947</a:t>
            </a:r>
            <a:endParaRPr sz="1650" b="1">
              <a:solidFill>
                <a:srgbClr val="234CA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延迟上升跨三轮复现，不由单个失败请求或单次异常测量造成"/>
          <p:cNvSpPr>
            <a:spLocks noGrp="1"/>
          </p:cNvSpPr>
          <p:nvPr/>
        </p:nvSpPr>
        <p:spPr>
          <a:xfrm>
            <a:off x="609600" y="5638800"/>
            <a:ext cx="1095375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65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延迟上升跨三轮复现，不由单个失败请求或单次异常测量造成</a:t>
            </a:r>
            <a:endParaRPr sz="1650" b="1">
              <a:solidFill>
                <a:srgbClr val="22222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分位数先逐轮计算再取均值。失败请求不纳入延迟。请求速率提高 33.3%"/>
          <p:cNvSpPr>
            <a:spLocks noGrp="1"/>
          </p:cNvSpPr>
          <p:nvPr/>
        </p:nvSpPr>
        <p:spPr>
          <a:xfrm>
            <a:off x="609600" y="6124575"/>
            <a:ext cx="10953750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900" b="0">
                <a:solidFill>
                  <a:srgbClr val="777777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777777"/>
                </a:solidFill>
                <a:latin typeface="微软雅黑"/>
                <a:ea typeface="微软雅黑"/>
                <a:cs typeface="微软雅黑"/>
              </a:rPr>
              <a:t>本次 20260908-rps234：分位数先逐轮计算再取均值，失败请求不纳入延迟。RPS 提高 33.3%，输入序列和输出长度一致。</a:t>
            </a:r>
            <a:endParaRPr sz="900" b="0">
              <a:solidFill>
                <a:srgbClr val="777777"/>
              </a:solidFill>
              <a:latin typeface="微软雅黑"/>
              <a:ea typeface="微软雅黑"/>
              <a:cs typeface="微软雅黑"/>
            </a:endParaRPr>
          </a:p>
        </p:txBody>
      </p:sp>
      <p:graphicFrame>
        <p:nvGraphicFramePr>
          <p:cNvPr id="25" name="Chart"/>
          <p:cNvGraphicFramePr/>
          <p:nvPr/>
        </p:nvGraphicFramePr>
        <p:xfrm>
          <a:off x="609600" y="2076450"/>
          <a:ext cx="5429250" cy="30765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ASYNC PREFILL SUPPLEMENT"/>
          <p:cNvSpPr>
            <a:spLocks noGrp="1"/>
          </p:cNvSpPr>
          <p:nvPr/>
        </p:nvSpPr>
        <p:spPr>
          <a:xfrm>
            <a:off x="609600" y="228600"/>
            <a:ext cx="66675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825" b="1">
                <a:solidFill>
                  <a:srgbClr val="898989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1">
                <a:solidFill>
                  <a:srgbClr val="898989"/>
                </a:solidFill>
                <a:latin typeface="微软雅黑"/>
                <a:ea typeface="微软雅黑"/>
                <a:cs typeface="微软雅黑"/>
              </a:rPr>
              <a:t>ASYNC PREFILL RESULTS</a:t>
            </a:r>
            <a:endParaRPr sz="825" b="1">
              <a:solidFill>
                <a:srgbClr val="89898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" name="64K 的 metrics：延迟增长不只发生在首次调度之前"/>
          <p:cNvSpPr>
            <a:spLocks noGrp="1"/>
          </p:cNvSpPr>
          <p:nvPr/>
        </p:nvSpPr>
        <p:spPr>
          <a:xfrm>
            <a:off x="609600" y="476250"/>
            <a:ext cx="10972800" cy="476250"/>
          </a:xfrm>
          <a:prstGeom prst="rect">
            <a:avLst/>
          </a:prstGeom>
          <a:noFill/>
          <a:ln w="0">
            <a:noFill/>
          </a:ln>
        </p:spPr>
        <p:txBody>
          <a:bodyPr lIns="91440" tIns="38100" rIns="91440" bIns="38100">
            <a:noAutofit/>
          </a:bodyPr>
          <a:lstStyle/>
          <a:p>
            <a:pPr>
              <a:buNone/>
              <a:defRPr sz="21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AFD 64K 与 DP8TP2 8K：RPS 3/4 的 metrics 对比</a:t>
            </a:r>
            <a:endParaRPr sz="2100" b="1">
              <a:solidFill>
                <a:srgbClr val="C000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Attention API 的 before/after histog"/>
          <p:cNvSpPr>
            <a:spLocks noGrp="1"/>
          </p:cNvSpPr>
          <p:nvPr/>
        </p:nvSpPr>
        <p:spPr>
          <a:xfrm>
            <a:off x="609600" y="1066800"/>
            <a:ext cx="10972800" cy="381000"/>
          </a:xfrm>
          <a:prstGeom prst="rect">
            <a:avLst/>
          </a:prstGeom>
          <a:noFill/>
          <a:ln w="0">
            <a:noFill/>
          </a:ln>
        </p:spPr>
        <p:txBody>
          <a:bodyPr lIns="91440" tIns="38100" rIns="91440" bIns="38100">
            <a:noAutofit/>
          </a:bodyPr>
          <a:lstStyle/>
          <a:p>
            <a:pPr>
              <a:buNone/>
              <a:defRPr sz="1125" b="0">
                <a:solidFill>
                  <a:srgbClr val="234CA5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234CA5"/>
                </a:solidFill>
                <a:latin typeface="微软雅黑"/>
                <a:ea typeface="微软雅黑"/>
                <a:cs typeface="微软雅黑"/>
              </a:rPr>
              <a:t>API before/after histogram 差分，每轮 sum/count 后取三轮均值。AFD 为 DP4TP2 + EP8，DP8TP2 为 EP16</a:t>
            </a:r>
            <a:endParaRPr sz="1125" b="0">
              <a:solidFill>
                <a:srgbClr val="234CA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27"/>
          <p:cNvSpPr>
            <a:spLocks noGrp="1"/>
          </p:cNvSpPr>
          <p:nvPr/>
        </p:nvSpPr>
        <p:spPr>
          <a:xfrm>
            <a:off x="11239500" y="6524625"/>
            <a:ext cx="333375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750" b="0">
                <a:solidFill>
                  <a:srgbClr val="777777"/>
                </a:solidFill>
                <a:latin typeface="微软雅黑"/>
                <a:ea typeface="微软雅黑"/>
                <a:cs typeface="微软雅黑"/>
              </a:defRPr>
            </a:pPr>
            <a:r>
              <a:rPr sz="750" b="0">
                <a:solidFill>
                  <a:srgbClr val="777777"/>
                </a:solidFill>
                <a:latin typeface="微软雅黑"/>
                <a:ea typeface="微软雅黑"/>
                <a:cs typeface="微软雅黑"/>
              </a:rPr>
              <a:t>24</a:t>
            </a:r>
            <a:endParaRPr sz="750" b="0">
              <a:solidFill>
                <a:srgbClr val="77777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排队均值增加约 0.32 秒，prefill 区间增加约 4.02 秒"/>
          <p:cNvSpPr>
            <a:spLocks noGrp="1"/>
          </p:cNvSpPr>
          <p:nvPr/>
        </p:nvSpPr>
        <p:spPr>
          <a:xfrm>
            <a:off x="609600" y="4695825"/>
            <a:ext cx="10972800" cy="419100"/>
          </a:xfrm>
          <a:prstGeom prst="rect">
            <a:avLst/>
          </a:prstGeom>
          <a:noFill/>
          <a:ln w="0">
            <a:noFill/>
          </a:ln>
        </p:spPr>
        <p:txBody>
          <a:bodyPr lIns="91440" tIns="38100" rIns="91440" bIns="38100">
            <a:noAutofit/>
          </a:bodyPr>
          <a:lstStyle/>
          <a:p>
            <a:pPr>
              <a:buNone/>
              <a:defRPr sz="1800" b="1">
                <a:solidFill>
                  <a:srgbClr val="234CA5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234CA5"/>
                </a:solidFill>
                <a:latin typeface="微软雅黑"/>
                <a:ea typeface="微软雅黑"/>
                <a:cs typeface="微软雅黑"/>
              </a:rPr>
              <a:t>RPS=4 时，AFD 大 chunk size 配置排队更少，但请求平均 prefill 时间更长</a:t>
            </a:r>
            <a:endParaRPr sz="1800" b="1">
              <a:solidFill>
                <a:srgbClr val="234CA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queue：QUEUED 到首次 SCHEDULED&#10;prefill："/>
          <p:cNvSpPr>
            <a:spLocks noGrp="1"/>
          </p:cNvSpPr>
          <p:nvPr/>
        </p:nvSpPr>
        <p:spPr>
          <a:xfrm>
            <a:off x="609600" y="5248275"/>
            <a:ext cx="10972800" cy="647700"/>
          </a:xfrm>
          <a:prstGeom prst="rect">
            <a:avLst/>
          </a:prstGeom>
          <a:noFill/>
          <a:ln w="0">
            <a:noFill/>
          </a:ln>
        </p:spPr>
        <p:txBody>
          <a:bodyPr lIns="91440" tIns="38100" rIns="91440" bIns="38100">
            <a:noAutofit/>
          </a:bodyPr>
          <a:lstStyle/>
          <a:p>
            <a:pPr>
              <a:buNone/>
              <a:defRPr sz="15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queue：QUEUED 到首次 SCHEDULED。prefill：首次 SCHEDULED 到首个 NEW_TOKEN，含等待和抢占。</a:t>
            </a:r>
            <a:endParaRPr sz="1500" b="0">
              <a:solidFill>
                <a:srgbClr val="222222"/>
              </a:solidFill>
              <a:latin typeface="微软雅黑"/>
              <a:ea typeface="微软雅黑"/>
              <a:cs typeface="微软雅黑"/>
            </a:endParaRPr>
          </a:p>
          <a:p>
            <a:pPr>
              <a:buNone/>
              <a:defRPr sz="15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prefill 区间的变化无法单独归因于 Attention、FFN 或通信耗时。</a:t>
            </a:r>
            <a:endParaRPr sz="1500" b="0">
              <a:solidFill>
                <a:srgbClr val="22222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窗口包含每轮 16 个 warmup，与客户端纯正式请求统计略有差异。"/>
          <p:cNvSpPr>
            <a:spLocks noGrp="1"/>
          </p:cNvSpPr>
          <p:nvPr/>
        </p:nvSpPr>
        <p:spPr>
          <a:xfrm>
            <a:off x="609600" y="6124575"/>
            <a:ext cx="10972800" cy="400050"/>
          </a:xfrm>
          <a:prstGeom prst="rect">
            <a:avLst/>
          </a:prstGeom>
          <a:noFill/>
          <a:ln w="0">
            <a:noFill/>
          </a:ln>
        </p:spPr>
        <p:txBody>
          <a:bodyPr lIns="91440" tIns="38100" rIns="91440" bIns="38100">
            <a:noAutofit/>
          </a:bodyPr>
          <a:lstStyle/>
          <a:p>
            <a:pPr>
              <a:buNone/>
              <a:defRPr sz="900" b="0">
                <a:solidFill>
                  <a:srgbClr val="777777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777777"/>
                </a:solidFill>
                <a:latin typeface="微软雅黑"/>
                <a:ea typeface="微软雅黑"/>
                <a:cs typeface="微软雅黑"/>
              </a:rPr>
              <a:t>20260908-rps234 metrics，窗口含每轮 16 个 warmup，各区间不直接相加。</a:t>
            </a:r>
            <a:endParaRPr sz="900" b="0">
              <a:solidFill>
                <a:srgbClr val="777777"/>
              </a:solidFill>
              <a:latin typeface="微软雅黑"/>
              <a:ea typeface="微软雅黑"/>
              <a:cs typeface="微软雅黑"/>
            </a:endParaRPr>
          </a:p>
          <a:p>
            <a:pPr>
              <a:buNone/>
              <a:defRPr sz="900" b="0">
                <a:solidFill>
                  <a:srgbClr val="777777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777777"/>
                </a:solidFill>
                <a:latin typeface="微软雅黑"/>
                <a:ea typeface="微软雅黑"/>
                <a:cs typeface="微软雅黑"/>
              </a:rPr>
              <a:t>结论基于 AFD 64K 与 DP8TP2 8K 的配置对比，尚未单独分离 chunk size 的影响。</a:t>
            </a:r>
            <a:endParaRPr sz="900" b="0">
              <a:solidFill>
                <a:srgbClr val="777777"/>
              </a:solidFill>
              <a:latin typeface="微软雅黑"/>
              <a:ea typeface="微软雅黑"/>
              <a:cs typeface="微软雅黑"/>
            </a:endParaRPr>
          </a:p>
        </p:txBody>
      </p:sp>
      <p:graphicFrame>
        <p:nvGraphicFramePr>
          <p:cNvPr id="18" name="表格 17"/>
          <p:cNvGraphicFramePr/>
          <p:nvPr/>
        </p:nvGraphicFramePr>
        <p:xfrm>
          <a:off x="609600" y="1714500"/>
          <a:ext cx="10972800" cy="2800350"/>
        </p:xfrm>
        <a:graphic>
          <a:graphicData uri="http://schemas.openxmlformats.org/drawingml/2006/table">
            <a:tbl>
              <a:tblPr/>
              <a:tblGrid>
                <a:gridCol w="2362200"/>
                <a:gridCol w="2419350"/>
                <a:gridCol w="2066925"/>
                <a:gridCol w="2066925"/>
                <a:gridCol w="2057400"/>
              </a:tblGrid>
              <a:tr h="400050">
                <a:tc>
                  <a:txBody>
                    <a:bodyPr/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配置 / MBT</a:t>
                      </a:r>
                      <a:endParaRPr sz="1650" b="1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85725" marR="85725" marT="28575" marB="28575" anchor="ctr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指标（秒）</a:t>
                      </a:r>
                      <a:endParaRPr sz="1650" b="1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85725" marR="85725" marT="28575" marB="28575" anchor="ctr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RPS 3</a:t>
                      </a:r>
                      <a:endParaRPr sz="1650" b="1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85725" marR="85725" marT="28575" marB="28575" anchor="ctr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RPS 4</a:t>
                      </a:r>
                      <a:endParaRPr sz="1650" b="1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85725" marR="85725" marT="28575" marB="28575" anchor="ctr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增量</a:t>
                      </a:r>
                      <a:endParaRPr sz="1650" b="1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85725" marR="85725" marT="28575" marB="28575" anchor="ctr">
                    <a:solidFill>
                      <a:srgbClr val="222222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AFD 64K</a:t>
                      </a:r>
                      <a:endParaRPr sz="1650" b="0">
                        <a:solidFill>
                          <a:srgbClr val="222222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85725" marR="85725" marT="28575" marB="28575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queue</a:t>
                      </a:r>
                      <a:endParaRPr sz="1650" b="0">
                        <a:solidFill>
                          <a:srgbClr val="222222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85725" marR="85725" marT="28575" marB="28575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0.0005</a:t>
                      </a:r>
                      <a:endParaRPr sz="1650" b="0">
                        <a:solidFill>
                          <a:srgbClr val="222222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85725" marR="85725" marT="28575" marB="28575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0.3173</a:t>
                      </a:r>
                      <a:endParaRPr sz="1650" b="0">
                        <a:solidFill>
                          <a:srgbClr val="222222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85725" marR="85725" marT="28575" marB="28575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+0.3168</a:t>
                      </a:r>
                      <a:endParaRPr sz="1650" b="0">
                        <a:solidFill>
                          <a:srgbClr val="222222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85725" marR="85725" marT="28575" marB="28575" anchor="ctr">
                    <a:solidFill>
                      <a:srgbClr val="F4F4F4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AFD 64K</a:t>
                      </a:r>
                      <a:endParaRPr sz="1650" b="0">
                        <a:solidFill>
                          <a:srgbClr val="222222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85725" marR="85725" marT="28575" marB="28575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prefill</a:t>
                      </a:r>
                      <a:endParaRPr sz="1650" b="0">
                        <a:solidFill>
                          <a:srgbClr val="222222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85725" marR="85725" marT="28575" marB="28575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2.0429</a:t>
                      </a:r>
                      <a:endParaRPr sz="1650" b="0">
                        <a:solidFill>
                          <a:srgbClr val="222222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85725" marR="85725" marT="28575" marB="28575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6.0672</a:t>
                      </a:r>
                      <a:endParaRPr sz="1650" b="0">
                        <a:solidFill>
                          <a:srgbClr val="222222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85725" marR="85725" marT="28575" marB="28575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+4.0243</a:t>
                      </a:r>
                      <a:endParaRPr sz="1650" b="0">
                        <a:solidFill>
                          <a:srgbClr val="222222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85725" marR="85725" marT="28575" marB="28575" anchor="ctr">
                    <a:solidFill>
                      <a:srgbClr val="F4F4F4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AFD 64K</a:t>
                      </a:r>
                      <a:endParaRPr sz="1650" b="0">
                        <a:solidFill>
                          <a:srgbClr val="222222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85725" marR="85725" marT="28575" marB="28575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API TTFT</a:t>
                      </a:r>
                      <a:endParaRPr sz="1650" b="0">
                        <a:solidFill>
                          <a:srgbClr val="222222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85725" marR="85725" marT="28575" marB="28575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2.8759</a:t>
                      </a:r>
                      <a:endParaRPr sz="1650" b="0">
                        <a:solidFill>
                          <a:srgbClr val="222222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85725" marR="85725" marT="28575" marB="28575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8.4676</a:t>
                      </a:r>
                      <a:endParaRPr sz="1650" b="0">
                        <a:solidFill>
                          <a:srgbClr val="222222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85725" marR="85725" marT="28575" marB="28575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+5.5916</a:t>
                      </a:r>
                      <a:endParaRPr sz="1650" b="0">
                        <a:solidFill>
                          <a:srgbClr val="222222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85725" marR="85725" marT="28575" marB="28575" anchor="ctr">
                    <a:solidFill>
                      <a:srgbClr val="F4F4F4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DP8TP2 8K</a:t>
                      </a:r>
                      <a:endParaRPr sz="1650" b="0">
                        <a:solidFill>
                          <a:srgbClr val="222222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85725" marR="857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queue</a:t>
                      </a:r>
                      <a:endParaRPr sz="1650" b="0">
                        <a:solidFill>
                          <a:srgbClr val="222222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85725" marR="857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0.4847</a:t>
                      </a:r>
                      <a:endParaRPr sz="1650" b="0">
                        <a:solidFill>
                          <a:srgbClr val="222222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85725" marR="857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1.2776</a:t>
                      </a:r>
                      <a:endParaRPr sz="1650" b="0">
                        <a:solidFill>
                          <a:srgbClr val="222222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85725" marR="857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+0.7929</a:t>
                      </a:r>
                      <a:endParaRPr sz="1650" b="0">
                        <a:solidFill>
                          <a:srgbClr val="222222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85725" marR="85725" marT="28575" marB="28575" anchor="ctr"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DP8TP2 8K</a:t>
                      </a:r>
                      <a:endParaRPr sz="1650" b="0">
                        <a:solidFill>
                          <a:srgbClr val="222222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85725" marR="857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prefill</a:t>
                      </a:r>
                      <a:endParaRPr sz="1650" b="0">
                        <a:solidFill>
                          <a:srgbClr val="222222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85725" marR="857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3.2181</a:t>
                      </a:r>
                      <a:endParaRPr sz="1650" b="0">
                        <a:solidFill>
                          <a:srgbClr val="222222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85725" marR="857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3.5940</a:t>
                      </a:r>
                      <a:endParaRPr sz="1650" b="0">
                        <a:solidFill>
                          <a:srgbClr val="222222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85725" marR="857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+0.3759</a:t>
                      </a:r>
                      <a:endParaRPr sz="1650" b="0">
                        <a:solidFill>
                          <a:srgbClr val="222222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85725" marR="85725" marT="28575" marB="28575" anchor="ctr"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DP8TP2 8K</a:t>
                      </a:r>
                      <a:endParaRPr sz="1650" b="0">
                        <a:solidFill>
                          <a:srgbClr val="222222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85725" marR="857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API TTFT</a:t>
                      </a:r>
                      <a:endParaRPr sz="1650" b="0">
                        <a:solidFill>
                          <a:srgbClr val="222222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85725" marR="857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4.6991</a:t>
                      </a:r>
                      <a:endParaRPr sz="1650" b="0">
                        <a:solidFill>
                          <a:srgbClr val="222222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85725" marR="857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5.7431</a:t>
                      </a:r>
                      <a:endParaRPr sz="1650" b="0">
                        <a:solidFill>
                          <a:srgbClr val="222222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85725" marR="857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+1.0440</a:t>
                      </a:r>
                      <a:endParaRPr sz="1650" b="0">
                        <a:solidFill>
                          <a:srgbClr val="222222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85725" marR="85725" marT="28575" marB="285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ASYNC PREFILL SUPPLEMENT"/>
          <p:cNvSpPr>
            <a:spLocks noGrp="1"/>
          </p:cNvSpPr>
          <p:nvPr/>
        </p:nvSpPr>
        <p:spPr>
          <a:xfrm>
            <a:off x="609600" y="228600"/>
            <a:ext cx="66675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825" b="1">
                <a:solidFill>
                  <a:srgbClr val="898989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1">
                <a:solidFill>
                  <a:srgbClr val="898989"/>
                </a:solidFill>
                <a:latin typeface="微软雅黑"/>
                <a:ea typeface="微软雅黑"/>
                <a:cs typeface="微软雅黑"/>
              </a:rPr>
              <a:t>ASYNC PREFILL RESULTS</a:t>
            </a:r>
            <a:endParaRPr sz="825" b="1">
              <a:solidFill>
                <a:srgbClr val="89898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" name="64K 的请求级证据：短请求也变慢，共同调度与跨步增加"/>
          <p:cNvSpPr>
            <a:spLocks noGrp="1"/>
          </p:cNvSpPr>
          <p:nvPr/>
        </p:nvSpPr>
        <p:spPr>
          <a:xfrm>
            <a:off x="609600" y="476250"/>
            <a:ext cx="1097280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64K 的请求级证据：短请求也变慢，共同调度与跨步增加</a:t>
            </a:r>
            <a:endParaRPr sz="2100" b="1">
              <a:solidFill>
                <a:srgbClr val="C000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合并三轮成功请求。长度固定，指标 M(r)=输入长度 / 所有包含该请"/>
          <p:cNvSpPr>
            <a:spLocks noGrp="1"/>
          </p:cNvSpPr>
          <p:nvPr/>
        </p:nvSpPr>
        <p:spPr>
          <a:xfrm>
            <a:off x="609600" y="1066800"/>
            <a:ext cx="10972800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125" b="0">
                <a:solidFill>
                  <a:srgbClr val="234CA5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234CA5"/>
                </a:solidFill>
                <a:latin typeface="微软雅黑"/>
                <a:ea typeface="微软雅黑"/>
                <a:cs typeface="微软雅黑"/>
              </a:rPr>
              <a:t>M(r) = 请求 r 的输入 token 数 ÷ Σ（包含 r 的每个 step 的 batch 总 token 数）</a:t>
            </a:r>
            <a:endParaRPr sz="1125" b="0">
              <a:solidFill>
                <a:srgbClr val="234CA5"/>
              </a:solidFill>
              <a:latin typeface="微软雅黑"/>
              <a:ea typeface="微软雅黑"/>
              <a:cs typeface="微软雅黑"/>
            </a:endParaRPr>
          </a:p>
          <a:p>
            <a:pPr>
              <a:buNone/>
              <a:defRPr sz="1125" b="0">
                <a:solidFill>
                  <a:srgbClr val="234CA5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234CA5"/>
                </a:solidFill>
                <a:latin typeface="微软雅黑"/>
                <a:ea typeface="微软雅黑"/>
                <a:cs typeface="微软雅黑"/>
              </a:rPr>
              <a:t>按请求所属 DP rank 的 batch 计算；逐请求算出 M(r)，再对三轮成功请求取均值。</a:t>
            </a:r>
            <a:endParaRPr sz="1125" b="0">
              <a:solidFill>
                <a:srgbClr val="234CA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28"/>
          <p:cNvSpPr>
            <a:spLocks noGrp="1"/>
          </p:cNvSpPr>
          <p:nvPr/>
        </p:nvSpPr>
        <p:spPr>
          <a:xfrm>
            <a:off x="11239500" y="6524625"/>
            <a:ext cx="333375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750" b="0">
                <a:solidFill>
                  <a:srgbClr val="777777"/>
                </a:solidFill>
                <a:latin typeface="微软雅黑"/>
                <a:ea typeface="微软雅黑"/>
                <a:cs typeface="微软雅黑"/>
              </a:defRPr>
            </a:pPr>
            <a:r>
              <a:rPr sz="750" b="0">
                <a:solidFill>
                  <a:srgbClr val="777777"/>
                </a:solidFill>
                <a:latin typeface="微软雅黑"/>
                <a:ea typeface="微软雅黑"/>
                <a:cs typeface="微软雅黑"/>
              </a:rPr>
              <a:t>25</a:t>
            </a:r>
            <a:endParaRPr sz="750" b="0">
              <a:solidFill>
                <a:srgbClr val="77777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按输入长度的 P50 TTFT（秒）"/>
          <p:cNvSpPr>
            <a:spLocks noGrp="1"/>
          </p:cNvSpPr>
          <p:nvPr/>
        </p:nvSpPr>
        <p:spPr>
          <a:xfrm>
            <a:off x="609600" y="1590675"/>
            <a:ext cx="609600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575" b="1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按输入长度的 P50 TTFT（秒）</a:t>
            </a:r>
            <a:endParaRPr sz="1575" b="1">
              <a:solidFill>
                <a:srgbClr val="222222"/>
              </a:solidFill>
              <a:latin typeface="微软雅黑"/>
              <a:ea typeface="微软雅黑"/>
              <a:cs typeface="微软雅黑"/>
            </a:endParaRPr>
          </a:p>
        </p:txBody>
      </p:sp>
      <p:graphicFrame>
        <p:nvGraphicFramePr>
          <p:cNvPr id="20" name="表格 16"/>
          <p:cNvGraphicFramePr/>
          <p:nvPr/>
        </p:nvGraphicFramePr>
        <p:xfrm>
          <a:off x="609600" y="2009775"/>
          <a:ext cx="5810250" cy="3048003"/>
        </p:xfrm>
        <a:graphic>
          <a:graphicData uri="http://schemas.openxmlformats.org/drawingml/2006/table">
            <a:tbl>
              <a:tblPr/>
              <a:tblGrid>
                <a:gridCol w="1524000"/>
                <a:gridCol w="1428750"/>
                <a:gridCol w="1428750"/>
                <a:gridCol w="1428750"/>
              </a:tblGrid>
              <a:tr h="43542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输入长度</a:t>
                      </a:r>
                      <a:endParaRPr sz="1500" b="1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RPS 3</a:t>
                      </a:r>
                      <a:endParaRPr sz="1500" b="1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RPS 4</a:t>
                      </a:r>
                      <a:endParaRPr sz="1500" b="1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倍数</a:t>
                      </a:r>
                      <a:endParaRPr sz="1500" b="1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>
                    <a:solidFill>
                      <a:srgbClr val="222222"/>
                    </a:solidFill>
                  </a:tcPr>
                </a:tc>
              </a:tr>
              <a:tr h="43542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&lt;2K</a:t>
                      </a:r>
                      <a:endParaRPr sz="1500" b="0">
                        <a:solidFill>
                          <a:srgbClr val="222222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1.23</a:t>
                      </a:r>
                      <a:endParaRPr sz="1500" b="0">
                        <a:solidFill>
                          <a:srgbClr val="222222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8.09</a:t>
                      </a:r>
                      <a:endParaRPr sz="1500" b="0">
                        <a:solidFill>
                          <a:srgbClr val="222222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6.57×</a:t>
                      </a:r>
                      <a:endParaRPr sz="1500" b="0">
                        <a:solidFill>
                          <a:srgbClr val="222222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43542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2–4K</a:t>
                      </a:r>
                      <a:endParaRPr sz="1500" b="0">
                        <a:solidFill>
                          <a:srgbClr val="222222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1.21</a:t>
                      </a:r>
                      <a:endParaRPr sz="1500" b="0">
                        <a:solidFill>
                          <a:srgbClr val="222222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7.89</a:t>
                      </a:r>
                      <a:endParaRPr sz="1500" b="0">
                        <a:solidFill>
                          <a:srgbClr val="222222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6.50×</a:t>
                      </a:r>
                      <a:endParaRPr sz="1500" b="0">
                        <a:solidFill>
                          <a:srgbClr val="222222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542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4–8K</a:t>
                      </a:r>
                      <a:endParaRPr sz="1500" b="0">
                        <a:solidFill>
                          <a:srgbClr val="222222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1.31</a:t>
                      </a:r>
                      <a:endParaRPr sz="1500" b="0">
                        <a:solidFill>
                          <a:srgbClr val="222222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7.49</a:t>
                      </a:r>
                      <a:endParaRPr sz="1500" b="0">
                        <a:solidFill>
                          <a:srgbClr val="222222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5.72×</a:t>
                      </a:r>
                      <a:endParaRPr sz="1500" b="0">
                        <a:solidFill>
                          <a:srgbClr val="222222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43542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8–16K</a:t>
                      </a:r>
                      <a:endParaRPr sz="1500" b="0">
                        <a:solidFill>
                          <a:srgbClr val="222222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1.78</a:t>
                      </a:r>
                      <a:endParaRPr sz="1500" b="0">
                        <a:solidFill>
                          <a:srgbClr val="222222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8.43</a:t>
                      </a:r>
                      <a:endParaRPr sz="1500" b="0">
                        <a:solidFill>
                          <a:srgbClr val="222222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4.73×</a:t>
                      </a:r>
                      <a:endParaRPr sz="1500" b="0">
                        <a:solidFill>
                          <a:srgbClr val="222222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542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16–32K</a:t>
                      </a:r>
                      <a:endParaRPr sz="1500" b="0">
                        <a:solidFill>
                          <a:srgbClr val="222222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3.09</a:t>
                      </a:r>
                      <a:endParaRPr sz="1500" b="0">
                        <a:solidFill>
                          <a:srgbClr val="222222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9.22</a:t>
                      </a:r>
                      <a:endParaRPr sz="1500" b="0">
                        <a:solidFill>
                          <a:srgbClr val="222222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2.98×</a:t>
                      </a:r>
                      <a:endParaRPr sz="1500" b="0">
                        <a:solidFill>
                          <a:srgbClr val="222222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43542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32–64K</a:t>
                      </a:r>
                      <a:endParaRPr sz="1500" b="0">
                        <a:solidFill>
                          <a:srgbClr val="222222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5.45</a:t>
                      </a:r>
                      <a:endParaRPr sz="1500" b="0">
                        <a:solidFill>
                          <a:srgbClr val="222222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10.39</a:t>
                      </a:r>
                      <a:endParaRPr sz="1500" b="0">
                        <a:solidFill>
                          <a:srgbClr val="222222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1.91×</a:t>
                      </a:r>
                      <a:endParaRPr sz="1500" b="0">
                        <a:solidFill>
                          <a:srgbClr val="222222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chedulerStep 日志统计"/>
          <p:cNvSpPr>
            <a:spLocks noGrp="1"/>
          </p:cNvSpPr>
          <p:nvPr/>
        </p:nvSpPr>
        <p:spPr>
          <a:xfrm>
            <a:off x="6762750" y="1590675"/>
            <a:ext cx="4810125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575" b="1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SchedulerStep 日志统计</a:t>
            </a:r>
            <a:endParaRPr sz="1575" b="1">
              <a:solidFill>
                <a:srgbClr val="222222"/>
              </a:solidFill>
              <a:latin typeface="微软雅黑"/>
              <a:ea typeface="微软雅黑"/>
              <a:cs typeface="微软雅黑"/>
            </a:endParaRPr>
          </a:p>
        </p:txBody>
      </p:sp>
      <p:graphicFrame>
        <p:nvGraphicFramePr>
          <p:cNvPr id="22" name="表格 18"/>
          <p:cNvGraphicFramePr/>
          <p:nvPr/>
        </p:nvGraphicFramePr>
        <p:xfrm>
          <a:off x="6762750" y="2009775"/>
          <a:ext cx="4810125" cy="2152652"/>
        </p:xfrm>
        <a:graphic>
          <a:graphicData uri="http://schemas.openxmlformats.org/drawingml/2006/table">
            <a:tbl>
              <a:tblPr/>
              <a:tblGrid>
                <a:gridCol w="2333625"/>
                <a:gridCol w="1238250"/>
                <a:gridCol w="1238250"/>
              </a:tblGrid>
              <a:tr h="53816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2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指标</a:t>
                      </a:r>
                      <a:endParaRPr sz="1425" b="1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2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RPS 3</a:t>
                      </a:r>
                      <a:endParaRPr sz="1425" b="1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2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RPS 4</a:t>
                      </a:r>
                      <a:endParaRPr sz="1425" b="1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>
                    <a:solidFill>
                      <a:srgbClr val="222222"/>
                    </a:solidFill>
                  </a:tcPr>
                </a:tc>
              </a:tr>
              <a:tr h="53816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25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跨步请求数</a:t>
                      </a:r>
                      <a:endParaRPr sz="1425" b="0">
                        <a:solidFill>
                          <a:srgbClr val="222222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41</a:t>
                      </a:r>
                      <a:endParaRPr sz="1425" b="0">
                        <a:solidFill>
                          <a:srgbClr val="222222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305</a:t>
                      </a:r>
                      <a:endParaRPr sz="1425" b="0">
                        <a:solidFill>
                          <a:srgbClr val="222222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53816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25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跨步请求占比</a:t>
                      </a:r>
                      <a:endParaRPr sz="1425" b="0">
                        <a:solidFill>
                          <a:srgbClr val="222222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0.89%</a:t>
                      </a:r>
                      <a:endParaRPr sz="1425" b="0">
                        <a:solidFill>
                          <a:srgbClr val="222222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6.62%</a:t>
                      </a:r>
                      <a:endParaRPr sz="1425" b="0">
                        <a:solidFill>
                          <a:srgbClr val="222222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816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25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M(r) 均值</a:t>
                      </a:r>
                      <a:endParaRPr sz="1425" b="0">
                        <a:solidFill>
                          <a:srgbClr val="222222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73.18%</a:t>
                      </a:r>
                      <a:endParaRPr sz="1425" b="0">
                        <a:solidFill>
                          <a:srgbClr val="222222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29.57%</a:t>
                      </a:r>
                      <a:endParaRPr sz="1425" b="0">
                        <a:solidFill>
                          <a:srgbClr val="222222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9" name="更低的 M(r) 表示相关 batch 中&#10;其他请求 token 的相"/>
          <p:cNvSpPr>
            <a:spLocks noGrp="1"/>
          </p:cNvSpPr>
          <p:nvPr/>
        </p:nvSpPr>
        <p:spPr>
          <a:xfrm>
            <a:off x="6762750" y="4457700"/>
            <a:ext cx="4810125" cy="8858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35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计算示例：请求输入长度为 4K</a:t>
            </a:r>
            <a:endParaRPr sz="1350" b="0">
              <a:solidFill>
                <a:srgbClr val="222222"/>
              </a:solidFill>
              <a:latin typeface="微软雅黑"/>
              <a:ea typeface="微软雅黑"/>
              <a:cs typeface="微软雅黑"/>
            </a:endParaRPr>
          </a:p>
          <a:p>
            <a:pPr>
              <a:buNone/>
              <a:defRPr sz="135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单步 batch=16K：4K ÷ 16K = 25%</a:t>
            </a:r>
            <a:endParaRPr sz="1350" b="0">
              <a:solidFill>
                <a:srgbClr val="222222"/>
              </a:solidFill>
              <a:latin typeface="微软雅黑"/>
              <a:ea typeface="微软雅黑"/>
              <a:cs typeface="微软雅黑"/>
            </a:endParaRPr>
          </a:p>
          <a:p>
            <a:pPr>
              <a:buNone/>
              <a:defRPr sz="135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跨步 batch=16K、8K：4K ÷ (16K+8K) = 16.7%</a:t>
            </a:r>
            <a:endParaRPr sz="1350" b="0">
              <a:solidFill>
                <a:srgbClr val="222222"/>
              </a:solidFill>
              <a:latin typeface="微软雅黑"/>
              <a:ea typeface="微软雅黑"/>
              <a:cs typeface="微软雅黑"/>
            </a:endParaRPr>
          </a:p>
          <a:p>
            <a:pPr>
              <a:buNone/>
              <a:defRPr sz="135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每个包含该请求的 step，计入完整 batch 总量</a:t>
            </a:r>
            <a:endParaRPr sz="1350" b="0">
              <a:solidFill>
                <a:srgbClr val="22222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证据支持请求间共同调度增多、跨步增多与延迟上升同时出现；具体瓶颈仍需逐"/>
          <p:cNvSpPr>
            <a:spLocks noGrp="1"/>
          </p:cNvSpPr>
          <p:nvPr/>
        </p:nvSpPr>
        <p:spPr>
          <a:xfrm>
            <a:off x="609600" y="5514975"/>
            <a:ext cx="10953750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500" b="1">
                <a:solidFill>
                  <a:srgbClr val="234CA5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234CA5"/>
                </a:solidFill>
                <a:latin typeface="微软雅黑"/>
                <a:ea typeface="微软雅黑"/>
                <a:cs typeface="微软雅黑"/>
              </a:rPr>
              <a:t>证据支持请求间共同调度增多、跨步增多与延迟上升同时出现；具体瓶颈仍需逐步耗时分析</a:t>
            </a:r>
            <a:endParaRPr sz="1500" b="1">
              <a:solidFill>
                <a:srgbClr val="234CA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K=1024，区间左闭右开。此页为合并请求分位数。日志已排除 warm"/>
          <p:cNvSpPr>
            <a:spLocks noGrp="1"/>
          </p:cNvSpPr>
          <p:nvPr/>
        </p:nvSpPr>
        <p:spPr>
          <a:xfrm>
            <a:off x="609600" y="6124575"/>
            <a:ext cx="10953750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900" b="0">
                <a:solidFill>
                  <a:srgbClr val="777777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777777"/>
                </a:solidFill>
                <a:latin typeface="微软雅黑"/>
                <a:ea typeface="微软雅黑"/>
                <a:cs typeface="微软雅黑"/>
              </a:rPr>
              <a:t>本次 20260908-rps234。M(r) 不含耗时，不能解释为空泡率。K=1024，长度区间左闭右开。</a:t>
            </a:r>
            <a:endParaRPr sz="900" b="0">
              <a:solidFill>
                <a:srgbClr val="777777"/>
              </a:solidFill>
              <a:latin typeface="微软雅黑"/>
              <a:ea typeface="微软雅黑"/>
              <a:cs typeface="微软雅黑"/>
            </a:endParaRPr>
          </a:p>
          <a:p>
            <a:pPr>
              <a:buNone/>
              <a:defRPr sz="900" b="0">
                <a:solidFill>
                  <a:srgbClr val="777777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777777"/>
                </a:solidFill>
                <a:latin typeface="微软雅黑"/>
                <a:ea typeface="微软雅黑"/>
                <a:cs typeface="微软雅黑"/>
              </a:rPr>
              <a:t>TTFT 合并三轮成功请求取分位数；SchedulerStep 已排除 warmup，逐请求核对 chunk token 之和等于输入长度。</a:t>
            </a:r>
            <a:endParaRPr sz="900" b="0">
              <a:solidFill>
                <a:srgbClr val="777777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ection-kicker"/>
          <p:cNvSpPr>
            <a:spLocks noGrp="1"/>
          </p:cNvSpPr>
          <p:nvPr/>
        </p:nvSpPr>
        <p:spPr>
          <a:xfrm>
            <a:off x="609600" y="228600"/>
            <a:ext cx="6667500" cy="209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100" b="1">
                <a:solidFill>
                  <a:srgbClr val="898989"/>
                </a:solidFill>
                <a:latin typeface="微软雅黑"/>
                <a:ea typeface="微软雅黑"/>
                <a:cs typeface="微软雅黑"/>
              </a:defRPr>
            </a:pPr>
            <a:r>
              <a:rPr sz="1100" b="1">
                <a:solidFill>
                  <a:srgbClr val="898989"/>
                </a:solidFill>
                <a:latin typeface="微软雅黑"/>
                <a:ea typeface="微软雅黑"/>
                <a:cs typeface="微软雅黑"/>
              </a:rPr>
              <a:t>ASYNC PREFILL RESULTS</a:t>
            </a:r>
            <a:endParaRPr sz="1100" b="1">
              <a:solidFill>
                <a:srgbClr val="89898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" name="slide-title"/>
          <p:cNvSpPr>
            <a:spLocks noGrp="1"/>
          </p:cNvSpPr>
          <p:nvPr/>
        </p:nvSpPr>
        <p:spPr>
          <a:xfrm>
            <a:off x="609600" y="476250"/>
            <a:ext cx="1097280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8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pPr>
            <a:r>
              <a:rPr sz="28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接下来的 FFN 优化方向</a:t>
            </a:r>
            <a:endParaRPr sz="2800" b="1">
              <a:solidFill>
                <a:srgbClr val="C000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slide-subtitle"/>
          <p:cNvSpPr>
            <a:spLocks noGrp="1"/>
          </p:cNvSpPr>
          <p:nvPr/>
        </p:nvSpPr>
        <p:spPr>
          <a:xfrm>
            <a:off x="609600" y="1066800"/>
            <a:ext cx="1097280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500" b="0">
                <a:solidFill>
                  <a:srgbClr val="234CA5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234CA5"/>
                </a:solidFill>
                <a:latin typeface="微软雅黑"/>
                <a:ea typeface="微软雅黑"/>
                <a:cs typeface="微软雅黑"/>
              </a:rPr>
              <a:t>降低 FFN 的 Host 同步、图执行和通信控核开销</a:t>
            </a:r>
            <a:endParaRPr sz="1500" b="0">
              <a:solidFill>
                <a:srgbClr val="234CA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optimization-heading"/>
          <p:cNvSpPr>
            <a:spLocks noGrp="1"/>
          </p:cNvSpPr>
          <p:nvPr/>
        </p:nvSpPr>
        <p:spPr>
          <a:xfrm>
            <a:off x="609600" y="1600200"/>
            <a:ext cx="51435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20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优化方向</a:t>
            </a:r>
            <a:endParaRPr sz="2200" b="1">
              <a:solidFill>
                <a:srgbClr val="22222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optimization-list"/>
          <p:cNvSpPr>
            <a:spLocks noGrp="1"/>
          </p:cNvSpPr>
          <p:nvPr/>
        </p:nvSpPr>
        <p:spPr>
          <a:xfrm>
            <a:off x="609600" y="2095500"/>
            <a:ext cx="5143500" cy="2381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79400" indent="-139700" algn="l">
              <a:spcAft>
                <a:spcPts val="1800"/>
              </a:spcAft>
              <a:buChar char="•"/>
              <a:defRPr sz="21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接入选层算子，消除所有 Host 同步气泡</a:t>
            </a:r>
            <a:endParaRPr sz="2100" b="0">
              <a:solidFill>
                <a:srgbClr val="222222"/>
              </a:solidFill>
              <a:latin typeface="微软雅黑"/>
              <a:ea typeface="微软雅黑"/>
              <a:cs typeface="微软雅黑"/>
            </a:endParaRPr>
          </a:p>
          <a:p>
            <a:pPr marL="279400" indent="-139700" algn="l">
              <a:spcAft>
                <a:spcPts val="1800"/>
              </a:spcAft>
              <a:buChar char="•"/>
              <a:defRPr sz="21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FFN 入图</a:t>
            </a:r>
            <a:endParaRPr sz="2100" b="0">
              <a:solidFill>
                <a:srgbClr val="222222"/>
              </a:solidFill>
              <a:latin typeface="微软雅黑"/>
              <a:ea typeface="微软雅黑"/>
              <a:cs typeface="微软雅黑"/>
            </a:endParaRPr>
          </a:p>
          <a:p>
            <a:pPr marL="279400" indent="-139700" algn="l">
              <a:spcAft>
                <a:spcPts val="1800"/>
              </a:spcAft>
              <a:buChar char="•"/>
              <a:defRPr sz="21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FFN 通信使用多流，掩盖控核开销</a:t>
            </a:r>
            <a:endParaRPr sz="2100" b="0">
              <a:solidFill>
                <a:srgbClr val="22222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benefit-heading"/>
          <p:cNvSpPr>
            <a:spLocks noGrp="1"/>
          </p:cNvSpPr>
          <p:nvPr/>
        </p:nvSpPr>
        <p:spPr>
          <a:xfrm>
            <a:off x="6438900" y="1600200"/>
            <a:ext cx="51435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20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预期收益</a:t>
            </a:r>
            <a:endParaRPr sz="2200" b="1">
              <a:solidFill>
                <a:srgbClr val="22222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benefit-list"/>
          <p:cNvSpPr>
            <a:spLocks noGrp="1"/>
          </p:cNvSpPr>
          <p:nvPr/>
        </p:nvSpPr>
        <p:spPr>
          <a:xfrm>
            <a:off x="6438900" y="2095500"/>
            <a:ext cx="5143500" cy="2381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79400" indent="-139700" algn="l">
              <a:spcAft>
                <a:spcPts val="1800"/>
              </a:spcAft>
              <a:buChar char="•"/>
              <a:defRPr sz="21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承载更多 Attention DP，增加吞吐</a:t>
            </a:r>
            <a:endParaRPr sz="2100" b="0">
              <a:solidFill>
                <a:srgbClr val="222222"/>
              </a:solidFill>
              <a:latin typeface="微软雅黑"/>
              <a:ea typeface="微软雅黑"/>
              <a:cs typeface="微软雅黑"/>
            </a:endParaRPr>
          </a:p>
          <a:p>
            <a:pPr marL="279400" indent="-139700" algn="l">
              <a:spcAft>
                <a:spcPts val="1800"/>
              </a:spcAft>
              <a:buChar char="•"/>
              <a:defRPr sz="21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减小 chunksize，在单位时间内增加 FFN 算子执行次数</a:t>
            </a:r>
            <a:endParaRPr sz="2100" b="0">
              <a:solidFill>
                <a:srgbClr val="22222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roadmap-takeaway"/>
          <p:cNvSpPr>
            <a:spLocks noGrp="1"/>
          </p:cNvSpPr>
          <p:nvPr/>
        </p:nvSpPr>
        <p:spPr>
          <a:xfrm>
            <a:off x="609600" y="5000625"/>
            <a:ext cx="1097280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400" b="1">
                <a:solidFill>
                  <a:srgbClr val="234CA5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234CA5"/>
                </a:solidFill>
                <a:latin typeface="微软雅黑"/>
                <a:ea typeface="微软雅黑"/>
                <a:cs typeface="微软雅黑"/>
              </a:rPr>
              <a:t>优化 FFN 后，可承载更多 Attention DP，并以更小的 chunksize 提高 FFN 算子执行频率</a:t>
            </a:r>
            <a:endParaRPr sz="2400" b="1">
              <a:solidFill>
                <a:srgbClr val="234CA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slide-number"/>
          <p:cNvSpPr>
            <a:spLocks noGrp="1"/>
          </p:cNvSpPr>
          <p:nvPr/>
        </p:nvSpPr>
        <p:spPr>
          <a:xfrm>
            <a:off x="11239500" y="6524625"/>
            <a:ext cx="333375" cy="171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000" b="0">
                <a:solidFill>
                  <a:srgbClr val="777777"/>
                </a:solidFill>
                <a:latin typeface="微软雅黑"/>
                <a:ea typeface="微软雅黑"/>
                <a:cs typeface="微软雅黑"/>
              </a:defRPr>
            </a:pPr>
            <a:r>
              <a:rPr sz="1000" b="0">
                <a:solidFill>
                  <a:srgbClr val="777777"/>
                </a:solidFill>
                <a:latin typeface="微软雅黑"/>
                <a:ea typeface="微软雅黑"/>
                <a:cs typeface="微软雅黑"/>
              </a:rPr>
              <a:t>26</a:t>
            </a:r>
            <a:endParaRPr sz="1000" b="0">
              <a:solidFill>
                <a:srgbClr val="777777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ection-17"/>
          <p:cNvSpPr>
            <a:spLocks noGrp="1"/>
          </p:cNvSpPr>
          <p:nvPr/>
        </p:nvSpPr>
        <p:spPr>
          <a:xfrm>
            <a:off x="609600" y="209550"/>
            <a:ext cx="2286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825" b="1">
                <a:solidFill>
                  <a:srgbClr val="898989"/>
                </a:solidFill>
                <a:latin typeface="Calibri"/>
                <a:ea typeface="Calibri"/>
                <a:cs typeface="Calibri"/>
              </a:defRPr>
            </a:pPr>
            <a:r>
              <a:rPr sz="825" b="1">
                <a:solidFill>
                  <a:srgbClr val="898989"/>
                </a:solidFill>
                <a:latin typeface="Calibri"/>
                <a:ea typeface="Calibri"/>
                <a:cs typeface="Calibri"/>
              </a:rPr>
              <a:t>ASYNC PREFILL RESULTS</a:t>
            </a:r>
            <a:endParaRPr sz="825" b="1">
              <a:solidFill>
                <a:srgbClr val="898989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" name="title-17"/>
          <p:cNvSpPr>
            <a:spLocks noGrp="1"/>
          </p:cNvSpPr>
          <p:nvPr/>
        </p:nvSpPr>
        <p:spPr>
          <a:xfrm>
            <a:off x="609600" y="419100"/>
            <a:ext cx="10668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1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AFD DP6TP4 与双 EP16 + Router：TTFT 分位对比（对照 MBT 4K）</a:t>
            </a:r>
            <a:endParaRPr sz="2100" b="1">
              <a:solidFill>
                <a:srgbClr val="C000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title-rule-17"/>
          <p:cNvSpPr>
            <a:spLocks noGrp="1"/>
          </p:cNvSpPr>
          <p:nvPr/>
        </p:nvSpPr>
        <p:spPr>
          <a:xfrm>
            <a:off x="609600" y="914400"/>
            <a:ext cx="1428750" cy="28575"/>
          </a:xfrm>
          <a:prstGeom prst="rect">
            <a:avLst/>
          </a:prstGeom>
          <a:solidFill>
            <a:srgbClr val="C00000"/>
          </a:solidFill>
          <a:ln w="0">
            <a:solidFill>
              <a:srgbClr val="C00000"/>
            </a:solidFill>
            <a:prstDash val="solid"/>
          </a:ln>
        </p:spPr>
      </p:sp>
      <p:sp>
        <p:nvSpPr>
          <p:cNvPr id="4" name="metadata-bg-17"/>
          <p:cNvSpPr>
            <a:spLocks noGrp="1"/>
          </p:cNvSpPr>
          <p:nvPr/>
        </p:nvSpPr>
        <p:spPr>
          <a:xfrm>
            <a:off x="609600" y="1028700"/>
            <a:ext cx="10972800" cy="400050"/>
          </a:xfrm>
          <a:prstGeom prst="rect">
            <a:avLst/>
          </a:prstGeom>
          <a:solidFill>
            <a:srgbClr val="F5F5F5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5" name="model-17"/>
          <p:cNvSpPr>
            <a:spLocks noGrp="1"/>
          </p:cNvSpPr>
          <p:nvPr/>
        </p:nvSpPr>
        <p:spPr>
          <a:xfrm>
            <a:off x="800100" y="1095375"/>
            <a:ext cx="238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50" b="1">
                <a:solidFill>
                  <a:srgbClr val="234CA5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234CA5"/>
                </a:solidFill>
                <a:latin typeface="微软雅黑"/>
                <a:ea typeface="微软雅黑"/>
                <a:cs typeface="微软雅黑"/>
              </a:rPr>
              <a:t>模型：dsv4-flash</a:t>
            </a:r>
            <a:endParaRPr sz="1050" b="1">
              <a:solidFill>
                <a:srgbClr val="234CA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comparison-17"/>
          <p:cNvSpPr>
            <a:spLocks noGrp="1"/>
          </p:cNvSpPr>
          <p:nvPr/>
        </p:nvSpPr>
        <p:spPr>
          <a:xfrm>
            <a:off x="3143250" y="1095375"/>
            <a:ext cx="619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975" b="1">
                <a:solidFill>
                  <a:srgbClr val="4F8A10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4F8A10"/>
                </a:solidFill>
                <a:latin typeface="微软雅黑"/>
                <a:ea typeface="微软雅黑"/>
                <a:cs typeface="微软雅黑"/>
              </a:rPr>
              <a:t>对比：AFD DP6TP4 + EP8（PR #320） vs. 2×DP4TP4 EP16 + Router</a:t>
            </a:r>
            <a:endParaRPr sz="975" b="1">
              <a:solidFill>
                <a:srgbClr val="4F8A1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hardware-17"/>
          <p:cNvSpPr>
            <a:spLocks noGrp="1"/>
          </p:cNvSpPr>
          <p:nvPr/>
        </p:nvSpPr>
        <p:spPr>
          <a:xfrm>
            <a:off x="9144000" y="1095375"/>
            <a:ext cx="2247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975" b="1">
                <a:solidFill>
                  <a:srgbClr val="F06A00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06A00"/>
                </a:solidFill>
                <a:latin typeface="微软雅黑"/>
                <a:ea typeface="微软雅黑"/>
                <a:cs typeface="微软雅黑"/>
              </a:rPr>
              <a:t>硬件：Ascend 910C</a:t>
            </a:r>
            <a:endParaRPr sz="975" b="1">
              <a:solidFill>
                <a:srgbClr val="F06A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chart-heading-17"/>
          <p:cNvSpPr>
            <a:spLocks noGrp="1"/>
          </p:cNvSpPr>
          <p:nvPr/>
        </p:nvSpPr>
        <p:spPr>
          <a:xfrm>
            <a:off x="609600" y="1466850"/>
            <a:ext cx="71628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35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不同 RPS 下的 TTFT 分位点（纵轴：秒）</a:t>
            </a:r>
            <a:endParaRPr sz="1350" b="1">
              <a:solidFill>
                <a:srgbClr val="22222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table-heading-17"/>
          <p:cNvSpPr>
            <a:spLocks noGrp="1"/>
          </p:cNvSpPr>
          <p:nvPr/>
        </p:nvSpPr>
        <p:spPr>
          <a:xfrm>
            <a:off x="7772400" y="1466850"/>
            <a:ext cx="3810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35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TTFT 明细（秒）</a:t>
            </a:r>
            <a:endParaRPr sz="1350" b="1">
              <a:solidFill>
                <a:srgbClr val="222222"/>
              </a:solidFill>
              <a:latin typeface="微软雅黑"/>
              <a:ea typeface="微软雅黑"/>
              <a:cs typeface="微软雅黑"/>
            </a:endParaRPr>
          </a:p>
        </p:txBody>
      </p:sp>
      <p:graphicFrame>
        <p:nvGraphicFramePr>
          <p:cNvPr id="38" name="Chart"/>
          <p:cNvGraphicFramePr/>
          <p:nvPr/>
        </p:nvGraphicFramePr>
        <p:xfrm>
          <a:off x="609600" y="1724025"/>
          <a:ext cx="2238375" cy="17621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39" name="Chart"/>
          <p:cNvGraphicFramePr/>
          <p:nvPr/>
        </p:nvGraphicFramePr>
        <p:xfrm>
          <a:off x="3019425" y="1724025"/>
          <a:ext cx="2238375" cy="17621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40" name="Chart"/>
          <p:cNvGraphicFramePr/>
          <p:nvPr/>
        </p:nvGraphicFramePr>
        <p:xfrm>
          <a:off x="5429250" y="1724025"/>
          <a:ext cx="2238375" cy="17621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41" name="Chart"/>
          <p:cNvGraphicFramePr/>
          <p:nvPr/>
        </p:nvGraphicFramePr>
        <p:xfrm>
          <a:off x="990600" y="3524250"/>
          <a:ext cx="3048000" cy="1809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42" name="Chart"/>
          <p:cNvGraphicFramePr/>
          <p:nvPr/>
        </p:nvGraphicFramePr>
        <p:xfrm>
          <a:off x="4238625" y="3524250"/>
          <a:ext cx="3048000" cy="1809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43" name="ttft-table-17"/>
          <p:cNvGraphicFramePr/>
          <p:nvPr/>
        </p:nvGraphicFramePr>
        <p:xfrm>
          <a:off x="7772400" y="1724025"/>
          <a:ext cx="3810000" cy="4191008"/>
        </p:xfrm>
        <a:graphic>
          <a:graphicData uri="http://schemas.openxmlformats.org/drawingml/2006/table">
            <a:tbl>
              <a:tblPr/>
              <a:tblGrid>
                <a:gridCol w="533400"/>
                <a:gridCol w="628650"/>
                <a:gridCol w="1323975"/>
                <a:gridCol w="1323975"/>
              </a:tblGrid>
              <a:tr h="26193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RPS</a:t>
                      </a:r>
                      <a:endParaRPr sz="1200" b="1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19050" marB="19050"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分位</a:t>
                      </a:r>
                      <a:endParaRPr sz="1200" b="1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19050" marB="19050"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AFD</a:t>
                      </a:r>
                      <a:endParaRPr sz="1200" b="1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19050" marB="19050"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对照</a:t>
                      </a:r>
                      <a:endParaRPr sz="1200" b="1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19050" marB="19050" anchor="ctr">
                    <a:solidFill>
                      <a:srgbClr val="E8E8E8"/>
                    </a:solidFill>
                  </a:tcPr>
                </a:tc>
              </a:tr>
              <a:tr h="261938">
                <a:tc rowSpan="5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</a:t>
                      </a:r>
                      <a:endParaRPr sz="1200" b="1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P25</a:t>
                      </a:r>
                      <a:endParaRPr sz="1200" b="1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1.24</a:t>
                      </a:r>
                      <a:endParaRPr sz="12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1.09</a:t>
                      </a:r>
                      <a:endParaRPr sz="1200" b="1">
                        <a:solidFill>
                          <a:srgbClr val="C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</a:tr>
              <a:tr h="261938">
                <a:tc vMerge="1"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P50</a:t>
                      </a:r>
                      <a:endParaRPr sz="1200" b="1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1.75</a:t>
                      </a:r>
                      <a:endParaRPr sz="1200" b="1">
                        <a:solidFill>
                          <a:srgbClr val="C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1.75</a:t>
                      </a:r>
                      <a:endParaRPr sz="1200" b="1">
                        <a:solidFill>
                          <a:srgbClr val="C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</a:tr>
              <a:tr h="261938">
                <a:tc vMerge="1"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P90</a:t>
                      </a:r>
                      <a:endParaRPr sz="1200" b="1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4.06</a:t>
                      </a:r>
                      <a:endParaRPr sz="1200" b="1">
                        <a:solidFill>
                          <a:srgbClr val="C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4.52</a:t>
                      </a:r>
                      <a:endParaRPr sz="12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</a:tr>
              <a:tr h="261938">
                <a:tc vMerge="1"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P95</a:t>
                      </a:r>
                      <a:endParaRPr sz="1200" b="1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5.26</a:t>
                      </a:r>
                      <a:endParaRPr sz="1200" b="1">
                        <a:solidFill>
                          <a:srgbClr val="C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5.76</a:t>
                      </a:r>
                      <a:endParaRPr sz="12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</a:tr>
              <a:tr h="261938">
                <a:tc vMerge="1"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P99</a:t>
                      </a:r>
                      <a:endParaRPr sz="1200" b="1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7.13</a:t>
                      </a:r>
                      <a:endParaRPr sz="1200" b="1">
                        <a:solidFill>
                          <a:srgbClr val="C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8.15</a:t>
                      </a:r>
                      <a:endParaRPr sz="12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</a:tr>
              <a:tr h="261938">
                <a:tc rowSpan="5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</a:t>
                      </a:r>
                      <a:endParaRPr sz="1200" b="1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P25</a:t>
                      </a:r>
                      <a:endParaRPr sz="1200" b="1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2.28</a:t>
                      </a:r>
                      <a:endParaRPr sz="12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1.79</a:t>
                      </a:r>
                      <a:endParaRPr sz="1200" b="1">
                        <a:solidFill>
                          <a:srgbClr val="C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</a:tr>
              <a:tr h="261938">
                <a:tc vMerge="1"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P50</a:t>
                      </a:r>
                      <a:endParaRPr sz="1200" b="1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3.36</a:t>
                      </a:r>
                      <a:endParaRPr sz="12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2.96</a:t>
                      </a:r>
                      <a:endParaRPr sz="1200" b="1">
                        <a:solidFill>
                          <a:srgbClr val="C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</a:tr>
              <a:tr h="261938">
                <a:tc vMerge="1"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P90</a:t>
                      </a:r>
                      <a:endParaRPr sz="1200" b="1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7.18</a:t>
                      </a:r>
                      <a:endParaRPr sz="12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6.78</a:t>
                      </a:r>
                      <a:endParaRPr sz="1200" b="1">
                        <a:solidFill>
                          <a:srgbClr val="C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</a:tr>
              <a:tr h="261938">
                <a:tc vMerge="1"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P95</a:t>
                      </a:r>
                      <a:endParaRPr sz="1200" b="1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8.51</a:t>
                      </a:r>
                      <a:endParaRPr sz="12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8.29</a:t>
                      </a:r>
                      <a:endParaRPr sz="1200" b="1">
                        <a:solidFill>
                          <a:srgbClr val="C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</a:tr>
              <a:tr h="261938">
                <a:tc vMerge="1"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P99</a:t>
                      </a:r>
                      <a:endParaRPr sz="1200" b="1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11.27</a:t>
                      </a:r>
                      <a:endParaRPr sz="12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10.82</a:t>
                      </a:r>
                      <a:endParaRPr sz="1200" b="1">
                        <a:solidFill>
                          <a:srgbClr val="C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</a:tr>
              <a:tr h="261938">
                <a:tc rowSpan="5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</a:t>
                      </a:r>
                      <a:endParaRPr sz="1200" b="1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P25</a:t>
                      </a:r>
                      <a:endParaRPr sz="1200" b="1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8.18</a:t>
                      </a:r>
                      <a:endParaRPr sz="1200" b="1">
                        <a:solidFill>
                          <a:srgbClr val="C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12.12</a:t>
                      </a:r>
                      <a:endParaRPr sz="12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</a:tr>
              <a:tr h="261938">
                <a:tc vMerge="1"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P50</a:t>
                      </a:r>
                      <a:endParaRPr sz="1200" b="1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10.96</a:t>
                      </a:r>
                      <a:endParaRPr sz="1200" b="1">
                        <a:solidFill>
                          <a:srgbClr val="C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17.85</a:t>
                      </a:r>
                      <a:endParaRPr sz="12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</a:tr>
              <a:tr h="261938">
                <a:tc vMerge="1"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P90</a:t>
                      </a:r>
                      <a:endParaRPr sz="1200" b="1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17.82</a:t>
                      </a:r>
                      <a:endParaRPr sz="1200" b="1">
                        <a:solidFill>
                          <a:srgbClr val="C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28.61</a:t>
                      </a:r>
                      <a:endParaRPr sz="12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</a:tr>
              <a:tr h="261938">
                <a:tc vMerge="1"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P95</a:t>
                      </a:r>
                      <a:endParaRPr sz="1200" b="1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20.01</a:t>
                      </a:r>
                      <a:endParaRPr sz="1200" b="1">
                        <a:solidFill>
                          <a:srgbClr val="C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30.99</a:t>
                      </a:r>
                      <a:endParaRPr sz="12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</a:tr>
              <a:tr h="261938">
                <a:tc vMerge="1"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P99</a:t>
                      </a:r>
                      <a:endParaRPr sz="1200" b="1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24.96</a:t>
                      </a:r>
                      <a:endParaRPr sz="1200" b="1">
                        <a:solidFill>
                          <a:srgbClr val="C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35.73</a:t>
                      </a:r>
                      <a:endParaRPr sz="12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conclusion-17"/>
          <p:cNvSpPr>
            <a:spLocks noGrp="1"/>
          </p:cNvSpPr>
          <p:nvPr/>
        </p:nvSpPr>
        <p:spPr>
          <a:xfrm>
            <a:off x="609600" y="5486400"/>
            <a:ext cx="695325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>
              <a:buNone/>
              <a:defRPr sz="12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AFD 的 P99 在 RPS 4/8 分别低 13%/30%；RPS 6 时高 4%。</a:t>
            </a:r>
            <a:endParaRPr sz="1200" b="0">
              <a:solidFill>
                <a:srgbClr val="0000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9" name="settings-17"/>
          <p:cNvSpPr>
            <a:spLocks noGrp="1"/>
          </p:cNvSpPr>
          <p:nvPr/>
        </p:nvSpPr>
        <p:spPr>
          <a:xfrm>
            <a:off x="609600" y="5934075"/>
            <a:ext cx="10668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7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7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测试设置：AFD MBT=64K、PR #320 repeat 1/2/3 均值；对照 MBT=4K、重复实验均值；表内单位：秒，红色粗体为同 RPS/分位点最优</a:t>
            </a:r>
            <a:endParaRPr sz="750" b="0">
              <a:solidFill>
                <a:srgbClr val="66666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0" name="source-17"/>
          <p:cNvSpPr>
            <a:spLocks noGrp="1"/>
          </p:cNvSpPr>
          <p:nvPr/>
        </p:nvSpPr>
        <p:spPr>
          <a:xfrm>
            <a:off x="609600" y="6191250"/>
            <a:ext cx="72390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600" b="0">
                <a:solidFill>
                  <a:srgbClr val="898989"/>
                </a:solidFill>
                <a:latin typeface="微软雅黑"/>
                <a:ea typeface="微软雅黑"/>
                <a:cs typeface="微软雅黑"/>
              </a:defRPr>
            </a:pPr>
            <a:r>
              <a:rPr sz="600" b="0">
                <a:solidFill>
                  <a:srgbClr val="898989"/>
                </a:solidFill>
                <a:latin typeface="微软雅黑"/>
                <a:ea typeface="微软雅黑"/>
                <a:cs typeface="微软雅黑"/>
              </a:rPr>
              <a:t>来源：dsv4-flash 最新实验结果（2026-09-08）</a:t>
            </a:r>
            <a:endParaRPr sz="600" b="0">
              <a:solidFill>
                <a:srgbClr val="89898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1" name="page-17"/>
          <p:cNvSpPr>
            <a:spLocks noGrp="1"/>
          </p:cNvSpPr>
          <p:nvPr/>
        </p:nvSpPr>
        <p:spPr>
          <a:xfrm>
            <a:off x="11315700" y="6553200"/>
            <a:ext cx="3429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675" b="0">
                <a:solidFill>
                  <a:srgbClr val="898989"/>
                </a:solidFill>
                <a:latin typeface="Calibri"/>
                <a:ea typeface="Calibri"/>
                <a:cs typeface="Calibri"/>
              </a:defRPr>
            </a:pPr>
            <a:r>
              <a:rPr sz="675" b="0">
                <a:solidFill>
                  <a:srgbClr val="898989"/>
                </a:solidFill>
                <a:latin typeface="Calibri"/>
                <a:ea typeface="Calibri"/>
                <a:cs typeface="Calibri"/>
              </a:rPr>
              <a:t>17</a:t>
            </a:r>
            <a:endParaRPr sz="675" b="0">
              <a:solidFill>
                <a:srgbClr val="898989"/>
              </a:solidFill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ection-18"/>
          <p:cNvSpPr>
            <a:spLocks noGrp="1"/>
          </p:cNvSpPr>
          <p:nvPr/>
        </p:nvSpPr>
        <p:spPr>
          <a:xfrm>
            <a:off x="609600" y="209550"/>
            <a:ext cx="2286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825" b="1">
                <a:solidFill>
                  <a:srgbClr val="898989"/>
                </a:solidFill>
                <a:latin typeface="Calibri"/>
                <a:ea typeface="Calibri"/>
                <a:cs typeface="Calibri"/>
              </a:defRPr>
            </a:pPr>
            <a:r>
              <a:rPr sz="825" b="1">
                <a:solidFill>
                  <a:srgbClr val="898989"/>
                </a:solidFill>
                <a:latin typeface="Calibri"/>
                <a:ea typeface="Calibri"/>
                <a:cs typeface="Calibri"/>
              </a:rPr>
              <a:t>ASYNC PREFILL RESULTS</a:t>
            </a:r>
            <a:endParaRPr sz="825" b="1">
              <a:solidFill>
                <a:srgbClr val="898989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" name="title-18"/>
          <p:cNvSpPr>
            <a:spLocks noGrp="1"/>
          </p:cNvSpPr>
          <p:nvPr/>
        </p:nvSpPr>
        <p:spPr>
          <a:xfrm>
            <a:off x="609600" y="419100"/>
            <a:ext cx="10668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1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AFD DP6TP4 与双 EP16 + Router：TTFT 分位对比（对照 MBT 8K）</a:t>
            </a:r>
            <a:endParaRPr sz="2100" b="1">
              <a:solidFill>
                <a:srgbClr val="C000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title-rule-18"/>
          <p:cNvSpPr>
            <a:spLocks noGrp="1"/>
          </p:cNvSpPr>
          <p:nvPr/>
        </p:nvSpPr>
        <p:spPr>
          <a:xfrm>
            <a:off x="609600" y="914400"/>
            <a:ext cx="1428750" cy="28575"/>
          </a:xfrm>
          <a:prstGeom prst="rect">
            <a:avLst/>
          </a:prstGeom>
          <a:solidFill>
            <a:srgbClr val="C00000"/>
          </a:solidFill>
          <a:ln w="0">
            <a:solidFill>
              <a:srgbClr val="C00000"/>
            </a:solidFill>
            <a:prstDash val="solid"/>
          </a:ln>
        </p:spPr>
      </p:sp>
      <p:sp>
        <p:nvSpPr>
          <p:cNvPr id="4" name="metadata-bg-18"/>
          <p:cNvSpPr>
            <a:spLocks noGrp="1"/>
          </p:cNvSpPr>
          <p:nvPr/>
        </p:nvSpPr>
        <p:spPr>
          <a:xfrm>
            <a:off x="609600" y="1028700"/>
            <a:ext cx="10972800" cy="400050"/>
          </a:xfrm>
          <a:prstGeom prst="rect">
            <a:avLst/>
          </a:prstGeom>
          <a:solidFill>
            <a:srgbClr val="F5F5F5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5" name="model-18"/>
          <p:cNvSpPr>
            <a:spLocks noGrp="1"/>
          </p:cNvSpPr>
          <p:nvPr/>
        </p:nvSpPr>
        <p:spPr>
          <a:xfrm>
            <a:off x="800100" y="1095375"/>
            <a:ext cx="238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50" b="1">
                <a:solidFill>
                  <a:srgbClr val="234CA5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234CA5"/>
                </a:solidFill>
                <a:latin typeface="微软雅黑"/>
                <a:ea typeface="微软雅黑"/>
                <a:cs typeface="微软雅黑"/>
              </a:rPr>
              <a:t>模型：dsv4-flash</a:t>
            </a:r>
            <a:endParaRPr sz="1050" b="1">
              <a:solidFill>
                <a:srgbClr val="234CA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comparison-18"/>
          <p:cNvSpPr>
            <a:spLocks noGrp="1"/>
          </p:cNvSpPr>
          <p:nvPr/>
        </p:nvSpPr>
        <p:spPr>
          <a:xfrm>
            <a:off x="3143250" y="1095375"/>
            <a:ext cx="619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975" b="1">
                <a:solidFill>
                  <a:srgbClr val="4F8A10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4F8A10"/>
                </a:solidFill>
                <a:latin typeface="微软雅黑"/>
                <a:ea typeface="微软雅黑"/>
                <a:cs typeface="微软雅黑"/>
              </a:rPr>
              <a:t>对比：AFD DP6TP4 + EP8（PR #320） vs. 2×DP4TP4 EP16 + Router</a:t>
            </a:r>
            <a:endParaRPr sz="975" b="1">
              <a:solidFill>
                <a:srgbClr val="4F8A1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hardware-18"/>
          <p:cNvSpPr>
            <a:spLocks noGrp="1"/>
          </p:cNvSpPr>
          <p:nvPr/>
        </p:nvSpPr>
        <p:spPr>
          <a:xfrm>
            <a:off x="9144000" y="1095375"/>
            <a:ext cx="2247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975" b="1">
                <a:solidFill>
                  <a:srgbClr val="F06A00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06A00"/>
                </a:solidFill>
                <a:latin typeface="微软雅黑"/>
                <a:ea typeface="微软雅黑"/>
                <a:cs typeface="微软雅黑"/>
              </a:rPr>
              <a:t>硬件：Ascend 910C</a:t>
            </a:r>
            <a:endParaRPr sz="975" b="1">
              <a:solidFill>
                <a:srgbClr val="F06A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chart-heading-18"/>
          <p:cNvSpPr>
            <a:spLocks noGrp="1"/>
          </p:cNvSpPr>
          <p:nvPr/>
        </p:nvSpPr>
        <p:spPr>
          <a:xfrm>
            <a:off x="609600" y="1466850"/>
            <a:ext cx="71628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35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不同 RPS 下的 TTFT 分位点（纵轴：秒）</a:t>
            </a:r>
            <a:endParaRPr sz="1350" b="1">
              <a:solidFill>
                <a:srgbClr val="22222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table-heading-18"/>
          <p:cNvSpPr>
            <a:spLocks noGrp="1"/>
          </p:cNvSpPr>
          <p:nvPr/>
        </p:nvSpPr>
        <p:spPr>
          <a:xfrm>
            <a:off x="7772400" y="1466850"/>
            <a:ext cx="3810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35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TTFT 明细（秒）</a:t>
            </a:r>
            <a:endParaRPr sz="1350" b="1">
              <a:solidFill>
                <a:srgbClr val="222222"/>
              </a:solidFill>
              <a:latin typeface="微软雅黑"/>
              <a:ea typeface="微软雅黑"/>
              <a:cs typeface="微软雅黑"/>
            </a:endParaRPr>
          </a:p>
        </p:txBody>
      </p:sp>
      <p:graphicFrame>
        <p:nvGraphicFramePr>
          <p:cNvPr id="38" name="Chart"/>
          <p:cNvGraphicFramePr/>
          <p:nvPr/>
        </p:nvGraphicFramePr>
        <p:xfrm>
          <a:off x="609600" y="1724025"/>
          <a:ext cx="2238375" cy="17621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39" name="Chart"/>
          <p:cNvGraphicFramePr/>
          <p:nvPr/>
        </p:nvGraphicFramePr>
        <p:xfrm>
          <a:off x="3019425" y="1724025"/>
          <a:ext cx="2238375" cy="17621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40" name="Chart"/>
          <p:cNvGraphicFramePr/>
          <p:nvPr/>
        </p:nvGraphicFramePr>
        <p:xfrm>
          <a:off x="5429250" y="1724025"/>
          <a:ext cx="2238375" cy="17621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41" name="Chart"/>
          <p:cNvGraphicFramePr/>
          <p:nvPr/>
        </p:nvGraphicFramePr>
        <p:xfrm>
          <a:off x="990600" y="3524250"/>
          <a:ext cx="3048000" cy="1809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42" name="Chart"/>
          <p:cNvGraphicFramePr/>
          <p:nvPr/>
        </p:nvGraphicFramePr>
        <p:xfrm>
          <a:off x="4238625" y="3524250"/>
          <a:ext cx="3048000" cy="1809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43" name="ttft-table-18"/>
          <p:cNvGraphicFramePr/>
          <p:nvPr/>
        </p:nvGraphicFramePr>
        <p:xfrm>
          <a:off x="7772400" y="1724025"/>
          <a:ext cx="3810000" cy="4191008"/>
        </p:xfrm>
        <a:graphic>
          <a:graphicData uri="http://schemas.openxmlformats.org/drawingml/2006/table">
            <a:tbl>
              <a:tblPr/>
              <a:tblGrid>
                <a:gridCol w="533400"/>
                <a:gridCol w="628650"/>
                <a:gridCol w="1323975"/>
                <a:gridCol w="1323975"/>
              </a:tblGrid>
              <a:tr h="26193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RPS</a:t>
                      </a:r>
                      <a:endParaRPr sz="1200" b="1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19050" marB="19050"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分位</a:t>
                      </a:r>
                      <a:endParaRPr sz="1200" b="1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19050" marB="19050"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AFD</a:t>
                      </a:r>
                      <a:endParaRPr sz="1200" b="1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19050" marB="19050"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对照</a:t>
                      </a:r>
                      <a:endParaRPr sz="1200" b="1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19050" marB="19050" anchor="ctr">
                    <a:solidFill>
                      <a:srgbClr val="E8E8E8"/>
                    </a:solidFill>
                  </a:tcPr>
                </a:tc>
              </a:tr>
              <a:tr h="261938">
                <a:tc rowSpan="5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</a:t>
                      </a:r>
                      <a:endParaRPr sz="1200" b="1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P25</a:t>
                      </a:r>
                      <a:endParaRPr sz="1200" b="1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1.24</a:t>
                      </a:r>
                      <a:endParaRPr sz="1200" b="1">
                        <a:solidFill>
                          <a:srgbClr val="C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1.77</a:t>
                      </a:r>
                      <a:endParaRPr sz="12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</a:tr>
              <a:tr h="261938">
                <a:tc vMerge="1"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P50</a:t>
                      </a:r>
                      <a:endParaRPr sz="1200" b="1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1.75</a:t>
                      </a:r>
                      <a:endParaRPr sz="1200" b="1">
                        <a:solidFill>
                          <a:srgbClr val="C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2.58</a:t>
                      </a:r>
                      <a:endParaRPr sz="12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</a:tr>
              <a:tr h="261938">
                <a:tc vMerge="1"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P90</a:t>
                      </a:r>
                      <a:endParaRPr sz="1200" b="1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4.06</a:t>
                      </a:r>
                      <a:endParaRPr sz="1200" b="1">
                        <a:solidFill>
                          <a:srgbClr val="C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5.21</a:t>
                      </a:r>
                      <a:endParaRPr sz="12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</a:tr>
              <a:tr h="261938">
                <a:tc vMerge="1"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P95</a:t>
                      </a:r>
                      <a:endParaRPr sz="1200" b="1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5.26</a:t>
                      </a:r>
                      <a:endParaRPr sz="1200" b="1">
                        <a:solidFill>
                          <a:srgbClr val="C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6.48</a:t>
                      </a:r>
                      <a:endParaRPr sz="12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</a:tr>
              <a:tr h="261938">
                <a:tc vMerge="1"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P99</a:t>
                      </a:r>
                      <a:endParaRPr sz="1200" b="1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7.13</a:t>
                      </a:r>
                      <a:endParaRPr sz="1200" b="1">
                        <a:solidFill>
                          <a:srgbClr val="C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8.76</a:t>
                      </a:r>
                      <a:endParaRPr sz="12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</a:tr>
              <a:tr h="261938">
                <a:tc rowSpan="5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</a:t>
                      </a:r>
                      <a:endParaRPr sz="1200" b="1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P25</a:t>
                      </a:r>
                      <a:endParaRPr sz="1200" b="1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2.28</a:t>
                      </a:r>
                      <a:endParaRPr sz="1200" b="1">
                        <a:solidFill>
                          <a:srgbClr val="C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2.60</a:t>
                      </a:r>
                      <a:endParaRPr sz="12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</a:tr>
              <a:tr h="261938">
                <a:tc vMerge="1"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P50</a:t>
                      </a:r>
                      <a:endParaRPr sz="1200" b="1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3.36</a:t>
                      </a:r>
                      <a:endParaRPr sz="1200" b="1">
                        <a:solidFill>
                          <a:srgbClr val="C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3.61</a:t>
                      </a:r>
                      <a:endParaRPr sz="12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</a:tr>
              <a:tr h="261938">
                <a:tc vMerge="1"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P90</a:t>
                      </a:r>
                      <a:endParaRPr sz="1200" b="1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7.18</a:t>
                      </a:r>
                      <a:endParaRPr sz="1200" b="1">
                        <a:solidFill>
                          <a:srgbClr val="C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7.37</a:t>
                      </a:r>
                      <a:endParaRPr sz="12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</a:tr>
              <a:tr h="261938">
                <a:tc vMerge="1"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P95</a:t>
                      </a:r>
                      <a:endParaRPr sz="1200" b="1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8.51</a:t>
                      </a:r>
                      <a:endParaRPr sz="1200" b="1">
                        <a:solidFill>
                          <a:srgbClr val="C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8.88</a:t>
                      </a:r>
                      <a:endParaRPr sz="12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</a:tr>
              <a:tr h="261938">
                <a:tc vMerge="1"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P99</a:t>
                      </a:r>
                      <a:endParaRPr sz="1200" b="1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11.27</a:t>
                      </a:r>
                      <a:endParaRPr sz="1200" b="1">
                        <a:solidFill>
                          <a:srgbClr val="C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11.46</a:t>
                      </a:r>
                      <a:endParaRPr sz="12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</a:tr>
              <a:tr h="261938">
                <a:tc rowSpan="5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</a:t>
                      </a:r>
                      <a:endParaRPr sz="1200" b="1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P25</a:t>
                      </a:r>
                      <a:endParaRPr sz="1200" b="1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8.18</a:t>
                      </a:r>
                      <a:endParaRPr sz="12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5.39</a:t>
                      </a:r>
                      <a:endParaRPr sz="1200" b="1">
                        <a:solidFill>
                          <a:srgbClr val="C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</a:tr>
              <a:tr h="261938">
                <a:tc vMerge="1"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P50</a:t>
                      </a:r>
                      <a:endParaRPr sz="1200" b="1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10.96</a:t>
                      </a:r>
                      <a:endParaRPr sz="12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7.42</a:t>
                      </a:r>
                      <a:endParaRPr sz="1200" b="1">
                        <a:solidFill>
                          <a:srgbClr val="C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</a:tr>
              <a:tr h="261938">
                <a:tc vMerge="1"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P90</a:t>
                      </a:r>
                      <a:endParaRPr sz="1200" b="1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17.82</a:t>
                      </a:r>
                      <a:endParaRPr sz="12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12.16</a:t>
                      </a:r>
                      <a:endParaRPr sz="1200" b="1">
                        <a:solidFill>
                          <a:srgbClr val="C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</a:tr>
              <a:tr h="261938">
                <a:tc vMerge="1"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P95</a:t>
                      </a:r>
                      <a:endParaRPr sz="1200" b="1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20.01</a:t>
                      </a:r>
                      <a:endParaRPr sz="12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13.83</a:t>
                      </a:r>
                      <a:endParaRPr sz="1200" b="1">
                        <a:solidFill>
                          <a:srgbClr val="C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</a:tr>
              <a:tr h="261938">
                <a:tc vMerge="1"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P99</a:t>
                      </a:r>
                      <a:endParaRPr sz="1200" b="1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24.96</a:t>
                      </a:r>
                      <a:endParaRPr sz="12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16.79</a:t>
                      </a:r>
                      <a:endParaRPr sz="1200" b="1">
                        <a:solidFill>
                          <a:srgbClr val="C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conclusion-18"/>
          <p:cNvSpPr>
            <a:spLocks noGrp="1"/>
          </p:cNvSpPr>
          <p:nvPr/>
        </p:nvSpPr>
        <p:spPr>
          <a:xfrm>
            <a:off x="609600" y="5486400"/>
            <a:ext cx="695325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>
              <a:buNone/>
              <a:defRPr sz="12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AFD 的 P99 在 RPS 4/6 分别低 19%/2%；RPS 8 时高 49%。</a:t>
            </a:r>
            <a:endParaRPr sz="1200" b="0">
              <a:solidFill>
                <a:srgbClr val="0000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9" name="settings-18"/>
          <p:cNvSpPr>
            <a:spLocks noGrp="1"/>
          </p:cNvSpPr>
          <p:nvPr/>
        </p:nvSpPr>
        <p:spPr>
          <a:xfrm>
            <a:off x="609600" y="5934075"/>
            <a:ext cx="10668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7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7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测试设置：AFD MBT=64K、PR #320 repeat 1/2/3 均值；对照 MBT=8K、重复实验均值；表内单位：秒，红色粗体为同 RPS/分位点最优</a:t>
            </a:r>
            <a:endParaRPr sz="750" b="0">
              <a:solidFill>
                <a:srgbClr val="66666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0" name="source-18"/>
          <p:cNvSpPr>
            <a:spLocks noGrp="1"/>
          </p:cNvSpPr>
          <p:nvPr/>
        </p:nvSpPr>
        <p:spPr>
          <a:xfrm>
            <a:off x="609600" y="6191250"/>
            <a:ext cx="72390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600" b="0">
                <a:solidFill>
                  <a:srgbClr val="898989"/>
                </a:solidFill>
                <a:latin typeface="微软雅黑"/>
                <a:ea typeface="微软雅黑"/>
                <a:cs typeface="微软雅黑"/>
              </a:defRPr>
            </a:pPr>
            <a:r>
              <a:rPr sz="600" b="0">
                <a:solidFill>
                  <a:srgbClr val="898989"/>
                </a:solidFill>
                <a:latin typeface="微软雅黑"/>
                <a:ea typeface="微软雅黑"/>
                <a:cs typeface="微软雅黑"/>
              </a:rPr>
              <a:t>来源：dsv4-flash 最新实验结果（2026-09-08）</a:t>
            </a:r>
            <a:endParaRPr sz="600" b="0">
              <a:solidFill>
                <a:srgbClr val="89898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1" name="page-18"/>
          <p:cNvSpPr>
            <a:spLocks noGrp="1"/>
          </p:cNvSpPr>
          <p:nvPr/>
        </p:nvSpPr>
        <p:spPr>
          <a:xfrm>
            <a:off x="11315700" y="6553200"/>
            <a:ext cx="3429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675" b="0">
                <a:solidFill>
                  <a:srgbClr val="898989"/>
                </a:solidFill>
                <a:latin typeface="Calibri"/>
                <a:ea typeface="Calibri"/>
                <a:cs typeface="Calibri"/>
              </a:defRPr>
            </a:pPr>
            <a:r>
              <a:rPr sz="675" b="0">
                <a:solidFill>
                  <a:srgbClr val="898989"/>
                </a:solidFill>
                <a:latin typeface="Calibri"/>
                <a:ea typeface="Calibri"/>
                <a:cs typeface="Calibri"/>
              </a:rPr>
              <a:t>18</a:t>
            </a:r>
            <a:endParaRPr sz="675" b="0">
              <a:solidFill>
                <a:srgbClr val="898989"/>
              </a:solidFill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ection-19"/>
          <p:cNvSpPr>
            <a:spLocks noGrp="1"/>
          </p:cNvSpPr>
          <p:nvPr/>
        </p:nvSpPr>
        <p:spPr>
          <a:xfrm>
            <a:off x="609600" y="209550"/>
            <a:ext cx="2286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825" b="1">
                <a:solidFill>
                  <a:srgbClr val="898989"/>
                </a:solidFill>
                <a:latin typeface="Calibri"/>
                <a:ea typeface="Calibri"/>
                <a:cs typeface="Calibri"/>
              </a:defRPr>
            </a:pPr>
            <a:r>
              <a:rPr sz="825" b="1">
                <a:solidFill>
                  <a:srgbClr val="898989"/>
                </a:solidFill>
                <a:latin typeface="Calibri"/>
                <a:ea typeface="Calibri"/>
                <a:cs typeface="Calibri"/>
              </a:rPr>
              <a:t>ASYNC PREFILL RESULTS</a:t>
            </a:r>
            <a:endParaRPr sz="825" b="1">
              <a:solidFill>
                <a:srgbClr val="898989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" name="title-19"/>
          <p:cNvSpPr>
            <a:spLocks noGrp="1"/>
          </p:cNvSpPr>
          <p:nvPr/>
        </p:nvSpPr>
        <p:spPr>
          <a:xfrm>
            <a:off x="609600" y="419100"/>
            <a:ext cx="10668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1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AFD DP6TP4 与双 EP16 + Router：TTFT 分位对比（对照 MBT 16K）</a:t>
            </a:r>
            <a:endParaRPr sz="2100" b="1">
              <a:solidFill>
                <a:srgbClr val="C000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title-rule-19"/>
          <p:cNvSpPr>
            <a:spLocks noGrp="1"/>
          </p:cNvSpPr>
          <p:nvPr/>
        </p:nvSpPr>
        <p:spPr>
          <a:xfrm>
            <a:off x="609600" y="914400"/>
            <a:ext cx="1428750" cy="28575"/>
          </a:xfrm>
          <a:prstGeom prst="rect">
            <a:avLst/>
          </a:prstGeom>
          <a:solidFill>
            <a:srgbClr val="C00000"/>
          </a:solidFill>
          <a:ln w="0">
            <a:solidFill>
              <a:srgbClr val="C00000"/>
            </a:solidFill>
            <a:prstDash val="solid"/>
          </a:ln>
        </p:spPr>
      </p:sp>
      <p:sp>
        <p:nvSpPr>
          <p:cNvPr id="4" name="metadata-bg-19"/>
          <p:cNvSpPr>
            <a:spLocks noGrp="1"/>
          </p:cNvSpPr>
          <p:nvPr/>
        </p:nvSpPr>
        <p:spPr>
          <a:xfrm>
            <a:off x="609600" y="1028700"/>
            <a:ext cx="10972800" cy="400050"/>
          </a:xfrm>
          <a:prstGeom prst="rect">
            <a:avLst/>
          </a:prstGeom>
          <a:solidFill>
            <a:srgbClr val="F5F5F5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5" name="model-19"/>
          <p:cNvSpPr>
            <a:spLocks noGrp="1"/>
          </p:cNvSpPr>
          <p:nvPr/>
        </p:nvSpPr>
        <p:spPr>
          <a:xfrm>
            <a:off x="800100" y="1095375"/>
            <a:ext cx="238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50" b="1">
                <a:solidFill>
                  <a:srgbClr val="234CA5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234CA5"/>
                </a:solidFill>
                <a:latin typeface="微软雅黑"/>
                <a:ea typeface="微软雅黑"/>
                <a:cs typeface="微软雅黑"/>
              </a:rPr>
              <a:t>模型：dsv4-flash</a:t>
            </a:r>
            <a:endParaRPr sz="1050" b="1">
              <a:solidFill>
                <a:srgbClr val="234CA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comparison-19"/>
          <p:cNvSpPr>
            <a:spLocks noGrp="1"/>
          </p:cNvSpPr>
          <p:nvPr/>
        </p:nvSpPr>
        <p:spPr>
          <a:xfrm>
            <a:off x="3143250" y="1095375"/>
            <a:ext cx="619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975" b="1">
                <a:solidFill>
                  <a:srgbClr val="4F8A10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4F8A10"/>
                </a:solidFill>
                <a:latin typeface="微软雅黑"/>
                <a:ea typeface="微软雅黑"/>
                <a:cs typeface="微软雅黑"/>
              </a:rPr>
              <a:t>对比：AFD DP6TP4 + EP8（PR #320） vs. 2×DP4TP4 EP16 + Router</a:t>
            </a:r>
            <a:endParaRPr sz="975" b="1">
              <a:solidFill>
                <a:srgbClr val="4F8A1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hardware-19"/>
          <p:cNvSpPr>
            <a:spLocks noGrp="1"/>
          </p:cNvSpPr>
          <p:nvPr/>
        </p:nvSpPr>
        <p:spPr>
          <a:xfrm>
            <a:off x="9144000" y="1095375"/>
            <a:ext cx="2247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975" b="1">
                <a:solidFill>
                  <a:srgbClr val="F06A00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06A00"/>
                </a:solidFill>
                <a:latin typeface="微软雅黑"/>
                <a:ea typeface="微软雅黑"/>
                <a:cs typeface="微软雅黑"/>
              </a:rPr>
              <a:t>硬件：Ascend 910C</a:t>
            </a:r>
            <a:endParaRPr sz="975" b="1">
              <a:solidFill>
                <a:srgbClr val="F06A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chart-heading-19"/>
          <p:cNvSpPr>
            <a:spLocks noGrp="1"/>
          </p:cNvSpPr>
          <p:nvPr/>
        </p:nvSpPr>
        <p:spPr>
          <a:xfrm>
            <a:off x="609600" y="1466850"/>
            <a:ext cx="71628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35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不同 RPS 下的 TTFT 分位点（纵轴：秒）</a:t>
            </a:r>
            <a:endParaRPr sz="1350" b="1">
              <a:solidFill>
                <a:srgbClr val="22222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table-heading-19"/>
          <p:cNvSpPr>
            <a:spLocks noGrp="1"/>
          </p:cNvSpPr>
          <p:nvPr/>
        </p:nvSpPr>
        <p:spPr>
          <a:xfrm>
            <a:off x="7772400" y="1466850"/>
            <a:ext cx="3810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35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TTFT 明细（秒）</a:t>
            </a:r>
            <a:endParaRPr sz="1350" b="1">
              <a:solidFill>
                <a:srgbClr val="222222"/>
              </a:solidFill>
              <a:latin typeface="微软雅黑"/>
              <a:ea typeface="微软雅黑"/>
              <a:cs typeface="微软雅黑"/>
            </a:endParaRPr>
          </a:p>
        </p:txBody>
      </p:sp>
      <p:graphicFrame>
        <p:nvGraphicFramePr>
          <p:cNvPr id="38" name="Chart"/>
          <p:cNvGraphicFramePr/>
          <p:nvPr/>
        </p:nvGraphicFramePr>
        <p:xfrm>
          <a:off x="609600" y="1724025"/>
          <a:ext cx="2238375" cy="17621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39" name="Chart"/>
          <p:cNvGraphicFramePr/>
          <p:nvPr/>
        </p:nvGraphicFramePr>
        <p:xfrm>
          <a:off x="3019425" y="1724025"/>
          <a:ext cx="2238375" cy="17621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40" name="Chart"/>
          <p:cNvGraphicFramePr/>
          <p:nvPr/>
        </p:nvGraphicFramePr>
        <p:xfrm>
          <a:off x="5429250" y="1724025"/>
          <a:ext cx="2238375" cy="17621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41" name="Chart"/>
          <p:cNvGraphicFramePr/>
          <p:nvPr/>
        </p:nvGraphicFramePr>
        <p:xfrm>
          <a:off x="990600" y="3524250"/>
          <a:ext cx="3048000" cy="1809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42" name="Chart"/>
          <p:cNvGraphicFramePr/>
          <p:nvPr/>
        </p:nvGraphicFramePr>
        <p:xfrm>
          <a:off x="4238625" y="3524250"/>
          <a:ext cx="3048000" cy="1809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43" name="ttft-table-19"/>
          <p:cNvGraphicFramePr/>
          <p:nvPr/>
        </p:nvGraphicFramePr>
        <p:xfrm>
          <a:off x="7772400" y="1724025"/>
          <a:ext cx="3810000" cy="4191008"/>
        </p:xfrm>
        <a:graphic>
          <a:graphicData uri="http://schemas.openxmlformats.org/drawingml/2006/table">
            <a:tbl>
              <a:tblPr/>
              <a:tblGrid>
                <a:gridCol w="533400"/>
                <a:gridCol w="628650"/>
                <a:gridCol w="1323975"/>
                <a:gridCol w="1323975"/>
              </a:tblGrid>
              <a:tr h="26193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RPS</a:t>
                      </a:r>
                      <a:endParaRPr sz="1200" b="1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19050" marB="19050"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分位</a:t>
                      </a:r>
                      <a:endParaRPr sz="1200" b="1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19050" marB="19050"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AFD</a:t>
                      </a:r>
                      <a:endParaRPr sz="1200" b="1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19050" marB="19050"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对照</a:t>
                      </a:r>
                      <a:endParaRPr sz="1200" b="1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19050" marB="19050" anchor="ctr">
                    <a:solidFill>
                      <a:srgbClr val="E8E8E8"/>
                    </a:solidFill>
                  </a:tcPr>
                </a:tc>
              </a:tr>
              <a:tr h="261938">
                <a:tc rowSpan="5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</a:t>
                      </a:r>
                      <a:endParaRPr sz="1200" b="1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P25</a:t>
                      </a:r>
                      <a:endParaRPr sz="1200" b="1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1.24</a:t>
                      </a:r>
                      <a:endParaRPr sz="1200" b="1">
                        <a:solidFill>
                          <a:srgbClr val="C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3.57</a:t>
                      </a:r>
                      <a:endParaRPr sz="12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</a:tr>
              <a:tr h="261938">
                <a:tc vMerge="1"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P50</a:t>
                      </a:r>
                      <a:endParaRPr sz="1200" b="1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1.75</a:t>
                      </a:r>
                      <a:endParaRPr sz="1200" b="1">
                        <a:solidFill>
                          <a:srgbClr val="C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4.80</a:t>
                      </a:r>
                      <a:endParaRPr sz="12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</a:tr>
              <a:tr h="261938">
                <a:tc vMerge="1"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P90</a:t>
                      </a:r>
                      <a:endParaRPr sz="1200" b="1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4.06</a:t>
                      </a:r>
                      <a:endParaRPr sz="1200" b="1">
                        <a:solidFill>
                          <a:srgbClr val="C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7.98</a:t>
                      </a:r>
                      <a:endParaRPr sz="12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</a:tr>
              <a:tr h="261938">
                <a:tc vMerge="1"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P95</a:t>
                      </a:r>
                      <a:endParaRPr sz="1200" b="1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5.26</a:t>
                      </a:r>
                      <a:endParaRPr sz="1200" b="1">
                        <a:solidFill>
                          <a:srgbClr val="C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9.51</a:t>
                      </a:r>
                      <a:endParaRPr sz="12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</a:tr>
              <a:tr h="261938">
                <a:tc vMerge="1"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P99</a:t>
                      </a:r>
                      <a:endParaRPr sz="1200" b="1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7.13</a:t>
                      </a:r>
                      <a:endParaRPr sz="1200" b="1">
                        <a:solidFill>
                          <a:srgbClr val="C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12.27</a:t>
                      </a:r>
                      <a:endParaRPr sz="12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</a:tr>
              <a:tr h="261938">
                <a:tc rowSpan="5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</a:t>
                      </a:r>
                      <a:endParaRPr sz="1200" b="1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P25</a:t>
                      </a:r>
                      <a:endParaRPr sz="1200" b="1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2.28</a:t>
                      </a:r>
                      <a:endParaRPr sz="1200" b="1">
                        <a:solidFill>
                          <a:srgbClr val="C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4.78</a:t>
                      </a:r>
                      <a:endParaRPr sz="12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</a:tr>
              <a:tr h="261938">
                <a:tc vMerge="1"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P50</a:t>
                      </a:r>
                      <a:endParaRPr sz="1200" b="1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3.36</a:t>
                      </a:r>
                      <a:endParaRPr sz="1200" b="1">
                        <a:solidFill>
                          <a:srgbClr val="C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5.94</a:t>
                      </a:r>
                      <a:endParaRPr sz="12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</a:tr>
              <a:tr h="261938">
                <a:tc vMerge="1"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P90</a:t>
                      </a:r>
                      <a:endParaRPr sz="1200" b="1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7.18</a:t>
                      </a:r>
                      <a:endParaRPr sz="1200" b="1">
                        <a:solidFill>
                          <a:srgbClr val="C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9.99</a:t>
                      </a:r>
                      <a:endParaRPr sz="12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</a:tr>
              <a:tr h="261938">
                <a:tc vMerge="1"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P95</a:t>
                      </a:r>
                      <a:endParaRPr sz="1200" b="1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8.51</a:t>
                      </a:r>
                      <a:endParaRPr sz="1200" b="1">
                        <a:solidFill>
                          <a:srgbClr val="C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11.56</a:t>
                      </a:r>
                      <a:endParaRPr sz="12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</a:tr>
              <a:tr h="261938">
                <a:tc vMerge="1"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P99</a:t>
                      </a:r>
                      <a:endParaRPr sz="1200" b="1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11.27</a:t>
                      </a:r>
                      <a:endParaRPr sz="1200" b="1">
                        <a:solidFill>
                          <a:srgbClr val="C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14.68</a:t>
                      </a:r>
                      <a:endParaRPr sz="12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</a:tr>
              <a:tr h="261938">
                <a:tc rowSpan="5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</a:t>
                      </a:r>
                      <a:endParaRPr sz="1200" b="1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P25</a:t>
                      </a:r>
                      <a:endParaRPr sz="1200" b="1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8.18</a:t>
                      </a:r>
                      <a:endParaRPr sz="12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5.90</a:t>
                      </a:r>
                      <a:endParaRPr sz="1200" b="1">
                        <a:solidFill>
                          <a:srgbClr val="C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</a:tr>
              <a:tr h="261938">
                <a:tc vMerge="1"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P50</a:t>
                      </a:r>
                      <a:endParaRPr sz="1200" b="1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10.96</a:t>
                      </a:r>
                      <a:endParaRPr sz="12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7.86</a:t>
                      </a:r>
                      <a:endParaRPr sz="1200" b="1">
                        <a:solidFill>
                          <a:srgbClr val="C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</a:tr>
              <a:tr h="261938">
                <a:tc vMerge="1"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P90</a:t>
                      </a:r>
                      <a:endParaRPr sz="1200" b="1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17.82</a:t>
                      </a:r>
                      <a:endParaRPr sz="12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12.65</a:t>
                      </a:r>
                      <a:endParaRPr sz="1200" b="1">
                        <a:solidFill>
                          <a:srgbClr val="C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</a:tr>
              <a:tr h="261938">
                <a:tc vMerge="1"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P95</a:t>
                      </a:r>
                      <a:endParaRPr sz="1200" b="1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20.01</a:t>
                      </a:r>
                      <a:endParaRPr sz="12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14.21</a:t>
                      </a:r>
                      <a:endParaRPr sz="1200" b="1">
                        <a:solidFill>
                          <a:srgbClr val="C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</a:tr>
              <a:tr h="261938">
                <a:tc vMerge="1"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P99</a:t>
                      </a:r>
                      <a:endParaRPr sz="1200" b="1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24.96</a:t>
                      </a:r>
                      <a:endParaRPr sz="12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17.25</a:t>
                      </a:r>
                      <a:endParaRPr sz="1200" b="1">
                        <a:solidFill>
                          <a:srgbClr val="C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conclusion-19"/>
          <p:cNvSpPr>
            <a:spLocks noGrp="1"/>
          </p:cNvSpPr>
          <p:nvPr/>
        </p:nvSpPr>
        <p:spPr>
          <a:xfrm>
            <a:off x="609600" y="5486400"/>
            <a:ext cx="695325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>
              <a:buNone/>
              <a:defRPr sz="12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AFD 的 P99 在 RPS 4/6 分别低 42%/23%；RPS 8 时高 45%。</a:t>
            </a:r>
            <a:endParaRPr sz="1200" b="0">
              <a:solidFill>
                <a:srgbClr val="0000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9" name="settings-19"/>
          <p:cNvSpPr>
            <a:spLocks noGrp="1"/>
          </p:cNvSpPr>
          <p:nvPr/>
        </p:nvSpPr>
        <p:spPr>
          <a:xfrm>
            <a:off x="609600" y="5934075"/>
            <a:ext cx="10668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7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7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测试设置：AFD MBT=64K、PR #320 repeat 1/2/3 均值；对照 MBT=16K、重复实验均值；表内单位：秒，红色粗体为同 RPS/分位点最优</a:t>
            </a:r>
            <a:endParaRPr sz="750" b="0">
              <a:solidFill>
                <a:srgbClr val="66666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0" name="source-19"/>
          <p:cNvSpPr>
            <a:spLocks noGrp="1"/>
          </p:cNvSpPr>
          <p:nvPr/>
        </p:nvSpPr>
        <p:spPr>
          <a:xfrm>
            <a:off x="609600" y="6191250"/>
            <a:ext cx="72390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600" b="0">
                <a:solidFill>
                  <a:srgbClr val="898989"/>
                </a:solidFill>
                <a:latin typeface="微软雅黑"/>
                <a:ea typeface="微软雅黑"/>
                <a:cs typeface="微软雅黑"/>
              </a:defRPr>
            </a:pPr>
            <a:r>
              <a:rPr sz="600" b="0">
                <a:solidFill>
                  <a:srgbClr val="898989"/>
                </a:solidFill>
                <a:latin typeface="微软雅黑"/>
                <a:ea typeface="微软雅黑"/>
                <a:cs typeface="微软雅黑"/>
              </a:rPr>
              <a:t>来源：dsv4-flash 最新实验结果（2026-09-08）</a:t>
            </a:r>
            <a:endParaRPr sz="600" b="0">
              <a:solidFill>
                <a:srgbClr val="89898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1" name="page-19"/>
          <p:cNvSpPr>
            <a:spLocks noGrp="1"/>
          </p:cNvSpPr>
          <p:nvPr/>
        </p:nvSpPr>
        <p:spPr>
          <a:xfrm>
            <a:off x="11315700" y="6553200"/>
            <a:ext cx="3429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675" b="0">
                <a:solidFill>
                  <a:srgbClr val="898989"/>
                </a:solidFill>
                <a:latin typeface="Calibri"/>
                <a:ea typeface="Calibri"/>
                <a:cs typeface="Calibri"/>
              </a:defRPr>
            </a:pPr>
            <a:r>
              <a:rPr sz="675" b="0">
                <a:solidFill>
                  <a:srgbClr val="898989"/>
                </a:solidFill>
                <a:latin typeface="Calibri"/>
                <a:ea typeface="Calibri"/>
                <a:cs typeface="Calibri"/>
              </a:rPr>
              <a:t>19</a:t>
            </a:r>
            <a:endParaRPr sz="675" b="0">
              <a:solidFill>
                <a:srgbClr val="898989"/>
              </a:solidFill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>
            <a:spLocks noGrp="1"/>
          </p:cNvSpPr>
          <p:nvPr/>
        </p:nvSpPr>
        <p:spPr>
          <a:xfrm>
            <a:off x="695325" y="219075"/>
            <a:ext cx="5715000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825" b="1">
                <a:solidFill>
                  <a:srgbClr val="898989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1">
                <a:solidFill>
                  <a:srgbClr val="898989"/>
                </a:solidFill>
                <a:latin typeface="微软雅黑"/>
                <a:ea typeface="微软雅黑"/>
                <a:cs typeface="微软雅黑"/>
              </a:rPr>
              <a:t>NEAR-TERM ROADMAP</a:t>
            </a:r>
            <a:endParaRPr sz="825" b="1">
              <a:solidFill>
                <a:srgbClr val="89898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95325" y="457200"/>
            <a:ext cx="1047750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近期规划与进展</a:t>
            </a:r>
            <a:endParaRPr sz="2100" b="1">
              <a:solidFill>
                <a:srgbClr val="C00000"/>
              </a:solidFill>
              <a:latin typeface="微软雅黑"/>
              <a:ea typeface="微软雅黑"/>
              <a:cs typeface="微软雅黑"/>
            </a:endParaRPr>
          </a:p>
        </p:txBody>
      </p:sp>
      <p:graphicFrame>
        <p:nvGraphicFramePr>
          <p:cNvPr id="7" name="表格 6"/>
          <p:cNvGraphicFramePr/>
          <p:nvPr/>
        </p:nvGraphicFramePr>
        <p:xfrm>
          <a:off x="609600" y="1095375"/>
          <a:ext cx="10972800" cy="5137785"/>
        </p:xfrm>
        <a:graphic>
          <a:graphicData uri="http://schemas.openxmlformats.org/drawingml/2006/table">
            <a:tbl>
              <a:tblPr/>
              <a:tblGrid>
                <a:gridCol w="1438275"/>
                <a:gridCol w="6562725"/>
                <a:gridCol w="2019300"/>
                <a:gridCol w="952500"/>
              </a:tblGrid>
              <a:tr h="3048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方向</a:t>
                      </a:r>
                      <a:endParaRPr sz="1200" b="1">
                        <a:solidFill>
                          <a:srgbClr val="222222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95250" marR="76200" marT="47625" marB="47625" anchor="ctr"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任务与关键事项</a:t>
                      </a:r>
                      <a:endParaRPr sz="1200" b="1">
                        <a:solidFill>
                          <a:srgbClr val="222222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95250" marR="76200" marT="47625" marB="47625" anchor="ctr"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负责人</a:t>
                      </a:r>
                      <a:endParaRPr sz="1200" b="1">
                        <a:solidFill>
                          <a:srgbClr val="222222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95250" marR="76200" marT="47625" marB="47625" anchor="ctr"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目标日期</a:t>
                      </a:r>
                      <a:endParaRPr sz="1200" b="1">
                        <a:solidFill>
                          <a:srgbClr val="222222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95250" marR="76200" marT="47625" marB="47625" anchor="ctr">
                    <a:solidFill>
                      <a:srgbClr val="E7E6E6"/>
                    </a:solidFill>
                  </a:tcPr>
                </a:tc>
              </a:tr>
              <a:tr h="304800">
                <a:tc rowSpan="2"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架构</a:t>
                      </a:r>
                      <a:endParaRPr sz="1275" b="1">
                        <a:solidFill>
                          <a:srgbClr val="C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95250" marR="76200" marT="47625" marB="47625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FFN 架构升级：FFN Service</a:t>
                      </a:r>
                      <a:endParaRPr sz="1200">
                        <a:solidFill>
                          <a:srgbClr val="222222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9525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侯安捷</a:t>
                      </a:r>
                      <a:endParaRPr sz="1200">
                        <a:solidFill>
                          <a:srgbClr val="222222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9525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10.15</a:t>
                      </a:r>
                      <a:endParaRPr sz="1200">
                        <a:solidFill>
                          <a:srgbClr val="222222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95250" marR="76200" marT="47625" marB="47625" anchor="ctr">
                    <a:solidFill>
                      <a:srgbClr val="FFFFFF"/>
                    </a:solidFill>
                  </a:tcPr>
                </a:tc>
              </a:tr>
              <a:tr h="304800">
                <a:tc vMerge="1">
                  <a:tcPr marL="9525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Async 路径架构升级与重构</a:t>
                      </a:r>
                      <a:endParaRPr sz="1200">
                        <a:solidFill>
                          <a:srgbClr val="222222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9525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李瑞鑫</a:t>
                      </a:r>
                      <a:endParaRPr sz="1200">
                        <a:solidFill>
                          <a:srgbClr val="222222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9525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10.15</a:t>
                      </a:r>
                      <a:endParaRPr sz="1200">
                        <a:solidFill>
                          <a:srgbClr val="222222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95250" marR="76200" marT="47625" marB="47625" anchor="ctr">
                    <a:solidFill>
                      <a:srgbClr val="FFFFFF"/>
                    </a:solidFill>
                  </a:tcPr>
                </a:tc>
              </a:tr>
              <a:tr h="466725">
                <a:tc rowSpan="4"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升级</a:t>
                      </a:r>
                      <a:endParaRPr sz="1275" b="1">
                        <a:solidFill>
                          <a:srgbClr val="C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95250" marR="76200" marT="47625" marB="47625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GPU 升级 v0.30.0，废弃 ModelRunnerV1</a:t>
                      </a:r>
                      <a:endParaRPr sz="1200">
                        <a:solidFill>
                          <a:srgbClr val="222222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  <a:p>
                      <a:r>
                        <a:rPr sz="120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启用 ModelRunnerV2 + DBO，完成 graph 适配</a:t>
                      </a:r>
                      <a:endParaRPr sz="1200">
                        <a:solidFill>
                          <a:srgbClr val="222222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9525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曹玉娟</a:t>
                      </a:r>
                      <a:endParaRPr sz="1200">
                        <a:solidFill>
                          <a:srgbClr val="222222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9525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9.30</a:t>
                      </a:r>
                      <a:endParaRPr sz="1200">
                        <a:solidFill>
                          <a:srgbClr val="222222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95250" marR="76200" marT="47625" marB="47625" anchor="ctr">
                    <a:solidFill>
                      <a:srgbClr val="FFFFFF"/>
                    </a:solidFill>
                  </a:tcPr>
                </a:tc>
              </a:tr>
              <a:tr h="304800">
                <a:tc vMerge="1">
                  <a:tcPr marL="9525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main2main agent</a:t>
                      </a:r>
                      <a:endParaRPr sz="1200">
                        <a:solidFill>
                          <a:srgbClr val="222222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9525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曹玉娟</a:t>
                      </a:r>
                      <a:endParaRPr sz="1200">
                        <a:solidFill>
                          <a:srgbClr val="222222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9525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9.30</a:t>
                      </a:r>
                      <a:endParaRPr sz="1200">
                        <a:solidFill>
                          <a:srgbClr val="222222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95250" marR="76200" marT="47625" marB="47625" anchor="ctr">
                    <a:solidFill>
                      <a:srgbClr val="FFFFFF"/>
                    </a:solidFill>
                  </a:tcPr>
                </a:tc>
              </a:tr>
              <a:tr h="304800">
                <a:tc vMerge="1">
                  <a:tcPr marL="9525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NPU 升级 v0.30.0</a:t>
                      </a:r>
                      <a:endParaRPr sz="1200">
                        <a:solidFill>
                          <a:srgbClr val="222222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9525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周子恒</a:t>
                      </a:r>
                      <a:endParaRPr sz="1200">
                        <a:solidFill>
                          <a:srgbClr val="222222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9525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10.10</a:t>
                      </a:r>
                      <a:endParaRPr sz="1200">
                        <a:solidFill>
                          <a:srgbClr val="222222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95250" marR="76200" marT="47625" marB="47625" anchor="ctr">
                    <a:solidFill>
                      <a:srgbClr val="FFFFFF"/>
                    </a:solidFill>
                  </a:tcPr>
                </a:tc>
              </a:tr>
              <a:tr h="495300">
                <a:tc vMerge="1">
                  <a:tcPr marL="9525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NPU 废弃 ModelRunnerV1，启用 ModelRunnerV2 + DBO + graph</a:t>
                      </a:r>
                      <a:endParaRPr sz="1200">
                        <a:solidFill>
                          <a:srgbClr val="222222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  <a:p>
                      <a:r>
                        <a:rPr sz="120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同步评估 AsyncConnector 异步 ubatch 与 camp2p ubatch 切分逻辑合并</a:t>
                      </a:r>
                      <a:endParaRPr sz="1200">
                        <a:solidFill>
                          <a:srgbClr val="222222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9525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李瑞鑫</a:t>
                      </a:r>
                      <a:endParaRPr sz="1200">
                        <a:solidFill>
                          <a:srgbClr val="222222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9525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10.15</a:t>
                      </a:r>
                      <a:endParaRPr sz="1200">
                        <a:solidFill>
                          <a:srgbClr val="222222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95250" marR="76200" marT="47625" marB="47625" anchor="ctr">
                    <a:solidFill>
                      <a:srgbClr val="FFFFFF"/>
                    </a:solidFill>
                  </a:tcPr>
                </a:tc>
              </a:tr>
              <a:tr h="304800">
                <a:tc rowSpan="2"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算子</a:t>
                      </a:r>
                      <a:endParaRPr sz="1275" b="1">
                        <a:solidFill>
                          <a:srgbClr val="C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95250" marR="76200" marT="47625" marB="47625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通信与选层算子合入</a:t>
                      </a:r>
                      <a:endParaRPr sz="1200">
                        <a:solidFill>
                          <a:srgbClr val="222222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9525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李玉星</a:t>
                      </a:r>
                      <a:endParaRPr sz="1200">
                        <a:solidFill>
                          <a:srgbClr val="222222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9525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9.23</a:t>
                      </a:r>
                      <a:endParaRPr sz="1200">
                        <a:solidFill>
                          <a:srgbClr val="222222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95250" marR="76200" marT="47625" marB="47625" anchor="ctr">
                    <a:solidFill>
                      <a:srgbClr val="FFFFFF"/>
                    </a:solidFill>
                  </a:tcPr>
                </a:tc>
              </a:tr>
              <a:tr h="304800">
                <a:tc vMerge="1">
                  <a:tcPr marL="9525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性能优化</a:t>
                      </a:r>
                      <a:endParaRPr sz="1200">
                        <a:solidFill>
                          <a:srgbClr val="222222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9525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李玉星、江晨舟</a:t>
                      </a:r>
                      <a:endParaRPr sz="1200">
                        <a:solidFill>
                          <a:srgbClr val="222222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9525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10.15</a:t>
                      </a:r>
                      <a:endParaRPr sz="1200">
                        <a:solidFill>
                          <a:srgbClr val="222222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95250" marR="76200" marT="47625" marB="47625" anchor="ctr">
                    <a:solidFill>
                      <a:srgbClr val="FFFFFF"/>
                    </a:solidFill>
                  </a:tcPr>
                </a:tc>
              </a:tr>
              <a:tr h="342900">
                <a:tc rowSpan="3"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DSV4-flash</a:t>
                      </a:r>
                      <a:endParaRPr sz="1275" b="1">
                        <a:solidFill>
                          <a:srgbClr val="C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  <a:p>
                      <a:r>
                        <a:rPr sz="1275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性能</a:t>
                      </a:r>
                      <a:endParaRPr sz="1275" b="1">
                        <a:solidFill>
                          <a:srgbClr val="C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95250" marR="76200" marT="47625" marB="47625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接入 AsyncConnector 通信算子与选层 GMM 算子</a:t>
                      </a:r>
                      <a:endParaRPr sz="1200">
                        <a:solidFill>
                          <a:srgbClr val="222222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9525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江晨舟</a:t>
                      </a:r>
                      <a:endParaRPr sz="1200">
                        <a:solidFill>
                          <a:srgbClr val="222222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9525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9.24</a:t>
                      </a:r>
                      <a:endParaRPr sz="1200">
                        <a:solidFill>
                          <a:srgbClr val="222222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95250" marR="76200" marT="47625" marB="47625" anchor="ctr">
                    <a:solidFill>
                      <a:srgbClr val="FFFFFF"/>
                    </a:solidFill>
                  </a:tcPr>
                </a:tc>
              </a:tr>
              <a:tr h="466725">
                <a:tc vMerge="1">
                  <a:tcPr marL="9525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DeepSeekV4-flash w4a8 AgentBench</a:t>
                      </a:r>
                      <a:endParaRPr sz="1200">
                        <a:solidFill>
                          <a:srgbClr val="222222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  <a:p>
                      <a:r>
                        <a:rPr sz="120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甜点收益区间仿真与场景性能测试</a:t>
                      </a:r>
                      <a:endParaRPr sz="1200">
                        <a:solidFill>
                          <a:srgbClr val="222222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9525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周子恒</a:t>
                      </a:r>
                      <a:endParaRPr sz="1200">
                        <a:solidFill>
                          <a:srgbClr val="222222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9525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10.15</a:t>
                      </a:r>
                      <a:endParaRPr sz="1200">
                        <a:solidFill>
                          <a:srgbClr val="222222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95250" marR="76200" marT="47625" marB="47625" anchor="ctr">
                    <a:solidFill>
                      <a:srgbClr val="FFFFFF"/>
                    </a:solidFill>
                  </a:tcPr>
                </a:tc>
              </a:tr>
              <a:tr h="304800">
                <a:tc vMerge="1">
                  <a:tcPr marL="9525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FFN 侧入图与通信多流掩盖</a:t>
                      </a:r>
                      <a:endParaRPr sz="1200">
                        <a:solidFill>
                          <a:srgbClr val="222222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9525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江晨舟、白竞帆</a:t>
                      </a:r>
                      <a:endParaRPr sz="1200">
                        <a:solidFill>
                          <a:srgbClr val="222222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9525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待定</a:t>
                      </a:r>
                      <a:endParaRPr sz="1200">
                        <a:solidFill>
                          <a:srgbClr val="222222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95250" marR="76200" marT="47625" marB="47625" anchor="ctr">
                    <a:solidFill>
                      <a:srgbClr val="FFFFFF"/>
                    </a:solidFill>
                  </a:tcPr>
                </a:tc>
              </a:tr>
              <a:tr h="457200">
                <a:tc rowSpan="2"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GLM5.3-Flash</a:t>
                      </a:r>
                      <a:endParaRPr sz="1275" b="1">
                        <a:solidFill>
                          <a:srgbClr val="C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95250" marR="76200" marT="47625" marB="47625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Async 路径适配</a:t>
                      </a:r>
                      <a:endParaRPr sz="1200">
                        <a:solidFill>
                          <a:srgbClr val="222222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  <a:p>
                      <a:r>
                        <a:rPr sz="120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NPU 升级 v0.30.0 后合入</a:t>
                      </a:r>
                      <a:endParaRPr sz="1200">
                        <a:solidFill>
                          <a:srgbClr val="222222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9525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曹玉娟</a:t>
                      </a:r>
                      <a:endParaRPr sz="1200">
                        <a:solidFill>
                          <a:srgbClr val="222222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9525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10.15</a:t>
                      </a:r>
                      <a:endParaRPr sz="1200">
                        <a:solidFill>
                          <a:srgbClr val="222222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95250" marR="76200" marT="47625" marB="47625" anchor="ctr">
                    <a:solidFill>
                      <a:srgbClr val="FFFFFF"/>
                    </a:solidFill>
                  </a:tcPr>
                </a:tc>
              </a:tr>
              <a:tr h="466725">
                <a:tc vMerge="1">
                  <a:tcPr marL="9525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性能测试</a:t>
                      </a:r>
                      <a:endParaRPr sz="1200">
                        <a:solidFill>
                          <a:srgbClr val="222222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9525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曹玉娟</a:t>
                      </a:r>
                      <a:endParaRPr sz="1200">
                        <a:solidFill>
                          <a:srgbClr val="222222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  <a:p>
                      <a:r>
                        <a:rPr sz="120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江晨舟、周子恒协助</a:t>
                      </a:r>
                      <a:endParaRPr sz="1200">
                        <a:solidFill>
                          <a:srgbClr val="222222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9525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待定</a:t>
                      </a:r>
                      <a:endParaRPr sz="1200">
                        <a:solidFill>
                          <a:srgbClr val="222222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95250" marR="76200" marT="47625" marB="476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矩形 3"/>
          <p:cNvSpPr>
            <a:spLocks noGrp="1"/>
          </p:cNvSpPr>
          <p:nvPr/>
        </p:nvSpPr>
        <p:spPr>
          <a:xfrm>
            <a:off x="11334750" y="6524625"/>
            <a:ext cx="333375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675" b="0">
                <a:solidFill>
                  <a:srgbClr val="898989"/>
                </a:solidFill>
                <a:latin typeface="微软雅黑"/>
                <a:ea typeface="微软雅黑"/>
                <a:cs typeface="微软雅黑"/>
              </a:defRPr>
            </a:pPr>
            <a:r>
              <a:rPr sz="675" b="0">
                <a:solidFill>
                  <a:srgbClr val="898989"/>
                </a:solidFill>
                <a:latin typeface="微软雅黑"/>
                <a:ea typeface="微软雅黑"/>
                <a:cs typeface="微软雅黑"/>
              </a:rPr>
              <a:t>32</a:t>
            </a:r>
            <a:endParaRPr sz="675" b="0">
              <a:solidFill>
                <a:srgbClr val="89898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99" name="title-rule-19"/>
          <p:cNvSpPr>
            <a:spLocks noGrp="1"/>
          </p:cNvSpPr>
          <p:nvPr/>
        </p:nvSpPr>
        <p:spPr>
          <a:xfrm>
            <a:off x="609600" y="914400"/>
            <a:ext cx="1428750" cy="28575"/>
          </a:xfrm>
          <a:prstGeom prst="rect">
            <a:avLst/>
          </a:prstGeom>
          <a:solidFill>
            <a:srgbClr val="C00000"/>
          </a:solidFill>
          <a:ln w="0">
            <a:solidFill>
              <a:srgbClr val="C00000"/>
            </a:solidFill>
            <a:prstDash val="solid"/>
          </a:ln>
        </p:spPr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ection-20"/>
          <p:cNvSpPr>
            <a:spLocks noGrp="1"/>
          </p:cNvSpPr>
          <p:nvPr/>
        </p:nvSpPr>
        <p:spPr>
          <a:xfrm>
            <a:off x="609600" y="209550"/>
            <a:ext cx="2286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825" b="1">
                <a:solidFill>
                  <a:srgbClr val="898989"/>
                </a:solidFill>
                <a:latin typeface="Calibri"/>
                <a:ea typeface="Calibri"/>
                <a:cs typeface="Calibri"/>
              </a:defRPr>
            </a:pPr>
            <a:r>
              <a:rPr sz="825" b="1">
                <a:solidFill>
                  <a:srgbClr val="898989"/>
                </a:solidFill>
                <a:latin typeface="Calibri"/>
                <a:ea typeface="Calibri"/>
                <a:cs typeface="Calibri"/>
              </a:rPr>
              <a:t>ASYNC PREFILL RESULTS</a:t>
            </a:r>
            <a:endParaRPr sz="825" b="1">
              <a:solidFill>
                <a:srgbClr val="898989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" name="title-20"/>
          <p:cNvSpPr>
            <a:spLocks noGrp="1"/>
          </p:cNvSpPr>
          <p:nvPr/>
        </p:nvSpPr>
        <p:spPr>
          <a:xfrm>
            <a:off x="609600" y="419100"/>
            <a:ext cx="10668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buNone/>
              <a:defRPr sz="2175" b="1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 dirty="0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AFD DP3TP4 与 EP4 / EP8 / EP16：TTFT </a:t>
            </a:r>
            <a:r>
              <a:rPr sz="2175" b="1" dirty="0" err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对比（QPS</a:t>
            </a:r>
            <a:r>
              <a:rPr sz="2175" b="1" dirty="0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=2）</a:t>
            </a:r>
            <a:endParaRPr sz="2175" b="1" dirty="0">
              <a:solidFill>
                <a:srgbClr val="C000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title-rule-20"/>
          <p:cNvSpPr>
            <a:spLocks noGrp="1"/>
          </p:cNvSpPr>
          <p:nvPr/>
        </p:nvSpPr>
        <p:spPr>
          <a:xfrm>
            <a:off x="609600" y="914400"/>
            <a:ext cx="1428750" cy="28575"/>
          </a:xfrm>
          <a:prstGeom prst="rect">
            <a:avLst/>
          </a:prstGeom>
          <a:solidFill>
            <a:srgbClr val="C00000"/>
          </a:solidFill>
          <a:ln w="0">
            <a:solidFill>
              <a:srgbClr val="C00000"/>
            </a:solidFill>
            <a:prstDash val="solid"/>
          </a:ln>
        </p:spPr>
      </p:sp>
      <p:sp>
        <p:nvSpPr>
          <p:cNvPr id="4" name="metadata-bg-20"/>
          <p:cNvSpPr>
            <a:spLocks noGrp="1"/>
          </p:cNvSpPr>
          <p:nvPr/>
        </p:nvSpPr>
        <p:spPr>
          <a:xfrm>
            <a:off x="609600" y="1028700"/>
            <a:ext cx="10972800" cy="400050"/>
          </a:xfrm>
          <a:prstGeom prst="rect">
            <a:avLst/>
          </a:prstGeom>
          <a:solidFill>
            <a:srgbClr val="F5F5F5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5" name="model-20"/>
          <p:cNvSpPr>
            <a:spLocks noGrp="1"/>
          </p:cNvSpPr>
          <p:nvPr/>
        </p:nvSpPr>
        <p:spPr>
          <a:xfrm>
            <a:off x="800100" y="1095375"/>
            <a:ext cx="238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50" b="1">
                <a:solidFill>
                  <a:srgbClr val="234CA5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 dirty="0">
                <a:solidFill>
                  <a:srgbClr val="234CA5"/>
                </a:solidFill>
                <a:latin typeface="微软雅黑"/>
                <a:ea typeface="微软雅黑"/>
                <a:cs typeface="微软雅黑"/>
              </a:rPr>
              <a:t>模型：dsv4-flash W4A8</a:t>
            </a:r>
            <a:endParaRPr sz="1050" b="1" dirty="0">
              <a:solidFill>
                <a:srgbClr val="234CA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comparison-20"/>
          <p:cNvSpPr>
            <a:spLocks noGrp="1"/>
          </p:cNvSpPr>
          <p:nvPr/>
        </p:nvSpPr>
        <p:spPr>
          <a:xfrm>
            <a:off x="3476625" y="1095375"/>
            <a:ext cx="5619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buNone/>
              <a:defRPr sz="1125" b="0">
                <a:solidFill>
                  <a:srgbClr val="528A00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 dirty="0">
                <a:solidFill>
                  <a:srgbClr val="528A00"/>
                </a:solidFill>
                <a:latin typeface="微软雅黑"/>
                <a:ea typeface="微软雅黑"/>
                <a:cs typeface="微软雅黑"/>
              </a:rPr>
              <a:t>AFD 64K（layered </a:t>
            </a:r>
            <a:r>
              <a:rPr sz="1125" b="0" dirty="0" err="1">
                <a:solidFill>
                  <a:srgbClr val="528A00"/>
                </a:solidFill>
                <a:latin typeface="微软雅黑"/>
                <a:ea typeface="微软雅黑"/>
                <a:cs typeface="微软雅黑"/>
              </a:rPr>
              <a:t>GMM＋FULL）vs</a:t>
            </a:r>
            <a:r>
              <a:rPr sz="1125" b="0" dirty="0">
                <a:solidFill>
                  <a:srgbClr val="528A00"/>
                </a:solidFill>
                <a:latin typeface="微软雅黑"/>
                <a:ea typeface="微软雅黑"/>
                <a:cs typeface="微软雅黑"/>
              </a:rPr>
              <a:t> 大 EP 8K</a:t>
            </a:r>
            <a:endParaRPr sz="1125" b="0" dirty="0">
              <a:solidFill>
                <a:srgbClr val="528A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hardware-20"/>
          <p:cNvSpPr>
            <a:spLocks noGrp="1"/>
          </p:cNvSpPr>
          <p:nvPr/>
        </p:nvSpPr>
        <p:spPr>
          <a:xfrm>
            <a:off x="9144000" y="1095375"/>
            <a:ext cx="2247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975" b="1">
                <a:solidFill>
                  <a:srgbClr val="F06A00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06A00"/>
                </a:solidFill>
                <a:latin typeface="微软雅黑"/>
                <a:ea typeface="微软雅黑"/>
                <a:cs typeface="微软雅黑"/>
              </a:rPr>
              <a:t>硬件：Ascend 910C</a:t>
            </a:r>
            <a:endParaRPr sz="975" b="1">
              <a:solidFill>
                <a:srgbClr val="F06A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chart-heading-20"/>
          <p:cNvSpPr>
            <a:spLocks noGrp="1"/>
          </p:cNvSpPr>
          <p:nvPr/>
        </p:nvSpPr>
        <p:spPr>
          <a:xfrm>
            <a:off x="609600" y="1466850"/>
            <a:ext cx="6191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buNone/>
              <a:defRPr sz="150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QPS=2：各分位点 TTFT（秒）</a:t>
            </a:r>
            <a:endParaRPr sz="1500" b="1">
              <a:solidFill>
                <a:srgbClr val="22222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table-heading-20"/>
          <p:cNvSpPr>
            <a:spLocks noGrp="1"/>
          </p:cNvSpPr>
          <p:nvPr/>
        </p:nvSpPr>
        <p:spPr>
          <a:xfrm>
            <a:off x="7029450" y="1466850"/>
            <a:ext cx="45529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buNone/>
              <a:defRPr sz="150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TTFT 明细（秒）与实际吞吐</a:t>
            </a:r>
            <a:endParaRPr sz="1500" b="1">
              <a:solidFill>
                <a:srgbClr val="22222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8" name="conclusion-20"/>
          <p:cNvSpPr>
            <a:spLocks noGrp="1"/>
          </p:cNvSpPr>
          <p:nvPr/>
        </p:nvSpPr>
        <p:spPr>
          <a:xfrm>
            <a:off x="609600" y="5514975"/>
            <a:ext cx="6191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>
              <a:buNone/>
              <a:defRPr sz="12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P50 最低：AFD 64K（0.81 秒）</a:t>
            </a:r>
            <a:endParaRPr sz="1200" b="0">
              <a:solidFill>
                <a:srgbClr val="222222"/>
              </a:solidFill>
              <a:latin typeface="微软雅黑"/>
              <a:ea typeface="微软雅黑"/>
              <a:cs typeface="微软雅黑"/>
            </a:endParaRPr>
          </a:p>
          <a:p>
            <a:r>
              <a:rPr sz="12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P99 最低：4×EP4 8K（5.95 秒）</a:t>
            </a:r>
            <a:endParaRPr sz="1200" b="0">
              <a:solidFill>
                <a:srgbClr val="22222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9" name="settings-20"/>
          <p:cNvSpPr>
            <a:spLocks noGrp="1"/>
          </p:cNvSpPr>
          <p:nvPr/>
        </p:nvSpPr>
        <p:spPr>
          <a:xfrm>
            <a:off x="609600" y="6067425"/>
            <a:ext cx="10972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buNone/>
              <a:defRPr sz="8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每配置三轮分位数均值；红色粗体为表中同分位最小值（两位小数）。QPS为offered RPS，末行为实际QPS（req/s）。</a:t>
            </a:r>
            <a:endParaRPr sz="825" b="0">
              <a:solidFill>
                <a:srgbClr val="66666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0" name="source-20"/>
          <p:cNvSpPr>
            <a:spLocks noGrp="1"/>
          </p:cNvSpPr>
          <p:nvPr/>
        </p:nvSpPr>
        <p:spPr>
          <a:xfrm>
            <a:off x="609600" y="6305550"/>
            <a:ext cx="10972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buNone/>
              <a:defRPr sz="825" b="0">
                <a:solidFill>
                  <a:srgbClr val="777777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0">
                <a:solidFill>
                  <a:srgbClr val="777777"/>
                </a:solidFill>
                <a:latin typeface="微软雅黑"/>
                <a:ea typeface="微软雅黑"/>
                <a:cs typeface="微软雅黑"/>
              </a:rPr>
              <a:t>2026-10-04/05正式矩阵：AFD/EP16显存0.7，4×EP4/2×EP8为0.9；序列槽48/64。跨MBT/节点的部署方案比较。</a:t>
            </a:r>
            <a:endParaRPr sz="825" b="0">
              <a:solidFill>
                <a:srgbClr val="77777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1" name="page-20"/>
          <p:cNvSpPr>
            <a:spLocks noGrp="1"/>
          </p:cNvSpPr>
          <p:nvPr/>
        </p:nvSpPr>
        <p:spPr>
          <a:xfrm>
            <a:off x="11315700" y="6553200"/>
            <a:ext cx="3429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r">
              <a:buNone/>
              <a:defRPr sz="750" b="0">
                <a:solidFill>
                  <a:srgbClr val="777777"/>
                </a:solidFill>
                <a:latin typeface="微软雅黑"/>
                <a:ea typeface="微软雅黑"/>
                <a:cs typeface="微软雅黑"/>
              </a:defRPr>
            </a:pPr>
            <a:r>
              <a:rPr sz="750" b="0">
                <a:solidFill>
                  <a:srgbClr val="777777"/>
                </a:solidFill>
                <a:latin typeface="微软雅黑"/>
                <a:ea typeface="微软雅黑"/>
                <a:cs typeface="微软雅黑"/>
              </a:rPr>
              <a:t>20</a:t>
            </a:r>
            <a:endParaRPr sz="750" b="0">
              <a:solidFill>
                <a:srgbClr val="777777"/>
              </a:solidFill>
              <a:latin typeface="微软雅黑"/>
              <a:ea typeface="微软雅黑"/>
              <a:cs typeface="微软雅黑"/>
            </a:endParaRPr>
          </a:p>
        </p:txBody>
      </p:sp>
      <p:graphicFrame>
        <p:nvGraphicFramePr>
          <p:cNvPr id="23" name="Chart 22"/>
          <p:cNvGraphicFramePr>
            <a:graphicFrameLocks noGrp="1"/>
          </p:cNvGraphicFramePr>
          <p:nvPr/>
        </p:nvGraphicFramePr>
        <p:xfrm>
          <a:off x="609904" y="1790395"/>
          <a:ext cx="6191402" cy="34975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7029907" y="1723644"/>
          <a:ext cx="4552796" cy="39998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9808"/>
                <a:gridCol w="950747"/>
                <a:gridCol w="950747"/>
                <a:gridCol w="950747"/>
                <a:gridCol w="950747"/>
              </a:tblGrid>
              <a:tr h="4572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11111"/>
                          </a:solidFill>
                          <a:latin typeface="微软雅黑"/>
                        </a:rPr>
                        <a:t>分位</a:t>
                      </a:r>
                      <a:endParaRPr sz="1050" b="1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 dirty="0">
                          <a:solidFill>
                            <a:srgbClr val="F2A300"/>
                          </a:solidFill>
                          <a:latin typeface="微软雅黑"/>
                        </a:rPr>
                        <a:t>AFD</a:t>
                      </a:r>
                      <a:endParaRPr sz="1050" b="1" dirty="0">
                        <a:solidFill>
                          <a:srgbClr val="F2A300"/>
                        </a:solidFill>
                        <a:latin typeface="微软雅黑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 dirty="0">
                          <a:solidFill>
                            <a:srgbClr val="F2A300"/>
                          </a:solidFill>
                          <a:latin typeface="微软雅黑"/>
                        </a:rPr>
                        <a:t>64K</a:t>
                      </a:r>
                      <a:endParaRPr sz="1050" b="1" dirty="0">
                        <a:solidFill>
                          <a:srgbClr val="F2A300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 dirty="0">
                          <a:solidFill>
                            <a:srgbClr val="548235"/>
                          </a:solidFill>
                          <a:latin typeface="微软雅黑"/>
                        </a:rPr>
                        <a:t>4×EP4</a:t>
                      </a:r>
                      <a:endParaRPr sz="1050" b="1" dirty="0">
                        <a:solidFill>
                          <a:srgbClr val="548235"/>
                        </a:solidFill>
                        <a:latin typeface="微软雅黑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 dirty="0">
                          <a:solidFill>
                            <a:srgbClr val="548235"/>
                          </a:solidFill>
                          <a:latin typeface="微软雅黑"/>
                        </a:rPr>
                        <a:t>8K</a:t>
                      </a:r>
                      <a:endParaRPr sz="1050" b="1" dirty="0">
                        <a:solidFill>
                          <a:srgbClr val="548235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 dirty="0">
                          <a:solidFill>
                            <a:srgbClr val="4472C4"/>
                          </a:solidFill>
                          <a:latin typeface="微软雅黑"/>
                        </a:rPr>
                        <a:t>2×EP8</a:t>
                      </a:r>
                      <a:endParaRPr sz="1050" b="1" dirty="0">
                        <a:solidFill>
                          <a:srgbClr val="4472C4"/>
                        </a:solidFill>
                        <a:latin typeface="微软雅黑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 dirty="0">
                          <a:solidFill>
                            <a:srgbClr val="4472C4"/>
                          </a:solidFill>
                          <a:latin typeface="微软雅黑"/>
                        </a:rPr>
                        <a:t>8K</a:t>
                      </a:r>
                      <a:endParaRPr sz="1050" b="1" dirty="0">
                        <a:solidFill>
                          <a:srgbClr val="4472C4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 dirty="0">
                          <a:solidFill>
                            <a:srgbClr val="7030A0"/>
                          </a:solidFill>
                          <a:latin typeface="微软雅黑"/>
                        </a:rPr>
                        <a:t>EP16</a:t>
                      </a:r>
                      <a:endParaRPr sz="1050" b="1" dirty="0">
                        <a:solidFill>
                          <a:srgbClr val="7030A0"/>
                        </a:solidFill>
                        <a:latin typeface="微软雅黑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 dirty="0">
                          <a:solidFill>
                            <a:srgbClr val="7030A0"/>
                          </a:solidFill>
                          <a:latin typeface="微软雅黑"/>
                        </a:rPr>
                        <a:t>8K</a:t>
                      </a:r>
                      <a:endParaRPr sz="1050" b="1" dirty="0">
                        <a:solidFill>
                          <a:srgbClr val="7030A0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E7E6E6"/>
                    </a:solidFill>
                  </a:tcPr>
                </a:tc>
              </a:tr>
              <a:tr h="590441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11111"/>
                          </a:solidFill>
                          <a:latin typeface="微软雅黑"/>
                        </a:rPr>
                        <a:t>均值</a:t>
                      </a:r>
                      <a:endParaRPr sz="1050" b="1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11111"/>
                          </a:solidFill>
                          <a:latin typeface="微软雅黑"/>
                        </a:rPr>
                        <a:t>1.28</a:t>
                      </a:r>
                      <a:endParaRPr sz="1200" b="0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dirty="0">
                          <a:solidFill>
                            <a:srgbClr val="C00000"/>
                          </a:solidFill>
                          <a:latin typeface="微软雅黑"/>
                        </a:rPr>
                        <a:t>1.26</a:t>
                      </a:r>
                      <a:endParaRPr sz="1200" b="1" dirty="0">
                        <a:solidFill>
                          <a:srgbClr val="C00000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11111"/>
                          </a:solidFill>
                          <a:latin typeface="微软雅黑"/>
                        </a:rPr>
                        <a:t>2.26</a:t>
                      </a:r>
                      <a:endParaRPr sz="1200" b="0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dirty="0">
                          <a:solidFill>
                            <a:srgbClr val="111111"/>
                          </a:solidFill>
                          <a:latin typeface="微软雅黑"/>
                        </a:rPr>
                        <a:t>3.63</a:t>
                      </a:r>
                      <a:endParaRPr sz="1200" b="0" dirty="0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</a:tr>
              <a:tr h="590441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11111"/>
                          </a:solidFill>
                          <a:latin typeface="微软雅黑"/>
                        </a:rPr>
                        <a:t>P25</a:t>
                      </a:r>
                      <a:endParaRPr sz="1050" b="1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11111"/>
                          </a:solidFill>
                          <a:latin typeface="微软雅黑"/>
                        </a:rPr>
                        <a:t>0.45</a:t>
                      </a:r>
                      <a:endParaRPr sz="1200" b="0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dirty="0">
                          <a:solidFill>
                            <a:srgbClr val="C00000"/>
                          </a:solidFill>
                          <a:latin typeface="微软雅黑"/>
                        </a:rPr>
                        <a:t>0.37</a:t>
                      </a:r>
                      <a:endParaRPr sz="1200" b="1" dirty="0">
                        <a:solidFill>
                          <a:srgbClr val="C00000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11111"/>
                          </a:solidFill>
                          <a:latin typeface="微软雅黑"/>
                        </a:rPr>
                        <a:t>1.08</a:t>
                      </a:r>
                      <a:endParaRPr sz="1200" b="0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dirty="0">
                          <a:solidFill>
                            <a:srgbClr val="111111"/>
                          </a:solidFill>
                          <a:latin typeface="微软雅黑"/>
                        </a:rPr>
                        <a:t>2.32</a:t>
                      </a:r>
                      <a:endParaRPr sz="1200" b="0" dirty="0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</a:tr>
              <a:tr h="590441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11111"/>
                          </a:solidFill>
                          <a:latin typeface="微软雅黑"/>
                        </a:rPr>
                        <a:t>P50</a:t>
                      </a:r>
                      <a:endParaRPr sz="1050" b="1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C00000"/>
                          </a:solidFill>
                          <a:latin typeface="微软雅黑"/>
                        </a:rPr>
                        <a:t>0.81</a:t>
                      </a:r>
                      <a:endParaRPr sz="1200" b="1">
                        <a:solidFill>
                          <a:srgbClr val="C00000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dirty="0">
                          <a:solidFill>
                            <a:srgbClr val="111111"/>
                          </a:solidFill>
                          <a:latin typeface="微软雅黑"/>
                        </a:rPr>
                        <a:t>0.82</a:t>
                      </a:r>
                      <a:endParaRPr sz="1200" b="0" dirty="0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11111"/>
                          </a:solidFill>
                          <a:latin typeface="微软雅黑"/>
                        </a:rPr>
                        <a:t>1.87</a:t>
                      </a:r>
                      <a:endParaRPr sz="1200" b="0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dirty="0">
                          <a:solidFill>
                            <a:srgbClr val="111111"/>
                          </a:solidFill>
                          <a:latin typeface="微软雅黑"/>
                        </a:rPr>
                        <a:t>3.17</a:t>
                      </a:r>
                      <a:endParaRPr sz="1200" b="0" dirty="0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</a:tr>
              <a:tr h="590441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11111"/>
                          </a:solidFill>
                          <a:latin typeface="微软雅黑"/>
                        </a:rPr>
                        <a:t>P90</a:t>
                      </a:r>
                      <a:endParaRPr sz="1050" b="1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C00000"/>
                          </a:solidFill>
                          <a:latin typeface="微软雅黑"/>
                        </a:rPr>
                        <a:t>2.86</a:t>
                      </a:r>
                      <a:endParaRPr sz="1200" b="1">
                        <a:solidFill>
                          <a:srgbClr val="C00000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dirty="0">
                          <a:solidFill>
                            <a:srgbClr val="111111"/>
                          </a:solidFill>
                          <a:latin typeface="微软雅黑"/>
                        </a:rPr>
                        <a:t>2.93</a:t>
                      </a:r>
                      <a:endParaRPr sz="1200" b="0" dirty="0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11111"/>
                          </a:solidFill>
                          <a:latin typeface="微软雅黑"/>
                        </a:rPr>
                        <a:t>4.46</a:t>
                      </a:r>
                      <a:endParaRPr sz="1200" b="0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dirty="0">
                          <a:solidFill>
                            <a:srgbClr val="111111"/>
                          </a:solidFill>
                          <a:latin typeface="微软雅黑"/>
                        </a:rPr>
                        <a:t>6.25</a:t>
                      </a:r>
                      <a:endParaRPr sz="1200" b="0" dirty="0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</a:tr>
              <a:tr h="590441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11111"/>
                          </a:solidFill>
                          <a:latin typeface="微软雅黑"/>
                        </a:rPr>
                        <a:t>P99</a:t>
                      </a:r>
                      <a:endParaRPr sz="1050" b="1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11111"/>
                          </a:solidFill>
                          <a:latin typeface="微软雅黑"/>
                        </a:rPr>
                        <a:t>6.08</a:t>
                      </a:r>
                      <a:endParaRPr sz="1200" b="0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dirty="0">
                          <a:solidFill>
                            <a:srgbClr val="C00000"/>
                          </a:solidFill>
                          <a:latin typeface="微软雅黑"/>
                        </a:rPr>
                        <a:t>5.95</a:t>
                      </a:r>
                      <a:endParaRPr sz="1200" b="1" dirty="0">
                        <a:solidFill>
                          <a:srgbClr val="C00000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11111"/>
                          </a:solidFill>
                          <a:latin typeface="微软雅黑"/>
                        </a:rPr>
                        <a:t>7.70</a:t>
                      </a:r>
                      <a:endParaRPr sz="1200" b="0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dirty="0">
                          <a:solidFill>
                            <a:srgbClr val="111111"/>
                          </a:solidFill>
                          <a:latin typeface="微软雅黑"/>
                        </a:rPr>
                        <a:t>10.12</a:t>
                      </a:r>
                      <a:endParaRPr sz="1200" b="0" dirty="0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</a:tr>
              <a:tr h="590441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11111"/>
                          </a:solidFill>
                          <a:latin typeface="微软雅黑"/>
                        </a:rPr>
                        <a:t>实际QPS</a:t>
                      </a:r>
                      <a:endParaRPr sz="1050" b="1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11111"/>
                          </a:solidFill>
                          <a:latin typeface="微软雅黑"/>
                        </a:rPr>
                        <a:t>1.99</a:t>
                      </a:r>
                      <a:endParaRPr sz="1200" b="0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dirty="0">
                          <a:solidFill>
                            <a:srgbClr val="111111"/>
                          </a:solidFill>
                          <a:latin typeface="微软雅黑"/>
                        </a:rPr>
                        <a:t>1.99</a:t>
                      </a:r>
                      <a:endParaRPr sz="1200" b="0" dirty="0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11111"/>
                          </a:solidFill>
                          <a:latin typeface="微软雅黑"/>
                        </a:rPr>
                        <a:t>1.98</a:t>
                      </a:r>
                      <a:endParaRPr sz="1200" b="0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dirty="0">
                          <a:solidFill>
                            <a:srgbClr val="111111"/>
                          </a:solidFill>
                          <a:latin typeface="微软雅黑"/>
                        </a:rPr>
                        <a:t>1.98</a:t>
                      </a:r>
                      <a:endParaRPr sz="1200" b="0" dirty="0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ection-20"/>
          <p:cNvSpPr>
            <a:spLocks noGrp="1"/>
          </p:cNvSpPr>
          <p:nvPr/>
        </p:nvSpPr>
        <p:spPr>
          <a:xfrm>
            <a:off x="609600" y="209550"/>
            <a:ext cx="2286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825" b="1">
                <a:solidFill>
                  <a:srgbClr val="898989"/>
                </a:solidFill>
                <a:latin typeface="Calibri"/>
                <a:ea typeface="Calibri"/>
                <a:cs typeface="Calibri"/>
              </a:defRPr>
            </a:pPr>
            <a:r>
              <a:rPr sz="825" b="1">
                <a:solidFill>
                  <a:srgbClr val="898989"/>
                </a:solidFill>
                <a:latin typeface="Calibri"/>
                <a:ea typeface="Calibri"/>
                <a:cs typeface="Calibri"/>
              </a:rPr>
              <a:t>ASYNC PREFILL RESULTS</a:t>
            </a:r>
            <a:endParaRPr sz="825" b="1">
              <a:solidFill>
                <a:srgbClr val="898989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" name="title-20"/>
          <p:cNvSpPr>
            <a:spLocks noGrp="1"/>
          </p:cNvSpPr>
          <p:nvPr/>
        </p:nvSpPr>
        <p:spPr>
          <a:xfrm>
            <a:off x="609600" y="419100"/>
            <a:ext cx="10668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buNone/>
              <a:defRPr sz="2175" b="1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AFD DP3TP4 与 EP4 / EP8 / EP16：TTFT 对比（QPS=3）</a:t>
            </a:r>
            <a:endParaRPr sz="2175" b="1">
              <a:solidFill>
                <a:srgbClr val="C000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title-rule-20"/>
          <p:cNvSpPr>
            <a:spLocks noGrp="1"/>
          </p:cNvSpPr>
          <p:nvPr/>
        </p:nvSpPr>
        <p:spPr>
          <a:xfrm>
            <a:off x="609600" y="914400"/>
            <a:ext cx="1428750" cy="28575"/>
          </a:xfrm>
          <a:prstGeom prst="rect">
            <a:avLst/>
          </a:prstGeom>
          <a:solidFill>
            <a:srgbClr val="C00000"/>
          </a:solidFill>
          <a:ln w="0">
            <a:solidFill>
              <a:srgbClr val="C00000"/>
            </a:solidFill>
            <a:prstDash val="solid"/>
          </a:ln>
        </p:spPr>
      </p:sp>
      <p:sp>
        <p:nvSpPr>
          <p:cNvPr id="4" name="metadata-bg-20"/>
          <p:cNvSpPr>
            <a:spLocks noGrp="1"/>
          </p:cNvSpPr>
          <p:nvPr/>
        </p:nvSpPr>
        <p:spPr>
          <a:xfrm>
            <a:off x="609600" y="1028700"/>
            <a:ext cx="10972800" cy="400050"/>
          </a:xfrm>
          <a:prstGeom prst="rect">
            <a:avLst/>
          </a:prstGeom>
          <a:solidFill>
            <a:srgbClr val="F5F5F5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5" name="model-20"/>
          <p:cNvSpPr>
            <a:spLocks noGrp="1"/>
          </p:cNvSpPr>
          <p:nvPr/>
        </p:nvSpPr>
        <p:spPr>
          <a:xfrm>
            <a:off x="800100" y="1095375"/>
            <a:ext cx="238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50" b="1">
                <a:solidFill>
                  <a:srgbClr val="234CA5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234CA5"/>
                </a:solidFill>
                <a:latin typeface="微软雅黑"/>
                <a:ea typeface="微软雅黑"/>
                <a:cs typeface="微软雅黑"/>
              </a:rPr>
              <a:t>模型：dsv4-flash W4A8</a:t>
            </a:r>
            <a:endParaRPr sz="1050" b="1">
              <a:solidFill>
                <a:srgbClr val="234CA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comparison-20"/>
          <p:cNvSpPr>
            <a:spLocks noGrp="1"/>
          </p:cNvSpPr>
          <p:nvPr/>
        </p:nvSpPr>
        <p:spPr>
          <a:xfrm>
            <a:off x="3476625" y="1095375"/>
            <a:ext cx="5619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buNone/>
              <a:defRPr sz="1125" b="0">
                <a:solidFill>
                  <a:srgbClr val="528A00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528A00"/>
                </a:solidFill>
                <a:latin typeface="微软雅黑"/>
                <a:ea typeface="微软雅黑"/>
                <a:cs typeface="微软雅黑"/>
              </a:rPr>
              <a:t>AFD 64K（layered GMM＋FULL）vs 大 EP 8K</a:t>
            </a:r>
            <a:endParaRPr sz="1125" b="0">
              <a:solidFill>
                <a:srgbClr val="528A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hardware-20"/>
          <p:cNvSpPr>
            <a:spLocks noGrp="1"/>
          </p:cNvSpPr>
          <p:nvPr/>
        </p:nvSpPr>
        <p:spPr>
          <a:xfrm>
            <a:off x="9144000" y="1095375"/>
            <a:ext cx="2247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975" b="1">
                <a:solidFill>
                  <a:srgbClr val="F06A00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06A00"/>
                </a:solidFill>
                <a:latin typeface="微软雅黑"/>
                <a:ea typeface="微软雅黑"/>
                <a:cs typeface="微软雅黑"/>
              </a:rPr>
              <a:t>硬件：Ascend 910C</a:t>
            </a:r>
            <a:endParaRPr sz="975" b="1">
              <a:solidFill>
                <a:srgbClr val="F06A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chart-heading-20"/>
          <p:cNvSpPr>
            <a:spLocks noGrp="1"/>
          </p:cNvSpPr>
          <p:nvPr/>
        </p:nvSpPr>
        <p:spPr>
          <a:xfrm>
            <a:off x="609600" y="1466850"/>
            <a:ext cx="6191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buNone/>
              <a:defRPr sz="150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QPS=3：各分位点 TTFT（秒）</a:t>
            </a:r>
            <a:endParaRPr sz="1500" b="1">
              <a:solidFill>
                <a:srgbClr val="22222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table-heading-20"/>
          <p:cNvSpPr>
            <a:spLocks noGrp="1"/>
          </p:cNvSpPr>
          <p:nvPr/>
        </p:nvSpPr>
        <p:spPr>
          <a:xfrm>
            <a:off x="7029450" y="1466850"/>
            <a:ext cx="45529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buNone/>
              <a:defRPr sz="150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TTFT 明细（秒）与实际吞吐</a:t>
            </a:r>
            <a:endParaRPr sz="1500" b="1">
              <a:solidFill>
                <a:srgbClr val="22222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8" name="conclusion-20"/>
          <p:cNvSpPr>
            <a:spLocks noGrp="1"/>
          </p:cNvSpPr>
          <p:nvPr/>
        </p:nvSpPr>
        <p:spPr>
          <a:xfrm>
            <a:off x="609600" y="5514975"/>
            <a:ext cx="6191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>
              <a:buNone/>
              <a:defRPr sz="12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P50 最低：4×EP4 8K（1.26 秒）</a:t>
            </a:r>
            <a:endParaRPr sz="1200" b="0">
              <a:solidFill>
                <a:srgbClr val="222222"/>
              </a:solidFill>
              <a:latin typeface="微软雅黑"/>
              <a:ea typeface="微软雅黑"/>
              <a:cs typeface="微软雅黑"/>
            </a:endParaRPr>
          </a:p>
          <a:p>
            <a:r>
              <a:rPr sz="12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P99 最低：4×EP4 8K（6.75 秒）</a:t>
            </a:r>
            <a:endParaRPr sz="1200" b="0">
              <a:solidFill>
                <a:srgbClr val="22222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9" name="settings-20"/>
          <p:cNvSpPr>
            <a:spLocks noGrp="1"/>
          </p:cNvSpPr>
          <p:nvPr/>
        </p:nvSpPr>
        <p:spPr>
          <a:xfrm>
            <a:off x="609600" y="6067425"/>
            <a:ext cx="10972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buNone/>
              <a:defRPr sz="8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每配置三轮分位数均值；红色粗体为表中同分位最小值（两位小数）。QPS为offered RPS，末行为实际QPS（req/s）。</a:t>
            </a:r>
            <a:endParaRPr sz="825" b="0">
              <a:solidFill>
                <a:srgbClr val="66666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0" name="source-20"/>
          <p:cNvSpPr>
            <a:spLocks noGrp="1"/>
          </p:cNvSpPr>
          <p:nvPr/>
        </p:nvSpPr>
        <p:spPr>
          <a:xfrm>
            <a:off x="609600" y="6305550"/>
            <a:ext cx="10972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buNone/>
              <a:defRPr sz="825" b="0">
                <a:solidFill>
                  <a:srgbClr val="777777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0">
                <a:solidFill>
                  <a:srgbClr val="777777"/>
                </a:solidFill>
                <a:latin typeface="微软雅黑"/>
                <a:ea typeface="微软雅黑"/>
                <a:cs typeface="微软雅黑"/>
              </a:rPr>
              <a:t>2026-10-04/05正式矩阵：AFD/EP16显存0.7，4×EP4/2×EP8为0.9；序列槽48/64。跨MBT/节点的部署方案比较。</a:t>
            </a:r>
            <a:endParaRPr sz="825" b="0">
              <a:solidFill>
                <a:srgbClr val="77777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1" name="page-20"/>
          <p:cNvSpPr>
            <a:spLocks noGrp="1"/>
          </p:cNvSpPr>
          <p:nvPr/>
        </p:nvSpPr>
        <p:spPr>
          <a:xfrm>
            <a:off x="11315700" y="6553200"/>
            <a:ext cx="3429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r">
              <a:buNone/>
              <a:defRPr sz="750" b="0">
                <a:solidFill>
                  <a:srgbClr val="777777"/>
                </a:solidFill>
                <a:latin typeface="微软雅黑"/>
                <a:ea typeface="微软雅黑"/>
                <a:cs typeface="微软雅黑"/>
              </a:defRPr>
            </a:pPr>
            <a:r>
              <a:rPr sz="750" b="0">
                <a:solidFill>
                  <a:srgbClr val="777777"/>
                </a:solidFill>
                <a:latin typeface="微软雅黑"/>
                <a:ea typeface="微软雅黑"/>
                <a:cs typeface="微软雅黑"/>
              </a:rPr>
              <a:t>21</a:t>
            </a:r>
            <a:endParaRPr sz="750" b="0">
              <a:solidFill>
                <a:srgbClr val="777777"/>
              </a:solidFill>
              <a:latin typeface="微软雅黑"/>
              <a:ea typeface="微软雅黑"/>
              <a:cs typeface="微软雅黑"/>
            </a:endParaRPr>
          </a:p>
        </p:txBody>
      </p:sp>
      <p:graphicFrame>
        <p:nvGraphicFramePr>
          <p:cNvPr id="23" name="Chart 22"/>
          <p:cNvGraphicFramePr>
            <a:graphicFrameLocks noGrp="1"/>
          </p:cNvGraphicFramePr>
          <p:nvPr/>
        </p:nvGraphicFramePr>
        <p:xfrm>
          <a:off x="609904" y="1790395"/>
          <a:ext cx="6191402" cy="34975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7029907" y="1723644"/>
          <a:ext cx="4552796" cy="39998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9808"/>
                <a:gridCol w="950747"/>
                <a:gridCol w="950747"/>
                <a:gridCol w="950747"/>
                <a:gridCol w="950747"/>
              </a:tblGrid>
              <a:tr h="4572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11111"/>
                          </a:solidFill>
                          <a:latin typeface="微软雅黑"/>
                        </a:rPr>
                        <a:t>分位</a:t>
                      </a:r>
                      <a:endParaRPr sz="1050" b="1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2A300"/>
                          </a:solidFill>
                          <a:latin typeface="微软雅黑"/>
                        </a:rPr>
                        <a:t>AFD</a:t>
                      </a:r>
                      <a:endParaRPr sz="1050" b="1">
                        <a:solidFill>
                          <a:srgbClr val="F2A300"/>
                        </a:solidFill>
                        <a:latin typeface="微软雅黑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2A300"/>
                          </a:solidFill>
                          <a:latin typeface="微软雅黑"/>
                        </a:rPr>
                        <a:t>64K</a:t>
                      </a:r>
                      <a:endParaRPr sz="1050" b="1">
                        <a:solidFill>
                          <a:srgbClr val="F2A300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548235"/>
                          </a:solidFill>
                          <a:latin typeface="微软雅黑"/>
                        </a:rPr>
                        <a:t>4×EP4</a:t>
                      </a:r>
                      <a:endParaRPr sz="1050" b="1">
                        <a:solidFill>
                          <a:srgbClr val="548235"/>
                        </a:solidFill>
                        <a:latin typeface="微软雅黑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548235"/>
                          </a:solidFill>
                          <a:latin typeface="微软雅黑"/>
                        </a:rPr>
                        <a:t>8K</a:t>
                      </a:r>
                      <a:endParaRPr sz="1050" b="1">
                        <a:solidFill>
                          <a:srgbClr val="548235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4472C4"/>
                          </a:solidFill>
                          <a:latin typeface="微软雅黑"/>
                        </a:rPr>
                        <a:t>2×EP8</a:t>
                      </a:r>
                      <a:endParaRPr sz="1050" b="1">
                        <a:solidFill>
                          <a:srgbClr val="4472C4"/>
                        </a:solidFill>
                        <a:latin typeface="微软雅黑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4472C4"/>
                          </a:solidFill>
                          <a:latin typeface="微软雅黑"/>
                        </a:rPr>
                        <a:t>8K</a:t>
                      </a:r>
                      <a:endParaRPr sz="1050" b="1">
                        <a:solidFill>
                          <a:srgbClr val="4472C4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7030A0"/>
                          </a:solidFill>
                          <a:latin typeface="微软雅黑"/>
                        </a:rPr>
                        <a:t>EP16</a:t>
                      </a:r>
                      <a:endParaRPr sz="1050" b="1">
                        <a:solidFill>
                          <a:srgbClr val="7030A0"/>
                        </a:solidFill>
                        <a:latin typeface="微软雅黑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7030A0"/>
                          </a:solidFill>
                          <a:latin typeface="微软雅黑"/>
                        </a:rPr>
                        <a:t>8K</a:t>
                      </a:r>
                      <a:endParaRPr sz="1050" b="1">
                        <a:solidFill>
                          <a:srgbClr val="7030A0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E7E6E6"/>
                    </a:solidFill>
                  </a:tcPr>
                </a:tc>
              </a:tr>
              <a:tr h="590441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11111"/>
                          </a:solidFill>
                          <a:latin typeface="微软雅黑"/>
                        </a:rPr>
                        <a:t>均值</a:t>
                      </a:r>
                      <a:endParaRPr sz="1050" b="1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11111"/>
                          </a:solidFill>
                          <a:latin typeface="微软雅黑"/>
                        </a:rPr>
                        <a:t>2.24</a:t>
                      </a:r>
                      <a:endParaRPr sz="1200" b="0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C00000"/>
                          </a:solidFill>
                          <a:latin typeface="微软雅黑"/>
                        </a:rPr>
                        <a:t>1.73</a:t>
                      </a:r>
                      <a:endParaRPr sz="1200" b="1">
                        <a:solidFill>
                          <a:srgbClr val="C00000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11111"/>
                          </a:solidFill>
                          <a:latin typeface="微软雅黑"/>
                        </a:rPr>
                        <a:t>3.68</a:t>
                      </a:r>
                      <a:endParaRPr sz="1200" b="0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11111"/>
                          </a:solidFill>
                          <a:latin typeface="微软雅黑"/>
                        </a:rPr>
                        <a:t>4.88</a:t>
                      </a:r>
                      <a:endParaRPr sz="1200" b="0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</a:tr>
              <a:tr h="590441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11111"/>
                          </a:solidFill>
                          <a:latin typeface="微软雅黑"/>
                        </a:rPr>
                        <a:t>P25</a:t>
                      </a:r>
                      <a:endParaRPr sz="1050" b="1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11111"/>
                          </a:solidFill>
                          <a:latin typeface="微软雅黑"/>
                        </a:rPr>
                        <a:t>0.73</a:t>
                      </a:r>
                      <a:endParaRPr sz="1200" b="0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C00000"/>
                          </a:solidFill>
                          <a:latin typeface="微软雅黑"/>
                        </a:rPr>
                        <a:t>0.52</a:t>
                      </a:r>
                      <a:endParaRPr sz="1200" b="1">
                        <a:solidFill>
                          <a:srgbClr val="C00000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11111"/>
                          </a:solidFill>
                          <a:latin typeface="微软雅黑"/>
                        </a:rPr>
                        <a:t>2.11</a:t>
                      </a:r>
                      <a:endParaRPr sz="1200" b="0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11111"/>
                          </a:solidFill>
                          <a:latin typeface="微软雅黑"/>
                        </a:rPr>
                        <a:t>3.11</a:t>
                      </a:r>
                      <a:endParaRPr sz="1200" b="0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</a:tr>
              <a:tr h="590441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11111"/>
                          </a:solidFill>
                          <a:latin typeface="微软雅黑"/>
                        </a:rPr>
                        <a:t>P50</a:t>
                      </a:r>
                      <a:endParaRPr sz="1050" b="1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11111"/>
                          </a:solidFill>
                          <a:latin typeface="微软雅黑"/>
                        </a:rPr>
                        <a:t>1.62</a:t>
                      </a:r>
                      <a:endParaRPr sz="1200" b="0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C00000"/>
                          </a:solidFill>
                          <a:latin typeface="微软雅黑"/>
                        </a:rPr>
                        <a:t>1.26</a:t>
                      </a:r>
                      <a:endParaRPr sz="1200" b="1">
                        <a:solidFill>
                          <a:srgbClr val="C00000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11111"/>
                          </a:solidFill>
                          <a:latin typeface="微软雅黑"/>
                        </a:rPr>
                        <a:t>3.18</a:t>
                      </a:r>
                      <a:endParaRPr sz="1200" b="0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11111"/>
                          </a:solidFill>
                          <a:latin typeface="微软雅黑"/>
                        </a:rPr>
                        <a:t>4.41</a:t>
                      </a:r>
                      <a:endParaRPr sz="1200" b="0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</a:tr>
              <a:tr h="590441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11111"/>
                          </a:solidFill>
                          <a:latin typeface="微软雅黑"/>
                        </a:rPr>
                        <a:t>P90</a:t>
                      </a:r>
                      <a:endParaRPr sz="1050" b="1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11111"/>
                          </a:solidFill>
                          <a:latin typeface="微软雅黑"/>
                        </a:rPr>
                        <a:t>5.13</a:t>
                      </a:r>
                      <a:endParaRPr sz="1200" b="0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C00000"/>
                          </a:solidFill>
                          <a:latin typeface="微软雅黑"/>
                        </a:rPr>
                        <a:t>3.81</a:t>
                      </a:r>
                      <a:endParaRPr sz="1200" b="1">
                        <a:solidFill>
                          <a:srgbClr val="C00000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11111"/>
                          </a:solidFill>
                          <a:latin typeface="微软雅黑"/>
                        </a:rPr>
                        <a:t>6.72</a:t>
                      </a:r>
                      <a:endParaRPr sz="1200" b="0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11111"/>
                          </a:solidFill>
                          <a:latin typeface="微软雅黑"/>
                        </a:rPr>
                        <a:t>8.05</a:t>
                      </a:r>
                      <a:endParaRPr sz="1200" b="0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</a:tr>
              <a:tr h="590441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11111"/>
                          </a:solidFill>
                          <a:latin typeface="微软雅黑"/>
                        </a:rPr>
                        <a:t>P99</a:t>
                      </a:r>
                      <a:endParaRPr sz="1050" b="1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11111"/>
                          </a:solidFill>
                          <a:latin typeface="微软雅黑"/>
                        </a:rPr>
                        <a:t>8.11</a:t>
                      </a:r>
                      <a:endParaRPr sz="1200" b="0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C00000"/>
                          </a:solidFill>
                          <a:latin typeface="微软雅黑"/>
                        </a:rPr>
                        <a:t>6.75</a:t>
                      </a:r>
                      <a:endParaRPr sz="1200" b="1">
                        <a:solidFill>
                          <a:srgbClr val="C00000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11111"/>
                          </a:solidFill>
                          <a:latin typeface="微软雅黑"/>
                        </a:rPr>
                        <a:t>10.48</a:t>
                      </a:r>
                      <a:endParaRPr sz="1200" b="0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11111"/>
                          </a:solidFill>
                          <a:latin typeface="微软雅黑"/>
                        </a:rPr>
                        <a:t>11.99</a:t>
                      </a:r>
                      <a:endParaRPr sz="1200" b="0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</a:tr>
              <a:tr h="590441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11111"/>
                          </a:solidFill>
                          <a:latin typeface="微软雅黑"/>
                        </a:rPr>
                        <a:t>实际QPS</a:t>
                      </a:r>
                      <a:endParaRPr sz="1050" b="1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11111"/>
                          </a:solidFill>
                          <a:latin typeface="微软雅黑"/>
                        </a:rPr>
                        <a:t>2.97</a:t>
                      </a:r>
                      <a:endParaRPr sz="1200" b="0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11111"/>
                          </a:solidFill>
                          <a:latin typeface="微软雅黑"/>
                        </a:rPr>
                        <a:t>2.96</a:t>
                      </a:r>
                      <a:endParaRPr sz="1200" b="0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11111"/>
                          </a:solidFill>
                          <a:latin typeface="微软雅黑"/>
                        </a:rPr>
                        <a:t>2.94</a:t>
                      </a:r>
                      <a:endParaRPr sz="1200" b="0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11111"/>
                          </a:solidFill>
                          <a:latin typeface="微软雅黑"/>
                        </a:rPr>
                        <a:t>2.94</a:t>
                      </a:r>
                      <a:endParaRPr sz="1200" b="0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ection-20"/>
          <p:cNvSpPr>
            <a:spLocks noGrp="1"/>
          </p:cNvSpPr>
          <p:nvPr/>
        </p:nvSpPr>
        <p:spPr>
          <a:xfrm>
            <a:off x="609600" y="209550"/>
            <a:ext cx="2286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825" b="1">
                <a:solidFill>
                  <a:srgbClr val="898989"/>
                </a:solidFill>
                <a:latin typeface="Calibri"/>
                <a:ea typeface="Calibri"/>
                <a:cs typeface="Calibri"/>
              </a:defRPr>
            </a:pPr>
            <a:r>
              <a:rPr sz="825" b="1">
                <a:solidFill>
                  <a:srgbClr val="898989"/>
                </a:solidFill>
                <a:latin typeface="Calibri"/>
                <a:ea typeface="Calibri"/>
                <a:cs typeface="Calibri"/>
              </a:rPr>
              <a:t>ASYNC PREFILL RESULTS</a:t>
            </a:r>
            <a:endParaRPr sz="825" b="1">
              <a:solidFill>
                <a:srgbClr val="898989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" name="title-20"/>
          <p:cNvSpPr>
            <a:spLocks noGrp="1"/>
          </p:cNvSpPr>
          <p:nvPr/>
        </p:nvSpPr>
        <p:spPr>
          <a:xfrm>
            <a:off x="609600" y="419100"/>
            <a:ext cx="10668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buNone/>
              <a:defRPr sz="2175" b="1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AFD DP3TP4 与 EP4 / EP8 / EP16：TTFT 对比（QPS=4）</a:t>
            </a:r>
            <a:endParaRPr sz="2175" b="1">
              <a:solidFill>
                <a:srgbClr val="C000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title-rule-20"/>
          <p:cNvSpPr>
            <a:spLocks noGrp="1"/>
          </p:cNvSpPr>
          <p:nvPr/>
        </p:nvSpPr>
        <p:spPr>
          <a:xfrm>
            <a:off x="609600" y="914400"/>
            <a:ext cx="1428750" cy="28575"/>
          </a:xfrm>
          <a:prstGeom prst="rect">
            <a:avLst/>
          </a:prstGeom>
          <a:solidFill>
            <a:srgbClr val="C00000"/>
          </a:solidFill>
          <a:ln w="0">
            <a:solidFill>
              <a:srgbClr val="C00000"/>
            </a:solidFill>
            <a:prstDash val="solid"/>
          </a:ln>
        </p:spPr>
      </p:sp>
      <p:sp>
        <p:nvSpPr>
          <p:cNvPr id="4" name="metadata-bg-20"/>
          <p:cNvSpPr>
            <a:spLocks noGrp="1"/>
          </p:cNvSpPr>
          <p:nvPr/>
        </p:nvSpPr>
        <p:spPr>
          <a:xfrm>
            <a:off x="609600" y="1028700"/>
            <a:ext cx="10972800" cy="400050"/>
          </a:xfrm>
          <a:prstGeom prst="rect">
            <a:avLst/>
          </a:prstGeom>
          <a:solidFill>
            <a:srgbClr val="F5F5F5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5" name="model-20"/>
          <p:cNvSpPr>
            <a:spLocks noGrp="1"/>
          </p:cNvSpPr>
          <p:nvPr/>
        </p:nvSpPr>
        <p:spPr>
          <a:xfrm>
            <a:off x="800100" y="1095375"/>
            <a:ext cx="238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50" b="1">
                <a:solidFill>
                  <a:srgbClr val="234CA5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234CA5"/>
                </a:solidFill>
                <a:latin typeface="微软雅黑"/>
                <a:ea typeface="微软雅黑"/>
                <a:cs typeface="微软雅黑"/>
              </a:rPr>
              <a:t>模型：dsv4-flash W4A8</a:t>
            </a:r>
            <a:endParaRPr sz="1050" b="1">
              <a:solidFill>
                <a:srgbClr val="234CA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comparison-20"/>
          <p:cNvSpPr>
            <a:spLocks noGrp="1"/>
          </p:cNvSpPr>
          <p:nvPr/>
        </p:nvSpPr>
        <p:spPr>
          <a:xfrm>
            <a:off x="3476625" y="1095375"/>
            <a:ext cx="5619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buNone/>
              <a:defRPr sz="1125" b="0">
                <a:solidFill>
                  <a:srgbClr val="528A00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528A00"/>
                </a:solidFill>
                <a:latin typeface="微软雅黑"/>
                <a:ea typeface="微软雅黑"/>
                <a:cs typeface="微软雅黑"/>
              </a:rPr>
              <a:t>AFD 64K（layered GMM＋FULL）vs 大 EP 8K</a:t>
            </a:r>
            <a:endParaRPr sz="1125" b="0">
              <a:solidFill>
                <a:srgbClr val="528A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hardware-20"/>
          <p:cNvSpPr>
            <a:spLocks noGrp="1"/>
          </p:cNvSpPr>
          <p:nvPr/>
        </p:nvSpPr>
        <p:spPr>
          <a:xfrm>
            <a:off x="9144000" y="1095375"/>
            <a:ext cx="2247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975" b="1">
                <a:solidFill>
                  <a:srgbClr val="F06A00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06A00"/>
                </a:solidFill>
                <a:latin typeface="微软雅黑"/>
                <a:ea typeface="微软雅黑"/>
                <a:cs typeface="微软雅黑"/>
              </a:rPr>
              <a:t>硬件：Ascend 910C</a:t>
            </a:r>
            <a:endParaRPr sz="975" b="1">
              <a:solidFill>
                <a:srgbClr val="F06A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chart-heading-20"/>
          <p:cNvSpPr>
            <a:spLocks noGrp="1"/>
          </p:cNvSpPr>
          <p:nvPr/>
        </p:nvSpPr>
        <p:spPr>
          <a:xfrm>
            <a:off x="609600" y="1466850"/>
            <a:ext cx="6191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buNone/>
              <a:defRPr sz="150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QPS=4：各分位点 TTFT（秒）</a:t>
            </a:r>
            <a:endParaRPr sz="1500" b="1">
              <a:solidFill>
                <a:srgbClr val="22222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table-heading-20"/>
          <p:cNvSpPr>
            <a:spLocks noGrp="1"/>
          </p:cNvSpPr>
          <p:nvPr/>
        </p:nvSpPr>
        <p:spPr>
          <a:xfrm>
            <a:off x="7029450" y="1466850"/>
            <a:ext cx="45529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buNone/>
              <a:defRPr sz="150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TTFT 明细（秒）与实际吞吐</a:t>
            </a:r>
            <a:endParaRPr sz="1500" b="1">
              <a:solidFill>
                <a:srgbClr val="22222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8" name="conclusion-20"/>
          <p:cNvSpPr>
            <a:spLocks noGrp="1"/>
          </p:cNvSpPr>
          <p:nvPr/>
        </p:nvSpPr>
        <p:spPr>
          <a:xfrm>
            <a:off x="609600" y="5514975"/>
            <a:ext cx="6191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>
              <a:buNone/>
              <a:defRPr sz="12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P50 最低：4×EP4 8K（3.10 秒）</a:t>
            </a:r>
            <a:endParaRPr sz="1200" b="0">
              <a:solidFill>
                <a:srgbClr val="222222"/>
              </a:solidFill>
              <a:latin typeface="微软雅黑"/>
              <a:ea typeface="微软雅黑"/>
              <a:cs typeface="微软雅黑"/>
            </a:endParaRPr>
          </a:p>
          <a:p>
            <a:r>
              <a:rPr sz="12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P99 最低：4×EP4 8K（10.71 秒）</a:t>
            </a:r>
            <a:endParaRPr sz="1200" b="0">
              <a:solidFill>
                <a:srgbClr val="22222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9" name="settings-20"/>
          <p:cNvSpPr>
            <a:spLocks noGrp="1"/>
          </p:cNvSpPr>
          <p:nvPr/>
        </p:nvSpPr>
        <p:spPr>
          <a:xfrm>
            <a:off x="609600" y="6067425"/>
            <a:ext cx="10972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buNone/>
              <a:defRPr sz="8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每配置三轮分位数均值；红色粗体为表中同分位最小值（两位小数）。QPS为offered RPS，末行为实际QPS（req/s）。</a:t>
            </a:r>
            <a:endParaRPr sz="825" b="0">
              <a:solidFill>
                <a:srgbClr val="66666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0" name="source-20"/>
          <p:cNvSpPr>
            <a:spLocks noGrp="1"/>
          </p:cNvSpPr>
          <p:nvPr/>
        </p:nvSpPr>
        <p:spPr>
          <a:xfrm>
            <a:off x="609600" y="6305550"/>
            <a:ext cx="10972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buNone/>
              <a:defRPr sz="825" b="0">
                <a:solidFill>
                  <a:srgbClr val="777777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0">
                <a:solidFill>
                  <a:srgbClr val="777777"/>
                </a:solidFill>
                <a:latin typeface="微软雅黑"/>
                <a:ea typeface="微软雅黑"/>
                <a:cs typeface="微软雅黑"/>
              </a:rPr>
              <a:t>2026-10-04/05正式矩阵：AFD/EP16显存0.7，4×EP4/2×EP8为0.9；序列槽48/64。跨MBT/节点的部署方案比较。</a:t>
            </a:r>
            <a:endParaRPr sz="825" b="0">
              <a:solidFill>
                <a:srgbClr val="77777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1" name="page-20"/>
          <p:cNvSpPr>
            <a:spLocks noGrp="1"/>
          </p:cNvSpPr>
          <p:nvPr/>
        </p:nvSpPr>
        <p:spPr>
          <a:xfrm>
            <a:off x="11315700" y="6553200"/>
            <a:ext cx="3429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r">
              <a:buNone/>
              <a:defRPr sz="750" b="0">
                <a:solidFill>
                  <a:srgbClr val="777777"/>
                </a:solidFill>
                <a:latin typeface="微软雅黑"/>
                <a:ea typeface="微软雅黑"/>
                <a:cs typeface="微软雅黑"/>
              </a:defRPr>
            </a:pPr>
            <a:r>
              <a:rPr sz="750" b="0">
                <a:solidFill>
                  <a:srgbClr val="777777"/>
                </a:solidFill>
                <a:latin typeface="微软雅黑"/>
                <a:ea typeface="微软雅黑"/>
                <a:cs typeface="微软雅黑"/>
              </a:rPr>
              <a:t>22</a:t>
            </a:r>
            <a:endParaRPr sz="750" b="0">
              <a:solidFill>
                <a:srgbClr val="777777"/>
              </a:solidFill>
              <a:latin typeface="微软雅黑"/>
              <a:ea typeface="微软雅黑"/>
              <a:cs typeface="微软雅黑"/>
            </a:endParaRPr>
          </a:p>
        </p:txBody>
      </p:sp>
      <p:graphicFrame>
        <p:nvGraphicFramePr>
          <p:cNvPr id="23" name="Chart 22"/>
          <p:cNvGraphicFramePr>
            <a:graphicFrameLocks noGrp="1"/>
          </p:cNvGraphicFramePr>
          <p:nvPr/>
        </p:nvGraphicFramePr>
        <p:xfrm>
          <a:off x="609904" y="1790395"/>
          <a:ext cx="6191402" cy="34975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7029907" y="1723644"/>
          <a:ext cx="4552796" cy="39998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9808"/>
                <a:gridCol w="950747"/>
                <a:gridCol w="950747"/>
                <a:gridCol w="950747"/>
                <a:gridCol w="950747"/>
              </a:tblGrid>
              <a:tr h="4572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11111"/>
                          </a:solidFill>
                          <a:latin typeface="微软雅黑"/>
                        </a:rPr>
                        <a:t>分位</a:t>
                      </a:r>
                      <a:endParaRPr sz="1050" b="1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 dirty="0">
                          <a:solidFill>
                            <a:srgbClr val="F2A300"/>
                          </a:solidFill>
                          <a:latin typeface="微软雅黑"/>
                        </a:rPr>
                        <a:t>AFD</a:t>
                      </a:r>
                      <a:endParaRPr sz="1050" b="1" dirty="0">
                        <a:solidFill>
                          <a:srgbClr val="F2A300"/>
                        </a:solidFill>
                        <a:latin typeface="微软雅黑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 dirty="0">
                          <a:solidFill>
                            <a:srgbClr val="F2A300"/>
                          </a:solidFill>
                          <a:latin typeface="微软雅黑"/>
                        </a:rPr>
                        <a:t>64K</a:t>
                      </a:r>
                      <a:endParaRPr sz="1050" b="1" dirty="0">
                        <a:solidFill>
                          <a:srgbClr val="F2A300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 dirty="0">
                          <a:solidFill>
                            <a:srgbClr val="548235"/>
                          </a:solidFill>
                          <a:latin typeface="微软雅黑"/>
                        </a:rPr>
                        <a:t>4×EP4</a:t>
                      </a:r>
                      <a:endParaRPr sz="1050" b="1" dirty="0">
                        <a:solidFill>
                          <a:srgbClr val="548235"/>
                        </a:solidFill>
                        <a:latin typeface="微软雅黑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 dirty="0">
                          <a:solidFill>
                            <a:srgbClr val="548235"/>
                          </a:solidFill>
                          <a:latin typeface="微软雅黑"/>
                        </a:rPr>
                        <a:t>8K</a:t>
                      </a:r>
                      <a:endParaRPr sz="1050" b="1" dirty="0">
                        <a:solidFill>
                          <a:srgbClr val="548235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 dirty="0">
                          <a:solidFill>
                            <a:srgbClr val="4472C4"/>
                          </a:solidFill>
                          <a:latin typeface="微软雅黑"/>
                        </a:rPr>
                        <a:t>2×EP8</a:t>
                      </a:r>
                      <a:endParaRPr sz="1050" b="1" dirty="0">
                        <a:solidFill>
                          <a:srgbClr val="4472C4"/>
                        </a:solidFill>
                        <a:latin typeface="微软雅黑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 dirty="0">
                          <a:solidFill>
                            <a:srgbClr val="4472C4"/>
                          </a:solidFill>
                          <a:latin typeface="微软雅黑"/>
                        </a:rPr>
                        <a:t>8K</a:t>
                      </a:r>
                      <a:endParaRPr sz="1050" b="1" dirty="0">
                        <a:solidFill>
                          <a:srgbClr val="4472C4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 dirty="0">
                          <a:solidFill>
                            <a:srgbClr val="7030A0"/>
                          </a:solidFill>
                          <a:latin typeface="微软雅黑"/>
                        </a:rPr>
                        <a:t>EP16</a:t>
                      </a:r>
                      <a:endParaRPr sz="1050" b="1" dirty="0">
                        <a:solidFill>
                          <a:srgbClr val="7030A0"/>
                        </a:solidFill>
                        <a:latin typeface="微软雅黑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 dirty="0">
                          <a:solidFill>
                            <a:srgbClr val="7030A0"/>
                          </a:solidFill>
                          <a:latin typeface="微软雅黑"/>
                        </a:rPr>
                        <a:t>8K</a:t>
                      </a:r>
                      <a:endParaRPr sz="1050" b="1" dirty="0">
                        <a:solidFill>
                          <a:srgbClr val="7030A0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E7E6E6"/>
                    </a:solidFill>
                  </a:tcPr>
                </a:tc>
              </a:tr>
              <a:tr h="590441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11111"/>
                          </a:solidFill>
                          <a:latin typeface="微软雅黑"/>
                        </a:rPr>
                        <a:t>均值</a:t>
                      </a:r>
                      <a:endParaRPr sz="1050" b="1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dirty="0">
                          <a:solidFill>
                            <a:srgbClr val="111111"/>
                          </a:solidFill>
                          <a:latin typeface="微软雅黑"/>
                        </a:rPr>
                        <a:t>6.49</a:t>
                      </a:r>
                      <a:endParaRPr sz="1200" b="0" dirty="0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dirty="0">
                          <a:solidFill>
                            <a:srgbClr val="C00000"/>
                          </a:solidFill>
                          <a:latin typeface="微软雅黑"/>
                        </a:rPr>
                        <a:t>3.61</a:t>
                      </a:r>
                      <a:endParaRPr sz="1200" b="1" dirty="0">
                        <a:solidFill>
                          <a:srgbClr val="C00000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dirty="0">
                          <a:solidFill>
                            <a:srgbClr val="111111"/>
                          </a:solidFill>
                          <a:latin typeface="微软雅黑"/>
                        </a:rPr>
                        <a:t>8.05</a:t>
                      </a:r>
                      <a:endParaRPr sz="1200" b="0" dirty="0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dirty="0">
                          <a:solidFill>
                            <a:srgbClr val="111111"/>
                          </a:solidFill>
                          <a:latin typeface="微软雅黑"/>
                        </a:rPr>
                        <a:t>15.84</a:t>
                      </a:r>
                      <a:endParaRPr sz="1200" b="0" dirty="0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</a:tr>
              <a:tr h="590441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11111"/>
                          </a:solidFill>
                          <a:latin typeface="微软雅黑"/>
                        </a:rPr>
                        <a:t>P25</a:t>
                      </a:r>
                      <a:endParaRPr sz="1050" b="1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dirty="0">
                          <a:solidFill>
                            <a:srgbClr val="111111"/>
                          </a:solidFill>
                          <a:latin typeface="微软雅黑"/>
                        </a:rPr>
                        <a:t>3.19</a:t>
                      </a:r>
                      <a:endParaRPr sz="1200" b="0" dirty="0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dirty="0">
                          <a:solidFill>
                            <a:srgbClr val="C00000"/>
                          </a:solidFill>
                          <a:latin typeface="微软雅黑"/>
                        </a:rPr>
                        <a:t>1.50</a:t>
                      </a:r>
                      <a:endParaRPr sz="1200" b="1" dirty="0">
                        <a:solidFill>
                          <a:srgbClr val="C00000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dirty="0">
                          <a:solidFill>
                            <a:srgbClr val="111111"/>
                          </a:solidFill>
                          <a:latin typeface="微软雅黑"/>
                        </a:rPr>
                        <a:t>4.74</a:t>
                      </a:r>
                      <a:endParaRPr sz="1200" b="0" dirty="0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dirty="0">
                          <a:solidFill>
                            <a:srgbClr val="111111"/>
                          </a:solidFill>
                          <a:latin typeface="微软雅黑"/>
                        </a:rPr>
                        <a:t>11.22</a:t>
                      </a:r>
                      <a:endParaRPr sz="1200" b="0" dirty="0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</a:tr>
              <a:tr h="590441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11111"/>
                          </a:solidFill>
                          <a:latin typeface="微软雅黑"/>
                        </a:rPr>
                        <a:t>P50</a:t>
                      </a:r>
                      <a:endParaRPr sz="1050" b="1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dirty="0">
                          <a:solidFill>
                            <a:srgbClr val="111111"/>
                          </a:solidFill>
                          <a:latin typeface="微软雅黑"/>
                        </a:rPr>
                        <a:t>6.29</a:t>
                      </a:r>
                      <a:endParaRPr sz="1200" b="0" dirty="0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dirty="0">
                          <a:solidFill>
                            <a:srgbClr val="C00000"/>
                          </a:solidFill>
                          <a:latin typeface="微软雅黑"/>
                        </a:rPr>
                        <a:t>3.10</a:t>
                      </a:r>
                      <a:endParaRPr sz="1200" b="1" dirty="0">
                        <a:solidFill>
                          <a:srgbClr val="C00000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dirty="0">
                          <a:solidFill>
                            <a:srgbClr val="111111"/>
                          </a:solidFill>
                          <a:latin typeface="微软雅黑"/>
                        </a:rPr>
                        <a:t>7.43</a:t>
                      </a:r>
                      <a:endParaRPr sz="1200" b="0" dirty="0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dirty="0">
                          <a:solidFill>
                            <a:srgbClr val="111111"/>
                          </a:solidFill>
                          <a:latin typeface="微软雅黑"/>
                        </a:rPr>
                        <a:t>15.67</a:t>
                      </a:r>
                      <a:endParaRPr sz="1200" b="0" dirty="0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</a:tr>
              <a:tr h="590441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11111"/>
                          </a:solidFill>
                          <a:latin typeface="微软雅黑"/>
                        </a:rPr>
                        <a:t>P90</a:t>
                      </a:r>
                      <a:endParaRPr sz="1050" b="1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dirty="0">
                          <a:solidFill>
                            <a:srgbClr val="111111"/>
                          </a:solidFill>
                          <a:latin typeface="微软雅黑"/>
                        </a:rPr>
                        <a:t>11.70</a:t>
                      </a:r>
                      <a:endParaRPr sz="1200" b="0" dirty="0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dirty="0">
                          <a:solidFill>
                            <a:srgbClr val="C00000"/>
                          </a:solidFill>
                          <a:latin typeface="微软雅黑"/>
                        </a:rPr>
                        <a:t>7.28</a:t>
                      </a:r>
                      <a:endParaRPr sz="1200" b="1" dirty="0">
                        <a:solidFill>
                          <a:srgbClr val="C00000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dirty="0">
                          <a:solidFill>
                            <a:srgbClr val="111111"/>
                          </a:solidFill>
                          <a:latin typeface="微软雅黑"/>
                        </a:rPr>
                        <a:t>13.90</a:t>
                      </a:r>
                      <a:endParaRPr sz="1200" b="0" dirty="0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dirty="0">
                          <a:solidFill>
                            <a:srgbClr val="111111"/>
                          </a:solidFill>
                          <a:latin typeface="微软雅黑"/>
                        </a:rPr>
                        <a:t>24.92</a:t>
                      </a:r>
                      <a:endParaRPr sz="1200" b="0" dirty="0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</a:tr>
              <a:tr h="590441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11111"/>
                          </a:solidFill>
                          <a:latin typeface="微软雅黑"/>
                        </a:rPr>
                        <a:t>P99</a:t>
                      </a:r>
                      <a:endParaRPr sz="1050" b="1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dirty="0">
                          <a:solidFill>
                            <a:srgbClr val="111111"/>
                          </a:solidFill>
                          <a:latin typeface="微软雅黑"/>
                        </a:rPr>
                        <a:t>16.56</a:t>
                      </a:r>
                      <a:endParaRPr sz="1200" b="0" dirty="0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dirty="0">
                          <a:solidFill>
                            <a:srgbClr val="C00000"/>
                          </a:solidFill>
                          <a:latin typeface="微软雅黑"/>
                        </a:rPr>
                        <a:t>10.71</a:t>
                      </a:r>
                      <a:endParaRPr sz="1200" b="1" dirty="0">
                        <a:solidFill>
                          <a:srgbClr val="C00000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11111"/>
                          </a:solidFill>
                          <a:latin typeface="微软雅黑"/>
                        </a:rPr>
                        <a:t>18.94</a:t>
                      </a:r>
                      <a:endParaRPr sz="1200" b="0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dirty="0">
                          <a:solidFill>
                            <a:srgbClr val="111111"/>
                          </a:solidFill>
                          <a:latin typeface="微软雅黑"/>
                        </a:rPr>
                        <a:t>32.36</a:t>
                      </a:r>
                      <a:endParaRPr sz="1200" b="0" dirty="0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</a:tr>
              <a:tr h="590441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11111"/>
                          </a:solidFill>
                          <a:latin typeface="微软雅黑"/>
                        </a:rPr>
                        <a:t>实际QPS</a:t>
                      </a:r>
                      <a:endParaRPr sz="1050" b="1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dirty="0">
                          <a:solidFill>
                            <a:srgbClr val="111111"/>
                          </a:solidFill>
                          <a:latin typeface="微软雅黑"/>
                        </a:rPr>
                        <a:t>3.88</a:t>
                      </a:r>
                      <a:endParaRPr sz="1200" b="0" dirty="0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dirty="0">
                          <a:solidFill>
                            <a:srgbClr val="111111"/>
                          </a:solidFill>
                          <a:latin typeface="微软雅黑"/>
                        </a:rPr>
                        <a:t>3.92</a:t>
                      </a:r>
                      <a:endParaRPr sz="1200" b="0" dirty="0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11111"/>
                          </a:solidFill>
                          <a:latin typeface="微软雅黑"/>
                        </a:rPr>
                        <a:t>3.83</a:t>
                      </a:r>
                      <a:endParaRPr sz="1200" b="0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dirty="0">
                          <a:solidFill>
                            <a:srgbClr val="111111"/>
                          </a:solidFill>
                          <a:latin typeface="微软雅黑"/>
                        </a:rPr>
                        <a:t>3.68</a:t>
                      </a:r>
                      <a:endParaRPr sz="1200" b="0" dirty="0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ection-20"/>
          <p:cNvSpPr>
            <a:spLocks noGrp="1"/>
          </p:cNvSpPr>
          <p:nvPr/>
        </p:nvSpPr>
        <p:spPr>
          <a:xfrm>
            <a:off x="609600" y="209550"/>
            <a:ext cx="2286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825" b="1">
                <a:solidFill>
                  <a:srgbClr val="898989"/>
                </a:solidFill>
                <a:latin typeface="Calibri"/>
                <a:ea typeface="Calibri"/>
                <a:cs typeface="Calibri"/>
              </a:defRPr>
            </a:pPr>
            <a:r>
              <a:rPr sz="825" b="1">
                <a:solidFill>
                  <a:srgbClr val="898989"/>
                </a:solidFill>
                <a:latin typeface="Calibri"/>
                <a:ea typeface="Calibri"/>
                <a:cs typeface="Calibri"/>
              </a:rPr>
              <a:t>ASYNC PREFILL RESULTS</a:t>
            </a:r>
            <a:endParaRPr sz="825" b="1">
              <a:solidFill>
                <a:srgbClr val="898989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" name="title-20"/>
          <p:cNvSpPr>
            <a:spLocks noGrp="1"/>
          </p:cNvSpPr>
          <p:nvPr/>
        </p:nvSpPr>
        <p:spPr>
          <a:xfrm>
            <a:off x="609600" y="419100"/>
            <a:ext cx="10668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buNone/>
              <a:defRPr sz="2175" b="1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AFD DP3TP4 与 EP4 / EP8 / EP16：TTFT 对比（QPS=5）</a:t>
            </a:r>
            <a:endParaRPr sz="2175" b="1">
              <a:solidFill>
                <a:srgbClr val="C000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title-rule-20"/>
          <p:cNvSpPr>
            <a:spLocks noGrp="1"/>
          </p:cNvSpPr>
          <p:nvPr/>
        </p:nvSpPr>
        <p:spPr>
          <a:xfrm>
            <a:off x="609600" y="914400"/>
            <a:ext cx="1428750" cy="28575"/>
          </a:xfrm>
          <a:prstGeom prst="rect">
            <a:avLst/>
          </a:prstGeom>
          <a:solidFill>
            <a:srgbClr val="C00000"/>
          </a:solidFill>
          <a:ln w="0">
            <a:solidFill>
              <a:srgbClr val="C00000"/>
            </a:solidFill>
            <a:prstDash val="solid"/>
          </a:ln>
        </p:spPr>
      </p:sp>
      <p:sp>
        <p:nvSpPr>
          <p:cNvPr id="4" name="metadata-bg-20"/>
          <p:cNvSpPr>
            <a:spLocks noGrp="1"/>
          </p:cNvSpPr>
          <p:nvPr/>
        </p:nvSpPr>
        <p:spPr>
          <a:xfrm>
            <a:off x="609600" y="1028700"/>
            <a:ext cx="10972800" cy="400050"/>
          </a:xfrm>
          <a:prstGeom prst="rect">
            <a:avLst/>
          </a:prstGeom>
          <a:solidFill>
            <a:srgbClr val="F5F5F5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5" name="model-20"/>
          <p:cNvSpPr>
            <a:spLocks noGrp="1"/>
          </p:cNvSpPr>
          <p:nvPr/>
        </p:nvSpPr>
        <p:spPr>
          <a:xfrm>
            <a:off x="800100" y="1095375"/>
            <a:ext cx="238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50" b="1">
                <a:solidFill>
                  <a:srgbClr val="234CA5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234CA5"/>
                </a:solidFill>
                <a:latin typeface="微软雅黑"/>
                <a:ea typeface="微软雅黑"/>
                <a:cs typeface="微软雅黑"/>
              </a:rPr>
              <a:t>模型：dsv4-flash W4A8</a:t>
            </a:r>
            <a:endParaRPr sz="1050" b="1">
              <a:solidFill>
                <a:srgbClr val="234CA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comparison-20"/>
          <p:cNvSpPr>
            <a:spLocks noGrp="1"/>
          </p:cNvSpPr>
          <p:nvPr/>
        </p:nvSpPr>
        <p:spPr>
          <a:xfrm>
            <a:off x="3476625" y="1095375"/>
            <a:ext cx="5619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buNone/>
              <a:defRPr sz="1125" b="0">
                <a:solidFill>
                  <a:srgbClr val="528A00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528A00"/>
                </a:solidFill>
                <a:latin typeface="微软雅黑"/>
                <a:ea typeface="微软雅黑"/>
                <a:cs typeface="微软雅黑"/>
              </a:rPr>
              <a:t>AFD 64K（layered GMM＋FULL）vs 大 EP 8K</a:t>
            </a:r>
            <a:endParaRPr sz="1125" b="0">
              <a:solidFill>
                <a:srgbClr val="528A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hardware-20"/>
          <p:cNvSpPr>
            <a:spLocks noGrp="1"/>
          </p:cNvSpPr>
          <p:nvPr/>
        </p:nvSpPr>
        <p:spPr>
          <a:xfrm>
            <a:off x="9144000" y="1095375"/>
            <a:ext cx="2247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975" b="1">
                <a:solidFill>
                  <a:srgbClr val="F06A00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06A00"/>
                </a:solidFill>
                <a:latin typeface="微软雅黑"/>
                <a:ea typeface="微软雅黑"/>
                <a:cs typeface="微软雅黑"/>
              </a:rPr>
              <a:t>硬件：Ascend 910C</a:t>
            </a:r>
            <a:endParaRPr sz="975" b="1">
              <a:solidFill>
                <a:srgbClr val="F06A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chart-heading-20"/>
          <p:cNvSpPr>
            <a:spLocks noGrp="1"/>
          </p:cNvSpPr>
          <p:nvPr/>
        </p:nvSpPr>
        <p:spPr>
          <a:xfrm>
            <a:off x="609600" y="1466850"/>
            <a:ext cx="6191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buNone/>
              <a:defRPr sz="150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QPS=5：各分位点 TTFT（秒）</a:t>
            </a:r>
            <a:endParaRPr sz="1500" b="1">
              <a:solidFill>
                <a:srgbClr val="22222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table-heading-20"/>
          <p:cNvSpPr>
            <a:spLocks noGrp="1"/>
          </p:cNvSpPr>
          <p:nvPr/>
        </p:nvSpPr>
        <p:spPr>
          <a:xfrm>
            <a:off x="7029450" y="1466850"/>
            <a:ext cx="45529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buNone/>
              <a:defRPr sz="150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TTFT 明细（秒）与实际吞吐</a:t>
            </a:r>
            <a:endParaRPr sz="1500" b="1">
              <a:solidFill>
                <a:srgbClr val="22222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8" name="conclusion-20"/>
          <p:cNvSpPr>
            <a:spLocks noGrp="1"/>
          </p:cNvSpPr>
          <p:nvPr/>
        </p:nvSpPr>
        <p:spPr>
          <a:xfrm>
            <a:off x="609600" y="5514975"/>
            <a:ext cx="6191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>
              <a:buNone/>
              <a:defRPr sz="12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P50 最低：4×EP4 8K（22.29 秒）</a:t>
            </a:r>
            <a:endParaRPr sz="1200" b="0">
              <a:solidFill>
                <a:srgbClr val="222222"/>
              </a:solidFill>
              <a:latin typeface="微软雅黑"/>
              <a:ea typeface="微软雅黑"/>
              <a:cs typeface="微软雅黑"/>
            </a:endParaRPr>
          </a:p>
          <a:p>
            <a:r>
              <a:rPr sz="12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P99 最低：4×EP4 8K（48.36 秒）</a:t>
            </a:r>
            <a:endParaRPr sz="1200" b="0">
              <a:solidFill>
                <a:srgbClr val="22222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9" name="settings-20"/>
          <p:cNvSpPr>
            <a:spLocks noGrp="1"/>
          </p:cNvSpPr>
          <p:nvPr/>
        </p:nvSpPr>
        <p:spPr>
          <a:xfrm>
            <a:off x="609600" y="6067425"/>
            <a:ext cx="10972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buNone/>
              <a:defRPr sz="8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每配置三轮分位数均值；红色粗体为表中同分位最小值（两位小数）。QPS为offered RPS，末行为实际QPS（req/s）。</a:t>
            </a:r>
            <a:endParaRPr sz="825" b="0">
              <a:solidFill>
                <a:srgbClr val="66666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0" name="source-20"/>
          <p:cNvSpPr>
            <a:spLocks noGrp="1"/>
          </p:cNvSpPr>
          <p:nvPr/>
        </p:nvSpPr>
        <p:spPr>
          <a:xfrm>
            <a:off x="609600" y="6305550"/>
            <a:ext cx="10972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buNone/>
              <a:defRPr sz="825" b="0">
                <a:solidFill>
                  <a:srgbClr val="777777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0">
                <a:solidFill>
                  <a:srgbClr val="777777"/>
                </a:solidFill>
                <a:latin typeface="微软雅黑"/>
                <a:ea typeface="微软雅黑"/>
                <a:cs typeface="微软雅黑"/>
              </a:rPr>
              <a:t>2026-10-04/05正式矩阵：AFD/EP16显存0.7，4×EP4/2×EP8为0.9；序列槽48/64。跨MBT/节点的部署方案比较。</a:t>
            </a:r>
            <a:endParaRPr sz="825" b="0">
              <a:solidFill>
                <a:srgbClr val="77777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1" name="page-20"/>
          <p:cNvSpPr>
            <a:spLocks noGrp="1"/>
          </p:cNvSpPr>
          <p:nvPr/>
        </p:nvSpPr>
        <p:spPr>
          <a:xfrm>
            <a:off x="11315700" y="6553200"/>
            <a:ext cx="3429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r">
              <a:buNone/>
              <a:defRPr sz="750" b="0">
                <a:solidFill>
                  <a:srgbClr val="777777"/>
                </a:solidFill>
                <a:latin typeface="微软雅黑"/>
                <a:ea typeface="微软雅黑"/>
                <a:cs typeface="微软雅黑"/>
              </a:defRPr>
            </a:pPr>
            <a:r>
              <a:rPr sz="750" b="0">
                <a:solidFill>
                  <a:srgbClr val="777777"/>
                </a:solidFill>
                <a:latin typeface="微软雅黑"/>
                <a:ea typeface="微软雅黑"/>
                <a:cs typeface="微软雅黑"/>
              </a:rPr>
              <a:t>23</a:t>
            </a:r>
            <a:endParaRPr sz="750" b="0">
              <a:solidFill>
                <a:srgbClr val="777777"/>
              </a:solidFill>
              <a:latin typeface="微软雅黑"/>
              <a:ea typeface="微软雅黑"/>
              <a:cs typeface="微软雅黑"/>
            </a:endParaRPr>
          </a:p>
        </p:txBody>
      </p:sp>
      <p:graphicFrame>
        <p:nvGraphicFramePr>
          <p:cNvPr id="23" name="Chart 22"/>
          <p:cNvGraphicFramePr>
            <a:graphicFrameLocks noGrp="1"/>
          </p:cNvGraphicFramePr>
          <p:nvPr/>
        </p:nvGraphicFramePr>
        <p:xfrm>
          <a:off x="609904" y="1790395"/>
          <a:ext cx="6191402" cy="34975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7029907" y="1723644"/>
          <a:ext cx="4552796" cy="39998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9808"/>
                <a:gridCol w="950747"/>
                <a:gridCol w="950747"/>
                <a:gridCol w="950747"/>
                <a:gridCol w="950747"/>
              </a:tblGrid>
              <a:tr h="4572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11111"/>
                          </a:solidFill>
                          <a:latin typeface="微软雅黑"/>
                        </a:rPr>
                        <a:t>分位</a:t>
                      </a:r>
                      <a:endParaRPr sz="1050" b="1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2A300"/>
                          </a:solidFill>
                          <a:latin typeface="微软雅黑"/>
                        </a:rPr>
                        <a:t>AFD</a:t>
                      </a:r>
                      <a:endParaRPr sz="1050" b="1">
                        <a:solidFill>
                          <a:srgbClr val="F2A300"/>
                        </a:solidFill>
                        <a:latin typeface="微软雅黑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2A300"/>
                          </a:solidFill>
                          <a:latin typeface="微软雅黑"/>
                        </a:rPr>
                        <a:t>64K</a:t>
                      </a:r>
                      <a:endParaRPr sz="1050" b="1">
                        <a:solidFill>
                          <a:srgbClr val="F2A300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 dirty="0">
                          <a:solidFill>
                            <a:srgbClr val="548235"/>
                          </a:solidFill>
                          <a:latin typeface="微软雅黑"/>
                        </a:rPr>
                        <a:t>4×EP4</a:t>
                      </a:r>
                      <a:endParaRPr sz="1050" b="1" dirty="0">
                        <a:solidFill>
                          <a:srgbClr val="548235"/>
                        </a:solidFill>
                        <a:latin typeface="微软雅黑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 dirty="0">
                          <a:solidFill>
                            <a:srgbClr val="548235"/>
                          </a:solidFill>
                          <a:latin typeface="微软雅黑"/>
                        </a:rPr>
                        <a:t>8K</a:t>
                      </a:r>
                      <a:endParaRPr sz="1050" b="1" dirty="0">
                        <a:solidFill>
                          <a:srgbClr val="548235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4472C4"/>
                          </a:solidFill>
                          <a:latin typeface="微软雅黑"/>
                        </a:rPr>
                        <a:t>2×EP8</a:t>
                      </a:r>
                      <a:endParaRPr sz="1050" b="1">
                        <a:solidFill>
                          <a:srgbClr val="4472C4"/>
                        </a:solidFill>
                        <a:latin typeface="微软雅黑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4472C4"/>
                          </a:solidFill>
                          <a:latin typeface="微软雅黑"/>
                        </a:rPr>
                        <a:t>8K</a:t>
                      </a:r>
                      <a:endParaRPr sz="1050" b="1">
                        <a:solidFill>
                          <a:srgbClr val="4472C4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7030A0"/>
                          </a:solidFill>
                          <a:latin typeface="微软雅黑"/>
                        </a:rPr>
                        <a:t>EP16</a:t>
                      </a:r>
                      <a:endParaRPr sz="1050" b="1">
                        <a:solidFill>
                          <a:srgbClr val="7030A0"/>
                        </a:solidFill>
                        <a:latin typeface="微软雅黑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7030A0"/>
                          </a:solidFill>
                          <a:latin typeface="微软雅黑"/>
                        </a:rPr>
                        <a:t>8K</a:t>
                      </a:r>
                      <a:endParaRPr sz="1050" b="1">
                        <a:solidFill>
                          <a:srgbClr val="7030A0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E7E6E6"/>
                    </a:solidFill>
                  </a:tcPr>
                </a:tc>
              </a:tr>
              <a:tr h="590441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11111"/>
                          </a:solidFill>
                          <a:latin typeface="微软雅黑"/>
                        </a:rPr>
                        <a:t>均值</a:t>
                      </a:r>
                      <a:endParaRPr sz="1050" b="1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11111"/>
                          </a:solidFill>
                          <a:latin typeface="微软雅黑"/>
                        </a:rPr>
                        <a:t>30.32</a:t>
                      </a:r>
                      <a:endParaRPr sz="1200" b="0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dirty="0">
                          <a:solidFill>
                            <a:srgbClr val="C00000"/>
                          </a:solidFill>
                          <a:latin typeface="微软雅黑"/>
                        </a:rPr>
                        <a:t>22.41</a:t>
                      </a:r>
                      <a:endParaRPr sz="1200" b="1" dirty="0">
                        <a:solidFill>
                          <a:srgbClr val="C00000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11111"/>
                          </a:solidFill>
                          <a:latin typeface="微软雅黑"/>
                        </a:rPr>
                        <a:t>38.29</a:t>
                      </a:r>
                      <a:endParaRPr sz="1200" b="0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11111"/>
                          </a:solidFill>
                          <a:latin typeface="微软雅黑"/>
                        </a:rPr>
                        <a:t>50.34</a:t>
                      </a:r>
                      <a:endParaRPr sz="1200" b="0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</a:tr>
              <a:tr h="590441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11111"/>
                          </a:solidFill>
                          <a:latin typeface="微软雅黑"/>
                        </a:rPr>
                        <a:t>P25</a:t>
                      </a:r>
                      <a:endParaRPr sz="1050" b="1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11111"/>
                          </a:solidFill>
                          <a:latin typeface="微软雅黑"/>
                        </a:rPr>
                        <a:t>20.47</a:t>
                      </a:r>
                      <a:endParaRPr sz="1200" b="0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dirty="0">
                          <a:solidFill>
                            <a:srgbClr val="C00000"/>
                          </a:solidFill>
                          <a:latin typeface="微软雅黑"/>
                        </a:rPr>
                        <a:t>14.18</a:t>
                      </a:r>
                      <a:endParaRPr sz="1200" b="1" dirty="0">
                        <a:solidFill>
                          <a:srgbClr val="C00000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11111"/>
                          </a:solidFill>
                          <a:latin typeface="微软雅黑"/>
                        </a:rPr>
                        <a:t>23.35</a:t>
                      </a:r>
                      <a:endParaRPr sz="1200" b="0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11111"/>
                          </a:solidFill>
                          <a:latin typeface="微软雅黑"/>
                        </a:rPr>
                        <a:t>30.51</a:t>
                      </a:r>
                      <a:endParaRPr sz="1200" b="0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</a:tr>
              <a:tr h="590441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11111"/>
                          </a:solidFill>
                          <a:latin typeface="微软雅黑"/>
                        </a:rPr>
                        <a:t>P50</a:t>
                      </a:r>
                      <a:endParaRPr sz="1050" b="1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11111"/>
                          </a:solidFill>
                          <a:latin typeface="微软雅黑"/>
                        </a:rPr>
                        <a:t>30.74</a:t>
                      </a:r>
                      <a:endParaRPr sz="1200" b="0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dirty="0">
                          <a:solidFill>
                            <a:srgbClr val="C00000"/>
                          </a:solidFill>
                          <a:latin typeface="微软雅黑"/>
                        </a:rPr>
                        <a:t>22.29</a:t>
                      </a:r>
                      <a:endParaRPr sz="1200" b="1" dirty="0">
                        <a:solidFill>
                          <a:srgbClr val="C00000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11111"/>
                          </a:solidFill>
                          <a:latin typeface="微软雅黑"/>
                        </a:rPr>
                        <a:t>37.76</a:t>
                      </a:r>
                      <a:endParaRPr sz="1200" b="0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11111"/>
                          </a:solidFill>
                          <a:latin typeface="微软雅黑"/>
                        </a:rPr>
                        <a:t>49.78</a:t>
                      </a:r>
                      <a:endParaRPr sz="1200" b="0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</a:tr>
              <a:tr h="590441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11111"/>
                          </a:solidFill>
                          <a:latin typeface="微软雅黑"/>
                        </a:rPr>
                        <a:t>P90</a:t>
                      </a:r>
                      <a:endParaRPr sz="1050" b="1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11111"/>
                          </a:solidFill>
                          <a:latin typeface="微软雅黑"/>
                        </a:rPr>
                        <a:t>49.12</a:t>
                      </a:r>
                      <a:endParaRPr sz="1200" b="0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dirty="0">
                          <a:solidFill>
                            <a:srgbClr val="C00000"/>
                          </a:solidFill>
                          <a:latin typeface="微软雅黑"/>
                        </a:rPr>
                        <a:t>38.30</a:t>
                      </a:r>
                      <a:endParaRPr sz="1200" b="1" dirty="0">
                        <a:solidFill>
                          <a:srgbClr val="C00000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11111"/>
                          </a:solidFill>
                          <a:latin typeface="微软雅黑"/>
                        </a:rPr>
                        <a:t>66.35</a:t>
                      </a:r>
                      <a:endParaRPr sz="1200" b="0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11111"/>
                          </a:solidFill>
                          <a:latin typeface="微软雅黑"/>
                        </a:rPr>
                        <a:t>90.70</a:t>
                      </a:r>
                      <a:endParaRPr sz="1200" b="0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</a:tr>
              <a:tr h="590441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11111"/>
                          </a:solidFill>
                          <a:latin typeface="微软雅黑"/>
                        </a:rPr>
                        <a:t>P99</a:t>
                      </a:r>
                      <a:endParaRPr sz="1050" b="1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11111"/>
                          </a:solidFill>
                          <a:latin typeface="微软雅黑"/>
                        </a:rPr>
                        <a:t>62.89</a:t>
                      </a:r>
                      <a:endParaRPr sz="1200" b="0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dirty="0">
                          <a:solidFill>
                            <a:srgbClr val="C00000"/>
                          </a:solidFill>
                          <a:latin typeface="微软雅黑"/>
                        </a:rPr>
                        <a:t>48.36</a:t>
                      </a:r>
                      <a:endParaRPr sz="1200" b="1" dirty="0">
                        <a:solidFill>
                          <a:srgbClr val="C00000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11111"/>
                          </a:solidFill>
                          <a:latin typeface="微软雅黑"/>
                        </a:rPr>
                        <a:t>81.09</a:t>
                      </a:r>
                      <a:endParaRPr sz="1200" b="0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11111"/>
                          </a:solidFill>
                          <a:latin typeface="微软雅黑"/>
                        </a:rPr>
                        <a:t>107.81</a:t>
                      </a:r>
                      <a:endParaRPr sz="1200" b="0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</a:tr>
              <a:tr h="590441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11111"/>
                          </a:solidFill>
                          <a:latin typeface="微软雅黑"/>
                        </a:rPr>
                        <a:t>实际QPS</a:t>
                      </a:r>
                      <a:endParaRPr sz="1050" b="1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11111"/>
                          </a:solidFill>
                          <a:latin typeface="微软雅黑"/>
                        </a:rPr>
                        <a:t>4.15</a:t>
                      </a:r>
                      <a:endParaRPr sz="1200" b="0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dirty="0">
                          <a:solidFill>
                            <a:srgbClr val="111111"/>
                          </a:solidFill>
                          <a:latin typeface="微软雅黑"/>
                        </a:rPr>
                        <a:t>4.26</a:t>
                      </a:r>
                      <a:endParaRPr sz="1200" b="0" dirty="0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11111"/>
                          </a:solidFill>
                          <a:latin typeface="微软雅黑"/>
                        </a:rPr>
                        <a:t>3.93</a:t>
                      </a:r>
                      <a:endParaRPr sz="1200" b="0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dirty="0">
                          <a:solidFill>
                            <a:srgbClr val="111111"/>
                          </a:solidFill>
                          <a:latin typeface="微软雅黑"/>
                        </a:rPr>
                        <a:t>3.68</a:t>
                      </a:r>
                      <a:endParaRPr sz="1200" b="0" dirty="0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ection-20"/>
          <p:cNvSpPr>
            <a:spLocks noGrp="1"/>
          </p:cNvSpPr>
          <p:nvPr/>
        </p:nvSpPr>
        <p:spPr>
          <a:xfrm>
            <a:off x="609600" y="209550"/>
            <a:ext cx="2286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825" b="1">
                <a:solidFill>
                  <a:srgbClr val="898989"/>
                </a:solidFill>
                <a:latin typeface="Calibri"/>
                <a:ea typeface="Calibri"/>
                <a:cs typeface="Calibri"/>
              </a:defRPr>
            </a:pPr>
            <a:r>
              <a:rPr sz="825" b="1">
                <a:solidFill>
                  <a:srgbClr val="898989"/>
                </a:solidFill>
                <a:latin typeface="Calibri"/>
                <a:ea typeface="Calibri"/>
                <a:cs typeface="Calibri"/>
              </a:rPr>
              <a:t>ASYNC PREFILL RESULTS</a:t>
            </a:r>
            <a:endParaRPr sz="825" b="1">
              <a:solidFill>
                <a:srgbClr val="898989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" name="title-20"/>
          <p:cNvSpPr>
            <a:spLocks noGrp="1"/>
          </p:cNvSpPr>
          <p:nvPr/>
        </p:nvSpPr>
        <p:spPr>
          <a:xfrm>
            <a:off x="609600" y="419100"/>
            <a:ext cx="10668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buNone/>
              <a:defRPr sz="2175" b="1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AFD DP3TP4 与 EP4 / EP8 / EP16：TTFT 对比（8K 基线）</a:t>
            </a:r>
            <a:endParaRPr sz="2175" b="1">
              <a:solidFill>
                <a:srgbClr val="C000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title-rule-20"/>
          <p:cNvSpPr>
            <a:spLocks noGrp="1"/>
          </p:cNvSpPr>
          <p:nvPr/>
        </p:nvSpPr>
        <p:spPr>
          <a:xfrm>
            <a:off x="609600" y="914400"/>
            <a:ext cx="1428750" cy="28575"/>
          </a:xfrm>
          <a:prstGeom prst="rect">
            <a:avLst/>
          </a:prstGeom>
          <a:solidFill>
            <a:srgbClr val="C00000"/>
          </a:solidFill>
          <a:ln w="0">
            <a:solidFill>
              <a:srgbClr val="C00000"/>
            </a:solidFill>
            <a:prstDash val="solid"/>
          </a:ln>
        </p:spPr>
      </p:sp>
      <p:sp>
        <p:nvSpPr>
          <p:cNvPr id="4" name="metadata-bg-20"/>
          <p:cNvSpPr>
            <a:spLocks noGrp="1"/>
          </p:cNvSpPr>
          <p:nvPr/>
        </p:nvSpPr>
        <p:spPr>
          <a:xfrm>
            <a:off x="609600" y="1028700"/>
            <a:ext cx="10972800" cy="400050"/>
          </a:xfrm>
          <a:prstGeom prst="rect">
            <a:avLst/>
          </a:prstGeom>
          <a:solidFill>
            <a:srgbClr val="F5F5F5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5" name="model-20"/>
          <p:cNvSpPr>
            <a:spLocks noGrp="1"/>
          </p:cNvSpPr>
          <p:nvPr/>
        </p:nvSpPr>
        <p:spPr>
          <a:xfrm>
            <a:off x="800100" y="1095375"/>
            <a:ext cx="238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50" b="1">
                <a:solidFill>
                  <a:srgbClr val="234CA5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234CA5"/>
                </a:solidFill>
                <a:latin typeface="微软雅黑"/>
                <a:ea typeface="微软雅黑"/>
                <a:cs typeface="微软雅黑"/>
              </a:rPr>
              <a:t>模型：dsv4-flash W4A8</a:t>
            </a:r>
            <a:endParaRPr sz="1050" b="1">
              <a:solidFill>
                <a:srgbClr val="234CA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comparison-20"/>
          <p:cNvSpPr>
            <a:spLocks noGrp="1"/>
          </p:cNvSpPr>
          <p:nvPr/>
        </p:nvSpPr>
        <p:spPr>
          <a:xfrm>
            <a:off x="3476625" y="1095375"/>
            <a:ext cx="5619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buNone/>
              <a:defRPr sz="1125" b="0">
                <a:solidFill>
                  <a:srgbClr val="528A00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528A00"/>
                </a:solidFill>
                <a:latin typeface="微软雅黑"/>
                <a:ea typeface="微软雅黑"/>
                <a:cs typeface="微软雅黑"/>
              </a:rPr>
              <a:t>AFD 64K（layered GMM＋FULL）vs 大 EP 8K</a:t>
            </a:r>
            <a:endParaRPr sz="1125" b="0">
              <a:solidFill>
                <a:srgbClr val="528A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hardware-20"/>
          <p:cNvSpPr>
            <a:spLocks noGrp="1"/>
          </p:cNvSpPr>
          <p:nvPr/>
        </p:nvSpPr>
        <p:spPr>
          <a:xfrm>
            <a:off x="9144000" y="1095375"/>
            <a:ext cx="2247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975" b="1">
                <a:solidFill>
                  <a:srgbClr val="F06A00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06A00"/>
                </a:solidFill>
                <a:latin typeface="微软雅黑"/>
                <a:ea typeface="微软雅黑"/>
                <a:cs typeface="微软雅黑"/>
              </a:rPr>
              <a:t>硬件：Ascend 910C</a:t>
            </a:r>
            <a:endParaRPr sz="975" b="1">
              <a:solidFill>
                <a:srgbClr val="F06A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chart-heading-20"/>
          <p:cNvSpPr>
            <a:spLocks noGrp="1"/>
          </p:cNvSpPr>
          <p:nvPr/>
        </p:nvSpPr>
        <p:spPr>
          <a:xfrm>
            <a:off x="609600" y="1466850"/>
            <a:ext cx="6191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buNone/>
              <a:defRPr sz="150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QPS=2/3/4/5 下的 TTFT 分位点（秒）</a:t>
            </a:r>
            <a:endParaRPr sz="1500" b="1">
              <a:solidFill>
                <a:srgbClr val="22222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table-heading-20"/>
          <p:cNvSpPr>
            <a:spLocks noGrp="1"/>
          </p:cNvSpPr>
          <p:nvPr/>
        </p:nvSpPr>
        <p:spPr>
          <a:xfrm>
            <a:off x="7029450" y="1466850"/>
            <a:ext cx="45529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buNone/>
              <a:defRPr sz="150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TTFT 明细（秒）</a:t>
            </a:r>
            <a:endParaRPr sz="1500" b="1">
              <a:solidFill>
                <a:srgbClr val="22222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8" name="conclusion-20"/>
          <p:cNvSpPr>
            <a:spLocks noGrp="1"/>
          </p:cNvSpPr>
          <p:nvPr/>
        </p:nvSpPr>
        <p:spPr>
          <a:xfrm>
            <a:off x="609600" y="5514975"/>
            <a:ext cx="6191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>
              <a:buNone/>
              <a:defRPr sz="12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 dirty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AFD P99（QPS 2/3/4/5）：6.08 / 8.11 / 16.56 / 62.89 秒</a:t>
            </a:r>
            <a:endParaRPr sz="1200" b="0" dirty="0">
              <a:solidFill>
                <a:srgbClr val="222222"/>
              </a:solidFill>
              <a:latin typeface="微软雅黑"/>
              <a:ea typeface="微软雅黑"/>
              <a:cs typeface="微软雅黑"/>
            </a:endParaRPr>
          </a:p>
          <a:p>
            <a:r>
              <a:rPr sz="1200" b="0" dirty="0" err="1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四档</a:t>
            </a:r>
            <a:r>
              <a:rPr sz="1200" b="0" dirty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 P99 </a:t>
            </a:r>
            <a:r>
              <a:rPr sz="1200" b="0" dirty="0" err="1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最低均为</a:t>
            </a:r>
            <a:r>
              <a:rPr sz="1200" b="0" dirty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 4×EP4（MBT=8K）</a:t>
            </a:r>
            <a:endParaRPr sz="1200" b="0" dirty="0">
              <a:solidFill>
                <a:srgbClr val="22222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9" name="settings-20"/>
          <p:cNvSpPr>
            <a:spLocks noGrp="1"/>
          </p:cNvSpPr>
          <p:nvPr/>
        </p:nvSpPr>
        <p:spPr>
          <a:xfrm>
            <a:off x="609600" y="6067425"/>
            <a:ext cx="10972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buNone/>
              <a:defRPr sz="8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三轮分位数均值；红色粗体为表中同 QPS / 分位最小值（两位小数）。QPS为offered RPS。</a:t>
            </a:r>
            <a:endParaRPr sz="825" b="0">
              <a:solidFill>
                <a:srgbClr val="66666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0" name="source-20"/>
          <p:cNvSpPr>
            <a:spLocks noGrp="1"/>
          </p:cNvSpPr>
          <p:nvPr/>
        </p:nvSpPr>
        <p:spPr>
          <a:xfrm>
            <a:off x="609600" y="6305550"/>
            <a:ext cx="10972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buNone/>
              <a:defRPr sz="825" b="0">
                <a:solidFill>
                  <a:srgbClr val="777777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0">
                <a:solidFill>
                  <a:srgbClr val="777777"/>
                </a:solidFill>
                <a:latin typeface="微软雅黑"/>
                <a:ea typeface="微软雅黑"/>
                <a:cs typeface="微软雅黑"/>
              </a:rPr>
              <a:t>2026-10-04/05正式矩阵：AFD/EP16显存0.7，4×EP4/2×EP8为0.9；序列槽48/64。跨MBT/节点比较。</a:t>
            </a:r>
            <a:endParaRPr sz="825" b="0">
              <a:solidFill>
                <a:srgbClr val="77777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1" name="page-20"/>
          <p:cNvSpPr>
            <a:spLocks noGrp="1"/>
          </p:cNvSpPr>
          <p:nvPr/>
        </p:nvSpPr>
        <p:spPr>
          <a:xfrm>
            <a:off x="11315700" y="6553200"/>
            <a:ext cx="3429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r">
              <a:buNone/>
              <a:defRPr sz="750" b="0">
                <a:solidFill>
                  <a:srgbClr val="777777"/>
                </a:solidFill>
                <a:latin typeface="微软雅黑"/>
                <a:ea typeface="微软雅黑"/>
                <a:cs typeface="微软雅黑"/>
              </a:defRPr>
            </a:pPr>
            <a:r>
              <a:rPr sz="750" b="0">
                <a:solidFill>
                  <a:srgbClr val="777777"/>
                </a:solidFill>
                <a:latin typeface="微软雅黑"/>
                <a:ea typeface="微软雅黑"/>
                <a:cs typeface="微软雅黑"/>
              </a:rPr>
              <a:t>19</a:t>
            </a:r>
            <a:endParaRPr sz="750" b="0">
              <a:solidFill>
                <a:srgbClr val="777777"/>
              </a:solidFill>
              <a:latin typeface="微软雅黑"/>
              <a:ea typeface="微软雅黑"/>
              <a:cs typeface="微软雅黑"/>
            </a:endParaRPr>
          </a:p>
        </p:txBody>
      </p:sp>
      <p:graphicFrame>
        <p:nvGraphicFramePr>
          <p:cNvPr id="23" name="Chart 22"/>
          <p:cNvGraphicFramePr>
            <a:graphicFrameLocks noGrp="1"/>
          </p:cNvGraphicFramePr>
          <p:nvPr/>
        </p:nvGraphicFramePr>
        <p:xfrm>
          <a:off x="609904" y="1790395"/>
          <a:ext cx="2971800" cy="1691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24" name="Chart 23"/>
          <p:cNvGraphicFramePr>
            <a:graphicFrameLocks noGrp="1"/>
          </p:cNvGraphicFramePr>
          <p:nvPr/>
        </p:nvGraphicFramePr>
        <p:xfrm>
          <a:off x="3715207" y="1790395"/>
          <a:ext cx="2971800" cy="1691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25" name="Chart 24"/>
          <p:cNvGraphicFramePr>
            <a:graphicFrameLocks noGrp="1"/>
          </p:cNvGraphicFramePr>
          <p:nvPr/>
        </p:nvGraphicFramePr>
        <p:xfrm>
          <a:off x="609904" y="3534156"/>
          <a:ext cx="2971800" cy="1691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26" name="Chart 25"/>
          <p:cNvGraphicFramePr>
            <a:graphicFrameLocks noGrp="1"/>
          </p:cNvGraphicFramePr>
          <p:nvPr/>
        </p:nvGraphicFramePr>
        <p:xfrm>
          <a:off x="3715207" y="3534156"/>
          <a:ext cx="2971800" cy="1691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7" name="TextBox 26"/>
          <p:cNvSpPr txBox="1"/>
          <p:nvPr/>
        </p:nvSpPr>
        <p:spPr>
          <a:xfrm>
            <a:off x="685800" y="5276088"/>
            <a:ext cx="1527048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2A300"/>
                </a:solidFill>
                <a:latin typeface="微软雅黑"/>
              </a:rPr>
              <a:t>AFD 64K</a:t>
            </a:r>
            <a:endParaRPr sz="1000" b="1">
              <a:solidFill>
                <a:srgbClr val="F2A300"/>
              </a:solidFill>
              <a:latin typeface="微软雅黑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2231136" y="5276088"/>
            <a:ext cx="1527048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548235"/>
                </a:solidFill>
                <a:latin typeface="微软雅黑"/>
              </a:rPr>
              <a:t>4×EP4 8K</a:t>
            </a:r>
            <a:endParaRPr sz="1000" b="1">
              <a:solidFill>
                <a:srgbClr val="548235"/>
              </a:solidFill>
              <a:latin typeface="微软雅黑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3776472" y="5276088"/>
            <a:ext cx="1527048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4472C4"/>
                </a:solidFill>
                <a:latin typeface="微软雅黑"/>
              </a:rPr>
              <a:t>2×EP8 8K</a:t>
            </a:r>
            <a:endParaRPr sz="1000" b="1">
              <a:solidFill>
                <a:srgbClr val="4472C4"/>
              </a:solidFill>
              <a:latin typeface="微软雅黑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5321808" y="5276088"/>
            <a:ext cx="1527048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7030A0"/>
                </a:solidFill>
                <a:latin typeface="微软雅黑"/>
              </a:rPr>
              <a:t>EP16 8K</a:t>
            </a:r>
            <a:endParaRPr sz="1000" b="1">
              <a:solidFill>
                <a:srgbClr val="7030A0"/>
              </a:solidFill>
              <a:latin typeface="微软雅黑"/>
            </a:endParaRP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7038748" y="1829988"/>
          <a:ext cx="4552796" cy="42374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616"/>
                <a:gridCol w="466344"/>
                <a:gridCol w="932459"/>
                <a:gridCol w="932459"/>
                <a:gridCol w="932459"/>
                <a:gridCol w="932459"/>
              </a:tblGrid>
              <a:tr h="347472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111111"/>
                          </a:solidFill>
                          <a:latin typeface="微软雅黑"/>
                        </a:rPr>
                        <a:t>QPS</a:t>
                      </a:r>
                      <a:endParaRPr sz="850" b="1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111111"/>
                          </a:solidFill>
                          <a:latin typeface="微软雅黑"/>
                        </a:rPr>
                        <a:t>分位</a:t>
                      </a:r>
                      <a:endParaRPr sz="850" b="1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1" dirty="0">
                          <a:solidFill>
                            <a:srgbClr val="F2A300"/>
                          </a:solidFill>
                          <a:latin typeface="微软雅黑"/>
                        </a:rPr>
                        <a:t>AFD</a:t>
                      </a:r>
                      <a:endParaRPr sz="850" b="1" dirty="0">
                        <a:solidFill>
                          <a:srgbClr val="F2A300"/>
                        </a:solidFill>
                        <a:latin typeface="微软雅黑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1" dirty="0">
                          <a:solidFill>
                            <a:srgbClr val="F2A300"/>
                          </a:solidFill>
                          <a:latin typeface="微软雅黑"/>
                        </a:rPr>
                        <a:t>64K</a:t>
                      </a:r>
                      <a:endParaRPr sz="850" b="1" dirty="0">
                        <a:solidFill>
                          <a:srgbClr val="F2A300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548235"/>
                          </a:solidFill>
                          <a:latin typeface="微软雅黑"/>
                        </a:rPr>
                        <a:t>4×EP4</a:t>
                      </a:r>
                      <a:endParaRPr sz="850" b="1">
                        <a:solidFill>
                          <a:srgbClr val="548235"/>
                        </a:solidFill>
                        <a:latin typeface="微软雅黑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548235"/>
                          </a:solidFill>
                          <a:latin typeface="微软雅黑"/>
                        </a:rPr>
                        <a:t>8K</a:t>
                      </a:r>
                      <a:endParaRPr sz="850" b="1">
                        <a:solidFill>
                          <a:srgbClr val="548235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1" dirty="0">
                          <a:solidFill>
                            <a:srgbClr val="4472C4"/>
                          </a:solidFill>
                          <a:latin typeface="微软雅黑"/>
                        </a:rPr>
                        <a:t>2×EP8</a:t>
                      </a:r>
                      <a:endParaRPr sz="850" b="1" dirty="0">
                        <a:solidFill>
                          <a:srgbClr val="4472C4"/>
                        </a:solidFill>
                        <a:latin typeface="微软雅黑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1" dirty="0">
                          <a:solidFill>
                            <a:srgbClr val="4472C4"/>
                          </a:solidFill>
                          <a:latin typeface="微软雅黑"/>
                        </a:rPr>
                        <a:t>8K</a:t>
                      </a:r>
                      <a:endParaRPr sz="850" b="1" dirty="0">
                        <a:solidFill>
                          <a:srgbClr val="4472C4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7030A0"/>
                          </a:solidFill>
                          <a:latin typeface="微软雅黑"/>
                        </a:rPr>
                        <a:t>EP16</a:t>
                      </a:r>
                      <a:endParaRPr sz="850" b="1">
                        <a:solidFill>
                          <a:srgbClr val="7030A0"/>
                        </a:solidFill>
                        <a:latin typeface="微软雅黑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7030A0"/>
                          </a:solidFill>
                          <a:latin typeface="微软雅黑"/>
                        </a:rPr>
                        <a:t>8K</a:t>
                      </a:r>
                      <a:endParaRPr sz="850" b="1">
                        <a:solidFill>
                          <a:srgbClr val="7030A0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E7E6E6"/>
                    </a:solidFill>
                  </a:tcPr>
                </a:tc>
              </a:tr>
              <a:tr h="243122">
                <a:tc rowSpan="4"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11111"/>
                          </a:solidFill>
                          <a:latin typeface="微软雅黑"/>
                        </a:rPr>
                        <a:t>2</a:t>
                      </a:r>
                      <a:endParaRPr sz="1100" b="1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111111"/>
                          </a:solidFill>
                          <a:latin typeface="微软雅黑"/>
                        </a:rPr>
                        <a:t>P25</a:t>
                      </a:r>
                      <a:endParaRPr sz="900" b="1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dirty="0">
                          <a:solidFill>
                            <a:srgbClr val="111111"/>
                          </a:solidFill>
                          <a:latin typeface="微软雅黑"/>
                        </a:rPr>
                        <a:t>0.45</a:t>
                      </a:r>
                      <a:endParaRPr sz="1000" b="0" dirty="0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C00000"/>
                          </a:solidFill>
                          <a:latin typeface="微软雅黑"/>
                        </a:rPr>
                        <a:t>0.37</a:t>
                      </a:r>
                      <a:endParaRPr sz="1000" b="1">
                        <a:solidFill>
                          <a:srgbClr val="C00000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dirty="0">
                          <a:solidFill>
                            <a:srgbClr val="111111"/>
                          </a:solidFill>
                          <a:latin typeface="微软雅黑"/>
                        </a:rPr>
                        <a:t>1.08</a:t>
                      </a:r>
                      <a:endParaRPr sz="1000" b="0" dirty="0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111"/>
                          </a:solidFill>
                          <a:latin typeface="微软雅黑"/>
                        </a:rPr>
                        <a:t>2.32</a:t>
                      </a:r>
                      <a:endParaRPr sz="1000" b="0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</a:tr>
              <a:tr h="243122">
                <a:tc vMerge="1">
                  <a:tcPr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111111"/>
                          </a:solidFill>
                          <a:latin typeface="微软雅黑"/>
                        </a:rPr>
                        <a:t>P50</a:t>
                      </a:r>
                      <a:endParaRPr sz="900" b="1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C00000"/>
                          </a:solidFill>
                          <a:latin typeface="微软雅黑"/>
                        </a:rPr>
                        <a:t>0.81</a:t>
                      </a:r>
                      <a:endParaRPr sz="1000" b="1">
                        <a:solidFill>
                          <a:srgbClr val="C00000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111"/>
                          </a:solidFill>
                          <a:latin typeface="微软雅黑"/>
                        </a:rPr>
                        <a:t>0.82</a:t>
                      </a:r>
                      <a:endParaRPr sz="1000" b="0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111"/>
                          </a:solidFill>
                          <a:latin typeface="微软雅黑"/>
                        </a:rPr>
                        <a:t>1.87</a:t>
                      </a:r>
                      <a:endParaRPr sz="1000" b="0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111"/>
                          </a:solidFill>
                          <a:latin typeface="微软雅黑"/>
                        </a:rPr>
                        <a:t>3.17</a:t>
                      </a:r>
                      <a:endParaRPr sz="1000" b="0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</a:tr>
              <a:tr h="243122">
                <a:tc vMerge="1">
                  <a:tcPr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111111"/>
                          </a:solidFill>
                          <a:latin typeface="微软雅黑"/>
                        </a:rPr>
                        <a:t>P90</a:t>
                      </a:r>
                      <a:endParaRPr sz="900" b="1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 dirty="0">
                          <a:solidFill>
                            <a:srgbClr val="C00000"/>
                          </a:solidFill>
                          <a:latin typeface="微软雅黑"/>
                        </a:rPr>
                        <a:t>2.86</a:t>
                      </a:r>
                      <a:endParaRPr sz="1000" b="1" dirty="0">
                        <a:solidFill>
                          <a:srgbClr val="C00000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111"/>
                          </a:solidFill>
                          <a:latin typeface="微软雅黑"/>
                        </a:rPr>
                        <a:t>2.93</a:t>
                      </a:r>
                      <a:endParaRPr sz="1000" b="0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111"/>
                          </a:solidFill>
                          <a:latin typeface="微软雅黑"/>
                        </a:rPr>
                        <a:t>4.46</a:t>
                      </a:r>
                      <a:endParaRPr sz="1000" b="0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111"/>
                          </a:solidFill>
                          <a:latin typeface="微软雅黑"/>
                        </a:rPr>
                        <a:t>6.25</a:t>
                      </a:r>
                      <a:endParaRPr sz="1000" b="0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</a:tr>
              <a:tr h="243122">
                <a:tc vMerge="1">
                  <a:tcPr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111111"/>
                          </a:solidFill>
                          <a:latin typeface="微软雅黑"/>
                        </a:rPr>
                        <a:t>P99</a:t>
                      </a:r>
                      <a:endParaRPr sz="900" b="1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dirty="0">
                          <a:solidFill>
                            <a:srgbClr val="111111"/>
                          </a:solidFill>
                          <a:latin typeface="微软雅黑"/>
                        </a:rPr>
                        <a:t>6.08</a:t>
                      </a:r>
                      <a:endParaRPr sz="1000" b="0" dirty="0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C00000"/>
                          </a:solidFill>
                          <a:latin typeface="微软雅黑"/>
                        </a:rPr>
                        <a:t>5.95</a:t>
                      </a:r>
                      <a:endParaRPr sz="1000" b="1">
                        <a:solidFill>
                          <a:srgbClr val="C00000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dirty="0">
                          <a:solidFill>
                            <a:srgbClr val="111111"/>
                          </a:solidFill>
                          <a:latin typeface="微软雅黑"/>
                        </a:rPr>
                        <a:t>7.70</a:t>
                      </a:r>
                      <a:endParaRPr sz="1000" b="0" dirty="0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111"/>
                          </a:solidFill>
                          <a:latin typeface="微软雅黑"/>
                        </a:rPr>
                        <a:t>10.12</a:t>
                      </a:r>
                      <a:endParaRPr sz="1000" b="0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</a:tr>
              <a:tr h="243122">
                <a:tc rowSpan="4"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11111"/>
                          </a:solidFill>
                          <a:latin typeface="微软雅黑"/>
                        </a:rPr>
                        <a:t>3</a:t>
                      </a:r>
                      <a:endParaRPr sz="1100" b="1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111111"/>
                          </a:solidFill>
                          <a:latin typeface="微软雅黑"/>
                        </a:rPr>
                        <a:t>P25</a:t>
                      </a:r>
                      <a:endParaRPr sz="900" b="1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dirty="0">
                          <a:solidFill>
                            <a:srgbClr val="111111"/>
                          </a:solidFill>
                          <a:latin typeface="微软雅黑"/>
                        </a:rPr>
                        <a:t>0.73</a:t>
                      </a:r>
                      <a:endParaRPr sz="1000" b="0" dirty="0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C00000"/>
                          </a:solidFill>
                          <a:latin typeface="微软雅黑"/>
                        </a:rPr>
                        <a:t>0.52</a:t>
                      </a:r>
                      <a:endParaRPr sz="1000" b="1">
                        <a:solidFill>
                          <a:srgbClr val="C00000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111"/>
                          </a:solidFill>
                          <a:latin typeface="微软雅黑"/>
                        </a:rPr>
                        <a:t>2.11</a:t>
                      </a:r>
                      <a:endParaRPr sz="1000" b="0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111"/>
                          </a:solidFill>
                          <a:latin typeface="微软雅黑"/>
                        </a:rPr>
                        <a:t>3.11</a:t>
                      </a:r>
                      <a:endParaRPr sz="1000" b="0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</a:tr>
              <a:tr h="243122">
                <a:tc vMerge="1">
                  <a:tcPr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111111"/>
                          </a:solidFill>
                          <a:latin typeface="微软雅黑"/>
                        </a:rPr>
                        <a:t>P50</a:t>
                      </a:r>
                      <a:endParaRPr sz="900" b="1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dirty="0">
                          <a:solidFill>
                            <a:srgbClr val="111111"/>
                          </a:solidFill>
                          <a:latin typeface="微软雅黑"/>
                        </a:rPr>
                        <a:t>1.62</a:t>
                      </a:r>
                      <a:endParaRPr sz="1000" b="0" dirty="0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C00000"/>
                          </a:solidFill>
                          <a:latin typeface="微软雅黑"/>
                        </a:rPr>
                        <a:t>1.26</a:t>
                      </a:r>
                      <a:endParaRPr sz="1000" b="1">
                        <a:solidFill>
                          <a:srgbClr val="C00000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dirty="0">
                          <a:solidFill>
                            <a:srgbClr val="111111"/>
                          </a:solidFill>
                          <a:latin typeface="微软雅黑"/>
                        </a:rPr>
                        <a:t>3.18</a:t>
                      </a:r>
                      <a:endParaRPr sz="1000" b="0" dirty="0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dirty="0">
                          <a:solidFill>
                            <a:srgbClr val="111111"/>
                          </a:solidFill>
                          <a:latin typeface="微软雅黑"/>
                        </a:rPr>
                        <a:t>4.41</a:t>
                      </a:r>
                      <a:endParaRPr sz="1000" b="0" dirty="0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</a:tr>
              <a:tr h="243122">
                <a:tc vMerge="1">
                  <a:tcPr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111111"/>
                          </a:solidFill>
                          <a:latin typeface="微软雅黑"/>
                        </a:rPr>
                        <a:t>P90</a:t>
                      </a:r>
                      <a:endParaRPr sz="900" b="1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dirty="0">
                          <a:solidFill>
                            <a:srgbClr val="111111"/>
                          </a:solidFill>
                          <a:latin typeface="微软雅黑"/>
                        </a:rPr>
                        <a:t>5.13</a:t>
                      </a:r>
                      <a:endParaRPr sz="1000" b="0" dirty="0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C00000"/>
                          </a:solidFill>
                          <a:latin typeface="微软雅黑"/>
                        </a:rPr>
                        <a:t>3.81</a:t>
                      </a:r>
                      <a:endParaRPr sz="1000" b="1">
                        <a:solidFill>
                          <a:srgbClr val="C00000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111"/>
                          </a:solidFill>
                          <a:latin typeface="微软雅黑"/>
                        </a:rPr>
                        <a:t>6.72</a:t>
                      </a:r>
                      <a:endParaRPr sz="1000" b="0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dirty="0">
                          <a:solidFill>
                            <a:srgbClr val="111111"/>
                          </a:solidFill>
                          <a:latin typeface="微软雅黑"/>
                        </a:rPr>
                        <a:t>8.05</a:t>
                      </a:r>
                      <a:endParaRPr sz="1000" b="0" dirty="0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</a:tr>
              <a:tr h="243122">
                <a:tc vMerge="1">
                  <a:tcPr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111111"/>
                          </a:solidFill>
                          <a:latin typeface="微软雅黑"/>
                        </a:rPr>
                        <a:t>P99</a:t>
                      </a:r>
                      <a:endParaRPr sz="900" b="1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dirty="0">
                          <a:solidFill>
                            <a:srgbClr val="111111"/>
                          </a:solidFill>
                          <a:latin typeface="微软雅黑"/>
                        </a:rPr>
                        <a:t>8.11</a:t>
                      </a:r>
                      <a:endParaRPr sz="1000" b="0" dirty="0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C00000"/>
                          </a:solidFill>
                          <a:latin typeface="微软雅黑"/>
                        </a:rPr>
                        <a:t>6.75</a:t>
                      </a:r>
                      <a:endParaRPr sz="1000" b="1">
                        <a:solidFill>
                          <a:srgbClr val="C00000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111"/>
                          </a:solidFill>
                          <a:latin typeface="微软雅黑"/>
                        </a:rPr>
                        <a:t>10.48</a:t>
                      </a:r>
                      <a:endParaRPr sz="1000" b="0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dirty="0">
                          <a:solidFill>
                            <a:srgbClr val="111111"/>
                          </a:solidFill>
                          <a:latin typeface="微软雅黑"/>
                        </a:rPr>
                        <a:t>11.99</a:t>
                      </a:r>
                      <a:endParaRPr sz="1000" b="0" dirty="0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</a:tr>
              <a:tr h="243122">
                <a:tc rowSpan="4"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11111"/>
                          </a:solidFill>
                          <a:latin typeface="微软雅黑"/>
                        </a:rPr>
                        <a:t>4</a:t>
                      </a:r>
                      <a:endParaRPr sz="1100" b="1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111111"/>
                          </a:solidFill>
                          <a:latin typeface="微软雅黑"/>
                        </a:rPr>
                        <a:t>P25</a:t>
                      </a:r>
                      <a:endParaRPr sz="900" b="1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dirty="0">
                          <a:solidFill>
                            <a:srgbClr val="111111"/>
                          </a:solidFill>
                          <a:latin typeface="微软雅黑"/>
                        </a:rPr>
                        <a:t>3.19</a:t>
                      </a:r>
                      <a:endParaRPr sz="1000" b="0" dirty="0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C00000"/>
                          </a:solidFill>
                          <a:latin typeface="微软雅黑"/>
                        </a:rPr>
                        <a:t>1.50</a:t>
                      </a:r>
                      <a:endParaRPr sz="1000" b="1">
                        <a:solidFill>
                          <a:srgbClr val="C00000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111"/>
                          </a:solidFill>
                          <a:latin typeface="微软雅黑"/>
                        </a:rPr>
                        <a:t>4.74</a:t>
                      </a:r>
                      <a:endParaRPr sz="1000" b="0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dirty="0">
                          <a:solidFill>
                            <a:srgbClr val="111111"/>
                          </a:solidFill>
                          <a:latin typeface="微软雅黑"/>
                        </a:rPr>
                        <a:t>11.22</a:t>
                      </a:r>
                      <a:endParaRPr sz="1000" b="0" dirty="0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</a:tr>
              <a:tr h="243122">
                <a:tc vMerge="1">
                  <a:tcPr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111111"/>
                          </a:solidFill>
                          <a:latin typeface="微软雅黑"/>
                        </a:rPr>
                        <a:t>P50</a:t>
                      </a:r>
                      <a:endParaRPr sz="900" b="1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dirty="0">
                          <a:solidFill>
                            <a:srgbClr val="111111"/>
                          </a:solidFill>
                          <a:latin typeface="微软雅黑"/>
                        </a:rPr>
                        <a:t>6.29</a:t>
                      </a:r>
                      <a:endParaRPr sz="1000" b="0" dirty="0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C00000"/>
                          </a:solidFill>
                          <a:latin typeface="微软雅黑"/>
                        </a:rPr>
                        <a:t>3.10</a:t>
                      </a:r>
                      <a:endParaRPr sz="1000" b="1">
                        <a:solidFill>
                          <a:srgbClr val="C00000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111"/>
                          </a:solidFill>
                          <a:latin typeface="微软雅黑"/>
                        </a:rPr>
                        <a:t>7.43</a:t>
                      </a:r>
                      <a:endParaRPr sz="1000" b="0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dirty="0">
                          <a:solidFill>
                            <a:srgbClr val="111111"/>
                          </a:solidFill>
                          <a:latin typeface="微软雅黑"/>
                        </a:rPr>
                        <a:t>15.67</a:t>
                      </a:r>
                      <a:endParaRPr sz="1000" b="0" dirty="0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</a:tr>
              <a:tr h="243122">
                <a:tc vMerge="1">
                  <a:tcPr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111111"/>
                          </a:solidFill>
                          <a:latin typeface="微软雅黑"/>
                        </a:rPr>
                        <a:t>P90</a:t>
                      </a:r>
                      <a:endParaRPr sz="900" b="1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dirty="0">
                          <a:solidFill>
                            <a:srgbClr val="111111"/>
                          </a:solidFill>
                          <a:latin typeface="微软雅黑"/>
                        </a:rPr>
                        <a:t>11.70</a:t>
                      </a:r>
                      <a:endParaRPr sz="1000" b="0" dirty="0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C00000"/>
                          </a:solidFill>
                          <a:latin typeface="微软雅黑"/>
                        </a:rPr>
                        <a:t>7.28</a:t>
                      </a:r>
                      <a:endParaRPr sz="1000" b="1">
                        <a:solidFill>
                          <a:srgbClr val="C00000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111"/>
                          </a:solidFill>
                          <a:latin typeface="微软雅黑"/>
                        </a:rPr>
                        <a:t>13.90</a:t>
                      </a:r>
                      <a:endParaRPr sz="1000" b="0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dirty="0">
                          <a:solidFill>
                            <a:srgbClr val="111111"/>
                          </a:solidFill>
                          <a:latin typeface="微软雅黑"/>
                        </a:rPr>
                        <a:t>24.92</a:t>
                      </a:r>
                      <a:endParaRPr sz="1000" b="0" dirty="0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</a:tr>
              <a:tr h="243122">
                <a:tc vMerge="1">
                  <a:tcPr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111111"/>
                          </a:solidFill>
                          <a:latin typeface="微软雅黑"/>
                        </a:rPr>
                        <a:t>P99</a:t>
                      </a:r>
                      <a:endParaRPr sz="900" b="1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dirty="0">
                          <a:solidFill>
                            <a:srgbClr val="111111"/>
                          </a:solidFill>
                          <a:latin typeface="微软雅黑"/>
                        </a:rPr>
                        <a:t>16.56</a:t>
                      </a:r>
                      <a:endParaRPr sz="1000" b="0" dirty="0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C00000"/>
                          </a:solidFill>
                          <a:latin typeface="微软雅黑"/>
                        </a:rPr>
                        <a:t>10.71</a:t>
                      </a:r>
                      <a:endParaRPr sz="1000" b="1">
                        <a:solidFill>
                          <a:srgbClr val="C00000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111"/>
                          </a:solidFill>
                          <a:latin typeface="微软雅黑"/>
                        </a:rPr>
                        <a:t>18.94</a:t>
                      </a:r>
                      <a:endParaRPr sz="1000" b="0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dirty="0">
                          <a:solidFill>
                            <a:srgbClr val="111111"/>
                          </a:solidFill>
                          <a:latin typeface="微软雅黑"/>
                        </a:rPr>
                        <a:t>32.36</a:t>
                      </a:r>
                      <a:endParaRPr sz="1000" b="0" dirty="0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</a:tr>
              <a:tr h="243122">
                <a:tc rowSpan="4"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11111"/>
                          </a:solidFill>
                          <a:latin typeface="微软雅黑"/>
                        </a:rPr>
                        <a:t>5</a:t>
                      </a:r>
                      <a:endParaRPr sz="1100" b="1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111111"/>
                          </a:solidFill>
                          <a:latin typeface="微软雅黑"/>
                        </a:rPr>
                        <a:t>P25</a:t>
                      </a:r>
                      <a:endParaRPr sz="900" b="1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dirty="0">
                          <a:solidFill>
                            <a:srgbClr val="111111"/>
                          </a:solidFill>
                          <a:latin typeface="微软雅黑"/>
                        </a:rPr>
                        <a:t>20.47</a:t>
                      </a:r>
                      <a:endParaRPr sz="1000" b="0" dirty="0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C00000"/>
                          </a:solidFill>
                          <a:latin typeface="微软雅黑"/>
                        </a:rPr>
                        <a:t>14.18</a:t>
                      </a:r>
                      <a:endParaRPr sz="1000" b="1">
                        <a:solidFill>
                          <a:srgbClr val="C00000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111"/>
                          </a:solidFill>
                          <a:latin typeface="微软雅黑"/>
                        </a:rPr>
                        <a:t>23.35</a:t>
                      </a:r>
                      <a:endParaRPr sz="1000" b="0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dirty="0">
                          <a:solidFill>
                            <a:srgbClr val="111111"/>
                          </a:solidFill>
                          <a:latin typeface="微软雅黑"/>
                        </a:rPr>
                        <a:t>30.51</a:t>
                      </a:r>
                      <a:endParaRPr sz="1000" b="0" dirty="0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</a:tr>
              <a:tr h="243122">
                <a:tc vMerge="1">
                  <a:tcPr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111111"/>
                          </a:solidFill>
                          <a:latin typeface="微软雅黑"/>
                        </a:rPr>
                        <a:t>P50</a:t>
                      </a:r>
                      <a:endParaRPr sz="900" b="1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111"/>
                          </a:solidFill>
                          <a:latin typeface="微软雅黑"/>
                        </a:rPr>
                        <a:t>30.74</a:t>
                      </a:r>
                      <a:endParaRPr sz="1000" b="0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C00000"/>
                          </a:solidFill>
                          <a:latin typeface="微软雅黑"/>
                        </a:rPr>
                        <a:t>22.29</a:t>
                      </a:r>
                      <a:endParaRPr sz="1000" b="1">
                        <a:solidFill>
                          <a:srgbClr val="C00000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111"/>
                          </a:solidFill>
                          <a:latin typeface="微软雅黑"/>
                        </a:rPr>
                        <a:t>37.76</a:t>
                      </a:r>
                      <a:endParaRPr sz="1000" b="0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dirty="0">
                          <a:solidFill>
                            <a:srgbClr val="111111"/>
                          </a:solidFill>
                          <a:latin typeface="微软雅黑"/>
                        </a:rPr>
                        <a:t>49.78</a:t>
                      </a:r>
                      <a:endParaRPr sz="1000" b="0" dirty="0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</a:tr>
              <a:tr h="243122">
                <a:tc vMerge="1">
                  <a:tcPr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111111"/>
                          </a:solidFill>
                          <a:latin typeface="微软雅黑"/>
                        </a:rPr>
                        <a:t>P90</a:t>
                      </a:r>
                      <a:endParaRPr sz="900" b="1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dirty="0">
                          <a:solidFill>
                            <a:srgbClr val="111111"/>
                          </a:solidFill>
                          <a:latin typeface="微软雅黑"/>
                        </a:rPr>
                        <a:t>49.12</a:t>
                      </a:r>
                      <a:endParaRPr sz="1000" b="0" dirty="0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C00000"/>
                          </a:solidFill>
                          <a:latin typeface="微软雅黑"/>
                        </a:rPr>
                        <a:t>38.30</a:t>
                      </a:r>
                      <a:endParaRPr sz="1000" b="1">
                        <a:solidFill>
                          <a:srgbClr val="C00000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111"/>
                          </a:solidFill>
                          <a:latin typeface="微软雅黑"/>
                        </a:rPr>
                        <a:t>66.35</a:t>
                      </a:r>
                      <a:endParaRPr sz="1000" b="0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dirty="0">
                          <a:solidFill>
                            <a:srgbClr val="111111"/>
                          </a:solidFill>
                          <a:latin typeface="微软雅黑"/>
                        </a:rPr>
                        <a:t>90.70</a:t>
                      </a:r>
                      <a:endParaRPr sz="1000" b="0" dirty="0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</a:tr>
              <a:tr h="243135">
                <a:tc vMerge="1">
                  <a:tcPr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111111"/>
                          </a:solidFill>
                          <a:latin typeface="微软雅黑"/>
                        </a:rPr>
                        <a:t>P99</a:t>
                      </a:r>
                      <a:endParaRPr sz="900" b="1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dirty="0">
                          <a:solidFill>
                            <a:srgbClr val="111111"/>
                          </a:solidFill>
                          <a:latin typeface="微软雅黑"/>
                        </a:rPr>
                        <a:t>62.89</a:t>
                      </a:r>
                      <a:endParaRPr sz="1000" b="0" dirty="0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C00000"/>
                          </a:solidFill>
                          <a:latin typeface="微软雅黑"/>
                        </a:rPr>
                        <a:t>48.36</a:t>
                      </a:r>
                      <a:endParaRPr sz="1000" b="1">
                        <a:solidFill>
                          <a:srgbClr val="C00000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111"/>
                          </a:solidFill>
                          <a:latin typeface="微软雅黑"/>
                        </a:rPr>
                        <a:t>81.09</a:t>
                      </a:r>
                      <a:endParaRPr sz="1000" b="0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dirty="0">
                          <a:solidFill>
                            <a:srgbClr val="111111"/>
                          </a:solidFill>
                          <a:latin typeface="微软雅黑"/>
                        </a:rPr>
                        <a:t>107.81</a:t>
                      </a:r>
                      <a:endParaRPr sz="1000" b="0" dirty="0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ection-20"/>
          <p:cNvSpPr>
            <a:spLocks noGrp="1"/>
          </p:cNvSpPr>
          <p:nvPr/>
        </p:nvSpPr>
        <p:spPr>
          <a:xfrm>
            <a:off x="609600" y="209550"/>
            <a:ext cx="2286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825" b="1">
                <a:solidFill>
                  <a:srgbClr val="898989"/>
                </a:solidFill>
                <a:latin typeface="Calibri"/>
                <a:ea typeface="Calibri"/>
                <a:cs typeface="Calibri"/>
              </a:defRPr>
            </a:pPr>
            <a:r>
              <a:rPr sz="825" b="1">
                <a:solidFill>
                  <a:srgbClr val="898989"/>
                </a:solidFill>
                <a:latin typeface="Calibri"/>
                <a:ea typeface="Calibri"/>
                <a:cs typeface="Calibri"/>
              </a:rPr>
              <a:t>ASYNC PREFILL RESULTS</a:t>
            </a:r>
            <a:endParaRPr sz="825" b="1">
              <a:solidFill>
                <a:srgbClr val="898989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" name="title-20"/>
          <p:cNvSpPr>
            <a:spLocks noGrp="1"/>
          </p:cNvSpPr>
          <p:nvPr/>
        </p:nvSpPr>
        <p:spPr>
          <a:xfrm>
            <a:off x="609600" y="419100"/>
            <a:ext cx="10668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buNone/>
              <a:defRPr sz="2175" b="1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 dirty="0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AFD DP3TP4：开启 / </a:t>
            </a:r>
            <a:r>
              <a:rPr sz="2175" b="1" dirty="0" err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关闭</a:t>
            </a:r>
            <a:r>
              <a:rPr sz="2175" b="1" dirty="0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2175" b="1" dirty="0" err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ubatch</a:t>
            </a:r>
            <a:r>
              <a:rPr sz="2175" b="1" dirty="0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 的 TTFT </a:t>
            </a:r>
            <a:r>
              <a:rPr sz="2175" b="1" dirty="0" err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对比</a:t>
            </a:r>
            <a:endParaRPr sz="2175" b="1" dirty="0">
              <a:solidFill>
                <a:srgbClr val="C000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title-rule-20"/>
          <p:cNvSpPr>
            <a:spLocks noGrp="1"/>
          </p:cNvSpPr>
          <p:nvPr/>
        </p:nvSpPr>
        <p:spPr>
          <a:xfrm>
            <a:off x="609600" y="914400"/>
            <a:ext cx="1428750" cy="28575"/>
          </a:xfrm>
          <a:prstGeom prst="rect">
            <a:avLst/>
          </a:prstGeom>
          <a:solidFill>
            <a:srgbClr val="C00000"/>
          </a:solidFill>
          <a:ln w="0">
            <a:solidFill>
              <a:srgbClr val="C00000"/>
            </a:solidFill>
            <a:prstDash val="solid"/>
          </a:ln>
        </p:spPr>
      </p:sp>
      <p:sp>
        <p:nvSpPr>
          <p:cNvPr id="4" name="metadata-bg-20"/>
          <p:cNvSpPr>
            <a:spLocks noGrp="1"/>
          </p:cNvSpPr>
          <p:nvPr/>
        </p:nvSpPr>
        <p:spPr>
          <a:xfrm>
            <a:off x="609600" y="1028700"/>
            <a:ext cx="10972800" cy="400050"/>
          </a:xfrm>
          <a:prstGeom prst="rect">
            <a:avLst/>
          </a:prstGeom>
          <a:solidFill>
            <a:srgbClr val="F5F5F5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5" name="model-20"/>
          <p:cNvSpPr>
            <a:spLocks noGrp="1"/>
          </p:cNvSpPr>
          <p:nvPr/>
        </p:nvSpPr>
        <p:spPr>
          <a:xfrm>
            <a:off x="800100" y="1095375"/>
            <a:ext cx="238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50" b="1">
                <a:solidFill>
                  <a:srgbClr val="234CA5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234CA5"/>
                </a:solidFill>
                <a:latin typeface="微软雅黑"/>
                <a:ea typeface="微软雅黑"/>
                <a:cs typeface="微软雅黑"/>
              </a:rPr>
              <a:t>模型：dsv4-flash W4A8</a:t>
            </a:r>
            <a:endParaRPr sz="1050" b="1">
              <a:solidFill>
                <a:srgbClr val="234CA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comparison-20"/>
          <p:cNvSpPr>
            <a:spLocks noGrp="1"/>
          </p:cNvSpPr>
          <p:nvPr/>
        </p:nvSpPr>
        <p:spPr>
          <a:xfrm>
            <a:off x="3476625" y="1095375"/>
            <a:ext cx="5619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buNone/>
              <a:defRPr sz="1125" b="0">
                <a:solidFill>
                  <a:srgbClr val="528A00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528A00"/>
                </a:solidFill>
                <a:latin typeface="微软雅黑"/>
                <a:ea typeface="微软雅黑"/>
                <a:cs typeface="微软雅黑"/>
              </a:rPr>
              <a:t>A:DP3TP4 / F:EP4；layered GMM ON；FFN FULL</a:t>
            </a:r>
            <a:endParaRPr sz="1125" b="0">
              <a:solidFill>
                <a:srgbClr val="528A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hardware-20"/>
          <p:cNvSpPr>
            <a:spLocks noGrp="1"/>
          </p:cNvSpPr>
          <p:nvPr/>
        </p:nvSpPr>
        <p:spPr>
          <a:xfrm>
            <a:off x="9144000" y="1095375"/>
            <a:ext cx="2247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975" b="1">
                <a:solidFill>
                  <a:srgbClr val="F06A00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06A00"/>
                </a:solidFill>
                <a:latin typeface="微软雅黑"/>
                <a:ea typeface="微软雅黑"/>
                <a:cs typeface="微软雅黑"/>
              </a:rPr>
              <a:t>硬件：Ascend 910C</a:t>
            </a:r>
            <a:endParaRPr sz="975" b="1">
              <a:solidFill>
                <a:srgbClr val="F06A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chart-heading-20"/>
          <p:cNvSpPr>
            <a:spLocks noGrp="1"/>
          </p:cNvSpPr>
          <p:nvPr/>
        </p:nvSpPr>
        <p:spPr>
          <a:xfrm>
            <a:off x="609600" y="1466850"/>
            <a:ext cx="6191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buNone/>
              <a:defRPr sz="150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QPS=2/3/4/5 下的 TTFT 分位点（秒）</a:t>
            </a:r>
            <a:endParaRPr sz="1500" b="1">
              <a:solidFill>
                <a:srgbClr val="22222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table-heading-20"/>
          <p:cNvSpPr>
            <a:spLocks noGrp="1"/>
          </p:cNvSpPr>
          <p:nvPr/>
        </p:nvSpPr>
        <p:spPr>
          <a:xfrm>
            <a:off x="7029450" y="1466850"/>
            <a:ext cx="45529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buNone/>
              <a:defRPr sz="150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TTFT 明细（秒）</a:t>
            </a:r>
            <a:endParaRPr sz="1500" b="1">
              <a:solidFill>
                <a:srgbClr val="22222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8" name="conclusion-20"/>
          <p:cNvSpPr>
            <a:spLocks noGrp="1"/>
          </p:cNvSpPr>
          <p:nvPr/>
        </p:nvSpPr>
        <p:spPr>
          <a:xfrm>
            <a:off x="609600" y="5514975"/>
            <a:ext cx="6191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>
              <a:buNone/>
              <a:defRPr sz="12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RPS=5 开启 split：32K / 64K 实际 QPS 提升 23.51% / 22.25%</a:t>
            </a:r>
            <a:endParaRPr sz="1200" b="0">
              <a:solidFill>
                <a:srgbClr val="222222"/>
              </a:solidFill>
              <a:latin typeface="微软雅黑"/>
              <a:ea typeface="微软雅黑"/>
              <a:cs typeface="微软雅黑"/>
            </a:endParaRPr>
          </a:p>
          <a:p>
            <a:r>
              <a:rPr sz="12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平均 TTFT 降低 57.22% / 56.64%（三对同机相对变化的均值）</a:t>
            </a:r>
            <a:endParaRPr sz="1200" b="0">
              <a:solidFill>
                <a:srgbClr val="22222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9" name="settings-20"/>
          <p:cNvSpPr>
            <a:spLocks noGrp="1"/>
          </p:cNvSpPr>
          <p:nvPr/>
        </p:nvSpPr>
        <p:spPr>
          <a:xfrm>
            <a:off x="609600" y="6067425"/>
            <a:ext cx="10972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buNone/>
              <a:defRPr sz="8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开＝ubatch=2、token split；关＝不切分。四档各三轮同机配对，AB/BA顺序平衡；表为三轮分位数均值。</a:t>
            </a:r>
            <a:endParaRPr sz="825" b="0">
              <a:solidFill>
                <a:srgbClr val="66666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0" name="source-20"/>
          <p:cNvSpPr>
            <a:spLocks noGrp="1"/>
          </p:cNvSpPr>
          <p:nvPr/>
        </p:nvSpPr>
        <p:spPr>
          <a:xfrm>
            <a:off x="609600" y="6305550"/>
            <a:ext cx="10972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buNone/>
              <a:defRPr sz="825" b="0">
                <a:solidFill>
                  <a:srgbClr val="777777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0">
                <a:solidFill>
                  <a:srgbClr val="777777"/>
                </a:solidFill>
                <a:latin typeface="微软雅黑"/>
                <a:ea typeface="微软雅黑"/>
                <a:cs typeface="微软雅黑"/>
              </a:rPr>
              <a:t>2026-10-05/06 ubatch 正式48点；显存0.7，prefix cache OFF，1536请求/轮。3次断连保留；仅成功请求计算TTFT。</a:t>
            </a:r>
            <a:endParaRPr sz="825" b="0">
              <a:solidFill>
                <a:srgbClr val="77777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1" name="page-20"/>
          <p:cNvSpPr>
            <a:spLocks noGrp="1"/>
          </p:cNvSpPr>
          <p:nvPr/>
        </p:nvSpPr>
        <p:spPr>
          <a:xfrm>
            <a:off x="11315700" y="6553200"/>
            <a:ext cx="3429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r">
              <a:buNone/>
              <a:defRPr sz="750" b="0">
                <a:solidFill>
                  <a:srgbClr val="777777"/>
                </a:solidFill>
                <a:latin typeface="微软雅黑"/>
                <a:ea typeface="微软雅黑"/>
                <a:cs typeface="微软雅黑"/>
              </a:defRPr>
            </a:pPr>
            <a:r>
              <a:rPr sz="750" b="0">
                <a:solidFill>
                  <a:srgbClr val="777777"/>
                </a:solidFill>
                <a:latin typeface="微软雅黑"/>
                <a:ea typeface="微软雅黑"/>
                <a:cs typeface="微软雅黑"/>
              </a:rPr>
              <a:t>24</a:t>
            </a:r>
            <a:endParaRPr sz="750" b="0">
              <a:solidFill>
                <a:srgbClr val="777777"/>
              </a:solidFill>
              <a:latin typeface="微软雅黑"/>
              <a:ea typeface="微软雅黑"/>
              <a:cs typeface="微软雅黑"/>
            </a:endParaRPr>
          </a:p>
        </p:txBody>
      </p:sp>
      <p:graphicFrame>
        <p:nvGraphicFramePr>
          <p:cNvPr id="23" name="Chart 22"/>
          <p:cNvGraphicFramePr>
            <a:graphicFrameLocks noGrp="1"/>
          </p:cNvGraphicFramePr>
          <p:nvPr/>
        </p:nvGraphicFramePr>
        <p:xfrm>
          <a:off x="609904" y="1790395"/>
          <a:ext cx="2971800" cy="1691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24" name="Chart 23"/>
          <p:cNvGraphicFramePr>
            <a:graphicFrameLocks noGrp="1"/>
          </p:cNvGraphicFramePr>
          <p:nvPr/>
        </p:nvGraphicFramePr>
        <p:xfrm>
          <a:off x="3715207" y="1790395"/>
          <a:ext cx="2971800" cy="1691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25" name="Chart 24"/>
          <p:cNvGraphicFramePr>
            <a:graphicFrameLocks noGrp="1"/>
          </p:cNvGraphicFramePr>
          <p:nvPr/>
        </p:nvGraphicFramePr>
        <p:xfrm>
          <a:off x="609904" y="3534156"/>
          <a:ext cx="2971800" cy="1691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26" name="Chart 25"/>
          <p:cNvGraphicFramePr>
            <a:graphicFrameLocks noGrp="1"/>
          </p:cNvGraphicFramePr>
          <p:nvPr/>
        </p:nvGraphicFramePr>
        <p:xfrm>
          <a:off x="3715207" y="3534156"/>
          <a:ext cx="2971800" cy="1691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27" name="Table 26"/>
          <p:cNvGraphicFramePr>
            <a:graphicFrameLocks noGrp="1"/>
          </p:cNvGraphicFramePr>
          <p:nvPr/>
        </p:nvGraphicFramePr>
        <p:xfrm>
          <a:off x="7029907" y="1723644"/>
          <a:ext cx="4552795" cy="413308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"/>
                <a:gridCol w="521207"/>
                <a:gridCol w="905027"/>
                <a:gridCol w="905027"/>
                <a:gridCol w="905027"/>
                <a:gridCol w="905027"/>
              </a:tblGrid>
              <a:tr h="243122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111111"/>
                          </a:solidFill>
                          <a:latin typeface="微软雅黑"/>
                        </a:rPr>
                        <a:t>QPS</a:t>
                      </a:r>
                      <a:endParaRPr sz="900" b="1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lnL w="6350">
                      <a:solidFill>
                        <a:srgbClr val="D5D5D5"/>
                      </a:solidFill>
                    </a:lnL>
                    <a:lnR w="6350">
                      <a:solidFill>
                        <a:srgbClr val="D5D5D5"/>
                      </a:solidFill>
                    </a:lnR>
                    <a:lnT w="6350">
                      <a:solidFill>
                        <a:srgbClr val="D5D5D5"/>
                      </a:solidFill>
                    </a:lnT>
                    <a:lnB w="6350">
                      <a:solidFill>
                        <a:srgbClr val="D5D5D5"/>
                      </a:solidFill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111111"/>
                          </a:solidFill>
                          <a:latin typeface="微软雅黑"/>
                        </a:rPr>
                        <a:t>分位</a:t>
                      </a:r>
                      <a:endParaRPr sz="900" b="1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lnL w="6350">
                      <a:solidFill>
                        <a:srgbClr val="D5D5D5"/>
                      </a:solidFill>
                    </a:lnL>
                    <a:lnR w="6350">
                      <a:solidFill>
                        <a:srgbClr val="D5D5D5"/>
                      </a:solidFill>
                    </a:lnR>
                    <a:lnT w="6350">
                      <a:solidFill>
                        <a:srgbClr val="D5D5D5"/>
                      </a:solidFill>
                    </a:lnT>
                    <a:lnB w="6350">
                      <a:solidFill>
                        <a:srgbClr val="D5D5D5"/>
                      </a:solidFill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F2A300"/>
                          </a:solidFill>
                          <a:latin typeface="微软雅黑"/>
                        </a:rPr>
                        <a:t>32K 开</a:t>
                      </a:r>
                      <a:endParaRPr sz="900" b="1">
                        <a:solidFill>
                          <a:srgbClr val="F2A300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lnL w="6350">
                      <a:solidFill>
                        <a:srgbClr val="D5D5D5"/>
                      </a:solidFill>
                    </a:lnL>
                    <a:lnR w="6350">
                      <a:solidFill>
                        <a:srgbClr val="D5D5D5"/>
                      </a:solidFill>
                    </a:lnR>
                    <a:lnT w="6350">
                      <a:solidFill>
                        <a:srgbClr val="D5D5D5"/>
                      </a:solidFill>
                    </a:lnT>
                    <a:lnB w="6350">
                      <a:solidFill>
                        <a:srgbClr val="D5D5D5"/>
                      </a:solidFill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548235"/>
                          </a:solidFill>
                          <a:latin typeface="微软雅黑"/>
                        </a:rPr>
                        <a:t>32K 关</a:t>
                      </a:r>
                      <a:endParaRPr sz="900" b="1">
                        <a:solidFill>
                          <a:srgbClr val="548235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lnL w="6350">
                      <a:solidFill>
                        <a:srgbClr val="D5D5D5"/>
                      </a:solidFill>
                    </a:lnL>
                    <a:lnR w="6350">
                      <a:solidFill>
                        <a:srgbClr val="D5D5D5"/>
                      </a:solidFill>
                    </a:lnR>
                    <a:lnT w="6350">
                      <a:solidFill>
                        <a:srgbClr val="D5D5D5"/>
                      </a:solidFill>
                    </a:lnT>
                    <a:lnB w="6350">
                      <a:solidFill>
                        <a:srgbClr val="D5D5D5"/>
                      </a:solidFill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4472C4"/>
                          </a:solidFill>
                          <a:latin typeface="微软雅黑"/>
                        </a:rPr>
                        <a:t>64K 开</a:t>
                      </a:r>
                      <a:endParaRPr sz="900" b="1">
                        <a:solidFill>
                          <a:srgbClr val="4472C4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lnL w="6350">
                      <a:solidFill>
                        <a:srgbClr val="D5D5D5"/>
                      </a:solidFill>
                    </a:lnL>
                    <a:lnR w="6350">
                      <a:solidFill>
                        <a:srgbClr val="D5D5D5"/>
                      </a:solidFill>
                    </a:lnR>
                    <a:lnT w="6350">
                      <a:solidFill>
                        <a:srgbClr val="D5D5D5"/>
                      </a:solidFill>
                    </a:lnT>
                    <a:lnB w="6350">
                      <a:solidFill>
                        <a:srgbClr val="D5D5D5"/>
                      </a:solidFill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7030A0"/>
                          </a:solidFill>
                          <a:latin typeface="微软雅黑"/>
                        </a:rPr>
                        <a:t>64K 关</a:t>
                      </a:r>
                      <a:endParaRPr sz="900" b="1">
                        <a:solidFill>
                          <a:srgbClr val="7030A0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lnL w="6350">
                      <a:solidFill>
                        <a:srgbClr val="D5D5D5"/>
                      </a:solidFill>
                    </a:lnL>
                    <a:lnR w="6350">
                      <a:solidFill>
                        <a:srgbClr val="D5D5D5"/>
                      </a:solidFill>
                    </a:lnR>
                    <a:lnT w="6350">
                      <a:solidFill>
                        <a:srgbClr val="D5D5D5"/>
                      </a:solidFill>
                    </a:lnT>
                    <a:lnB w="6350">
                      <a:solidFill>
                        <a:srgbClr val="D5D5D5"/>
                      </a:solidFill>
                    </a:lnB>
                    <a:solidFill>
                      <a:srgbClr val="E7E6E6"/>
                    </a:solidFill>
                  </a:tcPr>
                </a:tc>
              </a:tr>
              <a:tr h="243122">
                <a:tc rowSpan="4"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111"/>
                          </a:solidFill>
                          <a:latin typeface="微软雅黑"/>
                        </a:rPr>
                        <a:t>2</a:t>
                      </a:r>
                      <a:endParaRPr sz="1000" b="1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lnL w="6350">
                      <a:solidFill>
                        <a:srgbClr val="D5D5D5"/>
                      </a:solidFill>
                    </a:lnL>
                    <a:lnR w="6350">
                      <a:solidFill>
                        <a:srgbClr val="D5D5D5"/>
                      </a:solidFill>
                    </a:lnR>
                    <a:lnT w="6350">
                      <a:solidFill>
                        <a:srgbClr val="D5D5D5"/>
                      </a:solidFill>
                    </a:lnT>
                    <a:lnB w="6350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11111"/>
                          </a:solidFill>
                          <a:latin typeface="微软雅黑"/>
                        </a:rPr>
                        <a:t>P25</a:t>
                      </a:r>
                      <a:endParaRPr sz="900" b="0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lnL w="6350">
                      <a:solidFill>
                        <a:srgbClr val="D5D5D5"/>
                      </a:solidFill>
                    </a:lnL>
                    <a:lnR w="6350">
                      <a:solidFill>
                        <a:srgbClr val="D5D5D5"/>
                      </a:solidFill>
                    </a:lnR>
                    <a:lnT w="6350">
                      <a:solidFill>
                        <a:srgbClr val="D5D5D5"/>
                      </a:solidFill>
                    </a:lnT>
                    <a:lnB w="6350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C00000"/>
                          </a:solidFill>
                          <a:latin typeface="微软雅黑"/>
                        </a:rPr>
                        <a:t>0.45</a:t>
                      </a:r>
                      <a:endParaRPr sz="1000" b="1">
                        <a:solidFill>
                          <a:srgbClr val="C00000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lnL w="6350">
                      <a:solidFill>
                        <a:srgbClr val="D5D5D5"/>
                      </a:solidFill>
                    </a:lnL>
                    <a:lnR w="6350">
                      <a:solidFill>
                        <a:srgbClr val="D5D5D5"/>
                      </a:solidFill>
                    </a:lnR>
                    <a:lnT w="6350">
                      <a:solidFill>
                        <a:srgbClr val="D5D5D5"/>
                      </a:solidFill>
                    </a:lnT>
                    <a:lnB w="6350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111"/>
                          </a:solidFill>
                          <a:latin typeface="微软雅黑"/>
                        </a:rPr>
                        <a:t>0.54</a:t>
                      </a:r>
                      <a:endParaRPr sz="1000" b="0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lnL w="6350">
                      <a:solidFill>
                        <a:srgbClr val="D5D5D5"/>
                      </a:solidFill>
                    </a:lnL>
                    <a:lnR w="6350">
                      <a:solidFill>
                        <a:srgbClr val="D5D5D5"/>
                      </a:solidFill>
                    </a:lnR>
                    <a:lnT w="6350">
                      <a:solidFill>
                        <a:srgbClr val="D5D5D5"/>
                      </a:solidFill>
                    </a:lnT>
                    <a:lnB w="6350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C00000"/>
                          </a:solidFill>
                          <a:latin typeface="微软雅黑"/>
                        </a:rPr>
                        <a:t>0.45</a:t>
                      </a:r>
                      <a:endParaRPr sz="1000" b="1">
                        <a:solidFill>
                          <a:srgbClr val="C00000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lnL w="6350">
                      <a:solidFill>
                        <a:srgbClr val="D5D5D5"/>
                      </a:solidFill>
                    </a:lnL>
                    <a:lnR w="6350">
                      <a:solidFill>
                        <a:srgbClr val="D5D5D5"/>
                      </a:solidFill>
                    </a:lnR>
                    <a:lnT w="6350">
                      <a:solidFill>
                        <a:srgbClr val="D5D5D5"/>
                      </a:solidFill>
                    </a:lnT>
                    <a:lnB w="6350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111"/>
                          </a:solidFill>
                          <a:latin typeface="微软雅黑"/>
                        </a:rPr>
                        <a:t>0.57</a:t>
                      </a:r>
                      <a:endParaRPr sz="1000" b="0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lnL w="6350">
                      <a:solidFill>
                        <a:srgbClr val="D5D5D5"/>
                      </a:solidFill>
                    </a:lnL>
                    <a:lnR w="6350">
                      <a:solidFill>
                        <a:srgbClr val="D5D5D5"/>
                      </a:solidFill>
                    </a:lnR>
                    <a:lnT w="6350">
                      <a:solidFill>
                        <a:srgbClr val="D5D5D5"/>
                      </a:solidFill>
                    </a:lnT>
                    <a:lnB w="6350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43122">
                <a:tc vMerge="1"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11111"/>
                          </a:solidFill>
                          <a:latin typeface="微软雅黑"/>
                        </a:rPr>
                        <a:t>P50</a:t>
                      </a:r>
                      <a:endParaRPr sz="900" b="0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lnL w="6350">
                      <a:solidFill>
                        <a:srgbClr val="D5D5D5"/>
                      </a:solidFill>
                    </a:lnL>
                    <a:lnR w="6350">
                      <a:solidFill>
                        <a:srgbClr val="D5D5D5"/>
                      </a:solidFill>
                    </a:lnR>
                    <a:lnT w="6350">
                      <a:solidFill>
                        <a:srgbClr val="D5D5D5"/>
                      </a:solidFill>
                    </a:lnT>
                    <a:lnB w="6350">
                      <a:solidFill>
                        <a:srgbClr val="D5D5D5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C00000"/>
                          </a:solidFill>
                          <a:latin typeface="微软雅黑"/>
                        </a:rPr>
                        <a:t>0.81</a:t>
                      </a:r>
                      <a:endParaRPr sz="1000" b="1">
                        <a:solidFill>
                          <a:srgbClr val="C00000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lnL w="6350">
                      <a:solidFill>
                        <a:srgbClr val="D5D5D5"/>
                      </a:solidFill>
                    </a:lnL>
                    <a:lnR w="6350">
                      <a:solidFill>
                        <a:srgbClr val="D5D5D5"/>
                      </a:solidFill>
                    </a:lnR>
                    <a:lnT w="6350">
                      <a:solidFill>
                        <a:srgbClr val="D5D5D5"/>
                      </a:solidFill>
                    </a:lnT>
                    <a:lnB w="6350">
                      <a:solidFill>
                        <a:srgbClr val="D5D5D5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111"/>
                          </a:solidFill>
                          <a:latin typeface="微软雅黑"/>
                        </a:rPr>
                        <a:t>1.24</a:t>
                      </a:r>
                      <a:endParaRPr sz="1000" b="0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lnL w="6350">
                      <a:solidFill>
                        <a:srgbClr val="D5D5D5"/>
                      </a:solidFill>
                    </a:lnL>
                    <a:lnR w="6350">
                      <a:solidFill>
                        <a:srgbClr val="D5D5D5"/>
                      </a:solidFill>
                    </a:lnR>
                    <a:lnT w="6350">
                      <a:solidFill>
                        <a:srgbClr val="D5D5D5"/>
                      </a:solidFill>
                    </a:lnT>
                    <a:lnB w="6350">
                      <a:solidFill>
                        <a:srgbClr val="D5D5D5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C00000"/>
                          </a:solidFill>
                          <a:latin typeface="微软雅黑"/>
                        </a:rPr>
                        <a:t>0.81</a:t>
                      </a:r>
                      <a:endParaRPr sz="1000" b="1">
                        <a:solidFill>
                          <a:srgbClr val="C00000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lnL w="6350">
                      <a:solidFill>
                        <a:srgbClr val="D5D5D5"/>
                      </a:solidFill>
                    </a:lnL>
                    <a:lnR w="6350">
                      <a:solidFill>
                        <a:srgbClr val="D5D5D5"/>
                      </a:solidFill>
                    </a:lnR>
                    <a:lnT w="6350">
                      <a:solidFill>
                        <a:srgbClr val="D5D5D5"/>
                      </a:solidFill>
                    </a:lnT>
                    <a:lnB w="6350">
                      <a:solidFill>
                        <a:srgbClr val="D5D5D5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111"/>
                          </a:solidFill>
                          <a:latin typeface="微软雅黑"/>
                        </a:rPr>
                        <a:t>1.26</a:t>
                      </a:r>
                      <a:endParaRPr sz="1000" b="0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lnL w="6350">
                      <a:solidFill>
                        <a:srgbClr val="D5D5D5"/>
                      </a:solidFill>
                    </a:lnL>
                    <a:lnR w="6350">
                      <a:solidFill>
                        <a:srgbClr val="D5D5D5"/>
                      </a:solidFill>
                    </a:lnR>
                    <a:lnT w="6350">
                      <a:solidFill>
                        <a:srgbClr val="D5D5D5"/>
                      </a:solidFill>
                    </a:lnT>
                    <a:lnB w="6350">
                      <a:solidFill>
                        <a:srgbClr val="D5D5D5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243122">
                <a:tc vMerge="1"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11111"/>
                          </a:solidFill>
                          <a:latin typeface="微软雅黑"/>
                        </a:rPr>
                        <a:t>P90</a:t>
                      </a:r>
                      <a:endParaRPr sz="900" b="0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lnL w="6350">
                      <a:solidFill>
                        <a:srgbClr val="D5D5D5"/>
                      </a:solidFill>
                    </a:lnL>
                    <a:lnR w="6350">
                      <a:solidFill>
                        <a:srgbClr val="D5D5D5"/>
                      </a:solidFill>
                    </a:lnR>
                    <a:lnT w="6350">
                      <a:solidFill>
                        <a:srgbClr val="D5D5D5"/>
                      </a:solidFill>
                    </a:lnT>
                    <a:lnB w="6350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C00000"/>
                          </a:solidFill>
                          <a:latin typeface="微软雅黑"/>
                        </a:rPr>
                        <a:t>3.02</a:t>
                      </a:r>
                      <a:endParaRPr sz="1000" b="1">
                        <a:solidFill>
                          <a:srgbClr val="C00000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lnL w="6350">
                      <a:solidFill>
                        <a:srgbClr val="D5D5D5"/>
                      </a:solidFill>
                    </a:lnL>
                    <a:lnR w="6350">
                      <a:solidFill>
                        <a:srgbClr val="D5D5D5"/>
                      </a:solidFill>
                    </a:lnR>
                    <a:lnT w="6350">
                      <a:solidFill>
                        <a:srgbClr val="D5D5D5"/>
                      </a:solidFill>
                    </a:lnT>
                    <a:lnB w="6350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111"/>
                          </a:solidFill>
                          <a:latin typeface="微软雅黑"/>
                        </a:rPr>
                        <a:t>4.13</a:t>
                      </a:r>
                      <a:endParaRPr sz="1000" b="0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lnL w="6350">
                      <a:solidFill>
                        <a:srgbClr val="D5D5D5"/>
                      </a:solidFill>
                    </a:lnL>
                    <a:lnR w="6350">
                      <a:solidFill>
                        <a:srgbClr val="D5D5D5"/>
                      </a:solidFill>
                    </a:lnR>
                    <a:lnT w="6350">
                      <a:solidFill>
                        <a:srgbClr val="D5D5D5"/>
                      </a:solidFill>
                    </a:lnT>
                    <a:lnB w="6350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C00000"/>
                          </a:solidFill>
                          <a:latin typeface="微软雅黑"/>
                        </a:rPr>
                        <a:t>2.90</a:t>
                      </a:r>
                      <a:endParaRPr sz="1000" b="1">
                        <a:solidFill>
                          <a:srgbClr val="C00000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lnL w="6350">
                      <a:solidFill>
                        <a:srgbClr val="D5D5D5"/>
                      </a:solidFill>
                    </a:lnL>
                    <a:lnR w="6350">
                      <a:solidFill>
                        <a:srgbClr val="D5D5D5"/>
                      </a:solidFill>
                    </a:lnR>
                    <a:lnT w="6350">
                      <a:solidFill>
                        <a:srgbClr val="D5D5D5"/>
                      </a:solidFill>
                    </a:lnT>
                    <a:lnB w="6350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111"/>
                          </a:solidFill>
                          <a:latin typeface="微软雅黑"/>
                        </a:rPr>
                        <a:t>4.26</a:t>
                      </a:r>
                      <a:endParaRPr sz="1000" b="0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lnL w="6350">
                      <a:solidFill>
                        <a:srgbClr val="D5D5D5"/>
                      </a:solidFill>
                    </a:lnL>
                    <a:lnR w="6350">
                      <a:solidFill>
                        <a:srgbClr val="D5D5D5"/>
                      </a:solidFill>
                    </a:lnR>
                    <a:lnT w="6350">
                      <a:solidFill>
                        <a:srgbClr val="D5D5D5"/>
                      </a:solidFill>
                    </a:lnT>
                    <a:lnB w="6350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43122">
                <a:tc vMerge="1"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11111"/>
                          </a:solidFill>
                          <a:latin typeface="微软雅黑"/>
                        </a:rPr>
                        <a:t>P99</a:t>
                      </a:r>
                      <a:endParaRPr sz="900" b="0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lnL w="6350">
                      <a:solidFill>
                        <a:srgbClr val="D5D5D5"/>
                      </a:solidFill>
                    </a:lnL>
                    <a:lnR w="6350">
                      <a:solidFill>
                        <a:srgbClr val="D5D5D5"/>
                      </a:solidFill>
                    </a:lnR>
                    <a:lnT w="6350">
                      <a:solidFill>
                        <a:srgbClr val="D5D5D5"/>
                      </a:solidFill>
                    </a:lnT>
                    <a:lnB w="6350">
                      <a:solidFill>
                        <a:srgbClr val="D5D5D5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C00000"/>
                          </a:solidFill>
                          <a:latin typeface="微软雅黑"/>
                        </a:rPr>
                        <a:t>5.32</a:t>
                      </a:r>
                      <a:endParaRPr sz="1000" b="1">
                        <a:solidFill>
                          <a:srgbClr val="C00000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lnL w="6350">
                      <a:solidFill>
                        <a:srgbClr val="D5D5D5"/>
                      </a:solidFill>
                    </a:lnL>
                    <a:lnR w="6350">
                      <a:solidFill>
                        <a:srgbClr val="D5D5D5"/>
                      </a:solidFill>
                    </a:lnR>
                    <a:lnT w="6350">
                      <a:solidFill>
                        <a:srgbClr val="D5D5D5"/>
                      </a:solidFill>
                    </a:lnT>
                    <a:lnB w="6350">
                      <a:solidFill>
                        <a:srgbClr val="D5D5D5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111"/>
                          </a:solidFill>
                          <a:latin typeface="微软雅黑"/>
                        </a:rPr>
                        <a:t>6.91</a:t>
                      </a:r>
                      <a:endParaRPr sz="1000" b="0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lnL w="6350">
                      <a:solidFill>
                        <a:srgbClr val="D5D5D5"/>
                      </a:solidFill>
                    </a:lnL>
                    <a:lnR w="6350">
                      <a:solidFill>
                        <a:srgbClr val="D5D5D5"/>
                      </a:solidFill>
                    </a:lnR>
                    <a:lnT w="6350">
                      <a:solidFill>
                        <a:srgbClr val="D5D5D5"/>
                      </a:solidFill>
                    </a:lnT>
                    <a:lnB w="6350">
                      <a:solidFill>
                        <a:srgbClr val="D5D5D5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C00000"/>
                          </a:solidFill>
                          <a:latin typeface="微软雅黑"/>
                        </a:rPr>
                        <a:t>5.78</a:t>
                      </a:r>
                      <a:endParaRPr sz="1000" b="1">
                        <a:solidFill>
                          <a:srgbClr val="C00000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lnL w="6350">
                      <a:solidFill>
                        <a:srgbClr val="D5D5D5"/>
                      </a:solidFill>
                    </a:lnL>
                    <a:lnR w="6350">
                      <a:solidFill>
                        <a:srgbClr val="D5D5D5"/>
                      </a:solidFill>
                    </a:lnR>
                    <a:lnT w="6350">
                      <a:solidFill>
                        <a:srgbClr val="D5D5D5"/>
                      </a:solidFill>
                    </a:lnT>
                    <a:lnB w="6350">
                      <a:solidFill>
                        <a:srgbClr val="D5D5D5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111"/>
                          </a:solidFill>
                          <a:latin typeface="微软雅黑"/>
                        </a:rPr>
                        <a:t>7.89</a:t>
                      </a:r>
                      <a:endParaRPr sz="1000" b="0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lnL w="6350">
                      <a:solidFill>
                        <a:srgbClr val="D5D5D5"/>
                      </a:solidFill>
                    </a:lnL>
                    <a:lnR w="6350">
                      <a:solidFill>
                        <a:srgbClr val="D5D5D5"/>
                      </a:solidFill>
                    </a:lnR>
                    <a:lnT w="6350">
                      <a:solidFill>
                        <a:srgbClr val="D5D5D5"/>
                      </a:solidFill>
                    </a:lnT>
                    <a:lnB w="6350">
                      <a:solidFill>
                        <a:srgbClr val="D5D5D5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243122">
                <a:tc rowSpan="4"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111"/>
                          </a:solidFill>
                          <a:latin typeface="微软雅黑"/>
                        </a:rPr>
                        <a:t>3</a:t>
                      </a:r>
                      <a:endParaRPr sz="1000" b="1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lnL w="6350">
                      <a:solidFill>
                        <a:srgbClr val="D5D5D5"/>
                      </a:solidFill>
                    </a:lnL>
                    <a:lnR w="6350">
                      <a:solidFill>
                        <a:srgbClr val="D5D5D5"/>
                      </a:solidFill>
                    </a:lnR>
                    <a:lnT w="6350">
                      <a:solidFill>
                        <a:srgbClr val="D5D5D5"/>
                      </a:solidFill>
                    </a:lnT>
                    <a:lnB w="6350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11111"/>
                          </a:solidFill>
                          <a:latin typeface="微软雅黑"/>
                        </a:rPr>
                        <a:t>P25</a:t>
                      </a:r>
                      <a:endParaRPr sz="900" b="0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lnL w="6350">
                      <a:solidFill>
                        <a:srgbClr val="D5D5D5"/>
                      </a:solidFill>
                    </a:lnL>
                    <a:lnR w="6350">
                      <a:solidFill>
                        <a:srgbClr val="D5D5D5"/>
                      </a:solidFill>
                    </a:lnR>
                    <a:lnT w="6350">
                      <a:solidFill>
                        <a:srgbClr val="D5D5D5"/>
                      </a:solidFill>
                    </a:lnT>
                    <a:lnB w="6350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C00000"/>
                          </a:solidFill>
                          <a:latin typeface="微软雅黑"/>
                        </a:rPr>
                        <a:t>0.74</a:t>
                      </a:r>
                      <a:endParaRPr sz="1000" b="1">
                        <a:solidFill>
                          <a:srgbClr val="C00000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lnL w="6350">
                      <a:solidFill>
                        <a:srgbClr val="D5D5D5"/>
                      </a:solidFill>
                    </a:lnL>
                    <a:lnR w="6350">
                      <a:solidFill>
                        <a:srgbClr val="D5D5D5"/>
                      </a:solidFill>
                    </a:lnR>
                    <a:lnT w="6350">
                      <a:solidFill>
                        <a:srgbClr val="D5D5D5"/>
                      </a:solidFill>
                    </a:lnT>
                    <a:lnB w="6350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111"/>
                          </a:solidFill>
                          <a:latin typeface="微软雅黑"/>
                        </a:rPr>
                        <a:t>2.26</a:t>
                      </a:r>
                      <a:endParaRPr sz="1000" b="0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lnL w="6350">
                      <a:solidFill>
                        <a:srgbClr val="D5D5D5"/>
                      </a:solidFill>
                    </a:lnL>
                    <a:lnR w="6350">
                      <a:solidFill>
                        <a:srgbClr val="D5D5D5"/>
                      </a:solidFill>
                    </a:lnR>
                    <a:lnT w="6350">
                      <a:solidFill>
                        <a:srgbClr val="D5D5D5"/>
                      </a:solidFill>
                    </a:lnT>
                    <a:lnB w="6350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C00000"/>
                          </a:solidFill>
                          <a:latin typeface="微软雅黑"/>
                        </a:rPr>
                        <a:t>0.74</a:t>
                      </a:r>
                      <a:endParaRPr sz="1000" b="1">
                        <a:solidFill>
                          <a:srgbClr val="C00000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lnL w="6350">
                      <a:solidFill>
                        <a:srgbClr val="D5D5D5"/>
                      </a:solidFill>
                    </a:lnL>
                    <a:lnR w="6350">
                      <a:solidFill>
                        <a:srgbClr val="D5D5D5"/>
                      </a:solidFill>
                    </a:lnR>
                    <a:lnT w="6350">
                      <a:solidFill>
                        <a:srgbClr val="D5D5D5"/>
                      </a:solidFill>
                    </a:lnT>
                    <a:lnB w="6350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111"/>
                          </a:solidFill>
                          <a:latin typeface="微软雅黑"/>
                        </a:rPr>
                        <a:t>2.14</a:t>
                      </a:r>
                      <a:endParaRPr sz="1000" b="0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lnL w="6350">
                      <a:solidFill>
                        <a:srgbClr val="D5D5D5"/>
                      </a:solidFill>
                    </a:lnL>
                    <a:lnR w="6350">
                      <a:solidFill>
                        <a:srgbClr val="D5D5D5"/>
                      </a:solidFill>
                    </a:lnR>
                    <a:lnT w="6350">
                      <a:solidFill>
                        <a:srgbClr val="D5D5D5"/>
                      </a:solidFill>
                    </a:lnT>
                    <a:lnB w="6350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43122">
                <a:tc vMerge="1"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11111"/>
                          </a:solidFill>
                          <a:latin typeface="微软雅黑"/>
                        </a:rPr>
                        <a:t>P50</a:t>
                      </a:r>
                      <a:endParaRPr sz="900" b="0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lnL w="6350">
                      <a:solidFill>
                        <a:srgbClr val="D5D5D5"/>
                      </a:solidFill>
                    </a:lnL>
                    <a:lnR w="6350">
                      <a:solidFill>
                        <a:srgbClr val="D5D5D5"/>
                      </a:solidFill>
                    </a:lnR>
                    <a:lnT w="6350">
                      <a:solidFill>
                        <a:srgbClr val="D5D5D5"/>
                      </a:solidFill>
                    </a:lnT>
                    <a:lnB w="6350">
                      <a:solidFill>
                        <a:srgbClr val="D5D5D5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C00000"/>
                          </a:solidFill>
                          <a:latin typeface="微软雅黑"/>
                        </a:rPr>
                        <a:t>1.59</a:t>
                      </a:r>
                      <a:endParaRPr sz="1000" b="1">
                        <a:solidFill>
                          <a:srgbClr val="C00000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lnL w="6350">
                      <a:solidFill>
                        <a:srgbClr val="D5D5D5"/>
                      </a:solidFill>
                    </a:lnL>
                    <a:lnR w="6350">
                      <a:solidFill>
                        <a:srgbClr val="D5D5D5"/>
                      </a:solidFill>
                    </a:lnR>
                    <a:lnT w="6350">
                      <a:solidFill>
                        <a:srgbClr val="D5D5D5"/>
                      </a:solidFill>
                    </a:lnT>
                    <a:lnB w="6350">
                      <a:solidFill>
                        <a:srgbClr val="D5D5D5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111"/>
                          </a:solidFill>
                          <a:latin typeface="微软雅黑"/>
                        </a:rPr>
                        <a:t>4.58</a:t>
                      </a:r>
                      <a:endParaRPr sz="1000" b="0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lnL w="6350">
                      <a:solidFill>
                        <a:srgbClr val="D5D5D5"/>
                      </a:solidFill>
                    </a:lnL>
                    <a:lnR w="6350">
                      <a:solidFill>
                        <a:srgbClr val="D5D5D5"/>
                      </a:solidFill>
                    </a:lnR>
                    <a:lnT w="6350">
                      <a:solidFill>
                        <a:srgbClr val="D5D5D5"/>
                      </a:solidFill>
                    </a:lnT>
                    <a:lnB w="6350">
                      <a:solidFill>
                        <a:srgbClr val="D5D5D5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C00000"/>
                          </a:solidFill>
                          <a:latin typeface="微软雅黑"/>
                        </a:rPr>
                        <a:t>1.64</a:t>
                      </a:r>
                      <a:endParaRPr sz="1000" b="1">
                        <a:solidFill>
                          <a:srgbClr val="C00000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lnL w="6350">
                      <a:solidFill>
                        <a:srgbClr val="D5D5D5"/>
                      </a:solidFill>
                    </a:lnL>
                    <a:lnR w="6350">
                      <a:solidFill>
                        <a:srgbClr val="D5D5D5"/>
                      </a:solidFill>
                    </a:lnR>
                    <a:lnT w="6350">
                      <a:solidFill>
                        <a:srgbClr val="D5D5D5"/>
                      </a:solidFill>
                    </a:lnT>
                    <a:lnB w="6350">
                      <a:solidFill>
                        <a:srgbClr val="D5D5D5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111"/>
                          </a:solidFill>
                          <a:latin typeface="微软雅黑"/>
                        </a:rPr>
                        <a:t>4.98</a:t>
                      </a:r>
                      <a:endParaRPr sz="1000" b="0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lnL w="6350">
                      <a:solidFill>
                        <a:srgbClr val="D5D5D5"/>
                      </a:solidFill>
                    </a:lnL>
                    <a:lnR w="6350">
                      <a:solidFill>
                        <a:srgbClr val="D5D5D5"/>
                      </a:solidFill>
                    </a:lnR>
                    <a:lnT w="6350">
                      <a:solidFill>
                        <a:srgbClr val="D5D5D5"/>
                      </a:solidFill>
                    </a:lnT>
                    <a:lnB w="6350">
                      <a:solidFill>
                        <a:srgbClr val="D5D5D5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243122">
                <a:tc vMerge="1"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11111"/>
                          </a:solidFill>
                          <a:latin typeface="微软雅黑"/>
                        </a:rPr>
                        <a:t>P90</a:t>
                      </a:r>
                      <a:endParaRPr sz="900" b="0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lnL w="6350">
                      <a:solidFill>
                        <a:srgbClr val="D5D5D5"/>
                      </a:solidFill>
                    </a:lnL>
                    <a:lnR w="6350">
                      <a:solidFill>
                        <a:srgbClr val="D5D5D5"/>
                      </a:solidFill>
                    </a:lnR>
                    <a:lnT w="6350">
                      <a:solidFill>
                        <a:srgbClr val="D5D5D5"/>
                      </a:solidFill>
                    </a:lnT>
                    <a:lnB w="6350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C00000"/>
                          </a:solidFill>
                          <a:latin typeface="微软雅黑"/>
                        </a:rPr>
                        <a:t>4.34</a:t>
                      </a:r>
                      <a:endParaRPr sz="1000" b="1">
                        <a:solidFill>
                          <a:srgbClr val="C00000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lnL w="6350">
                      <a:solidFill>
                        <a:srgbClr val="D5D5D5"/>
                      </a:solidFill>
                    </a:lnL>
                    <a:lnR w="6350">
                      <a:solidFill>
                        <a:srgbClr val="D5D5D5"/>
                      </a:solidFill>
                    </a:lnR>
                    <a:lnT w="6350">
                      <a:solidFill>
                        <a:srgbClr val="D5D5D5"/>
                      </a:solidFill>
                    </a:lnT>
                    <a:lnB w="6350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111"/>
                          </a:solidFill>
                          <a:latin typeface="微软雅黑"/>
                        </a:rPr>
                        <a:t>9.73</a:t>
                      </a:r>
                      <a:endParaRPr sz="1000" b="0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lnL w="6350">
                      <a:solidFill>
                        <a:srgbClr val="D5D5D5"/>
                      </a:solidFill>
                    </a:lnL>
                    <a:lnR w="6350">
                      <a:solidFill>
                        <a:srgbClr val="D5D5D5"/>
                      </a:solidFill>
                    </a:lnR>
                    <a:lnT w="6350">
                      <a:solidFill>
                        <a:srgbClr val="D5D5D5"/>
                      </a:solidFill>
                    </a:lnT>
                    <a:lnB w="6350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C00000"/>
                          </a:solidFill>
                          <a:latin typeface="微软雅黑"/>
                        </a:rPr>
                        <a:t>5.03</a:t>
                      </a:r>
                      <a:endParaRPr sz="1000" b="1">
                        <a:solidFill>
                          <a:srgbClr val="C00000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lnL w="6350">
                      <a:solidFill>
                        <a:srgbClr val="D5D5D5"/>
                      </a:solidFill>
                    </a:lnL>
                    <a:lnR w="6350">
                      <a:solidFill>
                        <a:srgbClr val="D5D5D5"/>
                      </a:solidFill>
                    </a:lnR>
                    <a:lnT w="6350">
                      <a:solidFill>
                        <a:srgbClr val="D5D5D5"/>
                      </a:solidFill>
                    </a:lnT>
                    <a:lnB w="6350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111"/>
                          </a:solidFill>
                          <a:latin typeface="微软雅黑"/>
                        </a:rPr>
                        <a:t>9.96</a:t>
                      </a:r>
                      <a:endParaRPr sz="1000" b="0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lnL w="6350">
                      <a:solidFill>
                        <a:srgbClr val="D5D5D5"/>
                      </a:solidFill>
                    </a:lnL>
                    <a:lnR w="6350">
                      <a:solidFill>
                        <a:srgbClr val="D5D5D5"/>
                      </a:solidFill>
                    </a:lnR>
                    <a:lnT w="6350">
                      <a:solidFill>
                        <a:srgbClr val="D5D5D5"/>
                      </a:solidFill>
                    </a:lnT>
                    <a:lnB w="6350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43122">
                <a:tc vMerge="1"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11111"/>
                          </a:solidFill>
                          <a:latin typeface="微软雅黑"/>
                        </a:rPr>
                        <a:t>P99</a:t>
                      </a:r>
                      <a:endParaRPr sz="900" b="0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lnL w="6350">
                      <a:solidFill>
                        <a:srgbClr val="D5D5D5"/>
                      </a:solidFill>
                    </a:lnL>
                    <a:lnR w="6350">
                      <a:solidFill>
                        <a:srgbClr val="D5D5D5"/>
                      </a:solidFill>
                    </a:lnR>
                    <a:lnT w="6350">
                      <a:solidFill>
                        <a:srgbClr val="D5D5D5"/>
                      </a:solidFill>
                    </a:lnT>
                    <a:lnB w="6350">
                      <a:solidFill>
                        <a:srgbClr val="D5D5D5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C00000"/>
                          </a:solidFill>
                          <a:latin typeface="微软雅黑"/>
                        </a:rPr>
                        <a:t>7.19</a:t>
                      </a:r>
                      <a:endParaRPr sz="1000" b="1">
                        <a:solidFill>
                          <a:srgbClr val="C00000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lnL w="6350">
                      <a:solidFill>
                        <a:srgbClr val="D5D5D5"/>
                      </a:solidFill>
                    </a:lnL>
                    <a:lnR w="6350">
                      <a:solidFill>
                        <a:srgbClr val="D5D5D5"/>
                      </a:solidFill>
                    </a:lnR>
                    <a:lnT w="6350">
                      <a:solidFill>
                        <a:srgbClr val="D5D5D5"/>
                      </a:solidFill>
                    </a:lnT>
                    <a:lnB w="6350">
                      <a:solidFill>
                        <a:srgbClr val="D5D5D5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111"/>
                          </a:solidFill>
                          <a:latin typeface="微软雅黑"/>
                        </a:rPr>
                        <a:t>14.32</a:t>
                      </a:r>
                      <a:endParaRPr sz="1000" b="0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lnL w="6350">
                      <a:solidFill>
                        <a:srgbClr val="D5D5D5"/>
                      </a:solidFill>
                    </a:lnL>
                    <a:lnR w="6350">
                      <a:solidFill>
                        <a:srgbClr val="D5D5D5"/>
                      </a:solidFill>
                    </a:lnR>
                    <a:lnT w="6350">
                      <a:solidFill>
                        <a:srgbClr val="D5D5D5"/>
                      </a:solidFill>
                    </a:lnT>
                    <a:lnB w="6350">
                      <a:solidFill>
                        <a:srgbClr val="D5D5D5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C00000"/>
                          </a:solidFill>
                          <a:latin typeface="微软雅黑"/>
                        </a:rPr>
                        <a:t>7.76</a:t>
                      </a:r>
                      <a:endParaRPr sz="1000" b="1">
                        <a:solidFill>
                          <a:srgbClr val="C00000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lnL w="6350">
                      <a:solidFill>
                        <a:srgbClr val="D5D5D5"/>
                      </a:solidFill>
                    </a:lnL>
                    <a:lnR w="6350">
                      <a:solidFill>
                        <a:srgbClr val="D5D5D5"/>
                      </a:solidFill>
                    </a:lnR>
                    <a:lnT w="6350">
                      <a:solidFill>
                        <a:srgbClr val="D5D5D5"/>
                      </a:solidFill>
                    </a:lnT>
                    <a:lnB w="6350">
                      <a:solidFill>
                        <a:srgbClr val="D5D5D5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111"/>
                          </a:solidFill>
                          <a:latin typeface="微软雅黑"/>
                        </a:rPr>
                        <a:t>14.54</a:t>
                      </a:r>
                      <a:endParaRPr sz="1000" b="0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lnL w="6350">
                      <a:solidFill>
                        <a:srgbClr val="D5D5D5"/>
                      </a:solidFill>
                    </a:lnL>
                    <a:lnR w="6350">
                      <a:solidFill>
                        <a:srgbClr val="D5D5D5"/>
                      </a:solidFill>
                    </a:lnR>
                    <a:lnT w="6350">
                      <a:solidFill>
                        <a:srgbClr val="D5D5D5"/>
                      </a:solidFill>
                    </a:lnT>
                    <a:lnB w="6350">
                      <a:solidFill>
                        <a:srgbClr val="D5D5D5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243122">
                <a:tc rowSpan="4"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111"/>
                          </a:solidFill>
                          <a:latin typeface="微软雅黑"/>
                        </a:rPr>
                        <a:t>4</a:t>
                      </a:r>
                      <a:endParaRPr sz="1000" b="1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lnL w="6350">
                      <a:solidFill>
                        <a:srgbClr val="D5D5D5"/>
                      </a:solidFill>
                    </a:lnL>
                    <a:lnR w="6350">
                      <a:solidFill>
                        <a:srgbClr val="D5D5D5"/>
                      </a:solidFill>
                    </a:lnR>
                    <a:lnT w="6350">
                      <a:solidFill>
                        <a:srgbClr val="D5D5D5"/>
                      </a:solidFill>
                    </a:lnT>
                    <a:lnB w="6350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11111"/>
                          </a:solidFill>
                          <a:latin typeface="微软雅黑"/>
                        </a:rPr>
                        <a:t>P25</a:t>
                      </a:r>
                      <a:endParaRPr sz="900" b="0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lnL w="6350">
                      <a:solidFill>
                        <a:srgbClr val="D5D5D5"/>
                      </a:solidFill>
                    </a:lnL>
                    <a:lnR w="6350">
                      <a:solidFill>
                        <a:srgbClr val="D5D5D5"/>
                      </a:solidFill>
                    </a:lnR>
                    <a:lnT w="6350">
                      <a:solidFill>
                        <a:srgbClr val="D5D5D5"/>
                      </a:solidFill>
                    </a:lnT>
                    <a:lnB w="6350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C00000"/>
                          </a:solidFill>
                          <a:latin typeface="微软雅黑"/>
                        </a:rPr>
                        <a:t>3.08</a:t>
                      </a:r>
                      <a:endParaRPr sz="1000" b="1">
                        <a:solidFill>
                          <a:srgbClr val="C00000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lnL w="6350">
                      <a:solidFill>
                        <a:srgbClr val="D5D5D5"/>
                      </a:solidFill>
                    </a:lnL>
                    <a:lnR w="6350">
                      <a:solidFill>
                        <a:srgbClr val="D5D5D5"/>
                      </a:solidFill>
                    </a:lnR>
                    <a:lnT w="6350">
                      <a:solidFill>
                        <a:srgbClr val="D5D5D5"/>
                      </a:solidFill>
                    </a:lnT>
                    <a:lnB w="6350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111"/>
                          </a:solidFill>
                          <a:latin typeface="微软雅黑"/>
                        </a:rPr>
                        <a:t>24.43</a:t>
                      </a:r>
                      <a:endParaRPr sz="1000" b="0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lnL w="6350">
                      <a:solidFill>
                        <a:srgbClr val="D5D5D5"/>
                      </a:solidFill>
                    </a:lnL>
                    <a:lnR w="6350">
                      <a:solidFill>
                        <a:srgbClr val="D5D5D5"/>
                      </a:solidFill>
                    </a:lnR>
                    <a:lnT w="6350">
                      <a:solidFill>
                        <a:srgbClr val="D5D5D5"/>
                      </a:solidFill>
                    </a:lnT>
                    <a:lnB w="6350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C00000"/>
                          </a:solidFill>
                          <a:latin typeface="微软雅黑"/>
                        </a:rPr>
                        <a:t>3.30</a:t>
                      </a:r>
                      <a:endParaRPr sz="1000" b="1">
                        <a:solidFill>
                          <a:srgbClr val="C00000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lnL w="6350">
                      <a:solidFill>
                        <a:srgbClr val="D5D5D5"/>
                      </a:solidFill>
                    </a:lnL>
                    <a:lnR w="6350">
                      <a:solidFill>
                        <a:srgbClr val="D5D5D5"/>
                      </a:solidFill>
                    </a:lnR>
                    <a:lnT w="6350">
                      <a:solidFill>
                        <a:srgbClr val="D5D5D5"/>
                      </a:solidFill>
                    </a:lnT>
                    <a:lnB w="6350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111"/>
                          </a:solidFill>
                          <a:latin typeface="微软雅黑"/>
                        </a:rPr>
                        <a:t>24.37</a:t>
                      </a:r>
                      <a:endParaRPr sz="1000" b="0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lnL w="6350">
                      <a:solidFill>
                        <a:srgbClr val="D5D5D5"/>
                      </a:solidFill>
                    </a:lnL>
                    <a:lnR w="6350">
                      <a:solidFill>
                        <a:srgbClr val="D5D5D5"/>
                      </a:solidFill>
                    </a:lnR>
                    <a:lnT w="6350">
                      <a:solidFill>
                        <a:srgbClr val="D5D5D5"/>
                      </a:solidFill>
                    </a:lnT>
                    <a:lnB w="6350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43122">
                <a:tc vMerge="1"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11111"/>
                          </a:solidFill>
                          <a:latin typeface="微软雅黑"/>
                        </a:rPr>
                        <a:t>P50</a:t>
                      </a:r>
                      <a:endParaRPr sz="900" b="0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lnL w="6350">
                      <a:solidFill>
                        <a:srgbClr val="D5D5D5"/>
                      </a:solidFill>
                    </a:lnL>
                    <a:lnR w="6350">
                      <a:solidFill>
                        <a:srgbClr val="D5D5D5"/>
                      </a:solidFill>
                    </a:lnR>
                    <a:lnT w="6350">
                      <a:solidFill>
                        <a:srgbClr val="D5D5D5"/>
                      </a:solidFill>
                    </a:lnT>
                    <a:lnB w="6350">
                      <a:solidFill>
                        <a:srgbClr val="D5D5D5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C00000"/>
                          </a:solidFill>
                          <a:latin typeface="微软雅黑"/>
                        </a:rPr>
                        <a:t>5.49</a:t>
                      </a:r>
                      <a:endParaRPr sz="1000" b="1">
                        <a:solidFill>
                          <a:srgbClr val="C00000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lnL w="6350">
                      <a:solidFill>
                        <a:srgbClr val="D5D5D5"/>
                      </a:solidFill>
                    </a:lnL>
                    <a:lnR w="6350">
                      <a:solidFill>
                        <a:srgbClr val="D5D5D5"/>
                      </a:solidFill>
                    </a:lnR>
                    <a:lnT w="6350">
                      <a:solidFill>
                        <a:srgbClr val="D5D5D5"/>
                      </a:solidFill>
                    </a:lnT>
                    <a:lnB w="6350">
                      <a:solidFill>
                        <a:srgbClr val="D5D5D5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111"/>
                          </a:solidFill>
                          <a:latin typeface="微软雅黑"/>
                        </a:rPr>
                        <a:t>39.44</a:t>
                      </a:r>
                      <a:endParaRPr sz="1000" b="0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lnL w="6350">
                      <a:solidFill>
                        <a:srgbClr val="D5D5D5"/>
                      </a:solidFill>
                    </a:lnL>
                    <a:lnR w="6350">
                      <a:solidFill>
                        <a:srgbClr val="D5D5D5"/>
                      </a:solidFill>
                    </a:lnR>
                    <a:lnT w="6350">
                      <a:solidFill>
                        <a:srgbClr val="D5D5D5"/>
                      </a:solidFill>
                    </a:lnT>
                    <a:lnB w="6350">
                      <a:solidFill>
                        <a:srgbClr val="D5D5D5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C00000"/>
                          </a:solidFill>
                          <a:latin typeface="微软雅黑"/>
                        </a:rPr>
                        <a:t>6.40</a:t>
                      </a:r>
                      <a:endParaRPr sz="1000" b="1">
                        <a:solidFill>
                          <a:srgbClr val="C00000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lnL w="6350">
                      <a:solidFill>
                        <a:srgbClr val="D5D5D5"/>
                      </a:solidFill>
                    </a:lnL>
                    <a:lnR w="6350">
                      <a:solidFill>
                        <a:srgbClr val="D5D5D5"/>
                      </a:solidFill>
                    </a:lnR>
                    <a:lnT w="6350">
                      <a:solidFill>
                        <a:srgbClr val="D5D5D5"/>
                      </a:solidFill>
                    </a:lnT>
                    <a:lnB w="6350">
                      <a:solidFill>
                        <a:srgbClr val="D5D5D5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111"/>
                          </a:solidFill>
                          <a:latin typeface="微软雅黑"/>
                        </a:rPr>
                        <a:t>36.35</a:t>
                      </a:r>
                      <a:endParaRPr sz="1000" b="0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lnL w="6350">
                      <a:solidFill>
                        <a:srgbClr val="D5D5D5"/>
                      </a:solidFill>
                    </a:lnL>
                    <a:lnR w="6350">
                      <a:solidFill>
                        <a:srgbClr val="D5D5D5"/>
                      </a:solidFill>
                    </a:lnR>
                    <a:lnT w="6350">
                      <a:solidFill>
                        <a:srgbClr val="D5D5D5"/>
                      </a:solidFill>
                    </a:lnT>
                    <a:lnB w="6350">
                      <a:solidFill>
                        <a:srgbClr val="D5D5D5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243122">
                <a:tc vMerge="1"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11111"/>
                          </a:solidFill>
                          <a:latin typeface="微软雅黑"/>
                        </a:rPr>
                        <a:t>P90</a:t>
                      </a:r>
                      <a:endParaRPr sz="900" b="0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lnL w="6350">
                      <a:solidFill>
                        <a:srgbClr val="D5D5D5"/>
                      </a:solidFill>
                    </a:lnL>
                    <a:lnR w="6350">
                      <a:solidFill>
                        <a:srgbClr val="D5D5D5"/>
                      </a:solidFill>
                    </a:lnR>
                    <a:lnT w="6350">
                      <a:solidFill>
                        <a:srgbClr val="D5D5D5"/>
                      </a:solidFill>
                    </a:lnT>
                    <a:lnB w="6350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C00000"/>
                          </a:solidFill>
                          <a:latin typeface="微软雅黑"/>
                        </a:rPr>
                        <a:t>11.01</a:t>
                      </a:r>
                      <a:endParaRPr sz="1000" b="1">
                        <a:solidFill>
                          <a:srgbClr val="C00000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lnL w="6350">
                      <a:solidFill>
                        <a:srgbClr val="D5D5D5"/>
                      </a:solidFill>
                    </a:lnL>
                    <a:lnR w="6350">
                      <a:solidFill>
                        <a:srgbClr val="D5D5D5"/>
                      </a:solidFill>
                    </a:lnR>
                    <a:lnT w="6350">
                      <a:solidFill>
                        <a:srgbClr val="D5D5D5"/>
                      </a:solidFill>
                    </a:lnT>
                    <a:lnB w="6350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111"/>
                          </a:solidFill>
                          <a:latin typeface="微软雅黑"/>
                        </a:rPr>
                        <a:t>65.84</a:t>
                      </a:r>
                      <a:endParaRPr sz="1000" b="0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lnL w="6350">
                      <a:solidFill>
                        <a:srgbClr val="D5D5D5"/>
                      </a:solidFill>
                    </a:lnL>
                    <a:lnR w="6350">
                      <a:solidFill>
                        <a:srgbClr val="D5D5D5"/>
                      </a:solidFill>
                    </a:lnR>
                    <a:lnT w="6350">
                      <a:solidFill>
                        <a:srgbClr val="D5D5D5"/>
                      </a:solidFill>
                    </a:lnT>
                    <a:lnB w="6350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C00000"/>
                          </a:solidFill>
                          <a:latin typeface="微软雅黑"/>
                        </a:rPr>
                        <a:t>12.02</a:t>
                      </a:r>
                      <a:endParaRPr sz="1000" b="1">
                        <a:solidFill>
                          <a:srgbClr val="C00000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lnL w="6350">
                      <a:solidFill>
                        <a:srgbClr val="D5D5D5"/>
                      </a:solidFill>
                    </a:lnL>
                    <a:lnR w="6350">
                      <a:solidFill>
                        <a:srgbClr val="D5D5D5"/>
                      </a:solidFill>
                    </a:lnR>
                    <a:lnT w="6350">
                      <a:solidFill>
                        <a:srgbClr val="D5D5D5"/>
                      </a:solidFill>
                    </a:lnT>
                    <a:lnB w="6350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111"/>
                          </a:solidFill>
                          <a:latin typeface="微软雅黑"/>
                        </a:rPr>
                        <a:t>58.09</a:t>
                      </a:r>
                      <a:endParaRPr sz="1000" b="0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lnL w="6350">
                      <a:solidFill>
                        <a:srgbClr val="D5D5D5"/>
                      </a:solidFill>
                    </a:lnL>
                    <a:lnR w="6350">
                      <a:solidFill>
                        <a:srgbClr val="D5D5D5"/>
                      </a:solidFill>
                    </a:lnR>
                    <a:lnT w="6350">
                      <a:solidFill>
                        <a:srgbClr val="D5D5D5"/>
                      </a:solidFill>
                    </a:lnT>
                    <a:lnB w="6350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43122">
                <a:tc vMerge="1"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11111"/>
                          </a:solidFill>
                          <a:latin typeface="微软雅黑"/>
                        </a:rPr>
                        <a:t>P99</a:t>
                      </a:r>
                      <a:endParaRPr sz="900" b="0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lnL w="6350">
                      <a:solidFill>
                        <a:srgbClr val="D5D5D5"/>
                      </a:solidFill>
                    </a:lnL>
                    <a:lnR w="6350">
                      <a:solidFill>
                        <a:srgbClr val="D5D5D5"/>
                      </a:solidFill>
                    </a:lnR>
                    <a:lnT w="6350">
                      <a:solidFill>
                        <a:srgbClr val="D5D5D5"/>
                      </a:solidFill>
                    </a:lnT>
                    <a:lnB w="6350">
                      <a:solidFill>
                        <a:srgbClr val="D5D5D5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C00000"/>
                          </a:solidFill>
                          <a:latin typeface="微软雅黑"/>
                        </a:rPr>
                        <a:t>15.16</a:t>
                      </a:r>
                      <a:endParaRPr sz="1000" b="1">
                        <a:solidFill>
                          <a:srgbClr val="C00000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lnL w="6350">
                      <a:solidFill>
                        <a:srgbClr val="D5D5D5"/>
                      </a:solidFill>
                    </a:lnL>
                    <a:lnR w="6350">
                      <a:solidFill>
                        <a:srgbClr val="D5D5D5"/>
                      </a:solidFill>
                    </a:lnR>
                    <a:lnT w="6350">
                      <a:solidFill>
                        <a:srgbClr val="D5D5D5"/>
                      </a:solidFill>
                    </a:lnT>
                    <a:lnB w="6350">
                      <a:solidFill>
                        <a:srgbClr val="D5D5D5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111"/>
                          </a:solidFill>
                          <a:latin typeface="微软雅黑"/>
                        </a:rPr>
                        <a:t>79.74</a:t>
                      </a:r>
                      <a:endParaRPr sz="1000" b="0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lnL w="6350">
                      <a:solidFill>
                        <a:srgbClr val="D5D5D5"/>
                      </a:solidFill>
                    </a:lnL>
                    <a:lnR w="6350">
                      <a:solidFill>
                        <a:srgbClr val="D5D5D5"/>
                      </a:solidFill>
                    </a:lnR>
                    <a:lnT w="6350">
                      <a:solidFill>
                        <a:srgbClr val="D5D5D5"/>
                      </a:solidFill>
                    </a:lnT>
                    <a:lnB w="6350">
                      <a:solidFill>
                        <a:srgbClr val="D5D5D5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C00000"/>
                          </a:solidFill>
                          <a:latin typeface="微软雅黑"/>
                        </a:rPr>
                        <a:t>16.87</a:t>
                      </a:r>
                      <a:endParaRPr sz="1000" b="1">
                        <a:solidFill>
                          <a:srgbClr val="C00000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lnL w="6350">
                      <a:solidFill>
                        <a:srgbClr val="D5D5D5"/>
                      </a:solidFill>
                    </a:lnL>
                    <a:lnR w="6350">
                      <a:solidFill>
                        <a:srgbClr val="D5D5D5"/>
                      </a:solidFill>
                    </a:lnR>
                    <a:lnT w="6350">
                      <a:solidFill>
                        <a:srgbClr val="D5D5D5"/>
                      </a:solidFill>
                    </a:lnT>
                    <a:lnB w="6350">
                      <a:solidFill>
                        <a:srgbClr val="D5D5D5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111"/>
                          </a:solidFill>
                          <a:latin typeface="微软雅黑"/>
                        </a:rPr>
                        <a:t>67.37</a:t>
                      </a:r>
                      <a:endParaRPr sz="1000" b="0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lnL w="6350">
                      <a:solidFill>
                        <a:srgbClr val="D5D5D5"/>
                      </a:solidFill>
                    </a:lnL>
                    <a:lnR w="6350">
                      <a:solidFill>
                        <a:srgbClr val="D5D5D5"/>
                      </a:solidFill>
                    </a:lnR>
                    <a:lnT w="6350">
                      <a:solidFill>
                        <a:srgbClr val="D5D5D5"/>
                      </a:solidFill>
                    </a:lnT>
                    <a:lnB w="6350">
                      <a:solidFill>
                        <a:srgbClr val="D5D5D5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243122">
                <a:tc rowSpan="4"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111"/>
                          </a:solidFill>
                          <a:latin typeface="微软雅黑"/>
                        </a:rPr>
                        <a:t>5</a:t>
                      </a:r>
                      <a:endParaRPr sz="1000" b="1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lnL w="6350">
                      <a:solidFill>
                        <a:srgbClr val="D5D5D5"/>
                      </a:solidFill>
                    </a:lnL>
                    <a:lnR w="6350">
                      <a:solidFill>
                        <a:srgbClr val="D5D5D5"/>
                      </a:solidFill>
                    </a:lnR>
                    <a:lnT w="6350">
                      <a:solidFill>
                        <a:srgbClr val="D5D5D5"/>
                      </a:solidFill>
                    </a:lnT>
                    <a:lnB w="6350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11111"/>
                          </a:solidFill>
                          <a:latin typeface="微软雅黑"/>
                        </a:rPr>
                        <a:t>P25</a:t>
                      </a:r>
                      <a:endParaRPr sz="900" b="0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lnL w="6350">
                      <a:solidFill>
                        <a:srgbClr val="D5D5D5"/>
                      </a:solidFill>
                    </a:lnL>
                    <a:lnR w="6350">
                      <a:solidFill>
                        <a:srgbClr val="D5D5D5"/>
                      </a:solidFill>
                    </a:lnR>
                    <a:lnT w="6350">
                      <a:solidFill>
                        <a:srgbClr val="D5D5D5"/>
                      </a:solidFill>
                    </a:lnT>
                    <a:lnB w="6350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C00000"/>
                          </a:solidFill>
                          <a:latin typeface="微软雅黑"/>
                        </a:rPr>
                        <a:t>21.34</a:t>
                      </a:r>
                      <a:endParaRPr sz="1000" b="1">
                        <a:solidFill>
                          <a:srgbClr val="C00000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lnL w="6350">
                      <a:solidFill>
                        <a:srgbClr val="D5D5D5"/>
                      </a:solidFill>
                    </a:lnL>
                    <a:lnR w="6350">
                      <a:solidFill>
                        <a:srgbClr val="D5D5D5"/>
                      </a:solidFill>
                    </a:lnR>
                    <a:lnT w="6350">
                      <a:solidFill>
                        <a:srgbClr val="D5D5D5"/>
                      </a:solidFill>
                    </a:lnT>
                    <a:lnB w="6350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111"/>
                          </a:solidFill>
                          <a:latin typeface="微软雅黑"/>
                        </a:rPr>
                        <a:t>42.59</a:t>
                      </a:r>
                      <a:endParaRPr sz="1000" b="0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lnL w="6350">
                      <a:solidFill>
                        <a:srgbClr val="D5D5D5"/>
                      </a:solidFill>
                    </a:lnL>
                    <a:lnR w="6350">
                      <a:solidFill>
                        <a:srgbClr val="D5D5D5"/>
                      </a:solidFill>
                    </a:lnR>
                    <a:lnT w="6350">
                      <a:solidFill>
                        <a:srgbClr val="D5D5D5"/>
                      </a:solidFill>
                    </a:lnT>
                    <a:lnB w="6350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C00000"/>
                          </a:solidFill>
                          <a:latin typeface="微软雅黑"/>
                        </a:rPr>
                        <a:t>20.52</a:t>
                      </a:r>
                      <a:endParaRPr sz="1000" b="1">
                        <a:solidFill>
                          <a:srgbClr val="C00000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lnL w="6350">
                      <a:solidFill>
                        <a:srgbClr val="D5D5D5"/>
                      </a:solidFill>
                    </a:lnL>
                    <a:lnR w="6350">
                      <a:solidFill>
                        <a:srgbClr val="D5D5D5"/>
                      </a:solidFill>
                    </a:lnR>
                    <a:lnT w="6350">
                      <a:solidFill>
                        <a:srgbClr val="D5D5D5"/>
                      </a:solidFill>
                    </a:lnT>
                    <a:lnB w="6350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111"/>
                          </a:solidFill>
                          <a:latin typeface="微软雅黑"/>
                        </a:rPr>
                        <a:t>39.91</a:t>
                      </a:r>
                      <a:endParaRPr sz="1000" b="0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lnL w="6350">
                      <a:solidFill>
                        <a:srgbClr val="D5D5D5"/>
                      </a:solidFill>
                    </a:lnL>
                    <a:lnR w="6350">
                      <a:solidFill>
                        <a:srgbClr val="D5D5D5"/>
                      </a:solidFill>
                    </a:lnR>
                    <a:lnT w="6350">
                      <a:solidFill>
                        <a:srgbClr val="D5D5D5"/>
                      </a:solidFill>
                    </a:lnT>
                    <a:lnB w="6350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43122">
                <a:tc vMerge="1"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11111"/>
                          </a:solidFill>
                          <a:latin typeface="微软雅黑"/>
                        </a:rPr>
                        <a:t>P50</a:t>
                      </a:r>
                      <a:endParaRPr sz="900" b="0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lnL w="6350">
                      <a:solidFill>
                        <a:srgbClr val="D5D5D5"/>
                      </a:solidFill>
                    </a:lnL>
                    <a:lnR w="6350">
                      <a:solidFill>
                        <a:srgbClr val="D5D5D5"/>
                      </a:solidFill>
                    </a:lnR>
                    <a:lnT w="6350">
                      <a:solidFill>
                        <a:srgbClr val="D5D5D5"/>
                      </a:solidFill>
                    </a:lnT>
                    <a:lnB w="6350">
                      <a:solidFill>
                        <a:srgbClr val="D5D5D5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C00000"/>
                          </a:solidFill>
                          <a:latin typeface="微软雅黑"/>
                        </a:rPr>
                        <a:t>32.69</a:t>
                      </a:r>
                      <a:endParaRPr sz="1000" b="1">
                        <a:solidFill>
                          <a:srgbClr val="C00000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lnL w="6350">
                      <a:solidFill>
                        <a:srgbClr val="D5D5D5"/>
                      </a:solidFill>
                    </a:lnL>
                    <a:lnR w="6350">
                      <a:solidFill>
                        <a:srgbClr val="D5D5D5"/>
                      </a:solidFill>
                    </a:lnR>
                    <a:lnT w="6350">
                      <a:solidFill>
                        <a:srgbClr val="D5D5D5"/>
                      </a:solidFill>
                    </a:lnT>
                    <a:lnB w="6350">
                      <a:solidFill>
                        <a:srgbClr val="D5D5D5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111"/>
                          </a:solidFill>
                          <a:latin typeface="微软雅黑"/>
                        </a:rPr>
                        <a:t>74.27</a:t>
                      </a:r>
                      <a:endParaRPr sz="1000" b="0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lnL w="6350">
                      <a:solidFill>
                        <a:srgbClr val="D5D5D5"/>
                      </a:solidFill>
                    </a:lnL>
                    <a:lnR w="6350">
                      <a:solidFill>
                        <a:srgbClr val="D5D5D5"/>
                      </a:solidFill>
                    </a:lnR>
                    <a:lnT w="6350">
                      <a:solidFill>
                        <a:srgbClr val="D5D5D5"/>
                      </a:solidFill>
                    </a:lnT>
                    <a:lnB w="6350">
                      <a:solidFill>
                        <a:srgbClr val="D5D5D5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C00000"/>
                          </a:solidFill>
                          <a:latin typeface="微软雅黑"/>
                        </a:rPr>
                        <a:t>31.45</a:t>
                      </a:r>
                      <a:endParaRPr sz="1000" b="1">
                        <a:solidFill>
                          <a:srgbClr val="C00000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lnL w="6350">
                      <a:solidFill>
                        <a:srgbClr val="D5D5D5"/>
                      </a:solidFill>
                    </a:lnL>
                    <a:lnR w="6350">
                      <a:solidFill>
                        <a:srgbClr val="D5D5D5"/>
                      </a:solidFill>
                    </a:lnR>
                    <a:lnT w="6350">
                      <a:solidFill>
                        <a:srgbClr val="D5D5D5"/>
                      </a:solidFill>
                    </a:lnT>
                    <a:lnB w="6350">
                      <a:solidFill>
                        <a:srgbClr val="D5D5D5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111"/>
                          </a:solidFill>
                          <a:latin typeface="微软雅黑"/>
                        </a:rPr>
                        <a:t>69.76</a:t>
                      </a:r>
                      <a:endParaRPr sz="1000" b="0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lnL w="6350">
                      <a:solidFill>
                        <a:srgbClr val="D5D5D5"/>
                      </a:solidFill>
                    </a:lnL>
                    <a:lnR w="6350">
                      <a:solidFill>
                        <a:srgbClr val="D5D5D5"/>
                      </a:solidFill>
                    </a:lnR>
                    <a:lnT w="6350">
                      <a:solidFill>
                        <a:srgbClr val="D5D5D5"/>
                      </a:solidFill>
                    </a:lnT>
                    <a:lnB w="6350">
                      <a:solidFill>
                        <a:srgbClr val="D5D5D5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243122">
                <a:tc vMerge="1"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11111"/>
                          </a:solidFill>
                          <a:latin typeface="微软雅黑"/>
                        </a:rPr>
                        <a:t>P90</a:t>
                      </a:r>
                      <a:endParaRPr sz="900" b="0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lnL w="6350">
                      <a:solidFill>
                        <a:srgbClr val="D5D5D5"/>
                      </a:solidFill>
                    </a:lnL>
                    <a:lnR w="6350">
                      <a:solidFill>
                        <a:srgbClr val="D5D5D5"/>
                      </a:solidFill>
                    </a:lnR>
                    <a:lnT w="6350">
                      <a:solidFill>
                        <a:srgbClr val="D5D5D5"/>
                      </a:solidFill>
                    </a:lnT>
                    <a:lnB w="6350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C00000"/>
                          </a:solidFill>
                          <a:latin typeface="微软雅黑"/>
                        </a:rPr>
                        <a:t>53.19</a:t>
                      </a:r>
                      <a:endParaRPr sz="1000" b="1">
                        <a:solidFill>
                          <a:srgbClr val="C00000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lnL w="6350">
                      <a:solidFill>
                        <a:srgbClr val="D5D5D5"/>
                      </a:solidFill>
                    </a:lnL>
                    <a:lnR w="6350">
                      <a:solidFill>
                        <a:srgbClr val="D5D5D5"/>
                      </a:solidFill>
                    </a:lnR>
                    <a:lnT w="6350">
                      <a:solidFill>
                        <a:srgbClr val="D5D5D5"/>
                      </a:solidFill>
                    </a:lnT>
                    <a:lnB w="6350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111"/>
                          </a:solidFill>
                          <a:latin typeface="微软雅黑"/>
                        </a:rPr>
                        <a:t>132.46</a:t>
                      </a:r>
                      <a:endParaRPr sz="1000" b="0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lnL w="6350">
                      <a:solidFill>
                        <a:srgbClr val="D5D5D5"/>
                      </a:solidFill>
                    </a:lnL>
                    <a:lnR w="6350">
                      <a:solidFill>
                        <a:srgbClr val="D5D5D5"/>
                      </a:solidFill>
                    </a:lnR>
                    <a:lnT w="6350">
                      <a:solidFill>
                        <a:srgbClr val="D5D5D5"/>
                      </a:solidFill>
                    </a:lnT>
                    <a:lnB w="6350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C00000"/>
                          </a:solidFill>
                          <a:latin typeface="微软雅黑"/>
                        </a:rPr>
                        <a:t>49.66</a:t>
                      </a:r>
                      <a:endParaRPr sz="1000" b="1">
                        <a:solidFill>
                          <a:srgbClr val="C00000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lnL w="6350">
                      <a:solidFill>
                        <a:srgbClr val="D5D5D5"/>
                      </a:solidFill>
                    </a:lnL>
                    <a:lnR w="6350">
                      <a:solidFill>
                        <a:srgbClr val="D5D5D5"/>
                      </a:solidFill>
                    </a:lnR>
                    <a:lnT w="6350">
                      <a:solidFill>
                        <a:srgbClr val="D5D5D5"/>
                      </a:solidFill>
                    </a:lnT>
                    <a:lnB w="6350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111"/>
                          </a:solidFill>
                          <a:latin typeface="微软雅黑"/>
                        </a:rPr>
                        <a:t>120.12</a:t>
                      </a:r>
                      <a:endParaRPr sz="1000" b="0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lnL w="6350">
                      <a:solidFill>
                        <a:srgbClr val="D5D5D5"/>
                      </a:solidFill>
                    </a:lnL>
                    <a:lnR w="6350">
                      <a:solidFill>
                        <a:srgbClr val="D5D5D5"/>
                      </a:solidFill>
                    </a:lnR>
                    <a:lnT w="6350">
                      <a:solidFill>
                        <a:srgbClr val="D5D5D5"/>
                      </a:solidFill>
                    </a:lnT>
                    <a:lnB w="6350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43135">
                <a:tc vMerge="1"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11111"/>
                          </a:solidFill>
                          <a:latin typeface="微软雅黑"/>
                        </a:rPr>
                        <a:t>P99</a:t>
                      </a:r>
                      <a:endParaRPr sz="900" b="0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lnL w="6350">
                      <a:solidFill>
                        <a:srgbClr val="D5D5D5"/>
                      </a:solidFill>
                    </a:lnL>
                    <a:lnR w="6350">
                      <a:solidFill>
                        <a:srgbClr val="D5D5D5"/>
                      </a:solidFill>
                    </a:lnR>
                    <a:lnT w="6350">
                      <a:solidFill>
                        <a:srgbClr val="D5D5D5"/>
                      </a:solidFill>
                    </a:lnT>
                    <a:lnB w="6350">
                      <a:solidFill>
                        <a:srgbClr val="D5D5D5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C00000"/>
                          </a:solidFill>
                          <a:latin typeface="微软雅黑"/>
                        </a:rPr>
                        <a:t>69.68</a:t>
                      </a:r>
                      <a:endParaRPr sz="1000" b="1">
                        <a:solidFill>
                          <a:srgbClr val="C00000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lnL w="6350">
                      <a:solidFill>
                        <a:srgbClr val="D5D5D5"/>
                      </a:solidFill>
                    </a:lnL>
                    <a:lnR w="6350">
                      <a:solidFill>
                        <a:srgbClr val="D5D5D5"/>
                      </a:solidFill>
                    </a:lnR>
                    <a:lnT w="6350">
                      <a:solidFill>
                        <a:srgbClr val="D5D5D5"/>
                      </a:solidFill>
                    </a:lnT>
                    <a:lnB w="6350">
                      <a:solidFill>
                        <a:srgbClr val="D5D5D5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111"/>
                          </a:solidFill>
                          <a:latin typeface="微软雅黑"/>
                        </a:rPr>
                        <a:t>156.28</a:t>
                      </a:r>
                      <a:endParaRPr sz="1000" b="0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lnL w="6350">
                      <a:solidFill>
                        <a:srgbClr val="D5D5D5"/>
                      </a:solidFill>
                    </a:lnL>
                    <a:lnR w="6350">
                      <a:solidFill>
                        <a:srgbClr val="D5D5D5"/>
                      </a:solidFill>
                    </a:lnR>
                    <a:lnT w="6350">
                      <a:solidFill>
                        <a:srgbClr val="D5D5D5"/>
                      </a:solidFill>
                    </a:lnT>
                    <a:lnB w="6350">
                      <a:solidFill>
                        <a:srgbClr val="D5D5D5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C00000"/>
                          </a:solidFill>
                          <a:latin typeface="微软雅黑"/>
                        </a:rPr>
                        <a:t>63.19</a:t>
                      </a:r>
                      <a:endParaRPr sz="1000" b="1">
                        <a:solidFill>
                          <a:srgbClr val="C00000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lnL w="6350">
                      <a:solidFill>
                        <a:srgbClr val="D5D5D5"/>
                      </a:solidFill>
                    </a:lnL>
                    <a:lnR w="6350">
                      <a:solidFill>
                        <a:srgbClr val="D5D5D5"/>
                      </a:solidFill>
                    </a:lnR>
                    <a:lnT w="6350">
                      <a:solidFill>
                        <a:srgbClr val="D5D5D5"/>
                      </a:solidFill>
                    </a:lnT>
                    <a:lnB w="6350">
                      <a:solidFill>
                        <a:srgbClr val="D5D5D5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dirty="0">
                          <a:solidFill>
                            <a:srgbClr val="111111"/>
                          </a:solidFill>
                          <a:latin typeface="微软雅黑"/>
                        </a:rPr>
                        <a:t>143.61</a:t>
                      </a:r>
                      <a:endParaRPr sz="1000" b="0" dirty="0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lnL w="6350">
                      <a:solidFill>
                        <a:srgbClr val="D5D5D5"/>
                      </a:solidFill>
                    </a:lnL>
                    <a:lnR w="6350">
                      <a:solidFill>
                        <a:srgbClr val="D5D5D5"/>
                      </a:solidFill>
                    </a:lnR>
                    <a:lnT w="6350">
                      <a:solidFill>
                        <a:srgbClr val="D5D5D5"/>
                      </a:solidFill>
                    </a:lnT>
                    <a:lnB w="6350">
                      <a:solidFill>
                        <a:srgbClr val="D5D5D5"/>
                      </a:solidFill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904" y="210312"/>
            <a:ext cx="10058400" cy="1920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825" b="1">
                <a:solidFill>
                  <a:srgbClr val="898989"/>
                </a:solidFill>
                <a:latin typeface="微软雅黑"/>
                <a:ea typeface="微软雅黑"/>
              </a:rPr>
              <a:t>实验一｜256 会话 · 9,078 请求 · C16｜Prefix-on</a:t>
            </a:r>
          </a:p>
        </p:txBody>
      </p:sp>
      <p:sp>
        <p:nvSpPr>
          <p:cNvPr id="3" name="benefit-title"/>
          <p:cNvSpPr txBox="1"/>
          <p:nvPr/>
        </p:nvSpPr>
        <p:spPr>
          <a:xfrm>
            <a:off x="609904" y="420624"/>
            <a:ext cx="10972800" cy="44805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2150" b="1">
                <a:solidFill>
                  <a:srgbClr val="C00000"/>
                </a:solidFill>
                <a:latin typeface="微软雅黑"/>
                <a:ea typeface="微软雅黑"/>
              </a:rPr>
              <a:t>多轮长上下文：256 个完整会话，9,078 个请求</a:t>
            </a:r>
          </a:p>
        </p:txBody>
      </p:sp>
      <p:sp>
        <p:nvSpPr>
          <p:cNvPr id="4" name="Rectangle 3"/>
          <p:cNvSpPr/>
          <p:nvPr/>
        </p:nvSpPr>
        <p:spPr>
          <a:xfrm>
            <a:off x="609904" y="914400"/>
            <a:ext cx="1426464" cy="2926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904" y="1028700"/>
            <a:ext cx="10972800" cy="400507"/>
          </a:xfrm>
          <a:prstGeom prst="rect">
            <a:avLst/>
          </a:prstGeom>
          <a:solidFill>
            <a:srgbClr val="F5F5F5"/>
          </a:solidFill>
          <a:ln w="762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101852"/>
            <a:ext cx="2468880" cy="24688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234CA5"/>
                </a:solidFill>
                <a:latin typeface="微软雅黑"/>
                <a:ea typeface="微软雅黑"/>
              </a:rPr>
              <a:t>模型：dsv4-flash W4A8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54680" y="1101852"/>
            <a:ext cx="5806440" cy="24688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528A00"/>
                </a:solidFill>
                <a:latin typeface="微软雅黑"/>
                <a:ea typeface="微软雅黑"/>
              </a:rPr>
              <a:t>真实会话历史｜相同输入｜每轮输出 1 token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89720" y="1101852"/>
            <a:ext cx="2194560" cy="24688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975" b="1">
                <a:solidFill>
                  <a:srgbClr val="F06A00"/>
                </a:solidFill>
                <a:latin typeface="微软雅黑"/>
                <a:ea typeface="微软雅黑"/>
              </a:rPr>
              <a:t>硬件：Ascend 910C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56248"/>
            <a:ext cx="320040" cy="16459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777777"/>
                </a:solidFill>
                <a:latin typeface="微软雅黑"/>
                <a:ea typeface="微软雅黑"/>
              </a:rPr>
              <a:t>40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627632"/>
            <a:ext cx="5577840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222222"/>
                </a:solidFill>
                <a:latin typeface="微软雅黑"/>
                <a:ea typeface="微软雅黑"/>
              </a:rPr>
              <a:t>请求输入长度分布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649224" y="2084831"/>
          <a:ext cx="5596128" cy="2779776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777240" y="4937760"/>
            <a:ext cx="5394960" cy="5029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22222"/>
                </a:solidFill>
                <a:latin typeface="微软雅黑"/>
                <a:ea typeface="微软雅黑"/>
              </a:rPr>
              <a:t>输入长度中位数 77,400 tokens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22222"/>
                </a:solidFill>
                <a:latin typeface="微软雅黑"/>
                <a:ea typeface="微软雅黑"/>
              </a:rPr>
              <a:t>最大 235,936 tokens；K=1,024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1627632"/>
            <a:ext cx="5029200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222222"/>
                </a:solidFill>
                <a:latin typeface="微软雅黑"/>
                <a:ea typeface="微软雅黑"/>
              </a:rPr>
              <a:t>数据与回放设置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6519672" y="2048256"/>
          <a:ext cx="5056632" cy="3008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8488"/>
                <a:gridCol w="3438144"/>
              </a:tblGrid>
              <a:tr h="42976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30" b="1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测试项目</a:t>
                      </a:r>
                    </a:p>
                  </a:txBody>
                  <a:tcPr marL="45720" marR="45720" marT="27432" marB="27432" anchor="ctr">
                    <a:solidFill>
                      <a:srgbClr val="EDEDED"/>
                    </a:solidFill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30" b="1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配置</a:t>
                      </a:r>
                    </a:p>
                  </a:txBody>
                  <a:tcPr marL="45720" marR="45720" marT="27432" marB="27432" anchor="ctr">
                    <a:solidFill>
                      <a:srgbClr val="EDEDED"/>
                    </a:solidFill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3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数据来源</a:t>
                      </a:r>
                    </a:p>
                  </a:txBody>
                  <a:tcPr marL="45720" marR="45720" marT="27432" marB="27432" anchor="ctr">
                    <a:solidFill>
                      <a:srgbClr val="F8F8F8"/>
                    </a:solidFill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3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用户提供的多轮代码任务会话</a:t>
                      </a:r>
                    </a:p>
                  </a:txBody>
                  <a:tcPr marL="45720" marR="45720" marT="27432" marB="27432" anchor="ctr">
                    <a:solidFill>
                      <a:srgbClr val="F8F8F8"/>
                    </a:solidFill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3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完整会话 / 请求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3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256 / 9,078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3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平均轮次</a:t>
                      </a:r>
                    </a:p>
                  </a:txBody>
                  <a:tcPr marL="45720" marR="45720" marT="27432" marB="27432" anchor="ctr">
                    <a:solidFill>
                      <a:srgbClr val="F8F8F8"/>
                    </a:solidFill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3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35.46 轮 / 会话</a:t>
                      </a:r>
                    </a:p>
                  </a:txBody>
                  <a:tcPr marL="45720" marR="45720" marT="27432" marB="27432" anchor="ctr">
                    <a:solidFill>
                      <a:srgbClr val="F8F8F8"/>
                    </a:solidFill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3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累计输入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3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748.75 百万 tokens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3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每轮输出</a:t>
                      </a:r>
                    </a:p>
                  </a:txBody>
                  <a:tcPr marL="45720" marR="45720" marT="27432" marB="27432" anchor="ctr">
                    <a:solidFill>
                      <a:srgbClr val="F8F8F8"/>
                    </a:solidFill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3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1 token</a:t>
                      </a:r>
                    </a:p>
                  </a:txBody>
                  <a:tcPr marL="45720" marR="45720" marT="27432" marB="27432" anchor="ctr">
                    <a:solidFill>
                      <a:srgbClr val="F8F8F8"/>
                    </a:solidFill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3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测试起点 / 次数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3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冷缓存 / 每配置完整回放 1 次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5" name="Rectangle 14"/>
          <p:cNvSpPr/>
          <p:nvPr/>
        </p:nvSpPr>
        <p:spPr>
          <a:xfrm>
            <a:off x="621792" y="5650992"/>
            <a:ext cx="10954512" cy="548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" y="5769864"/>
            <a:ext cx="10570464" cy="3200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C00000"/>
                </a:solidFill>
                <a:latin typeface="微软雅黑"/>
                <a:ea typeface="微软雅黑"/>
              </a:rPr>
              <a:t>保留全部轮次与原始历史；各组使用相同输入，本轮生成不回填下一轮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" y="6327648"/>
            <a:ext cx="1088136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919" b="0">
                <a:solidFill>
                  <a:srgbClr val="666666"/>
                </a:solidFill>
                <a:latin typeface="微软雅黑"/>
                <a:ea typeface="微软雅黑"/>
              </a:rPr>
              <a:t>测试范围：长历史输入的 prefill 与缓存复用；输出固定 1 token，不含完整 Agent 生成与工具执行。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904" y="210312"/>
            <a:ext cx="10058400" cy="1920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825" b="1">
                <a:solidFill>
                  <a:srgbClr val="898989"/>
                </a:solidFill>
                <a:latin typeface="微软雅黑"/>
                <a:ea typeface="微软雅黑"/>
              </a:rPr>
              <a:t>实验一｜256 会话 · 9,078 请求 · C16｜Prefix-on</a:t>
            </a:r>
          </a:p>
        </p:txBody>
      </p:sp>
      <p:sp>
        <p:nvSpPr>
          <p:cNvPr id="3" name="benefit-title"/>
          <p:cNvSpPr txBox="1"/>
          <p:nvPr/>
        </p:nvSpPr>
        <p:spPr>
          <a:xfrm>
            <a:off x="609904" y="420624"/>
            <a:ext cx="10972800" cy="44805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2150" b="1">
                <a:solidFill>
                  <a:srgbClr val="C00000"/>
                </a:solidFill>
                <a:latin typeface="微软雅黑"/>
                <a:ea typeface="微软雅黑"/>
              </a:rPr>
              <a:t>会话内顺序执行，会话间并行；全局最多 16 个在途请求</a:t>
            </a:r>
          </a:p>
        </p:txBody>
      </p:sp>
      <p:sp>
        <p:nvSpPr>
          <p:cNvPr id="4" name="Rectangle 3"/>
          <p:cNvSpPr/>
          <p:nvPr/>
        </p:nvSpPr>
        <p:spPr>
          <a:xfrm>
            <a:off x="609904" y="914400"/>
            <a:ext cx="1426464" cy="2926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904" y="1028700"/>
            <a:ext cx="10972800" cy="400507"/>
          </a:xfrm>
          <a:prstGeom prst="rect">
            <a:avLst/>
          </a:prstGeom>
          <a:solidFill>
            <a:srgbClr val="F5F5F5"/>
          </a:solidFill>
          <a:ln w="762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101852"/>
            <a:ext cx="2468880" cy="24688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234CA5"/>
                </a:solidFill>
                <a:latin typeface="微软雅黑"/>
                <a:ea typeface="微软雅黑"/>
              </a:rPr>
              <a:t>模型：dsv4-flash W4A8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54680" y="1101852"/>
            <a:ext cx="5806440" cy="24688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528A00"/>
                </a:solidFill>
                <a:latin typeface="微软雅黑"/>
                <a:ea typeface="微软雅黑"/>
              </a:rPr>
              <a:t>开启异步调度｜同一会话固定分配到同一缓存分组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89720" y="1101852"/>
            <a:ext cx="2194560" cy="24688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975" b="1">
                <a:solidFill>
                  <a:srgbClr val="F06A00"/>
                </a:solidFill>
                <a:latin typeface="微软雅黑"/>
                <a:ea typeface="微软雅黑"/>
              </a:rPr>
              <a:t>硬件：Ascend 910C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56248"/>
            <a:ext cx="320040" cy="16459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777777"/>
                </a:solidFill>
                <a:latin typeface="微软雅黑"/>
                <a:ea typeface="微软雅黑"/>
              </a:rPr>
              <a:t>41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" y="1773936"/>
            <a:ext cx="2624328" cy="1243584"/>
          </a:xfrm>
          <a:prstGeom prst="rect">
            <a:avLst/>
          </a:prstGeom>
          <a:solidFill>
            <a:srgbClr val="F7F7F7"/>
          </a:solidFill>
          <a:ln w="762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" y="1773936"/>
            <a:ext cx="41148" cy="1243584"/>
          </a:xfrm>
          <a:prstGeom prst="rect">
            <a:avLst/>
          </a:prstGeom>
          <a:solidFill>
            <a:srgbClr val="234C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8096" y="1901952"/>
            <a:ext cx="2331720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234CA5"/>
                </a:solidFill>
                <a:latin typeface="微软雅黑"/>
                <a:ea typeface="微软雅黑"/>
              </a:rPr>
              <a:t>256 个完整会话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2386584"/>
            <a:ext cx="2331720" cy="56692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>
                <a:solidFill>
                  <a:srgbClr val="222222"/>
                </a:solidFill>
                <a:latin typeface="微软雅黑"/>
                <a:ea typeface="微软雅黑"/>
              </a:rPr>
              <a:t>每个会话按轮次推进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>
                <a:solidFill>
                  <a:srgbClr val="222222"/>
                </a:solidFill>
                <a:latin typeface="微软雅黑"/>
                <a:ea typeface="微软雅黑"/>
              </a:rPr>
              <a:t>上一轮完成后发出下一轮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3282696" y="2322576"/>
            <a:ext cx="91440" cy="155448"/>
          </a:xfrm>
          <a:prstGeom prst="rightArrow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392424" y="1773936"/>
            <a:ext cx="2624328" cy="1243584"/>
          </a:xfrm>
          <a:prstGeom prst="rect">
            <a:avLst/>
          </a:prstGeom>
          <a:solidFill>
            <a:srgbClr val="F7F7F7"/>
          </a:solidFill>
          <a:ln w="762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392424" y="1773936"/>
            <a:ext cx="41148" cy="1243584"/>
          </a:xfrm>
          <a:prstGeom prst="rect">
            <a:avLst/>
          </a:prstGeom>
          <a:solidFill>
            <a:srgbClr val="234C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38728" y="1901952"/>
            <a:ext cx="2331720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234CA5"/>
                </a:solidFill>
                <a:latin typeface="微软雅黑"/>
                <a:ea typeface="微软雅黑"/>
              </a:rPr>
              <a:t>就绪请求选择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38728" y="2386584"/>
            <a:ext cx="2331720" cy="56692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>
                <a:solidFill>
                  <a:srgbClr val="222222"/>
                </a:solidFill>
                <a:latin typeface="微软雅黑"/>
                <a:ea typeface="微软雅黑"/>
              </a:rPr>
              <a:t>按固定优先级选择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>
                <a:solidFill>
                  <a:srgbClr val="222222"/>
                </a:solidFill>
                <a:latin typeface="微软雅黑"/>
                <a:ea typeface="微软雅黑"/>
              </a:rPr>
              <a:t>全局最多 16 个请求在途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6053328" y="2322576"/>
            <a:ext cx="91440" cy="155448"/>
          </a:xfrm>
          <a:prstGeom prst="rightArrow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63055" y="1773936"/>
            <a:ext cx="2624328" cy="1243584"/>
          </a:xfrm>
          <a:prstGeom prst="rect">
            <a:avLst/>
          </a:prstGeom>
          <a:solidFill>
            <a:srgbClr val="F7F7F7"/>
          </a:solidFill>
          <a:ln w="762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63055" y="1773936"/>
            <a:ext cx="41148" cy="1243584"/>
          </a:xfrm>
          <a:prstGeom prst="rect">
            <a:avLst/>
          </a:prstGeom>
          <a:solidFill>
            <a:srgbClr val="234C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59" y="1901952"/>
            <a:ext cx="2331720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234CA5"/>
                </a:solidFill>
                <a:latin typeface="微软雅黑"/>
                <a:ea typeface="微软雅黑"/>
              </a:rPr>
              <a:t>会话固定路由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59" y="2386584"/>
            <a:ext cx="2331720" cy="56692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>
                <a:solidFill>
                  <a:srgbClr val="222222"/>
                </a:solidFill>
                <a:latin typeface="微软雅黑"/>
                <a:ea typeface="微软雅黑"/>
              </a:rPr>
              <a:t>历史始终落在同一缓存分组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>
                <a:solidFill>
                  <a:srgbClr val="222222"/>
                </a:solidFill>
                <a:latin typeface="微软雅黑"/>
                <a:ea typeface="微软雅黑"/>
              </a:rPr>
              <a:t>缓存随会话持续复用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8823959" y="2322576"/>
            <a:ext cx="91440" cy="155448"/>
          </a:xfrm>
          <a:prstGeom prst="rightArrow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33688" y="1773936"/>
            <a:ext cx="2624328" cy="1243584"/>
          </a:xfrm>
          <a:prstGeom prst="rect">
            <a:avLst/>
          </a:prstGeom>
          <a:solidFill>
            <a:srgbClr val="F7F7F7"/>
          </a:solidFill>
          <a:ln w="762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933688" y="1773936"/>
            <a:ext cx="41148" cy="1243584"/>
          </a:xfrm>
          <a:prstGeom prst="rect">
            <a:avLst/>
          </a:prstGeom>
          <a:solidFill>
            <a:srgbClr val="234C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79992" y="1901952"/>
            <a:ext cx="2331720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234CA5"/>
                </a:solidFill>
                <a:latin typeface="微软雅黑"/>
                <a:ea typeface="微软雅黑"/>
              </a:rPr>
              <a:t>服务端异步调度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79992" y="2386584"/>
            <a:ext cx="2331720" cy="56692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>
                <a:solidFill>
                  <a:srgbClr val="222222"/>
                </a:solidFill>
                <a:latin typeface="微软雅黑"/>
                <a:ea typeface="微软雅黑"/>
              </a:rPr>
              <a:t>每个缓存分组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>
                <a:solidFill>
                  <a:srgbClr val="222222"/>
                </a:solidFill>
                <a:latin typeface="微软雅黑"/>
                <a:ea typeface="微软雅黑"/>
              </a:rPr>
              <a:t>单次最多调度 8 个请求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792" y="3310128"/>
            <a:ext cx="10881360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222222"/>
                </a:solidFill>
                <a:latin typeface="微软雅黑"/>
                <a:ea typeface="微软雅黑"/>
              </a:rPr>
              <a:t>部署与并发配置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621792" y="3703320"/>
          <a:ext cx="10954510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0120"/>
                <a:gridCol w="3749039"/>
                <a:gridCol w="1645920"/>
                <a:gridCol w="1874519"/>
                <a:gridCol w="2724912"/>
              </a:tblGrid>
              <a:tr h="356616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部署</a:t>
                      </a:r>
                    </a:p>
                  </a:txBody>
                  <a:tcPr marL="45720" marR="45720" marT="27432" marB="27432" anchor="ctr">
                    <a:solidFill>
                      <a:srgbClr val="EDEDED"/>
                    </a:solidFill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并行拓扑</a:t>
                      </a:r>
                    </a:p>
                  </a:txBody>
                  <a:tcPr marL="45720" marR="45720" marT="27432" marB="27432" anchor="ctr">
                    <a:solidFill>
                      <a:srgbClr val="EDEDED"/>
                    </a:solidFill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独立缓存分组</a:t>
                      </a:r>
                    </a:p>
                  </a:txBody>
                  <a:tcPr marL="45720" marR="45720" marT="27432" marB="27432" anchor="ctr">
                    <a:solidFill>
                      <a:srgbClr val="EDEDED"/>
                    </a:solidFill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会话分配</a:t>
                      </a:r>
                    </a:p>
                  </a:txBody>
                  <a:tcPr marL="45720" marR="45720" marT="27432" marB="27432" anchor="ctr">
                    <a:solidFill>
                      <a:srgbClr val="EDEDED"/>
                    </a:solidFill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单批 token 上限</a:t>
                      </a:r>
                    </a:p>
                  </a:txBody>
                  <a:tcPr marL="45720" marR="45720" marT="27432" marB="27432" anchor="ctr">
                    <a:solidFill>
                      <a:srgbClr val="EDEDED"/>
                    </a:solidFill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528A00"/>
                          </a:solidFill>
                          <a:latin typeface="微软雅黑"/>
                          <a:ea typeface="微软雅黑"/>
                        </a:rPr>
                        <a:t>EP4</a:t>
                      </a:r>
                    </a:p>
                  </a:txBody>
                  <a:tcPr marL="45720" marR="45720" marT="27432" marB="27432" anchor="ctr">
                    <a:solidFill>
                      <a:srgbClr val="F8F8F8"/>
                    </a:solidFill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4 实例 × DP1 / TP4 / EP4</a:t>
                      </a:r>
                    </a:p>
                  </a:txBody>
                  <a:tcPr marL="45720" marR="45720" marT="27432" marB="27432" anchor="ctr">
                    <a:solidFill>
                      <a:srgbClr val="F8F8F8"/>
                    </a:solidFill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4</a:t>
                      </a:r>
                    </a:p>
                  </a:txBody>
                  <a:tcPr marL="45720" marR="45720" marT="27432" marB="27432" anchor="ctr">
                    <a:solidFill>
                      <a:srgbClr val="F8F8F8"/>
                    </a:solidFill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每组 64</a:t>
                      </a:r>
                    </a:p>
                  </a:txBody>
                  <a:tcPr marL="45720" marR="45720" marT="27432" marB="27432" anchor="ctr">
                    <a:solidFill>
                      <a:srgbClr val="F8F8F8"/>
                    </a:solidFill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8,192</a:t>
                      </a:r>
                    </a:p>
                  </a:txBody>
                  <a:tcPr marL="45720" marR="45720" marT="27432" marB="27432" anchor="ctr">
                    <a:solidFill>
                      <a:srgbClr val="F8F8F8"/>
                    </a:solidFill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4472C4"/>
                          </a:solidFill>
                          <a:latin typeface="微软雅黑"/>
                          <a:ea typeface="微软雅黑"/>
                        </a:rPr>
                        <a:t>EP8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2 实例 × DP2 / TP4 / EP8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4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每组 64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8,192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7030A0"/>
                          </a:solidFill>
                          <a:latin typeface="微软雅黑"/>
                          <a:ea typeface="微软雅黑"/>
                        </a:rPr>
                        <a:t>EP16</a:t>
                      </a:r>
                    </a:p>
                  </a:txBody>
                  <a:tcPr marL="45720" marR="45720" marT="27432" marB="27432" anchor="ctr">
                    <a:solidFill>
                      <a:srgbClr val="F8F8F8"/>
                    </a:solidFill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1 实例 × DP4 / TP4 / EP16</a:t>
                      </a:r>
                    </a:p>
                  </a:txBody>
                  <a:tcPr marL="45720" marR="45720" marT="27432" marB="27432" anchor="ctr">
                    <a:solidFill>
                      <a:srgbClr val="F8F8F8"/>
                    </a:solidFill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4</a:t>
                      </a:r>
                    </a:p>
                  </a:txBody>
                  <a:tcPr marL="45720" marR="45720" marT="27432" marB="27432" anchor="ctr">
                    <a:solidFill>
                      <a:srgbClr val="F8F8F8"/>
                    </a:solidFill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每组 64</a:t>
                      </a:r>
                    </a:p>
                  </a:txBody>
                  <a:tcPr marL="45720" marR="45720" marT="27432" marB="27432" anchor="ctr">
                    <a:solidFill>
                      <a:srgbClr val="F8F8F8"/>
                    </a:solidFill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8,192</a:t>
                      </a:r>
                    </a:p>
                  </a:txBody>
                  <a:tcPr marL="45720" marR="45720" marT="27432" marB="27432" anchor="ctr">
                    <a:solidFill>
                      <a:srgbClr val="F8F8F8"/>
                    </a:solidFill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F2A900"/>
                          </a:solidFill>
                          <a:latin typeface="微软雅黑"/>
                          <a:ea typeface="微软雅黑"/>
                        </a:rPr>
                        <a:t>AFD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12A+4F；A DP3/TP4，F EP4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3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85 / 86 / 85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32,768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731520" y="5687568"/>
            <a:ext cx="10652760" cy="30175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160" b="1">
                <a:solidFill>
                  <a:srgbClr val="234CA5"/>
                </a:solidFill>
                <a:latin typeface="微软雅黑"/>
                <a:ea typeface="微软雅黑"/>
              </a:rPr>
              <a:t>AFD：CAM 异步通信；token 拆为两份微批次。各组：前缀缓存开启，最大上下文 262,144。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936" y="6254496"/>
            <a:ext cx="1088136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客户端按就绪请求补充并发，不设置固定 QPS；服务端每个缓存分组独立维护历史缓存。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904" y="210312"/>
            <a:ext cx="10058400" cy="1920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825" b="1">
                <a:solidFill>
                  <a:srgbClr val="898989"/>
                </a:solidFill>
                <a:latin typeface="微软雅黑"/>
                <a:ea typeface="微软雅黑"/>
              </a:rPr>
              <a:t>实验一｜256 会话 · 9,078 请求 · C16｜Prefix-on</a:t>
            </a:r>
          </a:p>
        </p:txBody>
      </p:sp>
      <p:sp>
        <p:nvSpPr>
          <p:cNvPr id="3" name="benefit-title"/>
          <p:cNvSpPr txBox="1"/>
          <p:nvPr/>
        </p:nvSpPr>
        <p:spPr>
          <a:xfrm>
            <a:off x="609904" y="420624"/>
            <a:ext cx="10972800" cy="44805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2150" b="1">
                <a:solidFill>
                  <a:srgbClr val="C00000"/>
                </a:solidFill>
                <a:latin typeface="微软雅黑"/>
                <a:ea typeface="微软雅黑"/>
              </a:rPr>
              <a:t>本轮回放：AFD 相对 EP4、EP8 分别加速 3.80×、1.33×</a:t>
            </a:r>
          </a:p>
        </p:txBody>
      </p:sp>
      <p:sp>
        <p:nvSpPr>
          <p:cNvPr id="4" name="Rectangle 3"/>
          <p:cNvSpPr/>
          <p:nvPr/>
        </p:nvSpPr>
        <p:spPr>
          <a:xfrm>
            <a:off x="609904" y="914400"/>
            <a:ext cx="1426464" cy="2926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904" y="1028700"/>
            <a:ext cx="10972800" cy="400507"/>
          </a:xfrm>
          <a:prstGeom prst="rect">
            <a:avLst/>
          </a:prstGeom>
          <a:solidFill>
            <a:srgbClr val="F5F5F5"/>
          </a:solidFill>
          <a:ln w="762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101852"/>
            <a:ext cx="2468880" cy="24688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234CA5"/>
                </a:solidFill>
                <a:latin typeface="微软雅黑"/>
                <a:ea typeface="微软雅黑"/>
              </a:rPr>
              <a:t>模型：dsv4-flash W4A8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54680" y="1101852"/>
            <a:ext cx="5806440" cy="24688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528A00"/>
                </a:solidFill>
                <a:latin typeface="微软雅黑"/>
                <a:ea typeface="微软雅黑"/>
              </a:rPr>
              <a:t>同为 16 DIE｜单批上限：Non 8K / AFD 32K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89720" y="1101852"/>
            <a:ext cx="2194560" cy="24688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975" b="1">
                <a:solidFill>
                  <a:srgbClr val="F06A00"/>
                </a:solidFill>
                <a:latin typeface="微软雅黑"/>
                <a:ea typeface="微软雅黑"/>
              </a:rPr>
              <a:t>硬件：Ascend 910C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56248"/>
            <a:ext cx="320040" cy="16459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777777"/>
                </a:solidFill>
                <a:latin typeface="微软雅黑"/>
                <a:ea typeface="微软雅黑"/>
              </a:rPr>
              <a:t>42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645920"/>
            <a:ext cx="5440680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222222"/>
                </a:solidFill>
                <a:latin typeface="微软雅黑"/>
                <a:ea typeface="微软雅黑"/>
              </a:rPr>
              <a:t>完整负载耗时（分钟）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612648" y="2103120"/>
          <a:ext cx="5577840" cy="27889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6373368" y="1645920"/>
            <a:ext cx="5212080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222222"/>
                </a:solidFill>
                <a:latin typeface="微软雅黑"/>
                <a:ea typeface="微软雅黑"/>
              </a:rPr>
              <a:t>首 token 延迟 TTFT（秒）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6373368" y="2093976"/>
          <a:ext cx="5202936" cy="2688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932688"/>
                <a:gridCol w="932688"/>
                <a:gridCol w="932688"/>
                <a:gridCol w="941832"/>
              </a:tblGrid>
              <a:tr h="448056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40" b="1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部署</a:t>
                      </a:r>
                    </a:p>
                  </a:txBody>
                  <a:tcPr marL="45720" marR="45720" marT="27432" marB="27432" anchor="ctr">
                    <a:solidFill>
                      <a:srgbClr val="EDEDED"/>
                    </a:solidFill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40" b="1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均值</a:t>
                      </a:r>
                    </a:p>
                  </a:txBody>
                  <a:tcPr marL="45720" marR="45720" marT="27432" marB="27432" anchor="ctr">
                    <a:solidFill>
                      <a:srgbClr val="EDEDED"/>
                    </a:solidFill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40" b="1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P50</a:t>
                      </a:r>
                    </a:p>
                  </a:txBody>
                  <a:tcPr marL="45720" marR="45720" marT="27432" marB="27432" anchor="ctr">
                    <a:solidFill>
                      <a:srgbClr val="EDEDED"/>
                    </a:solidFill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40" b="1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P95</a:t>
                      </a:r>
                    </a:p>
                  </a:txBody>
                  <a:tcPr marL="45720" marR="45720" marT="27432" marB="27432" anchor="ctr">
                    <a:solidFill>
                      <a:srgbClr val="EDEDED"/>
                    </a:solidFill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40" b="1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P99</a:t>
                      </a:r>
                    </a:p>
                  </a:txBody>
                  <a:tcPr marL="45720" marR="45720" marT="27432" marB="27432" anchor="ctr">
                    <a:solidFill>
                      <a:srgbClr val="EDEDED"/>
                    </a:solidFill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40" b="0">
                          <a:solidFill>
                            <a:srgbClr val="528A00"/>
                          </a:solidFill>
                          <a:latin typeface="微软雅黑"/>
                          <a:ea typeface="微软雅黑"/>
                        </a:rPr>
                        <a:t>EP4</a:t>
                      </a:r>
                    </a:p>
                  </a:txBody>
                  <a:tcPr marL="45720" marR="45720" marT="27432" marB="27432" anchor="ctr">
                    <a:solidFill>
                      <a:srgbClr val="F8F8F8"/>
                    </a:solidFill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4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24.99</a:t>
                      </a:r>
                    </a:p>
                  </a:txBody>
                  <a:tcPr marL="45720" marR="45720" marT="27432" marB="27432" anchor="ctr">
                    <a:solidFill>
                      <a:srgbClr val="F8F8F8"/>
                    </a:solidFill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4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15.38</a:t>
                      </a:r>
                    </a:p>
                  </a:txBody>
                  <a:tcPr marL="45720" marR="45720" marT="27432" marB="27432" anchor="ctr">
                    <a:solidFill>
                      <a:srgbClr val="F8F8F8"/>
                    </a:solidFill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4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79.62</a:t>
                      </a:r>
                    </a:p>
                  </a:txBody>
                  <a:tcPr marL="45720" marR="45720" marT="27432" marB="27432" anchor="ctr">
                    <a:solidFill>
                      <a:srgbClr val="F8F8F8"/>
                    </a:solidFill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4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147.31</a:t>
                      </a:r>
                    </a:p>
                  </a:txBody>
                  <a:tcPr marL="45720" marR="45720" marT="27432" marB="27432" anchor="ctr">
                    <a:solidFill>
                      <a:srgbClr val="F8F8F8"/>
                    </a:solidFill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40" b="0">
                          <a:solidFill>
                            <a:srgbClr val="4472C4"/>
                          </a:solidFill>
                          <a:latin typeface="微软雅黑"/>
                          <a:ea typeface="微软雅黑"/>
                        </a:rPr>
                        <a:t>EP8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4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8.78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4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4.02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4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33.51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4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53.48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40" b="0">
                          <a:solidFill>
                            <a:srgbClr val="7030A0"/>
                          </a:solidFill>
                          <a:latin typeface="微软雅黑"/>
                          <a:ea typeface="微软雅黑"/>
                        </a:rPr>
                        <a:t>EP16</a:t>
                      </a:r>
                    </a:p>
                  </a:txBody>
                  <a:tcPr marL="45720" marR="45720" marT="27432" marB="27432" anchor="ctr">
                    <a:solidFill>
                      <a:srgbClr val="F8F8F8"/>
                    </a:solidFill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40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</a:rPr>
                        <a:t>5.67</a:t>
                      </a:r>
                    </a:p>
                  </a:txBody>
                  <a:tcPr marL="45720" marR="45720" marT="27432" marB="27432" anchor="ctr">
                    <a:solidFill>
                      <a:srgbClr val="F8F8F8"/>
                    </a:solidFill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4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4.05</a:t>
                      </a:r>
                    </a:p>
                  </a:txBody>
                  <a:tcPr marL="45720" marR="45720" marT="27432" marB="27432" anchor="ctr">
                    <a:solidFill>
                      <a:srgbClr val="F8F8F8"/>
                    </a:solidFill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40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</a:rPr>
                        <a:t>14.82</a:t>
                      </a:r>
                    </a:p>
                  </a:txBody>
                  <a:tcPr marL="45720" marR="45720" marT="27432" marB="27432" anchor="ctr">
                    <a:solidFill>
                      <a:srgbClr val="F8F8F8"/>
                    </a:solidFill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40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</a:rPr>
                        <a:t>30.87</a:t>
                      </a:r>
                    </a:p>
                  </a:txBody>
                  <a:tcPr marL="45720" marR="45720" marT="27432" marB="27432" anchor="ctr">
                    <a:solidFill>
                      <a:srgbClr val="F8F8F8"/>
                    </a:solidFill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40" b="0">
                          <a:solidFill>
                            <a:srgbClr val="F2A900"/>
                          </a:solidFill>
                          <a:latin typeface="微软雅黑"/>
                          <a:ea typeface="微软雅黑"/>
                        </a:rPr>
                        <a:t>AFD eager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4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6.56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40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</a:rPr>
                        <a:t>3.83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4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23.64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4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50.77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40" b="0">
                          <a:solidFill>
                            <a:srgbClr val="C06000"/>
                          </a:solidFill>
                          <a:latin typeface="微软雅黑"/>
                          <a:ea typeface="微软雅黑"/>
                        </a:rPr>
                        <a:t>AFD F FULL</a:t>
                      </a:r>
                    </a:p>
                  </a:txBody>
                  <a:tcPr marL="45720" marR="45720" marT="27432" marB="27432" anchor="ctr">
                    <a:solidFill>
                      <a:srgbClr val="F8F8F8"/>
                    </a:solidFill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4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6.62</a:t>
                      </a:r>
                    </a:p>
                  </a:txBody>
                  <a:tcPr marL="45720" marR="45720" marT="27432" marB="27432" anchor="ctr">
                    <a:solidFill>
                      <a:srgbClr val="F8F8F8"/>
                    </a:solidFill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4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3.85</a:t>
                      </a:r>
                    </a:p>
                  </a:txBody>
                  <a:tcPr marL="45720" marR="45720" marT="27432" marB="27432" anchor="ctr">
                    <a:solidFill>
                      <a:srgbClr val="F8F8F8"/>
                    </a:solidFill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4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24.39</a:t>
                      </a:r>
                    </a:p>
                  </a:txBody>
                  <a:tcPr marL="45720" marR="45720" marT="27432" marB="27432" anchor="ctr">
                    <a:solidFill>
                      <a:srgbClr val="F8F8F8"/>
                    </a:solidFill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4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50.57</a:t>
                      </a:r>
                    </a:p>
                  </a:txBody>
                  <a:tcPr marL="45720" marR="45720" marT="27432" marB="27432" anchor="ctr">
                    <a:solidFill>
                      <a:srgbClr val="F8F8F8"/>
                    </a:solidFill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6437376" y="4937760"/>
            <a:ext cx="5001768" cy="35661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190" b="1">
                <a:solidFill>
                  <a:srgbClr val="234CA5"/>
                </a:solidFill>
                <a:latin typeface="微软雅黑"/>
                <a:ea typeface="微软雅黑"/>
              </a:rPr>
              <a:t>AFD eager：全程 62.92 分钟；P50 为 3.83 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936" y="5468112"/>
            <a:ext cx="5321808" cy="667512"/>
          </a:xfrm>
          <a:prstGeom prst="rect">
            <a:avLst/>
          </a:prstGeom>
          <a:solidFill>
            <a:srgbClr val="F7F7F7"/>
          </a:solidFill>
          <a:ln w="762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936" y="5468112"/>
            <a:ext cx="41148" cy="66751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5596128"/>
            <a:ext cx="5029200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C00000"/>
                </a:solidFill>
                <a:latin typeface="微软雅黑"/>
                <a:ea typeface="微软雅黑"/>
              </a:rPr>
              <a:t>相对 EP4：耗时降低 73.7%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90488" y="5468112"/>
            <a:ext cx="5376672" cy="667512"/>
          </a:xfrm>
          <a:prstGeom prst="rect">
            <a:avLst/>
          </a:prstGeom>
          <a:solidFill>
            <a:srgbClr val="F7F7F7"/>
          </a:solidFill>
          <a:ln w="762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90488" y="5468112"/>
            <a:ext cx="41148" cy="66751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36792" y="5596128"/>
            <a:ext cx="5084064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C00000"/>
                </a:solidFill>
                <a:latin typeface="微软雅黑"/>
                <a:ea typeface="微软雅黑"/>
              </a:rPr>
              <a:t>相对 EP8：耗时降低 24.8%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" y="6291072"/>
            <a:ext cx="1088136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880" b="0">
                <a:solidFill>
                  <a:srgbClr val="666666"/>
                </a:solidFill>
                <a:latin typeface="微软雅黑"/>
                <a:ea typeface="微软雅黑"/>
              </a:rPr>
              <a:t>收益以 AFD eager 计算；表中红色为同列最低值。全程含期间排队与依赖等待；TTFT 从请求实际发出开始计时。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904" y="210312"/>
            <a:ext cx="10058400" cy="1920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825" b="1">
                <a:solidFill>
                  <a:srgbClr val="898989"/>
                </a:solidFill>
                <a:latin typeface="微软雅黑"/>
                <a:ea typeface="微软雅黑"/>
              </a:rPr>
              <a:t>实验一｜256 会话 · 9,078 请求 · C16｜Prefix-on</a:t>
            </a:r>
          </a:p>
        </p:txBody>
      </p:sp>
      <p:sp>
        <p:nvSpPr>
          <p:cNvPr id="3" name="benefit-title"/>
          <p:cNvSpPr txBox="1"/>
          <p:nvPr/>
        </p:nvSpPr>
        <p:spPr>
          <a:xfrm>
            <a:off x="609904" y="420624"/>
            <a:ext cx="10972800" cy="44805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2150" b="1">
                <a:solidFill>
                  <a:srgbClr val="C00000"/>
                </a:solidFill>
                <a:latin typeface="微软雅黑"/>
                <a:ea typeface="微软雅黑"/>
              </a:rPr>
              <a:t>AFD 集中部署专家，减少多实例中的权重副本</a:t>
            </a:r>
          </a:p>
        </p:txBody>
      </p:sp>
      <p:sp>
        <p:nvSpPr>
          <p:cNvPr id="4" name="Rectangle 3"/>
          <p:cNvSpPr/>
          <p:nvPr/>
        </p:nvSpPr>
        <p:spPr>
          <a:xfrm>
            <a:off x="609904" y="914400"/>
            <a:ext cx="1426464" cy="2926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904" y="1028700"/>
            <a:ext cx="10972800" cy="400507"/>
          </a:xfrm>
          <a:prstGeom prst="rect">
            <a:avLst/>
          </a:prstGeom>
          <a:solidFill>
            <a:srgbClr val="F5F5F5"/>
          </a:solidFill>
          <a:ln w="762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101852"/>
            <a:ext cx="2468880" cy="24688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234CA5"/>
                </a:solidFill>
                <a:latin typeface="微软雅黑"/>
                <a:ea typeface="微软雅黑"/>
              </a:rPr>
              <a:t>模型：dsv4-flash W4A8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54680" y="1101852"/>
            <a:ext cx="5806440" cy="24688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528A00"/>
                </a:solidFill>
                <a:latin typeface="微软雅黑"/>
                <a:ea typeface="微软雅黑"/>
              </a:rPr>
              <a:t>单 DIE 显存分配 + 整机容量｜AFD 采用 eager 结果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89720" y="1101852"/>
            <a:ext cx="2194560" cy="24688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975" b="1">
                <a:solidFill>
                  <a:srgbClr val="F06A00"/>
                </a:solidFill>
                <a:latin typeface="微软雅黑"/>
                <a:ea typeface="微软雅黑"/>
              </a:rPr>
              <a:t>硬件：Ascend 910C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56248"/>
            <a:ext cx="320040" cy="16459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777777"/>
                </a:solidFill>
                <a:latin typeface="微软雅黑"/>
                <a:ea typeface="微软雅黑"/>
              </a:rPr>
              <a:t>43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636776"/>
            <a:ext cx="6035040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222222"/>
                </a:solidFill>
                <a:latin typeface="微软雅黑"/>
                <a:ea typeface="微软雅黑"/>
              </a:rPr>
              <a:t>单 DIE：64 GiB 显存分配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3816" y="2052828"/>
            <a:ext cx="146304" cy="109728"/>
          </a:xfrm>
          <a:prstGeom prst="rect">
            <a:avLst/>
          </a:prstGeom>
          <a:solidFill>
            <a:srgbClr val="91AA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14984" y="2029968"/>
            <a:ext cx="1097280" cy="18288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930" b="0">
                <a:solidFill>
                  <a:srgbClr val="222222"/>
                </a:solidFill>
                <a:latin typeface="微软雅黑"/>
                <a:ea typeface="微软雅黑"/>
              </a:rPr>
              <a:t>权重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139696" y="2052828"/>
            <a:ext cx="146304" cy="109728"/>
          </a:xfrm>
          <a:prstGeom prst="rect">
            <a:avLst/>
          </a:prstGeom>
          <a:solidFill>
            <a:srgbClr val="F5C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340864" y="2029968"/>
            <a:ext cx="1097280" cy="18288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930" b="0">
                <a:solidFill>
                  <a:srgbClr val="222222"/>
                </a:solidFill>
                <a:latin typeface="微软雅黑"/>
                <a:ea typeface="微软雅黑"/>
              </a:rPr>
              <a:t>KV Cache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65576" y="2052828"/>
            <a:ext cx="146304" cy="109728"/>
          </a:xfrm>
          <a:prstGeom prst="rect">
            <a:avLst/>
          </a:prstGeom>
          <a:solidFill>
            <a:srgbClr val="B4B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66744" y="2029968"/>
            <a:ext cx="1097280" cy="18288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930" b="0">
                <a:solidFill>
                  <a:srgbClr val="222222"/>
                </a:solidFill>
                <a:latin typeface="微软雅黑"/>
                <a:ea typeface="微软雅黑"/>
              </a:rPr>
              <a:t>其他已用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791455" y="2052828"/>
            <a:ext cx="146304" cy="109728"/>
          </a:xfrm>
          <a:prstGeom prst="rect">
            <a:avLst/>
          </a:prstGeom>
          <a:solidFill>
            <a:srgbClr val="EB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92623" y="2029968"/>
            <a:ext cx="1097280" cy="18288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930" b="0">
                <a:solidFill>
                  <a:srgbClr val="222222"/>
                </a:solidFill>
                <a:latin typeface="微软雅黑"/>
                <a:ea typeface="微软雅黑"/>
              </a:rPr>
              <a:t>空闲</a:t>
            </a:r>
          </a:p>
        </p:txBody>
      </p:sp>
      <p:graphicFrame>
        <p:nvGraphicFramePr>
          <p:cNvPr id="19" name="Chart 18"/>
          <p:cNvGraphicFramePr>
            <a:graphicFrameLocks noGrp="1"/>
          </p:cNvGraphicFramePr>
          <p:nvPr/>
        </p:nvGraphicFramePr>
        <p:xfrm>
          <a:off x="603504" y="2377440"/>
          <a:ext cx="6007608" cy="276148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832104" y="5157216"/>
            <a:ext cx="5596128" cy="30175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666666"/>
                </a:solidFill>
                <a:latin typeface="微软雅黑"/>
                <a:ea typeface="微软雅黑"/>
              </a:rPr>
              <a:t>同类 DIE 平均值；其他已用为未细分差额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12280" y="1636776"/>
            <a:ext cx="4709160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222222"/>
                </a:solidFill>
                <a:latin typeface="微软雅黑"/>
                <a:ea typeface="微软雅黑"/>
              </a:rPr>
              <a:t>整机：16 DIE 合计（GiB）</a:t>
            </a:r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6793992" y="2075688"/>
          <a:ext cx="4745736" cy="26060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0472"/>
                <a:gridCol w="1563624"/>
                <a:gridCol w="1691640"/>
              </a:tblGrid>
              <a:tr h="521207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部署</a:t>
                      </a:r>
                    </a:p>
                  </a:txBody>
                  <a:tcPr marL="45720" marR="45720" marT="27432" marB="27432" anchor="ctr">
                    <a:solidFill>
                      <a:srgbClr val="EDEDED"/>
                    </a:solidFill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权重</a:t>
                      </a:r>
                    </a:p>
                  </a:txBody>
                  <a:tcPr marL="45720" marR="45720" marT="27432" marB="27432" anchor="ctr">
                    <a:solidFill>
                      <a:srgbClr val="EDEDED"/>
                    </a:solidFill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实际 KV</a:t>
                      </a:r>
                    </a:p>
                  </a:txBody>
                  <a:tcPr marL="45720" marR="45720" marT="27432" marB="27432" anchor="ctr">
                    <a:solidFill>
                      <a:srgbClr val="EDEDED"/>
                    </a:solidFill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</a:tr>
              <a:tr h="521207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528A00"/>
                          </a:solidFill>
                          <a:latin typeface="微软雅黑"/>
                          <a:ea typeface="微软雅黑"/>
                        </a:rPr>
                        <a:t>EP4</a:t>
                      </a:r>
                    </a:p>
                  </a:txBody>
                  <a:tcPr marL="45720" marR="45720" marT="27432" marB="27432" anchor="ctr">
                    <a:solidFill>
                      <a:srgbClr val="F8F8F8"/>
                    </a:solidFill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615.11</a:t>
                      </a:r>
                    </a:p>
                  </a:txBody>
                  <a:tcPr marL="45720" marR="45720" marT="27432" marB="27432" anchor="ctr">
                    <a:solidFill>
                      <a:srgbClr val="F8F8F8"/>
                    </a:solidFill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227.38</a:t>
                      </a:r>
                    </a:p>
                  </a:txBody>
                  <a:tcPr marL="45720" marR="45720" marT="27432" marB="27432" anchor="ctr">
                    <a:solidFill>
                      <a:srgbClr val="F8F8F8"/>
                    </a:solidFill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</a:tr>
              <a:tr h="521207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4472C4"/>
                          </a:solidFill>
                          <a:latin typeface="微软雅黑"/>
                          <a:ea typeface="微软雅黑"/>
                        </a:rPr>
                        <a:t>EP8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354.40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468.84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</a:tr>
              <a:tr h="521207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7030A0"/>
                          </a:solidFill>
                          <a:latin typeface="微软雅黑"/>
                          <a:ea typeface="微软雅黑"/>
                        </a:rPr>
                        <a:t>EP16</a:t>
                      </a:r>
                    </a:p>
                  </a:txBody>
                  <a:tcPr marL="45720" marR="45720" marT="27432" marB="27432" anchor="ctr">
                    <a:solidFill>
                      <a:srgbClr val="F8F8F8"/>
                    </a:solidFill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224.05</a:t>
                      </a:r>
                    </a:p>
                  </a:txBody>
                  <a:tcPr marL="45720" marR="45720" marT="27432" marB="27432" anchor="ctr">
                    <a:solidFill>
                      <a:srgbClr val="F8F8F8"/>
                    </a:solidFill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562.68</a:t>
                      </a:r>
                    </a:p>
                  </a:txBody>
                  <a:tcPr marL="45720" marR="45720" marT="27432" marB="27432" anchor="ctr">
                    <a:solidFill>
                      <a:srgbClr val="F8F8F8"/>
                    </a:solidFill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</a:tr>
              <a:tr h="521207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2A900"/>
                          </a:solidFill>
                          <a:latin typeface="微软雅黑"/>
                          <a:ea typeface="微软雅黑"/>
                        </a:rPr>
                        <a:t>AFD eager</a:t>
                      </a:r>
                    </a:p>
                  </a:txBody>
                  <a:tcPr marL="45720" marR="45720" marT="27432" marB="27432" anchor="ctr">
                    <a:solidFill>
                      <a:srgbClr val="FFF4DA"/>
                    </a:solidFill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224.18</a:t>
                      </a:r>
                    </a:p>
                  </a:txBody>
                  <a:tcPr marL="45720" marR="45720" marT="27432" marB="27432" anchor="ctr">
                    <a:solidFill>
                      <a:srgbClr val="FFF4DA"/>
                    </a:solidFill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515.78</a:t>
                      </a:r>
                    </a:p>
                  </a:txBody>
                  <a:tcPr marL="45720" marR="45720" marT="27432" marB="27432" anchor="ctr">
                    <a:solidFill>
                      <a:srgbClr val="FFF4DA"/>
                    </a:solidFill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6848856" y="4919472"/>
            <a:ext cx="4654296" cy="5029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180" b="1">
                <a:solidFill>
                  <a:srgbClr val="234CA5"/>
                </a:solidFill>
                <a:latin typeface="微软雅黑"/>
                <a:ea typeface="微软雅黑"/>
              </a:rPr>
              <a:t>AFD 与 EP16 权重总量接近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180" b="1">
                <a:solidFill>
                  <a:srgbClr val="234CA5"/>
                </a:solidFill>
                <a:latin typeface="微软雅黑"/>
                <a:ea typeface="微软雅黑"/>
              </a:rPr>
              <a:t>相对 EP4 / EP8，AFD 的 KV 空间更大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1792" y="5660136"/>
            <a:ext cx="10954512" cy="548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4672" y="5779008"/>
            <a:ext cx="10570464" cy="3200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C00000"/>
                </a:solidFill>
                <a:latin typeface="微软雅黑"/>
                <a:ea typeface="微软雅黑"/>
              </a:rPr>
              <a:t>AFD 将专家权重集中到 F 侧，为 A 侧留出更多缓存空间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904" y="210312"/>
            <a:ext cx="10058400" cy="1920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825" b="1">
                <a:solidFill>
                  <a:srgbClr val="898989"/>
                </a:solidFill>
                <a:latin typeface="微软雅黑"/>
                <a:ea typeface="微软雅黑"/>
              </a:rPr>
              <a:t>实验一｜256 会话 · 9,078 请求 · C16｜Prefix-on</a:t>
            </a:r>
          </a:p>
        </p:txBody>
      </p:sp>
      <p:sp>
        <p:nvSpPr>
          <p:cNvPr id="3" name="benefit-title"/>
          <p:cNvSpPr txBox="1"/>
          <p:nvPr/>
        </p:nvSpPr>
        <p:spPr>
          <a:xfrm>
            <a:off x="609904" y="420624"/>
            <a:ext cx="10972800" cy="44805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2150" b="1">
                <a:solidFill>
                  <a:srgbClr val="C00000"/>
                </a:solidFill>
                <a:latin typeface="微软雅黑"/>
                <a:ea typeface="微软雅黑"/>
              </a:rPr>
              <a:t>AFD 实际 prefill 较 EP4、EP8 减少 77.2%、22.3%</a:t>
            </a:r>
          </a:p>
        </p:txBody>
      </p:sp>
      <p:sp>
        <p:nvSpPr>
          <p:cNvPr id="4" name="Rectangle 3"/>
          <p:cNvSpPr/>
          <p:nvPr/>
        </p:nvSpPr>
        <p:spPr>
          <a:xfrm>
            <a:off x="609904" y="914400"/>
            <a:ext cx="1426464" cy="2926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904" y="1028700"/>
            <a:ext cx="10972800" cy="400507"/>
          </a:xfrm>
          <a:prstGeom prst="rect">
            <a:avLst/>
          </a:prstGeom>
          <a:solidFill>
            <a:srgbClr val="F5F5F5"/>
          </a:solidFill>
          <a:ln w="762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101852"/>
            <a:ext cx="2468880" cy="24688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234CA5"/>
                </a:solidFill>
                <a:latin typeface="微软雅黑"/>
                <a:ea typeface="微软雅黑"/>
              </a:rPr>
              <a:t>模型：dsv4-flash W4A8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54680" y="1101852"/>
            <a:ext cx="5806440" cy="24688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528A00"/>
                </a:solidFill>
                <a:latin typeface="微软雅黑"/>
                <a:ea typeface="微软雅黑"/>
              </a:rPr>
              <a:t>相同 748.75 百万输入 tokens｜缓存复用与实际计算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89720" y="1101852"/>
            <a:ext cx="2194560" cy="24688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975" b="1">
                <a:solidFill>
                  <a:srgbClr val="F06A00"/>
                </a:solidFill>
                <a:latin typeface="微软雅黑"/>
                <a:ea typeface="微软雅黑"/>
              </a:rPr>
              <a:t>硬件：Ascend 910C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56248"/>
            <a:ext cx="320040" cy="16459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777777"/>
                </a:solidFill>
                <a:latin typeface="微软雅黑"/>
                <a:ea typeface="微软雅黑"/>
              </a:rPr>
              <a:t>44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645920"/>
            <a:ext cx="5669280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222222"/>
                </a:solidFill>
                <a:latin typeface="微软雅黑"/>
                <a:ea typeface="微软雅黑"/>
              </a:rPr>
              <a:t>相同输入：缓存复用与实际计算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0392" y="2043684"/>
            <a:ext cx="146304" cy="109728"/>
          </a:xfrm>
          <a:prstGeom prst="rect">
            <a:avLst/>
          </a:prstGeom>
          <a:solidFill>
            <a:srgbClr val="94AD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2020824"/>
            <a:ext cx="1691640" cy="18288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930" b="0">
                <a:solidFill>
                  <a:srgbClr val="222222"/>
                </a:solidFill>
                <a:latin typeface="微软雅黑"/>
                <a:ea typeface="微软雅黑"/>
              </a:rPr>
              <a:t>缓存复用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70632" y="2043684"/>
            <a:ext cx="146304" cy="109728"/>
          </a:xfrm>
          <a:prstGeom prst="rect">
            <a:avLst/>
          </a:prstGeom>
          <a:solidFill>
            <a:srgbClr val="F3B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71800" y="2020824"/>
            <a:ext cx="1691640" cy="18288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930" b="0">
                <a:solidFill>
                  <a:srgbClr val="222222"/>
                </a:solidFill>
                <a:latin typeface="微软雅黑"/>
                <a:ea typeface="微软雅黑"/>
              </a:rPr>
              <a:t>实际 prefill</a:t>
            </a:r>
          </a:p>
        </p:txBody>
      </p:sp>
      <p:graphicFrame>
        <p:nvGraphicFramePr>
          <p:cNvPr id="15" name="Chart 14"/>
          <p:cNvGraphicFramePr>
            <a:graphicFrameLocks noGrp="1"/>
          </p:cNvGraphicFramePr>
          <p:nvPr/>
        </p:nvGraphicFramePr>
        <p:xfrm>
          <a:off x="621792" y="2386584"/>
          <a:ext cx="5769864" cy="2688336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841248" y="5093208"/>
            <a:ext cx="5449824" cy="25603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666666"/>
                </a:solidFill>
                <a:latin typeface="微软雅黑"/>
                <a:ea typeface="微软雅黑"/>
              </a:rPr>
              <a:t>单位：百万 tokens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29400" y="1645920"/>
            <a:ext cx="4928616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222222"/>
                </a:solidFill>
                <a:latin typeface="微软雅黑"/>
                <a:ea typeface="微软雅黑"/>
              </a:rPr>
              <a:t>缓存复用与 prefill 明细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6601968" y="2093976"/>
          <a:ext cx="4946904" cy="2688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2768"/>
                <a:gridCol w="1645920"/>
                <a:gridCol w="1728216"/>
              </a:tblGrid>
              <a:tr h="448056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0" b="1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部署</a:t>
                      </a:r>
                    </a:p>
                  </a:txBody>
                  <a:tcPr marL="45720" marR="45720" marT="27432" marB="27432" anchor="ctr">
                    <a:solidFill>
                      <a:srgbClr val="EDEDED"/>
                    </a:solidFill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0" b="1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缓存复用比例</a:t>
                      </a:r>
                    </a:p>
                  </a:txBody>
                  <a:tcPr marL="45720" marR="45720" marT="27432" marB="27432" anchor="ctr">
                    <a:solidFill>
                      <a:srgbClr val="EDEDED"/>
                    </a:solidFill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0" b="1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prefill / 百万</a:t>
                      </a:r>
                    </a:p>
                  </a:txBody>
                  <a:tcPr marL="45720" marR="45720" marT="27432" marB="27432" anchor="ctr">
                    <a:solidFill>
                      <a:srgbClr val="EDEDED"/>
                    </a:solidFill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0" b="0">
                          <a:solidFill>
                            <a:srgbClr val="528A00"/>
                          </a:solidFill>
                          <a:latin typeface="微软雅黑"/>
                          <a:ea typeface="微软雅黑"/>
                        </a:rPr>
                        <a:t>EP4</a:t>
                      </a:r>
                    </a:p>
                  </a:txBody>
                  <a:tcPr marL="45720" marR="45720" marT="27432" marB="27432" anchor="ctr">
                    <a:solidFill>
                      <a:srgbClr val="F8F8F8"/>
                    </a:solidFill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45.18%</a:t>
                      </a:r>
                    </a:p>
                  </a:txBody>
                  <a:tcPr marL="45720" marR="45720" marT="27432" marB="27432" anchor="ctr">
                    <a:solidFill>
                      <a:srgbClr val="F8F8F8"/>
                    </a:solidFill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410.50</a:t>
                      </a:r>
                    </a:p>
                  </a:txBody>
                  <a:tcPr marL="45720" marR="45720" marT="27432" marB="27432" anchor="ctr">
                    <a:solidFill>
                      <a:srgbClr val="F8F8F8"/>
                    </a:solidFill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0" b="0">
                          <a:solidFill>
                            <a:srgbClr val="4472C4"/>
                          </a:solidFill>
                          <a:latin typeface="微软雅黑"/>
                          <a:ea typeface="微软雅黑"/>
                        </a:rPr>
                        <a:t>EP8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83.94%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120.26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0" b="0">
                          <a:solidFill>
                            <a:srgbClr val="7030A0"/>
                          </a:solidFill>
                          <a:latin typeface="微软雅黑"/>
                          <a:ea typeface="微软雅黑"/>
                        </a:rPr>
                        <a:t>EP16</a:t>
                      </a:r>
                    </a:p>
                  </a:txBody>
                  <a:tcPr marL="45720" marR="45720" marT="27432" marB="27432" anchor="ctr">
                    <a:solidFill>
                      <a:srgbClr val="F8F8F8"/>
                    </a:solidFill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91.72%</a:t>
                      </a:r>
                    </a:p>
                  </a:txBody>
                  <a:tcPr marL="45720" marR="45720" marT="27432" marB="27432" anchor="ctr">
                    <a:solidFill>
                      <a:srgbClr val="F8F8F8"/>
                    </a:solidFill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62.00</a:t>
                      </a:r>
                    </a:p>
                  </a:txBody>
                  <a:tcPr marL="45720" marR="45720" marT="27432" marB="27432" anchor="ctr">
                    <a:solidFill>
                      <a:srgbClr val="F8F8F8"/>
                    </a:solidFill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0" b="1">
                          <a:solidFill>
                            <a:srgbClr val="F2A900"/>
                          </a:solidFill>
                          <a:latin typeface="微软雅黑"/>
                          <a:ea typeface="微软雅黑"/>
                        </a:rPr>
                        <a:t>AFD eager</a:t>
                      </a:r>
                    </a:p>
                  </a:txBody>
                  <a:tcPr marL="45720" marR="45720" marT="27432" marB="27432" anchor="ctr">
                    <a:solidFill>
                      <a:srgbClr val="FFF4DA"/>
                    </a:solidFill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0" b="1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87.53%</a:t>
                      </a:r>
                    </a:p>
                  </a:txBody>
                  <a:tcPr marL="45720" marR="45720" marT="27432" marB="27432" anchor="ctr">
                    <a:solidFill>
                      <a:srgbClr val="FFF4DA"/>
                    </a:solidFill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0" b="1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93.39</a:t>
                      </a:r>
                    </a:p>
                  </a:txBody>
                  <a:tcPr marL="45720" marR="45720" marT="27432" marB="27432" anchor="ctr">
                    <a:solidFill>
                      <a:srgbClr val="FFF4DA"/>
                    </a:solidFill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0" b="0">
                          <a:solidFill>
                            <a:srgbClr val="C06000"/>
                          </a:solidFill>
                          <a:latin typeface="微软雅黑"/>
                          <a:ea typeface="微软雅黑"/>
                        </a:rPr>
                        <a:t>AFD F FULL</a:t>
                      </a:r>
                    </a:p>
                  </a:txBody>
                  <a:tcPr marL="45720" marR="45720" marT="27432" marB="27432" anchor="ctr">
                    <a:solidFill>
                      <a:srgbClr val="F8F8F8"/>
                    </a:solidFill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87.43%</a:t>
                      </a:r>
                    </a:p>
                  </a:txBody>
                  <a:tcPr marL="45720" marR="45720" marT="27432" marB="27432" anchor="ctr">
                    <a:solidFill>
                      <a:srgbClr val="F8F8F8"/>
                    </a:solidFill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94.08</a:t>
                      </a:r>
                    </a:p>
                  </a:txBody>
                  <a:tcPr marL="45720" marR="45720" marT="27432" marB="27432" anchor="ctr">
                    <a:solidFill>
                      <a:srgbClr val="F8F8F8"/>
                    </a:solidFill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6647688" y="4956048"/>
            <a:ext cx="4828032" cy="4572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160" b="1">
                <a:solidFill>
                  <a:srgbClr val="234CA5"/>
                </a:solidFill>
                <a:latin typeface="微软雅黑"/>
                <a:ea typeface="微软雅黑"/>
              </a:rPr>
              <a:t>AFD eager：87.53% 输入由缓存复用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160" b="1">
                <a:solidFill>
                  <a:srgbClr val="234CA5"/>
                </a:solidFill>
                <a:latin typeface="微软雅黑"/>
                <a:ea typeface="微软雅黑"/>
              </a:rPr>
              <a:t>实际 prefill 为 9,339 万 tokens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" y="5660136"/>
            <a:ext cx="10954512" cy="548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4672" y="5779008"/>
            <a:ext cx="10570464" cy="3200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C00000"/>
                </a:solidFill>
                <a:latin typeface="微软雅黑"/>
                <a:ea typeface="微软雅黑"/>
              </a:rPr>
              <a:t>相对 EP4 / EP8，AFD 复用更多历史，减少本轮实际输入计算量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" y="6318504"/>
            <a:ext cx="1088136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66666"/>
                </a:solidFill>
                <a:latin typeface="微软雅黑"/>
                <a:ea typeface="微软雅黑"/>
              </a:rPr>
              <a:t>缓存复用比例按输入 token 计；prefill 包含首次输入、新增内容与未复用历史。五组均无抢占重算。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904" y="210312"/>
            <a:ext cx="10058400" cy="1920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825" b="1">
                <a:solidFill>
                  <a:srgbClr val="898989"/>
                </a:solidFill>
                <a:latin typeface="微软雅黑"/>
                <a:ea typeface="微软雅黑"/>
              </a:rPr>
              <a:t>实验一｜256 会话 · 9,078 请求 · C16｜Prefix-on</a:t>
            </a:r>
          </a:p>
        </p:txBody>
      </p:sp>
      <p:sp>
        <p:nvSpPr>
          <p:cNvPr id="3" name="benefit-title"/>
          <p:cNvSpPr txBox="1"/>
          <p:nvPr/>
        </p:nvSpPr>
        <p:spPr>
          <a:xfrm>
            <a:off x="609904" y="420624"/>
            <a:ext cx="10972800" cy="44805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2150" b="1">
                <a:solidFill>
                  <a:srgbClr val="C00000"/>
                </a:solidFill>
                <a:latin typeface="微软雅黑"/>
                <a:ea typeface="微软雅黑"/>
              </a:rPr>
              <a:t>当前 workflow：4.19 个百分点的复用差，对应 50.63% 的 prefill 差</a:t>
            </a:r>
          </a:p>
        </p:txBody>
      </p:sp>
      <p:sp>
        <p:nvSpPr>
          <p:cNvPr id="4" name="Rectangle 3"/>
          <p:cNvSpPr/>
          <p:nvPr/>
        </p:nvSpPr>
        <p:spPr>
          <a:xfrm>
            <a:off x="609904" y="914400"/>
            <a:ext cx="1426464" cy="2926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904" y="1028700"/>
            <a:ext cx="10972800" cy="400507"/>
          </a:xfrm>
          <a:prstGeom prst="rect">
            <a:avLst/>
          </a:prstGeom>
          <a:solidFill>
            <a:srgbClr val="F5F5F5"/>
          </a:solidFill>
          <a:ln w="762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101852"/>
            <a:ext cx="2468880" cy="24688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234CA5"/>
                </a:solidFill>
                <a:latin typeface="微软雅黑"/>
                <a:ea typeface="微软雅黑"/>
              </a:rPr>
              <a:t>模型：dsv4-flash W4A8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54680" y="1101852"/>
            <a:ext cx="5806440" cy="24688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528A00"/>
                </a:solidFill>
                <a:latin typeface="微软雅黑"/>
                <a:ea typeface="微软雅黑"/>
              </a:rPr>
              <a:t>AFD eager 与 EP16｜同一多轮长上下文负载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89720" y="1101852"/>
            <a:ext cx="2194560" cy="24688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975" b="1">
                <a:solidFill>
                  <a:srgbClr val="F06A00"/>
                </a:solidFill>
                <a:latin typeface="微软雅黑"/>
                <a:ea typeface="微软雅黑"/>
              </a:rPr>
              <a:t>硬件：Ascend 910C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56248"/>
            <a:ext cx="320040" cy="16459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777777"/>
                </a:solidFill>
                <a:latin typeface="微软雅黑"/>
                <a:ea typeface="微软雅黑"/>
              </a:rPr>
              <a:t>45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664208"/>
            <a:ext cx="5760720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222222"/>
                </a:solidFill>
                <a:latin typeface="微软雅黑"/>
                <a:ea typeface="微软雅黑"/>
              </a:rPr>
              <a:t>缓存容量与实际工作量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21792" y="2084831"/>
          <a:ext cx="6117336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18688"/>
                <a:gridCol w="1417320"/>
                <a:gridCol w="1481328"/>
              </a:tblGrid>
              <a:tr h="438912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10" b="1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指标</a:t>
                      </a:r>
                    </a:p>
                  </a:txBody>
                  <a:tcPr marL="45720" marR="45720" marT="27432" marB="27432" anchor="ctr">
                    <a:solidFill>
                      <a:srgbClr val="EDEDED"/>
                    </a:solidFill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10" b="1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EP16</a:t>
                      </a:r>
                    </a:p>
                  </a:txBody>
                  <a:tcPr marL="45720" marR="45720" marT="27432" marB="27432" anchor="ctr">
                    <a:solidFill>
                      <a:srgbClr val="EDEDED"/>
                    </a:solidFill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10" b="1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AFD eager</a:t>
                      </a:r>
                    </a:p>
                  </a:txBody>
                  <a:tcPr marL="45720" marR="45720" marT="27432" marB="27432" anchor="ctr">
                    <a:solidFill>
                      <a:srgbClr val="EDEDED"/>
                    </a:solidFill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1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实际 KV / GiB</a:t>
                      </a:r>
                    </a:p>
                  </a:txBody>
                  <a:tcPr marL="45720" marR="45720" marT="27432" marB="27432" anchor="ctr">
                    <a:solidFill>
                      <a:srgbClr val="F8F8F8"/>
                    </a:solidFill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1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562.68</a:t>
                      </a:r>
                    </a:p>
                  </a:txBody>
                  <a:tcPr marL="45720" marR="45720" marT="27432" marB="27432" anchor="ctr">
                    <a:solidFill>
                      <a:srgbClr val="F8F8F8"/>
                    </a:solidFill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1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515.78</a:t>
                      </a:r>
                    </a:p>
                  </a:txBody>
                  <a:tcPr marL="45720" marR="45720" marT="27432" marB="27432" anchor="ctr">
                    <a:solidFill>
                      <a:srgbClr val="F8F8F8"/>
                    </a:solidFill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1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缓存复用比例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1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91.72%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1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87.53%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1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仍需 prefill 的输入比例</a:t>
                      </a:r>
                    </a:p>
                  </a:txBody>
                  <a:tcPr marL="45720" marR="45720" marT="27432" marB="27432" anchor="ctr">
                    <a:solidFill>
                      <a:srgbClr val="F8F8F8"/>
                    </a:solidFill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1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8.28%</a:t>
                      </a:r>
                    </a:p>
                  </a:txBody>
                  <a:tcPr marL="45720" marR="45720" marT="27432" marB="27432" anchor="ctr">
                    <a:solidFill>
                      <a:srgbClr val="F8F8F8"/>
                    </a:solidFill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1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12.47%</a:t>
                      </a:r>
                    </a:p>
                  </a:txBody>
                  <a:tcPr marL="45720" marR="45720" marT="27432" marB="27432" anchor="ctr">
                    <a:solidFill>
                      <a:srgbClr val="F8F8F8"/>
                    </a:solidFill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1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实际 prefill / 百万 tokens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1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62.00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1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93.39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1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完整负载耗时 / 分钟</a:t>
                      </a:r>
                    </a:p>
                  </a:txBody>
                  <a:tcPr marL="45720" marR="45720" marT="27432" marB="27432" anchor="ctr">
                    <a:solidFill>
                      <a:srgbClr val="F8F8F8"/>
                    </a:solidFill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1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54.42</a:t>
                      </a:r>
                    </a:p>
                  </a:txBody>
                  <a:tcPr marL="45720" marR="45720" marT="27432" marB="27432" anchor="ctr">
                    <a:solidFill>
                      <a:srgbClr val="F8F8F8"/>
                    </a:solidFill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1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62.92</a:t>
                      </a:r>
                    </a:p>
                  </a:txBody>
                  <a:tcPr marL="45720" marR="45720" marT="27432" marB="27432" anchor="ctr">
                    <a:solidFill>
                      <a:srgbClr val="F8F8F8"/>
                    </a:solidFill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1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TTFT 中位数 / 秒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1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4.05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10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</a:rPr>
                        <a:t>3.83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7141464" y="2084831"/>
            <a:ext cx="4407408" cy="1143000"/>
          </a:xfrm>
          <a:prstGeom prst="rect">
            <a:avLst/>
          </a:prstGeom>
          <a:solidFill>
            <a:srgbClr val="F7F7F7"/>
          </a:solidFill>
          <a:ln w="762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41464" y="2084831"/>
            <a:ext cx="41148" cy="1143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87768" y="2212848"/>
            <a:ext cx="4114800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C00000"/>
                </a:solidFill>
                <a:latin typeface="微软雅黑"/>
                <a:ea typeface="微软雅黑"/>
              </a:rPr>
              <a:t>+50.63% 实际 prefill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87768" y="2697479"/>
            <a:ext cx="4114800" cy="4663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222222"/>
                </a:solidFill>
                <a:latin typeface="微软雅黑"/>
                <a:ea typeface="微软雅黑"/>
              </a:rPr>
              <a:t>AFD 相对 EP16，需要处理更多输入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141464" y="3438144"/>
            <a:ext cx="4407408" cy="1143000"/>
          </a:xfrm>
          <a:prstGeom prst="rect">
            <a:avLst/>
          </a:prstGeom>
          <a:solidFill>
            <a:srgbClr val="F7F7F7"/>
          </a:solidFill>
          <a:ln w="762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141464" y="3438144"/>
            <a:ext cx="41148" cy="1143000"/>
          </a:xfrm>
          <a:prstGeom prst="rect">
            <a:avLst/>
          </a:prstGeom>
          <a:solidFill>
            <a:srgbClr val="234C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87768" y="3566160"/>
            <a:ext cx="4114800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234CA5"/>
                </a:solidFill>
                <a:latin typeface="微软雅黑"/>
                <a:ea typeface="微软雅黑"/>
              </a:rPr>
              <a:t>+15.62% 全程耗时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87768" y="4050791"/>
            <a:ext cx="4114800" cy="4663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22222"/>
                </a:solidFill>
                <a:latin typeface="微软雅黑"/>
                <a:ea typeface="微软雅黑"/>
              </a:rPr>
              <a:t>62.92 分钟 vs. 54.42 分钟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05472" y="4937760"/>
            <a:ext cx="4288536" cy="4572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22222"/>
                </a:solidFill>
                <a:latin typeface="微软雅黑"/>
                <a:ea typeface="微软雅黑"/>
              </a:rPr>
              <a:t>当前负载持续复用长历史，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22222"/>
                </a:solidFill>
                <a:latin typeface="微软雅黑"/>
                <a:ea typeface="微软雅黑"/>
              </a:rPr>
              <a:t>缓存容量差异对应明显的工作量差异。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" y="5687568"/>
            <a:ext cx="10954512" cy="548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4672" y="5806440"/>
            <a:ext cx="10570464" cy="3200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C00000"/>
                </a:solidFill>
                <a:latin typeface="微软雅黑"/>
                <a:ea typeface="微软雅黑"/>
              </a:rPr>
              <a:t>缓存复用是本轮差异的重要解释；AFD 的中位 TTFT 仍更低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" y="6327648"/>
            <a:ext cx="1088136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66666"/>
                </a:solidFill>
                <a:latin typeface="微软雅黑"/>
                <a:ea typeface="微软雅黑"/>
              </a:rPr>
              <a:t>本页为既定部署实测；通信、组批与执行路径也有差异，尚未单独量化各因素的耗时贡献。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904" y="210312"/>
            <a:ext cx="10058400" cy="1920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825" b="1">
                <a:solidFill>
                  <a:srgbClr val="898989"/>
                </a:solidFill>
                <a:latin typeface="微软雅黑"/>
                <a:ea typeface="微软雅黑"/>
              </a:rPr>
              <a:t>实验一｜256 会话 · 9,078 请求 · C16｜Prefix-on</a:t>
            </a:r>
          </a:p>
        </p:txBody>
      </p:sp>
      <p:sp>
        <p:nvSpPr>
          <p:cNvPr id="3" name="benefit-title"/>
          <p:cNvSpPr txBox="1"/>
          <p:nvPr/>
        </p:nvSpPr>
        <p:spPr>
          <a:xfrm>
            <a:off x="609904" y="420624"/>
            <a:ext cx="10972800" cy="44805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2150" b="1">
                <a:solidFill>
                  <a:srgbClr val="C00000"/>
                </a:solidFill>
                <a:latin typeface="微软雅黑"/>
                <a:ea typeface="微软雅黑"/>
              </a:rPr>
              <a:t>AFD 在多副本部署中实现资源与性能收益</a:t>
            </a:r>
          </a:p>
        </p:txBody>
      </p:sp>
      <p:sp>
        <p:nvSpPr>
          <p:cNvPr id="4" name="Rectangle 3"/>
          <p:cNvSpPr/>
          <p:nvPr/>
        </p:nvSpPr>
        <p:spPr>
          <a:xfrm>
            <a:off x="609904" y="914400"/>
            <a:ext cx="1426464" cy="2926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904" y="1028700"/>
            <a:ext cx="10972800" cy="400507"/>
          </a:xfrm>
          <a:prstGeom prst="rect">
            <a:avLst/>
          </a:prstGeom>
          <a:solidFill>
            <a:srgbClr val="F5F5F5"/>
          </a:solidFill>
          <a:ln w="762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101852"/>
            <a:ext cx="2468880" cy="24688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234CA5"/>
                </a:solidFill>
                <a:latin typeface="微软雅黑"/>
                <a:ea typeface="微软雅黑"/>
              </a:rPr>
              <a:t>模型：dsv4-flash W4A8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54680" y="1101852"/>
            <a:ext cx="5806440" cy="24688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528A00"/>
                </a:solidFill>
                <a:latin typeface="微软雅黑"/>
                <a:ea typeface="微软雅黑"/>
              </a:rPr>
              <a:t>相同 16 DIE｜多轮长上下文实测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89720" y="1101852"/>
            <a:ext cx="2194560" cy="24688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975" b="1">
                <a:solidFill>
                  <a:srgbClr val="F06A00"/>
                </a:solidFill>
                <a:latin typeface="微软雅黑"/>
                <a:ea typeface="微软雅黑"/>
              </a:rPr>
              <a:t>硬件：Ascend 910C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56248"/>
            <a:ext cx="320040" cy="16459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777777"/>
                </a:solidFill>
                <a:latin typeface="微软雅黑"/>
                <a:ea typeface="微软雅黑"/>
              </a:rPr>
              <a:t>46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" y="1783080"/>
            <a:ext cx="5321808" cy="1527048"/>
          </a:xfrm>
          <a:prstGeom prst="rect">
            <a:avLst/>
          </a:prstGeom>
          <a:solidFill>
            <a:srgbClr val="F7F7F7"/>
          </a:solidFill>
          <a:ln w="762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" y="1783080"/>
            <a:ext cx="41148" cy="152704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1911095"/>
            <a:ext cx="5029200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>
                <a:solidFill>
                  <a:srgbClr val="C00000"/>
                </a:solidFill>
                <a:latin typeface="微软雅黑"/>
                <a:ea typeface="微软雅黑"/>
              </a:rPr>
              <a:t>3.80×  相对 EP4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395728"/>
            <a:ext cx="5029200" cy="85039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222222"/>
                </a:solidFill>
                <a:latin typeface="微软雅黑"/>
                <a:ea typeface="微软雅黑"/>
              </a:rPr>
              <a:t>路由专家副本从 4 份集中为 1 份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222222"/>
                </a:solidFill>
                <a:latin typeface="微软雅黑"/>
                <a:ea typeface="微软雅黑"/>
              </a:rPr>
              <a:t>完整负载：238.92 → 62.92 分钟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99632" y="1783080"/>
            <a:ext cx="5349240" cy="1527048"/>
          </a:xfrm>
          <a:prstGeom prst="rect">
            <a:avLst/>
          </a:prstGeom>
          <a:solidFill>
            <a:srgbClr val="F7F7F7"/>
          </a:solidFill>
          <a:ln w="762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99632" y="1783080"/>
            <a:ext cx="41148" cy="152704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45936" y="1911095"/>
            <a:ext cx="5056631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>
                <a:solidFill>
                  <a:srgbClr val="C00000"/>
                </a:solidFill>
                <a:latin typeface="微软雅黑"/>
                <a:ea typeface="微软雅黑"/>
              </a:rPr>
              <a:t>1.33×  相对 EP8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45936" y="2395728"/>
            <a:ext cx="5056631" cy="85039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222222"/>
                </a:solidFill>
                <a:latin typeface="微软雅黑"/>
                <a:ea typeface="微软雅黑"/>
              </a:rPr>
              <a:t>路由专家副本从 2 份集中为 1 份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222222"/>
                </a:solidFill>
                <a:latin typeface="微软雅黑"/>
                <a:ea typeface="微软雅黑"/>
              </a:rPr>
              <a:t>完整负载：83.71 → 62.92 分钟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936" y="3703320"/>
            <a:ext cx="3502152" cy="1298448"/>
          </a:xfrm>
          <a:prstGeom prst="rect">
            <a:avLst/>
          </a:prstGeom>
          <a:solidFill>
            <a:srgbClr val="F7F7F7"/>
          </a:solidFill>
          <a:ln w="762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0936" y="3703320"/>
            <a:ext cx="41148" cy="1298448"/>
          </a:xfrm>
          <a:prstGeom prst="rect">
            <a:avLst/>
          </a:prstGeom>
          <a:solidFill>
            <a:srgbClr val="234C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3831335"/>
            <a:ext cx="3209544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234CA5"/>
                </a:solidFill>
                <a:latin typeface="微软雅黑"/>
                <a:ea typeface="微软雅黑"/>
              </a:rPr>
              <a:t>资源收益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315968"/>
            <a:ext cx="3209544" cy="62179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30" b="0">
                <a:solidFill>
                  <a:srgbClr val="222222"/>
                </a:solidFill>
                <a:latin typeface="微软雅黑"/>
                <a:ea typeface="微软雅黑"/>
              </a:rPr>
              <a:t>减少专家权重重复驻留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30" b="0">
                <a:solidFill>
                  <a:srgbClr val="222222"/>
                </a:solidFill>
                <a:latin typeface="微软雅黑"/>
                <a:ea typeface="微软雅黑"/>
              </a:rPr>
              <a:t>更多显存可用于会话缓存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38827" y="3703320"/>
            <a:ext cx="3502152" cy="1298448"/>
          </a:xfrm>
          <a:prstGeom prst="rect">
            <a:avLst/>
          </a:prstGeom>
          <a:solidFill>
            <a:srgbClr val="F7F7F7"/>
          </a:solidFill>
          <a:ln w="762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338827" y="3703320"/>
            <a:ext cx="41148" cy="1298448"/>
          </a:xfrm>
          <a:prstGeom prst="rect">
            <a:avLst/>
          </a:prstGeom>
          <a:solidFill>
            <a:srgbClr val="234C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85131" y="3831335"/>
            <a:ext cx="3209544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234CA5"/>
                </a:solidFill>
                <a:latin typeface="微软雅黑"/>
                <a:ea typeface="微软雅黑"/>
              </a:rPr>
              <a:t>当前 workflow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5131" y="4315968"/>
            <a:ext cx="3209544" cy="62179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30" b="0">
                <a:solidFill>
                  <a:srgbClr val="222222"/>
                </a:solidFill>
                <a:latin typeface="微软雅黑"/>
                <a:ea typeface="微软雅黑"/>
              </a:rPr>
              <a:t>EP16 总 KV 更大、prefill 更少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30" b="0">
                <a:solidFill>
                  <a:srgbClr val="222222"/>
                </a:solidFill>
                <a:latin typeface="微软雅黑"/>
                <a:ea typeface="微软雅黑"/>
              </a:rPr>
              <a:t>本轮全程耗时更短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046719" y="3703320"/>
            <a:ext cx="3502152" cy="1298448"/>
          </a:xfrm>
          <a:prstGeom prst="rect">
            <a:avLst/>
          </a:prstGeom>
          <a:solidFill>
            <a:srgbClr val="F7F7F7"/>
          </a:solidFill>
          <a:ln w="762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046719" y="3703320"/>
            <a:ext cx="41148" cy="1298448"/>
          </a:xfrm>
          <a:prstGeom prst="rect">
            <a:avLst/>
          </a:prstGeom>
          <a:solidFill>
            <a:srgbClr val="234C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93023" y="3831335"/>
            <a:ext cx="3209544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234CA5"/>
                </a:solidFill>
                <a:latin typeface="微软雅黑"/>
                <a:ea typeface="微软雅黑"/>
              </a:rPr>
              <a:t>适用场景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93023" y="4315968"/>
            <a:ext cx="3209544" cy="62179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30" b="0">
                <a:solidFill>
                  <a:srgbClr val="222222"/>
                </a:solidFill>
                <a:latin typeface="微软雅黑"/>
                <a:ea typeface="微软雅黑"/>
              </a:rPr>
              <a:t>Non-AFD 需多份专家权重时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30" b="0">
                <a:solidFill>
                  <a:srgbClr val="222222"/>
                </a:solidFill>
                <a:latin typeface="微软雅黑"/>
                <a:ea typeface="微软雅黑"/>
              </a:rPr>
              <a:t>AFD 的资源优势更具价值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1792" y="5559552"/>
            <a:ext cx="10954512" cy="548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4672" y="5678424"/>
            <a:ext cx="10570464" cy="3200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C00000"/>
                </a:solidFill>
                <a:latin typeface="微软雅黑"/>
                <a:ea typeface="微软雅黑"/>
              </a:rPr>
              <a:t>收益随部署与负载变化：本轮已验证 AFD 相对 EP4 / EP8 的优势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936" y="6300216"/>
            <a:ext cx="1088136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919" b="0">
                <a:solidFill>
                  <a:srgbClr val="666666"/>
                </a:solidFill>
                <a:latin typeface="微软雅黑"/>
                <a:ea typeface="微软雅黑"/>
              </a:rPr>
              <a:t>其他负载的收益需结合缓存压力与执行特征评估；本轮数字为各配置一次完整运行结果。</a:t>
            </a:r>
          </a:p>
        </p:txBody>
      </p:sp>
    </p:spTree>
  </p:cSld>
  <p:clrMapOvr>
    <a:masterClrMapping/>
  </p:clrMapOvr>
</p:sld>
</file>

<file path=ppt/slides/v20/_rels/presentation.xml.rels><?xml version='1.0' encoding='UTF-8' standalone='yes'?>
<Relationships xmlns="http://schemas.openxmlformats.org/package/2006/relationships"><Relationship Type="http://schemas.openxmlformats.org/officeDocument/2006/relationships/theme" Target="/ppt/slides/v20/theme/theme1.xml" Id="Re7d63504ef2e4048"/><Relationship Type="http://schemas.openxmlformats.org/officeDocument/2006/relationships/slideMaster" Target="/ppt/slides/v20/slideMasters/slideMaster1.xml" Id="R78380170a24745c4"/><Relationship Type="http://schemas.openxmlformats.org/officeDocument/2006/relationships/notesMaster" Target="/ppt/slides/v20/notesMasters/notesMaster1.xml" Id="R0bd4a73e75444137"/><Relationship Type="http://schemas.openxmlformats.org/officeDocument/2006/relationships/presProps" Target="/ppt/slides/v20/presProps.xml" Id="Rfa7a92d55dc2494f"/><Relationship Type="http://schemas.openxmlformats.org/officeDocument/2006/relationships/tableStyles" Target="/ppt/slides/v20/tableStyles.xml" Id="R2eedbe13aa3e4ee2"/><Relationship Type="http://schemas.openxmlformats.org/officeDocument/2006/relationships/slide" Target="/ppt/slides/v20/slides/slide1.xml" Id="Rbee031c6c9d74923"/><Relationship Type="http://schemas.openxmlformats.org/officeDocument/2006/relationships/slide" Target="/ppt/slides/v20/slides/slide2.xml" Id="R424f6e256ad84a5e"/><Relationship Type="http://schemas.openxmlformats.org/officeDocument/2006/relationships/slide" Target="/ppt/slides/v20/slides/slide3.xml" Id="R163f94291bf143c5"/><Relationship Type="http://schemas.openxmlformats.org/officeDocument/2006/relationships/slide" Target="/ppt/slides/v20/slides/slide4.xml" Id="R7164ab0db4f34e50"/><Relationship Type="http://schemas.openxmlformats.org/officeDocument/2006/relationships/slide" Target="/ppt/slides/v20/slides/slide5.xml" Id="Ra8b265faa1ab47b7"/><Relationship Type="http://schemas.openxmlformats.org/officeDocument/2006/relationships/slide" Target="/ppt/slides/v20/slides/slide6.xml" Id="R73765a7d3caf4ece"/><Relationship Type="http://schemas.openxmlformats.org/officeDocument/2006/relationships/slide" Target="/ppt/slides/v20/slides/slide7.xml" Id="R9dabcac819704200"/></Relationships>
</file>

<file path=ppt/slides/v20/notesMasters/_rels/notesMaster1.xml.rels><?xml version='1.0' encoding='UTF-8' standalone='yes'?>
<Relationships xmlns="http://schemas.openxmlformats.org/package/2006/relationships"><Relationship Type="http://schemas.openxmlformats.org/officeDocument/2006/relationships/theme" Target="/ppt/slides/v20/notesMasters/theme/theme3.xml" Id="R519a8f013b194ff6"/></Relationships>
</file>

<file path=ppt/slides/v20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slides/v20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v20/notesSlides/_rels/notesSlide1.xml.rels><?xml version='1.0' encoding='UTF-8' standalone='yes'?>
<Relationships xmlns="http://schemas.openxmlformats.org/package/2006/relationships"><Relationship Type="http://schemas.openxmlformats.org/officeDocument/2006/relationships/slide" Target="/ppt/slides/v20/slides/slide1.xml" Id="R7d9893a25dbf4395"/><Relationship Type="http://schemas.openxmlformats.org/officeDocument/2006/relationships/notesMaster" Target="/ppt/slides/v20/notesMasters/notesMaster1.xml" Id="R1e57e90c1ef0464d"/></Relationships>
</file>

<file path=ppt/slides/v20/notesSlides/_rels/notesSlide2.xml.rels><?xml version='1.0' encoding='UTF-8' standalone='yes'?>
<Relationships xmlns="http://schemas.openxmlformats.org/package/2006/relationships"><Relationship Type="http://schemas.openxmlformats.org/officeDocument/2006/relationships/slide" Target="/ppt/slides/v20/slides/slide2.xml" Id="Rd7a662bb0e934e6a"/><Relationship Type="http://schemas.openxmlformats.org/officeDocument/2006/relationships/notesMaster" Target="/ppt/slides/v20/notesMasters/notesMaster1.xml" Id="R1110782fb302420d"/></Relationships>
</file>

<file path=ppt/slides/v20/notesSlides/_rels/notesSlide3.xml.rels><?xml version='1.0' encoding='UTF-8' standalone='yes'?>
<Relationships xmlns="http://schemas.openxmlformats.org/package/2006/relationships"><Relationship Type="http://schemas.openxmlformats.org/officeDocument/2006/relationships/slide" Target="/ppt/slides/v20/slides/slide3.xml" Id="Rb3c045caced142b9"/><Relationship Type="http://schemas.openxmlformats.org/officeDocument/2006/relationships/notesMaster" Target="/ppt/slides/v20/notesMasters/notesMaster1.xml" Id="R9ef688d3b6f24a96"/></Relationships>
</file>

<file path=ppt/slides/v20/notesSlides/_rels/notesSlide4.xml.rels><?xml version='1.0' encoding='UTF-8' standalone='yes'?>
<Relationships xmlns="http://schemas.openxmlformats.org/package/2006/relationships"><Relationship Type="http://schemas.openxmlformats.org/officeDocument/2006/relationships/slide" Target="/ppt/slides/v20/slides/slide4.xml" Id="Rd8e13e9564874bac"/><Relationship Type="http://schemas.openxmlformats.org/officeDocument/2006/relationships/notesMaster" Target="/ppt/slides/v20/notesMasters/notesMaster1.xml" Id="Rd448a13ad2414a20"/></Relationships>
</file>

<file path=ppt/slides/v20/notesSlides/_rels/notesSlide5.xml.rels><?xml version='1.0' encoding='UTF-8' standalone='yes'?>
<Relationships xmlns="http://schemas.openxmlformats.org/package/2006/relationships"><Relationship Type="http://schemas.openxmlformats.org/officeDocument/2006/relationships/slide" Target="/ppt/slides/v20/slides/slide5.xml" Id="Rb753966a88b145f2"/><Relationship Type="http://schemas.openxmlformats.org/officeDocument/2006/relationships/notesMaster" Target="/ppt/slides/v20/notesMasters/notesMaster1.xml" Id="Ra8af3e93d0ab4419"/></Relationships>
</file>

<file path=ppt/slides/v20/notesSlides/_rels/notesSlide6.xml.rels><?xml version='1.0' encoding='UTF-8' standalone='yes'?>
<Relationships xmlns="http://schemas.openxmlformats.org/package/2006/relationships"><Relationship Type="http://schemas.openxmlformats.org/officeDocument/2006/relationships/slide" Target="/ppt/slides/v20/slides/slide6.xml" Id="Ra9207454f3944575"/><Relationship Type="http://schemas.openxmlformats.org/officeDocument/2006/relationships/notesMaster" Target="/ppt/slides/v20/notesMasters/notesMaster1.xml" Id="R35ebc325e3be424f"/></Relationships>
</file>

<file path=ppt/slides/v20/notesSlides/_rels/notesSlide7.xml.rels><?xml version='1.0' encoding='UTF-8' standalone='yes'?>
<Relationships xmlns="http://schemas.openxmlformats.org/package/2006/relationships"><Relationship Type="http://schemas.openxmlformats.org/officeDocument/2006/relationships/slide" Target="/ppt/slides/v20/slides/slide7.xml" Id="R5150bf0a9fc84719"/><Relationship Type="http://schemas.openxmlformats.org/officeDocument/2006/relationships/notesMaster" Target="/ppt/slides/v20/notesMasters/notesMaster1.xml" Id="Rf149e74055da44bd"/></Relationships>
</file>

<file path=ppt/slides/v20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s/v20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s/v20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来源：https://github.com/jiaran-king/afd-benefit-benchmark/blob/main/results/2026-10-14-c12-128/REPORT.zh-CN.md</a:t>
            </a:r>
          </a:p>
          <a:p xmlns:a="http://schemas.openxmlformats.org/drawingml/2006/main">
            <a:r>
              <a:t>原始数值：https://github.com/jiaran-king/afd-benefit-benchmark/blob/main/results/2026-10-14-c12-128/metrics.csv</a:t>
            </a:r>
          </a:p>
          <a:p xmlns:a="http://schemas.openxmlformats.org/drawingml/2006/main">
            <a:r>
              <a:t>2026-10-14，同一物理节点和 Pod，每组独占16 DIE，各一次完整回放。单次观察，不表示稳定或普遍收益。</a:t>
            </a:r>
          </a:p>
          <a:p xmlns:a="http://schemas.openxmlformats.org/drawingml/2006/main">
            <a:r>
              <a:t>数据来自已发布256会话母集的前128个完整会话，未按本次收益挑样。请求SHA256：65e10b43838be7bdf1f7459a07d34f1a57b64d05fa75fbf2b94f46efed6e86a4。共同maxlen262144、block32、utilization0.9、checkpoint ratio0.25、OMP4及原绑核。具体软件与实际配置见报告及experiments/2026-10-14-c12-128/。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s/v20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来源：https://github.com/jiaran-king/afd-benefit-benchmark/blob/main/results/2026-10-14-c12-128/REPORT.zh-CN.md</a:t>
            </a:r>
          </a:p>
          <a:p xmlns:a="http://schemas.openxmlformats.org/drawingml/2006/main">
            <a:r>
              <a:t>原始数值：https://github.com/jiaran-king/afd-benefit-benchmark/blob/main/results/2026-10-14-c12-128/metrics.csv</a:t>
            </a:r>
          </a:p>
          <a:p xmlns:a="http://schemas.openxmlformats.org/drawingml/2006/main">
            <a:r>
              <a:t>2026-10-14，同一物理节点和 Pod，每组独占16 DIE，各一次完整回放。单次观察，不表示稳定或普遍收益。</a:t>
            </a:r>
          </a:p>
          <a:p xmlns:a="http://schemas.openxmlformats.org/drawingml/2006/main">
            <a:r>
              <a:t>四组秒数：EP4 1949.2837916556746，EP8 1005.9154730439186，EP16 1199.9087823508307，AFD 940.079049827531。耗时降低=1−AFD/对照，对应加速2.074×、1.070×、1.276×。特别是对EP8的6.54%尚无重复运行确认。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s/v20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来源：https://github.com/jiaran-king/afd-benefit-benchmark/blob/main/results/2026-10-14-c12-128/REPORT.zh-CN.md</a:t>
            </a:r>
          </a:p>
          <a:p xmlns:a="http://schemas.openxmlformats.org/drawingml/2006/main">
            <a:r>
              <a:t>原始数值：https://github.com/jiaran-king/afd-benefit-benchmark/blob/main/results/2026-10-14-c12-128/metrics.csv</a:t>
            </a:r>
          </a:p>
          <a:p xmlns:a="http://schemas.openxmlformats.org/drawingml/2006/main">
            <a:r>
              <a:t>2026-10-14，同一物理节点和 Pod，每组独占16 DIE，各一次完整回放。单次观察，不表示稳定或普遍收益。</a:t>
            </a:r>
          </a:p>
          <a:p xmlns:a="http://schemas.openxmlformats.org/drawingml/2006/main">
            <a:r>
              <a:t>来源：https://github.com/jiaran-king/afd-benefit-benchmark/blob/main/results/2026-10-14-c12-128/per-die-memory.csv。F无attention KV分配记录，未知profile分项不记为测得的零。逐DIE精确范围和HBM实测见报告。整机实际KV包含TP驻留副本。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s/v20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来源：https://github.com/jiaran-king/afd-benefit-benchmark/blob/main/results/2026-10-14-c12-128/REPORT.zh-CN.md</a:t>
            </a:r>
          </a:p>
          <a:p xmlns:a="http://schemas.openxmlformats.org/drawingml/2006/main">
            <a:r>
              <a:t>原始数值：https://github.com/jiaran-king/afd-benefit-benchmark/blob/main/results/2026-10-14-c12-128/metrics.csv</a:t>
            </a:r>
          </a:p>
          <a:p xmlns:a="http://schemas.openxmlformats.org/drawingml/2006/main">
            <a:r>
              <a:t>2026-10-14，同一物理节点和 Pod，每组独占16 DIE，各一次完整回放。单次观察，不表示稳定或普遍收益。</a:t>
            </a:r>
          </a:p>
          <a:p xmlns:a="http://schemas.openxmlformats.org/drawingml/2006/main">
            <a:r>
              <a:t>EP4有466条请求缓存少于AFD，其余相同，共多做30978048 prefill tokens。EP8、EP16与AFD每条缓存采用相同，排除了缓存工作量差作为二者本次性能差的解释。不能将全部EP4耗时差归给缓存，也不能将其余差异叫作纯设备计算加速。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s/v20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来源：https://github.com/jiaran-king/afd-benefit-benchmark/blob/main/results/2026-10-14-c12-128/REPORT.zh-CN.md</a:t>
            </a:r>
          </a:p>
          <a:p xmlns:a="http://schemas.openxmlformats.org/drawingml/2006/main">
            <a:r>
              <a:t>原始数值：https://github.com/jiaran-king/afd-benefit-benchmark/blob/main/results/2026-10-14-c12-128/metrics.csv</a:t>
            </a:r>
          </a:p>
          <a:p xmlns:a="http://schemas.openxmlformats.org/drawingml/2006/main">
            <a:r>
              <a:t>2026-10-14，同一物理节点和 Pod，每组独占16 DIE，各一次完整回放。单次观察，不表示稳定或普遍收益。</a:t>
            </a:r>
          </a:p>
          <a:p xmlns:a="http://schemas.openxmlformats.org/drawingml/2006/main">
            <a:r>
              <a:t>历史报告：https://github.com/jiaran-king/afd-benefit-benchmark/blob/main/results/2026-10-12-ep16/REPORT.zh-CN.md。旧AFD/EP16耗时比为1.1562，新为0.7835。不能把收益反转归结为仅修改并发、仅修改路由或单一容量阈值。模拟用于筛选工作量，未预测设备时间；EP4实测prefill比模拟高10.77%，详见报告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s/v20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slides/v20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8380170a24745c4"/>
  </p:sldMasterIdLst>
  <p:notesMasterIdLst>
    <p:notesMasterId xmlns:r="http://schemas.openxmlformats.org/officeDocument/2006/relationships" r:id="R0bd4a73e75444137"/>
  </p:notesMasterIdLst>
  <p:sldIdLst>
    <p:sldId xmlns:r="http://schemas.openxmlformats.org/officeDocument/2006/relationships" id="256" r:id="Rbee031c6c9d74923"/>
    <p:sldId xmlns:r="http://schemas.openxmlformats.org/officeDocument/2006/relationships" id="257" r:id="R424f6e256ad84a5e"/>
    <p:sldId xmlns:r="http://schemas.openxmlformats.org/officeDocument/2006/relationships" id="258" r:id="R163f94291bf143c5"/>
    <p:sldId xmlns:r="http://schemas.openxmlformats.org/officeDocument/2006/relationships" id="259" r:id="R7164ab0db4f34e50"/>
    <p:sldId xmlns:r="http://schemas.openxmlformats.org/officeDocument/2006/relationships" id="260" r:id="Ra8b265faa1ab47b7"/>
    <p:sldId xmlns:r="http://schemas.openxmlformats.org/officeDocument/2006/relationships" id="261" r:id="R73765a7d3caf4ece"/>
    <p:sldId xmlns:r="http://schemas.openxmlformats.org/officeDocument/2006/relationships" id="262" r:id="R9dabcac819704200"/>
  </p:sldIdLst>
  <p:sldSz cx="12192000" cy="6858000"/>
  <p:notesSz cx="6858000" cy="9144000"/>
</p:presentation>
</file>

<file path=ppt/slides/v20/slideLayouts/_rels/slideLayout1.xml.rels><?xml version='1.0' encoding='UTF-8' standalone='yes'?>
<Relationships xmlns="http://schemas.openxmlformats.org/package/2006/relationships"><Relationship Type="http://schemas.openxmlformats.org/officeDocument/2006/relationships/slideMaster" Target="/ppt/slides/v20/slideMasters/slideMaster1.xml" Id="R0736a00c34614e4f"/></Relationships>
</file>

<file path=ppt/slides/v20/slideLayouts/_rels/slideLayout2.xml.rels><?xml version='1.0' encoding='UTF-8' standalone='yes'?>
<Relationships xmlns="http://schemas.openxmlformats.org/package/2006/relationships"><Relationship Type="http://schemas.openxmlformats.org/officeDocument/2006/relationships/slideMaster" Target="/ppt/slides/v20/slideMasters/slideMaster1.xml" Id="R884e8001f7f049cd"/></Relationships>
</file>

<file path=ppt/slides/v20/slideLayouts/_rels/slideLayout3.xml.rels><?xml version='1.0' encoding='UTF-8' standalone='yes'?>
<Relationships xmlns="http://schemas.openxmlformats.org/package/2006/relationships"><Relationship Type="http://schemas.openxmlformats.org/officeDocument/2006/relationships/slideMaster" Target="/ppt/slides/v20/slideMasters/slideMaster1.xml" Id="R53814f059af94661"/></Relationships>
</file>

<file path=ppt/slides/v20/slideLayouts/_rels/slideLayout4.xml.rels><?xml version='1.0' encoding='UTF-8' standalone='yes'?>
<Relationships xmlns="http://schemas.openxmlformats.org/package/2006/relationships"><Relationship Type="http://schemas.openxmlformats.org/officeDocument/2006/relationships/slideMaster" Target="/ppt/slides/v20/slideMasters/slideMaster1.xml" Id="R21e563bd1db943d0"/></Relationships>
</file>

<file path=ppt/slides/v20/slideLayouts/_rels/slideLayout5.xml.rels><?xml version='1.0' encoding='UTF-8' standalone='yes'?>
<Relationships xmlns="http://schemas.openxmlformats.org/package/2006/relationships"><Relationship Type="http://schemas.openxmlformats.org/officeDocument/2006/relationships/slideMaster" Target="/ppt/slides/v20/slideMasters/slideMaster1.xml" Id="R2fb9c2f7d15a4839"/></Relationships>
</file>

<file path=ppt/slides/v20/slideLayouts/_rels/slideLayout6.xml.rels><?xml version='1.0' encoding='UTF-8' standalone='yes'?>
<Relationships xmlns="http://schemas.openxmlformats.org/package/2006/relationships"><Relationship Type="http://schemas.openxmlformats.org/officeDocument/2006/relationships/slideMaster" Target="/ppt/slides/v20/slideMasters/slideMaster1.xml" Id="R839619e30be645e8"/></Relationships>
</file>

<file path=ppt/slides/v20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8D464E7-2B5E-409B-9DAF-8D76DCFAED9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88CA9D0C-FEA2-49A2-9ABD-FFB178D8991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s/v20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2BD38666-8192-48FA-A7AC-67C262B5F93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s/v20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D03594A-EC07-455A-9DE7-F85FD01AA26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8E5BF642-4CD8-4252-8EE4-4B98E9B4AC3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s/v20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2334297-651C-4188-8103-8DC0B4B839F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2EDB707-6FB2-4A45-A5B5-24E84041019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617BACA8-63F2-4305-849D-0D2F7FDAF30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s/v20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5F3CA1B-EE3E-4E6B-B8E4-7864D43F402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5A486AA-E9D7-4892-AB82-497362340B0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s/v20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s/v20/slideMasters/_rels/slideMaster1.xml.rels><?xml version='1.0' encoding='UTF-8' standalone='yes'?>
<Relationships xmlns="http://schemas.openxmlformats.org/package/2006/relationships"><Relationship Type="http://schemas.openxmlformats.org/officeDocument/2006/relationships/theme" Target="/ppt/slides/v20/slideMasters/theme/theme2.xml" Id="R4637cd269dc8404e"/><Relationship Type="http://schemas.openxmlformats.org/officeDocument/2006/relationships/slideLayout" Target="/ppt/slides/v20/slideLayouts/slideLayout1.xml" Id="R2d3da2f7f2ca481c"/><Relationship Type="http://schemas.openxmlformats.org/officeDocument/2006/relationships/slideLayout" Target="/ppt/slides/v20/slideLayouts/slideLayout2.xml" Id="Rd461668805b74874"/><Relationship Type="http://schemas.openxmlformats.org/officeDocument/2006/relationships/slideLayout" Target="/ppt/slides/v20/slideLayouts/slideLayout3.xml" Id="R58a01958ceb0402d"/><Relationship Type="http://schemas.openxmlformats.org/officeDocument/2006/relationships/slideLayout" Target="/ppt/slides/v20/slideLayouts/slideLayout4.xml" Id="Ree3d5c9595814e76"/><Relationship Type="http://schemas.openxmlformats.org/officeDocument/2006/relationships/slideLayout" Target="/ppt/slides/v20/slideLayouts/slideLayout5.xml" Id="R27432111ff1842cd"/><Relationship Type="http://schemas.openxmlformats.org/officeDocument/2006/relationships/slideLayout" Target="/ppt/slides/v20/slideLayouts/slideLayout6.xml" Id="R755b95aeee9f4c82"/></Relationships>
</file>

<file path=ppt/slides/v20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d3da2f7f2ca481c"/>
    <p:sldLayoutId xmlns:r="http://schemas.openxmlformats.org/officeDocument/2006/relationships" id="2147483650" r:id="Rd461668805b74874"/>
    <p:sldLayoutId xmlns:r="http://schemas.openxmlformats.org/officeDocument/2006/relationships" id="2147483651" r:id="R58a01958ceb0402d"/>
    <p:sldLayoutId xmlns:r="http://schemas.openxmlformats.org/officeDocument/2006/relationships" id="2147483652" r:id="Ree3d5c9595814e76"/>
    <p:sldLayoutId xmlns:r="http://schemas.openxmlformats.org/officeDocument/2006/relationships" id="2147483653" r:id="R27432111ff1842cd"/>
    <p:sldLayoutId xmlns:r="http://schemas.openxmlformats.org/officeDocument/2006/relationships" id="2147483654" r:id="R755b95aeee9f4c8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v20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v20/slides/_rels/slide1.xml.rels><?xml version='1.0' encoding='UTF-8' standalone='yes'?>
<Relationships xmlns="http://schemas.openxmlformats.org/package/2006/relationships"><Relationship Type="http://schemas.openxmlformats.org/officeDocument/2006/relationships/slideLayout" Target="/ppt/slides/v20/slideLayouts/slideLayout6.xml" Id="Ree463d5594214642"/><Relationship Type="http://schemas.openxmlformats.org/officeDocument/2006/relationships/notesSlide" Target="/ppt/slides/v20/notesSlides/notesSlide1.xml" Id="R6cfaa74596b643e8"/></Relationships>
</file>

<file path=ppt/slides/v20/slides/_rels/slide2.xml.rels><?xml version='1.0' encoding='UTF-8' standalone='yes'?>
<Relationships xmlns="http://schemas.openxmlformats.org/package/2006/relationships"><Relationship Type="http://schemas.openxmlformats.org/officeDocument/2006/relationships/slideLayout" Target="/ppt/slides/v20/slideLayouts/slideLayout6.xml" Id="R2d11df32bf674f91"/><Relationship Type="http://schemas.openxmlformats.org/officeDocument/2006/relationships/notesSlide" Target="/ppt/slides/v20/notesSlides/notesSlide2.xml" Id="R69dd661fd7d54a5d"/></Relationships>
</file>

<file path=ppt/slides/v20/slides/_rels/slide3.xml.rels><?xml version='1.0' encoding='UTF-8' standalone='yes'?>
<Relationships xmlns="http://schemas.openxmlformats.org/package/2006/relationships"><Relationship Type="http://schemas.openxmlformats.org/officeDocument/2006/relationships/slideLayout" Target="/ppt/slides/v20/slideLayouts/slideLayout6.xml" Id="R12795e67b2f942cc"/><Relationship Type="http://schemas.openxmlformats.org/officeDocument/2006/relationships/notesSlide" Target="/ppt/slides/v20/notesSlides/notesSlide3.xml" Id="Ra3c53b1689eb48c2"/></Relationships>
</file>

<file path=ppt/slides/v20/slides/_rels/slide4.xml.rels><?xml version='1.0' encoding='UTF-8' standalone='yes'?>
<Relationships xmlns="http://schemas.openxmlformats.org/package/2006/relationships"><Relationship Type="http://schemas.openxmlformats.org/officeDocument/2006/relationships/slideLayout" Target="/ppt/slides/v20/slideLayouts/slideLayout6.xml" Id="R076a4baaba794203"/><Relationship Type="http://schemas.openxmlformats.org/officeDocument/2006/relationships/chart" Target="/ppt/slides/v20/slides/charts/chart1.xml" Id="R83b3952bcc6c4249"/><Relationship Type="http://schemas.openxmlformats.org/officeDocument/2006/relationships/notesSlide" Target="/ppt/slides/v20/notesSlides/notesSlide4.xml" Id="R7a4502a8928d43c3"/></Relationships>
</file>

<file path=ppt/slides/v20/slides/_rels/slide5.xml.rels><?xml version='1.0' encoding='UTF-8' standalone='yes'?>
<Relationships xmlns="http://schemas.openxmlformats.org/package/2006/relationships"><Relationship Type="http://schemas.openxmlformats.org/officeDocument/2006/relationships/slideLayout" Target="/ppt/slides/v20/slideLayouts/slideLayout6.xml" Id="Read39619b953477c"/><Relationship Type="http://schemas.openxmlformats.org/officeDocument/2006/relationships/notesSlide" Target="/ppt/slides/v20/notesSlides/notesSlide5.xml" Id="R5460f536db8a449b"/></Relationships>
</file>

<file path=ppt/slides/v20/slides/_rels/slide6.xml.rels><?xml version='1.0' encoding='UTF-8' standalone='yes'?>
<Relationships xmlns="http://schemas.openxmlformats.org/package/2006/relationships"><Relationship Type="http://schemas.openxmlformats.org/officeDocument/2006/relationships/slideLayout" Target="/ppt/slides/v20/slideLayouts/slideLayout6.xml" Id="R8caa145719e64967"/><Relationship Type="http://schemas.openxmlformats.org/officeDocument/2006/relationships/chart" Target="/ppt/slides/v20/slides/charts/chart2.xml" Id="R8da6a074fd1b42ad"/><Relationship Type="http://schemas.openxmlformats.org/officeDocument/2006/relationships/notesSlide" Target="/ppt/slides/v20/notesSlides/notesSlide6.xml" Id="R6807dcb5c2854f5d"/></Relationships>
</file>

<file path=ppt/slides/v20/slides/_rels/slide7.xml.rels><?xml version='1.0' encoding='UTF-8' standalone='yes'?>
<Relationships xmlns="http://schemas.openxmlformats.org/package/2006/relationships"><Relationship Type="http://schemas.openxmlformats.org/officeDocument/2006/relationships/slideLayout" Target="/ppt/slides/v20/slideLayouts/slideLayout6.xml" Id="R9807717822de4f15"/><Relationship Type="http://schemas.openxmlformats.org/officeDocument/2006/relationships/notesSlide" Target="/ppt/slides/v20/notesSlides/notesSlide7.xml" Id="Re67beaacf1944bff"/></Relationships>
</file>

<file path=ppt/slides/v20/slides/charts/_rels/chart1.xml.rels><?xml version='1.0' encoding='UTF-8' standalone='yes'?>
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v20/slides/charts/_rels/chart2.xml.rels><?xml version='1.0' encoding='UTF-8' standalone='yes'?>
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v20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分钟</c:v>
          </c:tx>
          <c:spPr>
            <a:solidFill xmlns:a="http://schemas.openxmlformats.org/drawingml/2006/main">
              <a:srgbClr val="284DA6"/>
            </a:solidFill>
          </c:spPr>
          <c:invertIfNegative val="0"/>
          <c:dPt>
            <c:idx val="0"/>
            <c:invertIfNegative val="0"/>
            <c:spPr>
              <a:solidFill xmlns:a="http://schemas.openxmlformats.org/drawingml/2006/main">
                <a:srgbClr val="77A238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4774C3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7134A3"/>
              </a:solidFill>
            </c:spPr>
          </c:dPt>
          <c:dPt>
            <c:idx val="3"/>
            <c:invertIfNegative val="0"/>
            <c:spPr>
              <a:solidFill xmlns:a="http://schemas.openxmlformats.org/drawingml/2006/main">
                <a:srgbClr val="F4A900"/>
              </a:solidFill>
            </c:spPr>
          </c:dPt>
          <c:cat>
            <c:strRef>
              <c:f>'Chart Data'!$A$2:$A$5</c:f>
              <c:strCache>
                <c:ptCount val="4"/>
                <c:pt idx="0">
                  <c:v>EP4</c:v>
                </c:pt>
                <c:pt idx="1">
                  <c:v>EP8</c:v>
                </c:pt>
                <c:pt idx="2">
                  <c:v>EP16</c:v>
                </c:pt>
                <c:pt idx="3">
                  <c:v>AFD eager</c:v>
                </c:pt>
              </c:strCache>
            </c:strRef>
          </c:cat>
          <c:val>
            <c:numRef>
              <c:f>'Chart Data'!$B$2:$B$5</c:f>
              <c:numCache>
                <c:formatCode>0</c:formatCode>
                <c:ptCount val="4"/>
                <c:pt idx="0">
                  <c:v>32.4880631943</c:v>
                </c:pt>
                <c:pt idx="1">
                  <c:v>16.7652578841</c:v>
                </c:pt>
                <c:pt idx="2">
                  <c:v>19.9984797058</c:v>
                </c:pt>
                <c:pt idx="3">
                  <c:v>15.6679841638</c:v>
                </c:pt>
              </c:numCache>
            </c:numRef>
          </c:val>
        </c:ser>
        <c:dLbls>
          <c:numFmt formatCode="0.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>
                  <a:solidFill>
                    <a:srgbClr val="333333"/>
                  </a:solidFill>
                  <a:latin typeface="微软雅黑"/>
                  <a:ea typeface="微软雅黑"/>
                  <a:cs typeface="微软雅黑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4763">
            <a:solidFill>
              <a:srgbClr val="E3E3E3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333333"/>
                </a:solidFill>
                <a:latin typeface="微软雅黑"/>
                <a:ea typeface="微软雅黑"/>
                <a:cs typeface="微软雅黑"/>
              </a:defRPr>
            </a:pPr>
          </a:p>
        </c:txPr>
        <c:crossAx val="48672768"/>
      </c:catAx>
      <c:valAx>
        <c:axId val="48672768"/>
        <c:scaling>
          <c:orientation val="minMax"/>
          <c:max val="38"/>
          <c:min val="0"/>
        </c:scaling>
        <c:delete val="0"/>
        <c:axPos val="b"/>
        <c:majorGridlines>
          <c:spPr>
            <a:ln xmlns:a="http://schemas.openxmlformats.org/drawingml/2006/main" w="4763">
              <a:solidFill>
                <a:srgbClr val="EAEAEA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777777"/>
                </a:solidFill>
                <a:latin typeface="微软雅黑"/>
                <a:ea typeface="微软雅黑"/>
                <a:cs typeface="微软雅黑"/>
              </a:defRPr>
            </a:pPr>
          </a:p>
        </c:txPr>
        <c:crossAx val="48650112"/>
        <c:crossBetween val="between"/>
      </c:valAx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v20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百万 tokens</c:v>
          </c:tx>
          <c:spPr>
            <a:solidFill xmlns:a="http://schemas.openxmlformats.org/drawingml/2006/main">
              <a:srgbClr val="284DA6"/>
            </a:solidFill>
          </c:spPr>
          <c:invertIfNegative val="0"/>
          <c:dPt>
            <c:idx val="0"/>
            <c:invertIfNegative val="0"/>
            <c:spPr>
              <a:solidFill xmlns:a="http://schemas.openxmlformats.org/drawingml/2006/main">
                <a:srgbClr val="77A238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4774C3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7134A3"/>
              </a:solidFill>
            </c:spPr>
          </c:dPt>
          <c:dPt>
            <c:idx val="3"/>
            <c:invertIfNegative val="0"/>
            <c:spPr>
              <a:solidFill xmlns:a="http://schemas.openxmlformats.org/drawingml/2006/main">
                <a:srgbClr val="F4A900"/>
              </a:solidFill>
            </c:spPr>
          </c:dPt>
          <c:cat>
            <c:strRef>
              <c:f>'Chart Data'!$A$2:$A$5</c:f>
              <c:strCache>
                <c:ptCount val="4"/>
                <c:pt idx="0">
                  <c:v>EP4</c:v>
                </c:pt>
                <c:pt idx="1">
                  <c:v>EP8</c:v>
                </c:pt>
                <c:pt idx="2">
                  <c:v>EP16</c:v>
                </c:pt>
                <c:pt idx="3">
                  <c:v>AFD eager</c:v>
                </c:pt>
              </c:strCache>
            </c:strRef>
          </c:cat>
          <c:val>
            <c:numRef>
              <c:f>'Chart Data'!$B$2:$B$5</c:f>
              <c:numCache>
                <c:formatCode>0</c:formatCode>
                <c:ptCount val="4"/>
                <c:pt idx="0">
                  <c:v>50.68815</c:v>
                </c:pt>
                <c:pt idx="1">
                  <c:v>19.710102</c:v>
                </c:pt>
                <c:pt idx="2">
                  <c:v>19.710102</c:v>
                </c:pt>
                <c:pt idx="3">
                  <c:v>19.710102</c:v>
                </c:pt>
              </c:numCache>
            </c:numRef>
          </c:val>
        </c:ser>
        <c:dLbls>
          <c:numFmt formatCode="0.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>
                  <a:solidFill>
                    <a:srgbClr val="333333"/>
                  </a:solidFill>
                  <a:latin typeface="微软雅黑"/>
                  <a:ea typeface="微软雅黑"/>
                  <a:cs typeface="微软雅黑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4763">
            <a:solidFill>
              <a:srgbClr val="E3E3E3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333333"/>
                </a:solidFill>
                <a:latin typeface="微软雅黑"/>
                <a:ea typeface="微软雅黑"/>
                <a:cs typeface="微软雅黑"/>
              </a:defRPr>
            </a:pPr>
          </a:p>
        </c:txPr>
        <c:crossAx val="48672768"/>
      </c:catAx>
      <c:valAx>
        <c:axId val="48672768"/>
        <c:scaling>
          <c:orientation val="minMax"/>
          <c:max val="60"/>
          <c:min val="0"/>
        </c:scaling>
        <c:delete val="0"/>
        <c:axPos val="b"/>
        <c:majorGridlines>
          <c:spPr>
            <a:ln xmlns:a="http://schemas.openxmlformats.org/drawingml/2006/main" w="4763">
              <a:solidFill>
                <a:srgbClr val="EAEAEA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777777"/>
                </a:solidFill>
                <a:latin typeface="微软雅黑"/>
                <a:ea typeface="微软雅黑"/>
                <a:cs typeface="微软雅黑"/>
              </a:defRPr>
            </a:pPr>
          </a:p>
        </c:txPr>
        <c:crossAx val="48650112"/>
        <c:crossBetween val="between"/>
      </c:valAx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v20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实验一｜256 会话 / C16">
            <a:extLst xmlns:a="http://schemas.openxmlformats.org/drawingml/2006/main">
              <a:ext uri="{FF2B5EF4-FFF2-40B4-BE49-F238E27FC236}">
                <a16:creationId xmlns:a16="http://schemas.microsoft.com/office/drawing/2014/main" id="{E5479453-2983-4C3B-9F48-1CE7AC9AE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350" b="1">
                <a:solidFill>
                  <a:srgbClr val="777777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777777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777777"/>
                </a:solidFill>
                <a:latin typeface="微软雅黑"/>
                <a:ea typeface="微软雅黑"/>
                <a:cs typeface="微软雅黑"/>
              </a:rPr>
              <a:t>实验一｜256 会话 / C16</a:t>
            </a:r>
          </a:p>
        </p:txBody>
      </p:sp>
      <p:sp>
        <p:nvSpPr>
          <p:cNvPr id="2" name="多轮长上下文下的 AFD 收益">
            <a:extLst xmlns:a="http://schemas.openxmlformats.org/drawingml/2006/main">
              <a:ext uri="{FF2B5EF4-FFF2-40B4-BE49-F238E27FC236}">
                <a16:creationId xmlns:a16="http://schemas.microsoft.com/office/drawing/2014/main" id="{1AD5371C-A436-4BB1-AD3F-067366EEA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850" b="1">
                <a:solidFill>
                  <a:srgbClr val="D00000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D00000"/>
                </a:solidFill>
                <a:latin typeface="微软雅黑"/>
                <a:ea typeface="微软雅黑"/>
                <a:cs typeface="微软雅黑"/>
              </a:defRPr>
            </a:pPr>
            <a:r>
              <a:rPr sz="2850" b="1">
                <a:solidFill>
                  <a:srgbClr val="D00000"/>
                </a:solidFill>
                <a:latin typeface="微软雅黑"/>
                <a:ea typeface="微软雅黑"/>
                <a:cs typeface="微软雅黑"/>
              </a:rPr>
              <a:t>多轮长上下文下的 AFD 收益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210C60-867A-4396-B16B-85623BA7D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24150"/>
            <a:ext cx="13811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0000"/>
          </a:solidFill>
          <a:ln xmlns:a="http://schemas.openxmlformats.org/drawingml/2006/main" w="0">
            <a:noFill/>
          </a:ln>
        </p:spPr>
      </p:sp>
      <p:sp>
        <p:nvSpPr>
          <p:cNvPr id="4" name="256 个完整会话　·　9,078 个请求　·　全局并发 16">
            <a:extLst xmlns:a="http://schemas.openxmlformats.org/drawingml/2006/main">
              <a:ext uri="{FF2B5EF4-FFF2-40B4-BE49-F238E27FC236}">
                <a16:creationId xmlns:a16="http://schemas.microsoft.com/office/drawing/2014/main" id="{D90DDE6C-0631-482A-9425-5482DB2F2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67050"/>
            <a:ext cx="10972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284DA6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284DA6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284DA6"/>
                </a:solidFill>
                <a:latin typeface="微软雅黑"/>
                <a:ea typeface="微软雅黑"/>
                <a:cs typeface="微软雅黑"/>
              </a:rPr>
              <a:t>256 个完整会话　·　9,078 个请求　·　全局并发 16</a:t>
            </a:r>
          </a:p>
        </p:txBody>
      </p:sp>
      <p:sp>
        <p:nvSpPr>
          <p:cNvPr id="5" name="比较 EP4、EP8、EP16 与 AFD&#10;关注权重驻留、缓存复">
            <a:extLst xmlns:a="http://schemas.openxmlformats.org/drawingml/2006/main">
              <a:ext uri="{FF2B5EF4-FFF2-40B4-BE49-F238E27FC236}">
                <a16:creationId xmlns:a16="http://schemas.microsoft.com/office/drawing/2014/main" id="{0393C0B1-6BA3-44E2-8894-3F02470FD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0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575" b="0">
                <a:solidFill>
                  <a:srgbClr val="333333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333333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比较 EP4、EP8、EP16 与 AFD</a:t>
            </a:r>
          </a:p>
          <a:p xmlns:a="http://schemas.openxmlformats.org/drawingml/2006/main">
            <a:pPr algn="l">
              <a:defRPr sz="1575" b="0">
                <a:solidFill>
                  <a:srgbClr val="333333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关注权重驻留、缓存复用及完整负载耗时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11F8F2-CAEC-4200-8C40-D4774D3E3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72150"/>
            <a:ext cx="109728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 w="0">
            <a:noFill/>
          </a:ln>
        </p:spPr>
      </p:sp>
      <p:sp>
        <p:nvSpPr>
          <p:cNvPr id="7" name="相同 16 DIE｜前缀缓存开启｜多轮完整会话｜每轮输出 1 t">
            <a:extLst xmlns:a="http://schemas.openxmlformats.org/drawingml/2006/main">
              <a:ext uri="{FF2B5EF4-FFF2-40B4-BE49-F238E27FC236}">
                <a16:creationId xmlns:a16="http://schemas.microsoft.com/office/drawing/2014/main" id="{804DA845-2B72-4B0C-924F-2F0F7015E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29300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1">
                <a:solidFill>
                  <a:srgbClr val="D00000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D00000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D00000"/>
                </a:solidFill>
                <a:latin typeface="微软雅黑"/>
                <a:ea typeface="微软雅黑"/>
                <a:cs typeface="微软雅黑"/>
              </a:rPr>
              <a:t>相同 16 DIE｜前缀缓存开启｜多轮完整会话｜每轮输出 1 token</a:t>
            </a:r>
          </a:p>
        </p:txBody>
      </p:sp>
      <p:sp>
        <p:nvSpPr>
          <p:cNvPr id="8" name="39">
            <a:extLst xmlns:a="http://schemas.openxmlformats.org/drawingml/2006/main">
              <a:ext uri="{FF2B5EF4-FFF2-40B4-BE49-F238E27FC236}">
                <a16:creationId xmlns:a16="http://schemas.microsoft.com/office/drawing/2014/main" id="{1956402A-4B4E-4486-A2B2-5ECBBBEE0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553200"/>
            <a:ext cx="3048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800" b="0">
                <a:solidFill>
                  <a:srgbClr val="777777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r">
              <a:defRPr sz="800" b="0">
                <a:solidFill>
                  <a:srgbClr val="777777"/>
                </a:solidFill>
                <a:latin typeface="微软雅黑"/>
                <a:ea typeface="微软雅黑"/>
                <a:cs typeface="微软雅黑"/>
              </a:defRPr>
            </a:pPr>
            <a:r>
              <a:rPr sz="800" b="0">
                <a:solidFill>
                  <a:srgbClr val="777777"/>
                </a:solidFill>
                <a:latin typeface="微软雅黑"/>
                <a:ea typeface="微软雅黑"/>
                <a:cs typeface="微软雅黑"/>
              </a:rPr>
              <a:t>39</a:t>
            </a:r>
          </a:p>
        </p:txBody>
      </p:sp>
    </p:spTree>
    <p:extLst>
      <p:ext uri="{BB962C8B-B14F-4D97-AF65-F5344CB8AC3E}">
        <p14:creationId xmlns:p14="http://schemas.microsoft.com/office/powerpoint/2010/main" val="1168746198"/>
      </p:ext>
    </p:extLst>
  </p:cSld>
</p:sld>
</file>

<file path=ppt/slides/v20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实验二｜128 会话 / C12">
            <a:extLst xmlns:a="http://schemas.openxmlformats.org/drawingml/2006/main">
              <a:ext uri="{FF2B5EF4-FFF2-40B4-BE49-F238E27FC236}">
                <a16:creationId xmlns:a16="http://schemas.microsoft.com/office/drawing/2014/main" id="{FFF6D5F7-607D-4A29-B929-D5ABB0404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350" b="1">
                <a:solidFill>
                  <a:srgbClr val="777777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777777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777777"/>
                </a:solidFill>
                <a:latin typeface="微软雅黑"/>
                <a:ea typeface="微软雅黑"/>
                <a:cs typeface="微软雅黑"/>
              </a:rPr>
              <a:t>实验二｜128 会话 / C12</a:t>
            </a:r>
          </a:p>
        </p:txBody>
      </p:sp>
      <p:sp>
        <p:nvSpPr>
          <p:cNvPr id="2" name="调整负载后的 AFD 收益">
            <a:extLst xmlns:a="http://schemas.openxmlformats.org/drawingml/2006/main">
              <a:ext uri="{FF2B5EF4-FFF2-40B4-BE49-F238E27FC236}">
                <a16:creationId xmlns:a16="http://schemas.microsoft.com/office/drawing/2014/main" id="{4A8BB962-EE09-41D3-8F31-0525FA515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850" b="1">
                <a:solidFill>
                  <a:srgbClr val="D00000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D00000"/>
                </a:solidFill>
                <a:latin typeface="微软雅黑"/>
                <a:ea typeface="微软雅黑"/>
                <a:cs typeface="微软雅黑"/>
              </a:defRPr>
            </a:pPr>
            <a:r>
              <a:rPr sz="2850" b="1">
                <a:solidFill>
                  <a:srgbClr val="D00000"/>
                </a:solidFill>
                <a:latin typeface="微软雅黑"/>
                <a:ea typeface="微软雅黑"/>
                <a:cs typeface="微软雅黑"/>
              </a:rPr>
              <a:t>调整负载后的 AFD 收益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BF55A5-7601-4BA8-B466-EA8099CD7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24150"/>
            <a:ext cx="13811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0000"/>
          </a:solidFill>
          <a:ln xmlns:a="http://schemas.openxmlformats.org/drawingml/2006/main" w="0">
            <a:noFill/>
          </a:ln>
        </p:spPr>
      </p:sp>
      <p:sp>
        <p:nvSpPr>
          <p:cNvPr id="4" name="128 个完整会话　·　3,725 个请求　·　全局并发 12">
            <a:extLst xmlns:a="http://schemas.openxmlformats.org/drawingml/2006/main">
              <a:ext uri="{FF2B5EF4-FFF2-40B4-BE49-F238E27FC236}">
                <a16:creationId xmlns:a16="http://schemas.microsoft.com/office/drawing/2014/main" id="{E11A23EF-477B-4AB9-BB77-5C4836EB0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67050"/>
            <a:ext cx="10972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284DA6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284DA6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284DA6"/>
                </a:solidFill>
                <a:latin typeface="微软雅黑"/>
                <a:ea typeface="微软雅黑"/>
                <a:cs typeface="微软雅黑"/>
              </a:rPr>
              <a:t>128 个完整会话　·　3,725 个请求　·　全局并发 12</a:t>
            </a:r>
          </a:p>
        </p:txBody>
      </p:sp>
      <p:sp>
        <p:nvSpPr>
          <p:cNvPr id="5" name="沿用实验一的模型、部署拓扑与核心性能配置&#10;缩小会话集合、降低全局">
            <a:extLst xmlns:a="http://schemas.openxmlformats.org/drawingml/2006/main">
              <a:ext uri="{FF2B5EF4-FFF2-40B4-BE49-F238E27FC236}">
                <a16:creationId xmlns:a16="http://schemas.microsoft.com/office/drawing/2014/main" id="{613C44C8-9DB0-4E37-9A3C-34E3B2B14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0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575" b="0">
                <a:solidFill>
                  <a:srgbClr val="333333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333333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沿用实验一的模型、部署拓扑与核心性能配置</a:t>
            </a:r>
          </a:p>
          <a:p xmlns:a="http://schemas.openxmlformats.org/drawingml/2006/main">
            <a:pPr algn="l">
              <a:defRPr sz="1575" b="0">
                <a:solidFill>
                  <a:srgbClr val="333333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缩小会话集合、降低全局并发，按子集重建固定路由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35A75A-AC02-459A-AF56-4D19C1432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72150"/>
            <a:ext cx="109728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 w="0">
            <a:noFill/>
          </a:ln>
        </p:spPr>
      </p:sp>
      <p:sp>
        <p:nvSpPr>
          <p:cNvPr id="7" name="相同 16 DIE｜前缀缓存开启｜多轮完整会话｜每轮输出 1 t">
            <a:extLst xmlns:a="http://schemas.openxmlformats.org/drawingml/2006/main">
              <a:ext uri="{FF2B5EF4-FFF2-40B4-BE49-F238E27FC236}">
                <a16:creationId xmlns:a16="http://schemas.microsoft.com/office/drawing/2014/main" id="{9B7FB717-821B-41DD-9E04-7E8DB4FA3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29300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1">
                <a:solidFill>
                  <a:srgbClr val="D00000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D00000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D00000"/>
                </a:solidFill>
                <a:latin typeface="微软雅黑"/>
                <a:ea typeface="微软雅黑"/>
                <a:cs typeface="微软雅黑"/>
              </a:rPr>
              <a:t>相同 16 DIE｜前缀缓存开启｜多轮完整会话｜每轮输出 1 token</a:t>
            </a:r>
          </a:p>
        </p:txBody>
      </p:sp>
      <p:sp>
        <p:nvSpPr>
          <p:cNvPr id="8" name="47">
            <a:extLst xmlns:a="http://schemas.openxmlformats.org/drawingml/2006/main">
              <a:ext uri="{FF2B5EF4-FFF2-40B4-BE49-F238E27FC236}">
                <a16:creationId xmlns:a16="http://schemas.microsoft.com/office/drawing/2014/main" id="{6AC049E6-6AB7-4DD4-8F40-086E96416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553200"/>
            <a:ext cx="3048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800" b="0">
                <a:solidFill>
                  <a:srgbClr val="777777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r">
              <a:defRPr sz="800" b="0">
                <a:solidFill>
                  <a:srgbClr val="777777"/>
                </a:solidFill>
                <a:latin typeface="微软雅黑"/>
                <a:ea typeface="微软雅黑"/>
                <a:cs typeface="微软雅黑"/>
              </a:defRPr>
            </a:pPr>
            <a:r>
              <a:rPr sz="800" b="0">
                <a:solidFill>
                  <a:srgbClr val="777777"/>
                </a:solidFill>
                <a:latin typeface="微软雅黑"/>
                <a:ea typeface="微软雅黑"/>
                <a:cs typeface="微软雅黑"/>
              </a:rPr>
              <a:t>47</a:t>
            </a:r>
          </a:p>
        </p:txBody>
      </p:sp>
    </p:spTree>
    <p:extLst>
      <p:ext uri="{BB962C8B-B14F-4D97-AF65-F5344CB8AC3E}">
        <p14:creationId xmlns:p14="http://schemas.microsoft.com/office/powerpoint/2010/main" val="85513925"/>
      </p:ext>
    </p:extLst>
  </p:cSld>
</p:sld>
</file>

<file path=ppt/slides/v20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实验二｜128 会话 · 3,725 请求 · C12｜Pref">
            <a:extLst xmlns:a="http://schemas.openxmlformats.org/drawingml/2006/main">
              <a:ext uri="{FF2B5EF4-FFF2-40B4-BE49-F238E27FC236}">
                <a16:creationId xmlns:a16="http://schemas.microsoft.com/office/drawing/2014/main" id="{3138F1E8-6F3F-43FD-B7AE-76606E002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825" b="1">
                <a:solidFill>
                  <a:srgbClr val="777777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825" b="1">
                <a:solidFill>
                  <a:srgbClr val="777777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1">
                <a:solidFill>
                  <a:srgbClr val="777777"/>
                </a:solidFill>
                <a:latin typeface="微软雅黑"/>
                <a:ea typeface="微软雅黑"/>
                <a:cs typeface="微软雅黑"/>
              </a:rPr>
              <a:t>实验二｜128 会话 · 3,725 请求 · C12｜Prefix-on</a:t>
            </a:r>
          </a:p>
        </p:txBody>
      </p:sp>
      <p:sp>
        <p:nvSpPr>
          <p:cNvPr id="2" name="Prefix-on 场景：128 个完整会话，3,725 个请求">
            <a:extLst xmlns:a="http://schemas.openxmlformats.org/drawingml/2006/main">
              <a:ext uri="{FF2B5EF4-FFF2-40B4-BE49-F238E27FC236}">
                <a16:creationId xmlns:a16="http://schemas.microsoft.com/office/drawing/2014/main" id="{58766C80-454A-4BA9-88EF-E51D79944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50" b="1">
                <a:solidFill>
                  <a:srgbClr val="D00000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150" b="1">
                <a:solidFill>
                  <a:srgbClr val="D00000"/>
                </a:solidFill>
                <a:latin typeface="微软雅黑"/>
                <a:ea typeface="微软雅黑"/>
                <a:cs typeface="微软雅黑"/>
              </a:defRPr>
            </a:pPr>
            <a:r>
              <a:rPr sz="2150" b="1">
                <a:solidFill>
                  <a:srgbClr val="D00000"/>
                </a:solidFill>
                <a:latin typeface="微软雅黑"/>
                <a:ea typeface="微软雅黑"/>
                <a:cs typeface="微软雅黑"/>
              </a:rPr>
              <a:t>Prefix-on 场景：128 个完整会话，3,725 个请求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D7A9A0-441B-43ED-B82E-D834A9417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04875"/>
            <a:ext cx="1381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0000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99105C-1C3A-404F-A44F-34BA8BE4C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9650"/>
            <a:ext cx="10972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 w="0">
            <a:noFill/>
          </a:ln>
        </p:spPr>
      </p:sp>
      <p:sp>
        <p:nvSpPr>
          <p:cNvPr id="5" name="模型：dsv4-flash W4A8">
            <a:extLst xmlns:a="http://schemas.openxmlformats.org/drawingml/2006/main">
              <a:ext uri="{FF2B5EF4-FFF2-40B4-BE49-F238E27FC236}">
                <a16:creationId xmlns:a16="http://schemas.microsoft.com/office/drawing/2014/main" id="{FE18D7C3-FBB0-45F2-BFFA-EC574FE11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095375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284DA6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284DA6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284DA6"/>
                </a:solidFill>
                <a:latin typeface="微软雅黑"/>
                <a:ea typeface="微软雅黑"/>
                <a:cs typeface="微软雅黑"/>
              </a:rPr>
              <a:t>模型：dsv4-flash W4A8</a:t>
            </a:r>
          </a:p>
        </p:txBody>
      </p:sp>
      <p:sp>
        <p:nvSpPr>
          <p:cNvPr id="6" name="同机 16 DIE　每轮输出 1 token　全局并发 C12">
            <a:extLst xmlns:a="http://schemas.openxmlformats.org/drawingml/2006/main">
              <a:ext uri="{FF2B5EF4-FFF2-40B4-BE49-F238E27FC236}">
                <a16:creationId xmlns:a16="http://schemas.microsoft.com/office/drawing/2014/main" id="{19D47FB5-294A-4574-A265-BC991140A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095375"/>
            <a:ext cx="581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050" b="0">
                <a:solidFill>
                  <a:srgbClr val="77A23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77A238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77A238"/>
                </a:solidFill>
                <a:latin typeface="微软雅黑"/>
                <a:ea typeface="微软雅黑"/>
                <a:cs typeface="微软雅黑"/>
              </a:rPr>
              <a:t>同机 16 DIE　每轮输出 1 token　全局并发 C12</a:t>
            </a:r>
          </a:p>
        </p:txBody>
      </p:sp>
      <p:sp>
        <p:nvSpPr>
          <p:cNvPr id="7" name="硬件：Ascend 910C">
            <a:extLst xmlns:a="http://schemas.openxmlformats.org/drawingml/2006/main">
              <a:ext uri="{FF2B5EF4-FFF2-40B4-BE49-F238E27FC236}">
                <a16:creationId xmlns:a16="http://schemas.microsoft.com/office/drawing/2014/main" id="{DD835044-76EE-492C-A546-66569B77A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095375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975" b="1">
                <a:solidFill>
                  <a:srgbClr val="EF7900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r">
              <a:defRPr sz="975" b="1">
                <a:solidFill>
                  <a:srgbClr val="EF7900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EF7900"/>
                </a:solidFill>
                <a:latin typeface="微软雅黑"/>
                <a:ea typeface="微软雅黑"/>
                <a:cs typeface="微软雅黑"/>
              </a:rPr>
              <a:t>硬件：Ascend 910C</a:t>
            </a:r>
          </a:p>
        </p:txBody>
      </p:sp>
      <p:sp>
        <p:nvSpPr>
          <p:cNvPr id="8" name="48">
            <a:extLst xmlns:a="http://schemas.openxmlformats.org/drawingml/2006/main">
              <a:ext uri="{FF2B5EF4-FFF2-40B4-BE49-F238E27FC236}">
                <a16:creationId xmlns:a16="http://schemas.microsoft.com/office/drawing/2014/main" id="{11BBB1D3-B93A-46FE-9AA8-391D5A7E9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553200"/>
            <a:ext cx="3048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800" b="0">
                <a:solidFill>
                  <a:srgbClr val="777777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r">
              <a:defRPr sz="800" b="0">
                <a:solidFill>
                  <a:srgbClr val="777777"/>
                </a:solidFill>
                <a:latin typeface="微软雅黑"/>
                <a:ea typeface="微软雅黑"/>
                <a:cs typeface="微软雅黑"/>
              </a:defRPr>
            </a:pPr>
            <a:r>
              <a:rPr sz="800" b="0">
                <a:solidFill>
                  <a:srgbClr val="777777"/>
                </a:solidFill>
                <a:latin typeface="微软雅黑"/>
                <a:ea typeface="微软雅黑"/>
                <a:cs typeface="微软雅黑"/>
              </a:rPr>
              <a:t>48</a:t>
            </a:r>
          </a:p>
        </p:txBody>
      </p:sp>
      <p:sp>
        <p:nvSpPr>
          <p:cNvPr id="9" name="负载设置：与实验一对照">
            <a:extLst xmlns:a="http://schemas.openxmlformats.org/drawingml/2006/main">
              <a:ext uri="{FF2B5EF4-FFF2-40B4-BE49-F238E27FC236}">
                <a16:creationId xmlns:a16="http://schemas.microsoft.com/office/drawing/2014/main" id="{E2156EF9-7421-4642-AB95-58F2E104F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57350"/>
            <a:ext cx="514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500" b="1">
                <a:solidFill>
                  <a:srgbClr val="333333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33333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负载设置：与实验一对照</a:t>
            </a:r>
          </a:p>
        </p:txBody>
      </p:sp>
      <p:graphicFrame>
        <p:nvGraphicFrame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0E2EF0-9657-46A9-9EB5-B9C9A925D044}"/>
              </a:ext>
            </a:extLst>
          </p:cNvPr>
          <p:cNvGraphicFramePr/>
          <p:nvPr/>
        </p:nvGraphicFramePr>
        <p:xfrm>
          <a:off xmlns:a="http://schemas.openxmlformats.org/drawingml/2006/main" x="628650" y="2038350"/>
          <a:ext xmlns:a="http://schemas.openxmlformats.org/drawingml/2006/main" cx="5095875" cy="1476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952625"/>
                <a:gridCol w="1571625"/>
                <a:gridCol w="1571625"/>
              </a:tblGrid>
              <a:tr h="295275">
                <a:tc>
                  <a:txBody>
                    <a:bodyPr lIns="76200" tIns="76200" rIns="76200" bIns="76200"/>
                    <a:lstStyle/>
                    <a:p>
                      <a:pPr algn="l"/>
                      <a:r>
                        <a:rPr sz="1050" b="1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负载设置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E3E3E3"/>
                      </a:solidFill>
                      <a:prstDash val="solid"/>
                    </a:lnL>
                    <a:lnR w="5715">
                      <a:solidFill>
                        <a:srgbClr val="E3E3E3"/>
                      </a:solidFill>
                      <a:prstDash val="solid"/>
                    </a:lnR>
                    <a:lnT w="5715">
                      <a:solidFill>
                        <a:srgbClr val="E3E3E3"/>
                      </a:solidFill>
                      <a:prstDash val="solid"/>
                    </a:lnT>
                    <a:lnB w="5715">
                      <a:solidFill>
                        <a:srgbClr val="E3E3E3"/>
                      </a:solidFill>
                      <a:prstDash val="solid"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1050" b="1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实验一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E3E3E3"/>
                      </a:solidFill>
                      <a:prstDash val="solid"/>
                    </a:lnR>
                    <a:lnT w="5715">
                      <a:solidFill>
                        <a:srgbClr val="E3E3E3"/>
                      </a:solidFill>
                      <a:prstDash val="solid"/>
                    </a:lnT>
                    <a:lnB w="5715">
                      <a:solidFill>
                        <a:srgbClr val="E3E3E3"/>
                      </a:solidFill>
                      <a:prstDash val="solid"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1050" b="1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本实验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E3E3E3"/>
                      </a:solidFill>
                      <a:prstDash val="solid"/>
                    </a:lnR>
                    <a:lnT w="5715">
                      <a:solidFill>
                        <a:srgbClr val="E3E3E3"/>
                      </a:solidFill>
                      <a:prstDash val="solid"/>
                    </a:lnT>
                    <a:lnB w="5715">
                      <a:solidFill>
                        <a:srgbClr val="E3E3E3"/>
                      </a:solidFill>
                      <a:prstDash val="solid"/>
                    </a:lnB>
                    <a:solidFill>
                      <a:srgbClr val="EAEAEA"/>
                    </a:solidFill>
                  </a:tcPr>
                </a:tc>
              </a:tr>
              <a:tr h="295275">
                <a:tc>
                  <a:txBody>
                    <a:bodyPr lIns="76200" tIns="76200" rIns="76200" bIns="76200"/>
                    <a:lstStyle/>
                    <a:p>
                      <a:pPr algn="l"/>
                      <a:r>
                        <a:rPr sz="1125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会话 / 请求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E3E3E3"/>
                      </a:solidFill>
                      <a:prstDash val="solid"/>
                    </a:lnL>
                    <a:lnR w="5715">
                      <a:solidFill>
                        <a:srgbClr val="E3E3E3"/>
                      </a:solidFill>
                      <a:prstDash val="solid"/>
                    </a:lnR>
                    <a:lnB w="5715">
                      <a:solidFill>
                        <a:srgbClr val="E3E3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1125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256 / 9,078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E3E3E3"/>
                      </a:solidFill>
                      <a:prstDash val="solid"/>
                    </a:lnR>
                    <a:lnB w="5715">
                      <a:solidFill>
                        <a:srgbClr val="E3E3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1125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128 / 3,725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E3E3E3"/>
                      </a:solidFill>
                      <a:prstDash val="solid"/>
                    </a:lnR>
                    <a:lnB w="5715">
                      <a:solidFill>
                        <a:srgbClr val="E3E3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95275">
                <a:tc>
                  <a:txBody>
                    <a:bodyPr lIns="76200" tIns="76200" rIns="76200" bIns="76200"/>
                    <a:lstStyle/>
                    <a:p>
                      <a:pPr algn="l"/>
                      <a:r>
                        <a:rPr sz="1125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累计输入 tokens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E3E3E3"/>
                      </a:solidFill>
                      <a:prstDash val="solid"/>
                    </a:lnL>
                    <a:lnR w="5715">
                      <a:solidFill>
                        <a:srgbClr val="E3E3E3"/>
                      </a:solidFill>
                      <a:prstDash val="solid"/>
                    </a:lnR>
                    <a:lnB w="5715">
                      <a:solidFill>
                        <a:srgbClr val="E3E3E3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1125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7.488 亿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E3E3E3"/>
                      </a:solidFill>
                      <a:prstDash val="solid"/>
                    </a:lnR>
                    <a:lnB w="5715">
                      <a:solidFill>
                        <a:srgbClr val="E3E3E3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1125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2.946 亿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E3E3E3"/>
                      </a:solidFill>
                      <a:prstDash val="solid"/>
                    </a:lnR>
                    <a:lnB w="5715">
                      <a:solidFill>
                        <a:srgbClr val="E3E3E3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</a:tr>
              <a:tr h="295275">
                <a:tc>
                  <a:txBody>
                    <a:bodyPr lIns="76200" tIns="76200" rIns="76200" bIns="76200"/>
                    <a:lstStyle/>
                    <a:p>
                      <a:pPr algn="l"/>
                      <a:r>
                        <a:rPr sz="1125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全局并发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E3E3E3"/>
                      </a:solidFill>
                      <a:prstDash val="solid"/>
                    </a:lnL>
                    <a:lnR w="5715">
                      <a:solidFill>
                        <a:srgbClr val="E3E3E3"/>
                      </a:solidFill>
                      <a:prstDash val="solid"/>
                    </a:lnR>
                    <a:lnB w="5715">
                      <a:solidFill>
                        <a:srgbClr val="E3E3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1125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16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E3E3E3"/>
                      </a:solidFill>
                      <a:prstDash val="solid"/>
                    </a:lnR>
                    <a:lnB w="5715">
                      <a:solidFill>
                        <a:srgbClr val="E3E3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1125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12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E3E3E3"/>
                      </a:solidFill>
                      <a:prstDash val="solid"/>
                    </a:lnR>
                    <a:lnB w="5715">
                      <a:solidFill>
                        <a:srgbClr val="E3E3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95275">
                <a:tc>
                  <a:txBody>
                    <a:bodyPr lIns="76200" tIns="76200" rIns="76200" bIns="76200"/>
                    <a:lstStyle/>
                    <a:p>
                      <a:pPr algn="l"/>
                      <a:r>
                        <a:rPr sz="1125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最大输入 tokens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E3E3E3"/>
                      </a:solidFill>
                      <a:prstDash val="solid"/>
                    </a:lnL>
                    <a:lnR w="5715">
                      <a:solidFill>
                        <a:srgbClr val="E3E3E3"/>
                      </a:solidFill>
                      <a:prstDash val="solid"/>
                    </a:lnR>
                    <a:lnB w="5715">
                      <a:solidFill>
                        <a:srgbClr val="E3E3E3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1125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235,936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E3E3E3"/>
                      </a:solidFill>
                      <a:prstDash val="solid"/>
                    </a:lnR>
                    <a:lnB w="5715">
                      <a:solidFill>
                        <a:srgbClr val="E3E3E3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1125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216,178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E3E3E3"/>
                      </a:solidFill>
                      <a:prstDash val="solid"/>
                    </a:lnR>
                    <a:lnB w="5715">
                      <a:solidFill>
                        <a:srgbClr val="E3E3E3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</a:tr>
            </a:tbl>
          </a:graphicData>
        </a:graphic>
      </p:graphicFrame>
      <p:sp>
        <p:nvSpPr>
          <p:cNvPr id="11" name="会话内顺序推进，会话间并行">
            <a:extLst xmlns:a="http://schemas.openxmlformats.org/drawingml/2006/main">
              <a:ext uri="{FF2B5EF4-FFF2-40B4-BE49-F238E27FC236}">
                <a16:creationId xmlns:a16="http://schemas.microsoft.com/office/drawing/2014/main" id="{0739902F-160E-48CB-90E7-D603DB5FE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57350"/>
            <a:ext cx="523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500" b="1">
                <a:solidFill>
                  <a:srgbClr val="333333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33333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会话内顺序推进，会话间并行</a:t>
            </a:r>
          </a:p>
        </p:txBody>
      </p:sp>
      <p:sp>
        <p:nvSpPr>
          <p:cNvPr id="12" name="上一轮完成后，本会话下一轮才进入就绪队列&#10;按冻结优先级准入，全局">
            <a:extLst xmlns:a="http://schemas.openxmlformats.org/drawingml/2006/main">
              <a:ext uri="{FF2B5EF4-FFF2-40B4-BE49-F238E27FC236}">
                <a16:creationId xmlns:a16="http://schemas.microsoft.com/office/drawing/2014/main" id="{A217F6E6-682E-4EDB-938C-457BAF8D7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85975"/>
            <a:ext cx="5238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35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上一轮完成后，本会话下一轮才进入就绪队列</a:t>
            </a:r>
          </a:p>
          <a:p xmlns:a="http://schemas.openxmlformats.org/drawingml/2006/main">
            <a:pPr algn="l">
              <a:defRPr sz="135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按冻结优先级准入，全局最多 12 条请求在途</a:t>
            </a:r>
          </a:p>
          <a:p xmlns:a="http://schemas.openxmlformats.org/drawingml/2006/main">
            <a:pPr algn="l">
              <a:defRPr sz="135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会话固定到同一缓存分组，持续复用历史</a:t>
            </a:r>
          </a:p>
        </p:txBody>
      </p:sp>
      <p:sp>
        <p:nvSpPr>
          <p:cNvPr id="13" name="服务端开启异步调度，每个缓存分组最多 8 条序列">
            <a:extLst xmlns:a="http://schemas.openxmlformats.org/drawingml/2006/main">
              <a:ext uri="{FF2B5EF4-FFF2-40B4-BE49-F238E27FC236}">
                <a16:creationId xmlns:a16="http://schemas.microsoft.com/office/drawing/2014/main" id="{979E1480-8CF7-4DE5-8A57-5DAAF941C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48025"/>
            <a:ext cx="523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200" b="1">
                <a:solidFill>
                  <a:srgbClr val="284DA6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284DA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284DA6"/>
                </a:solidFill>
                <a:latin typeface="微软雅黑"/>
                <a:ea typeface="微软雅黑"/>
                <a:cs typeface="微软雅黑"/>
              </a:rPr>
              <a:t>服务端开启异步调度，每个缓存分组最多 8 条序列</a:t>
            </a:r>
          </a:p>
        </p:txBody>
      </p:sp>
      <p:graphicFrame>
        <p:nvGraphicFrame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9B5086-C858-4EF2-B4F9-5AE15BCC04FE}"/>
              </a:ext>
            </a:extLst>
          </p:cNvPr>
          <p:cNvGraphicFramePr/>
          <p:nvPr/>
        </p:nvGraphicFramePr>
        <p:xfrm>
          <a:off xmlns:a="http://schemas.openxmlformats.org/drawingml/2006/main" x="628650" y="3790950"/>
          <a:ext xmlns:a="http://schemas.openxmlformats.org/drawingml/2006/main" cx="10953750" cy="16573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047750"/>
                <a:gridCol w="4572000"/>
                <a:gridCol w="1428750"/>
                <a:gridCol w="1905000"/>
                <a:gridCol w="2000250"/>
              </a:tblGrid>
              <a:tr h="331470">
                <a:tc>
                  <a:txBody>
                    <a:bodyPr lIns="76200" tIns="76200" rIns="76200" bIns="76200"/>
                    <a:lstStyle/>
                    <a:p>
                      <a:pPr algn="l"/>
                      <a:r>
                        <a:rPr sz="1125" b="1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部署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E3E3E3"/>
                      </a:solidFill>
                      <a:prstDash val="solid"/>
                    </a:lnL>
                    <a:lnR w="5715">
                      <a:solidFill>
                        <a:srgbClr val="E3E3E3"/>
                      </a:solidFill>
                      <a:prstDash val="solid"/>
                    </a:lnR>
                    <a:lnT w="5715">
                      <a:solidFill>
                        <a:srgbClr val="E3E3E3"/>
                      </a:solidFill>
                      <a:prstDash val="solid"/>
                    </a:lnT>
                    <a:lnB w="5715">
                      <a:solidFill>
                        <a:srgbClr val="E3E3E3"/>
                      </a:solidFill>
                      <a:prstDash val="solid"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1125" b="1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实例与并行配置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E3E3E3"/>
                      </a:solidFill>
                      <a:prstDash val="solid"/>
                    </a:lnR>
                    <a:lnT w="5715">
                      <a:solidFill>
                        <a:srgbClr val="E3E3E3"/>
                      </a:solidFill>
                      <a:prstDash val="solid"/>
                    </a:lnT>
                    <a:lnB w="5715">
                      <a:solidFill>
                        <a:srgbClr val="E3E3E3"/>
                      </a:solidFill>
                      <a:prstDash val="solid"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1125" b="1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缓存分组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E3E3E3"/>
                      </a:solidFill>
                      <a:prstDash val="solid"/>
                    </a:lnR>
                    <a:lnT w="5715">
                      <a:solidFill>
                        <a:srgbClr val="E3E3E3"/>
                      </a:solidFill>
                      <a:prstDash val="solid"/>
                    </a:lnT>
                    <a:lnB w="5715">
                      <a:solidFill>
                        <a:srgbClr val="E3E3E3"/>
                      </a:solidFill>
                      <a:prstDash val="solid"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1125" b="1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会话分配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E3E3E3"/>
                      </a:solidFill>
                      <a:prstDash val="solid"/>
                    </a:lnR>
                    <a:lnT w="5715">
                      <a:solidFill>
                        <a:srgbClr val="E3E3E3"/>
                      </a:solidFill>
                      <a:prstDash val="solid"/>
                    </a:lnT>
                    <a:lnB w="5715">
                      <a:solidFill>
                        <a:srgbClr val="E3E3E3"/>
                      </a:solidFill>
                      <a:prstDash val="solid"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1125" b="1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单步 token 上限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E3E3E3"/>
                      </a:solidFill>
                      <a:prstDash val="solid"/>
                    </a:lnR>
                    <a:lnT w="5715">
                      <a:solidFill>
                        <a:srgbClr val="E3E3E3"/>
                      </a:solidFill>
                      <a:prstDash val="solid"/>
                    </a:lnT>
                    <a:lnB w="5715">
                      <a:solidFill>
                        <a:srgbClr val="E3E3E3"/>
                      </a:solidFill>
                      <a:prstDash val="solid"/>
                    </a:lnB>
                    <a:solidFill>
                      <a:srgbClr val="EAEAEA"/>
                    </a:solidFill>
                  </a:tcPr>
                </a:tc>
              </a:tr>
              <a:tr h="331470">
                <a:tc>
                  <a:txBody>
                    <a:bodyPr lIns="76200" tIns="76200" rIns="76200" bIns="76200"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EP4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E3E3E3"/>
                      </a:solidFill>
                      <a:prstDash val="solid"/>
                    </a:lnL>
                    <a:lnR w="5715">
                      <a:solidFill>
                        <a:srgbClr val="E3E3E3"/>
                      </a:solidFill>
                      <a:prstDash val="solid"/>
                    </a:lnR>
                    <a:lnB w="5715">
                      <a:solidFill>
                        <a:srgbClr val="E3E3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 实例 × DP1 / TP4 / EP4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E3E3E3"/>
                      </a:solidFill>
                      <a:prstDash val="solid"/>
                    </a:lnR>
                    <a:lnB w="5715">
                      <a:solidFill>
                        <a:srgbClr val="E3E3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E3E3E3"/>
                      </a:solidFill>
                      <a:prstDash val="solid"/>
                    </a:lnR>
                    <a:lnB w="5715">
                      <a:solidFill>
                        <a:srgbClr val="E3E3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每组 32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E3E3E3"/>
                      </a:solidFill>
                      <a:prstDash val="solid"/>
                    </a:lnR>
                    <a:lnB w="5715">
                      <a:solidFill>
                        <a:srgbClr val="E3E3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8,192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E3E3E3"/>
                      </a:solidFill>
                      <a:prstDash val="solid"/>
                    </a:lnR>
                    <a:lnB w="5715">
                      <a:solidFill>
                        <a:srgbClr val="E3E3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31470">
                <a:tc>
                  <a:txBody>
                    <a:bodyPr lIns="76200" tIns="76200" rIns="76200" bIns="76200"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EP8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E3E3E3"/>
                      </a:solidFill>
                      <a:prstDash val="solid"/>
                    </a:lnL>
                    <a:lnR w="5715">
                      <a:solidFill>
                        <a:srgbClr val="E3E3E3"/>
                      </a:solidFill>
                      <a:prstDash val="solid"/>
                    </a:lnR>
                    <a:lnB w="5715">
                      <a:solidFill>
                        <a:srgbClr val="E3E3E3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 实例 × DP2 / TP4 / EP8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E3E3E3"/>
                      </a:solidFill>
                      <a:prstDash val="solid"/>
                    </a:lnR>
                    <a:lnB w="5715">
                      <a:solidFill>
                        <a:srgbClr val="E3E3E3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E3E3E3"/>
                      </a:solidFill>
                      <a:prstDash val="solid"/>
                    </a:lnR>
                    <a:lnB w="5715">
                      <a:solidFill>
                        <a:srgbClr val="E3E3E3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每组 32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E3E3E3"/>
                      </a:solidFill>
                      <a:prstDash val="solid"/>
                    </a:lnR>
                    <a:lnB w="5715">
                      <a:solidFill>
                        <a:srgbClr val="E3E3E3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8,192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E3E3E3"/>
                      </a:solidFill>
                      <a:prstDash val="solid"/>
                    </a:lnR>
                    <a:lnB w="5715">
                      <a:solidFill>
                        <a:srgbClr val="E3E3E3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</a:tr>
              <a:tr h="331470">
                <a:tc>
                  <a:txBody>
                    <a:bodyPr lIns="76200" tIns="76200" rIns="76200" bIns="76200"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EP16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E3E3E3"/>
                      </a:solidFill>
                      <a:prstDash val="solid"/>
                    </a:lnL>
                    <a:lnR w="5715">
                      <a:solidFill>
                        <a:srgbClr val="E3E3E3"/>
                      </a:solidFill>
                      <a:prstDash val="solid"/>
                    </a:lnR>
                    <a:lnB w="5715">
                      <a:solidFill>
                        <a:srgbClr val="E3E3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 实例 × DP4 / TP4 / EP16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E3E3E3"/>
                      </a:solidFill>
                      <a:prstDash val="solid"/>
                    </a:lnR>
                    <a:lnB w="5715">
                      <a:solidFill>
                        <a:srgbClr val="E3E3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E3E3E3"/>
                      </a:solidFill>
                      <a:prstDash val="solid"/>
                    </a:lnR>
                    <a:lnB w="5715">
                      <a:solidFill>
                        <a:srgbClr val="E3E3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每组 32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E3E3E3"/>
                      </a:solidFill>
                      <a:prstDash val="solid"/>
                    </a:lnR>
                    <a:lnB w="5715">
                      <a:solidFill>
                        <a:srgbClr val="E3E3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8,192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E3E3E3"/>
                      </a:solidFill>
                      <a:prstDash val="solid"/>
                    </a:lnR>
                    <a:lnB w="5715">
                      <a:solidFill>
                        <a:srgbClr val="E3E3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31470">
                <a:tc>
                  <a:txBody>
                    <a:bodyPr lIns="76200" tIns="76200" rIns="76200" bIns="76200"/>
                    <a:lstStyle/>
                    <a:p>
                      <a:pPr algn="l"/>
                      <a:r>
                        <a:rPr sz="1200" b="1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AFD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E3E3E3"/>
                      </a:solidFill>
                      <a:prstDash val="solid"/>
                    </a:lnL>
                    <a:lnR w="5715">
                      <a:solidFill>
                        <a:srgbClr val="E3E3E3"/>
                      </a:solidFill>
                      <a:prstDash val="solid"/>
                    </a:lnR>
                    <a:lnB w="5715">
                      <a:solidFill>
                        <a:srgbClr val="E3E3E3"/>
                      </a:solidFill>
                      <a:prstDash val="solid"/>
                    </a:lnB>
                    <a:solidFill>
                      <a:srgbClr val="FFF3D8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1200" b="1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12A+4F；A DP3/TP4，F DP4/TP1/EP4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E3E3E3"/>
                      </a:solidFill>
                      <a:prstDash val="solid"/>
                    </a:lnR>
                    <a:lnB w="5715">
                      <a:solidFill>
                        <a:srgbClr val="E3E3E3"/>
                      </a:solidFill>
                      <a:prstDash val="solid"/>
                    </a:lnB>
                    <a:solidFill>
                      <a:srgbClr val="FFF3D8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1200" b="1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E3E3E3"/>
                      </a:solidFill>
                      <a:prstDash val="solid"/>
                    </a:lnR>
                    <a:lnB w="5715">
                      <a:solidFill>
                        <a:srgbClr val="E3E3E3"/>
                      </a:solidFill>
                      <a:prstDash val="solid"/>
                    </a:lnB>
                    <a:solidFill>
                      <a:srgbClr val="FFF3D8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1200" b="1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43 / 42 / 43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E3E3E3"/>
                      </a:solidFill>
                      <a:prstDash val="solid"/>
                    </a:lnR>
                    <a:lnB w="5715">
                      <a:solidFill>
                        <a:srgbClr val="E3E3E3"/>
                      </a:solidFill>
                      <a:prstDash val="solid"/>
                    </a:lnB>
                    <a:solidFill>
                      <a:srgbClr val="FFF3D8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1200" b="1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32,768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E3E3E3"/>
                      </a:solidFill>
                      <a:prstDash val="solid"/>
                    </a:lnR>
                    <a:lnB w="5715">
                      <a:solidFill>
                        <a:srgbClr val="E3E3E3"/>
                      </a:solidFill>
                      <a:prstDash val="solid"/>
                    </a:lnB>
                    <a:solidFill>
                      <a:srgbClr val="FFF3D8"/>
                    </a:solidFill>
                  </a:tcPr>
                </a:tc>
              </a:tr>
            </a:tbl>
          </a:graphicData>
        </a:graphic>
      </p:graphicFrame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D929A0-D1E7-4227-908C-1FB09758B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72150"/>
            <a:ext cx="109728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 w="0">
            <a:noFill/>
          </a:ln>
        </p:spPr>
      </p:sp>
      <p:sp>
        <p:nvSpPr>
          <p:cNvPr id="16" name="沿用模型、部署与核心配置；调整会话集合、全局并发和子集路由">
            <a:extLst xmlns:a="http://schemas.openxmlformats.org/drawingml/2006/main">
              <a:ext uri="{FF2B5EF4-FFF2-40B4-BE49-F238E27FC236}">
                <a16:creationId xmlns:a16="http://schemas.microsoft.com/office/drawing/2014/main" id="{431587DE-7B29-481B-9275-4B35CE65A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29300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575" b="1">
                <a:solidFill>
                  <a:srgbClr val="D00000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D00000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D00000"/>
                </a:solidFill>
                <a:latin typeface="微软雅黑"/>
                <a:ea typeface="微软雅黑"/>
                <a:cs typeface="微软雅黑"/>
              </a:rPr>
              <a:t>沿用模型、部署与核心配置；调整会话集合、全局并发和子集路由</a:t>
            </a:r>
          </a:p>
        </p:txBody>
      </p:sp>
      <p:sp>
        <p:nvSpPr>
          <p:cNvPr id="17" name="源顺序会话 0–127，保留完整轮次与原始历史；本实验四组同机顺">
            <a:extLst xmlns:a="http://schemas.openxmlformats.org/drawingml/2006/main">
              <a:ext uri="{FF2B5EF4-FFF2-40B4-BE49-F238E27FC236}">
                <a16:creationId xmlns:a16="http://schemas.microsoft.com/office/drawing/2014/main" id="{B14EE204-7E8C-4008-9BCA-C6201313B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05550"/>
            <a:ext cx="10763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900" b="0">
                <a:solidFill>
                  <a:srgbClr val="777777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777777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777777"/>
                </a:solidFill>
                <a:latin typeface="微软雅黑"/>
                <a:ea typeface="微软雅黑"/>
                <a:cs typeface="微软雅黑"/>
              </a:rPr>
              <a:t>源顺序会话 0–127，保留完整轮次与原始历史；本实验四组同机顺序回放，各一次冷缓存测试。</a:t>
            </a:r>
          </a:p>
        </p:txBody>
      </p:sp>
    </p:spTree>
    <p:extLst>
      <p:ext uri="{BB962C8B-B14F-4D97-AF65-F5344CB8AC3E}">
        <p14:creationId xmlns:p14="http://schemas.microsoft.com/office/powerpoint/2010/main" val="775229148"/>
      </p:ext>
    </p:extLst>
  </p:cSld>
</p:sld>
</file>

<file path=ppt/slides/v20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实验二｜128 会话 · 3,725 请求 · C12｜Pref">
            <a:extLst xmlns:a="http://schemas.openxmlformats.org/drawingml/2006/main">
              <a:ext uri="{FF2B5EF4-FFF2-40B4-BE49-F238E27FC236}">
                <a16:creationId xmlns:a16="http://schemas.microsoft.com/office/drawing/2014/main" id="{3E4AC69F-8F54-4D82-B1B5-4E9591031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825" b="1">
                <a:solidFill>
                  <a:srgbClr val="777777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825" b="1">
                <a:solidFill>
                  <a:srgbClr val="777777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1">
                <a:solidFill>
                  <a:srgbClr val="777777"/>
                </a:solidFill>
                <a:latin typeface="微软雅黑"/>
                <a:ea typeface="微软雅黑"/>
                <a:cs typeface="微软雅黑"/>
              </a:rPr>
              <a:t>实验二｜128 会话 · 3,725 请求 · C12｜Prefix-on</a:t>
            </a:r>
          </a:p>
        </p:txBody>
      </p:sp>
      <p:sp>
        <p:nvSpPr>
          <p:cNvPr id="2" name="本轮回放：AFD 同时优于 EP4、EP8 和 EP16">
            <a:extLst xmlns:a="http://schemas.openxmlformats.org/drawingml/2006/main">
              <a:ext uri="{FF2B5EF4-FFF2-40B4-BE49-F238E27FC236}">
                <a16:creationId xmlns:a16="http://schemas.microsoft.com/office/drawing/2014/main" id="{3376EE46-A94D-44E1-9A62-E198CBA1C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50" b="1">
                <a:solidFill>
                  <a:srgbClr val="D00000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150" b="1">
                <a:solidFill>
                  <a:srgbClr val="D00000"/>
                </a:solidFill>
                <a:latin typeface="微软雅黑"/>
                <a:ea typeface="微软雅黑"/>
                <a:cs typeface="微软雅黑"/>
              </a:defRPr>
            </a:pPr>
            <a:r>
              <a:rPr sz="2150" b="1">
                <a:solidFill>
                  <a:srgbClr val="D00000"/>
                </a:solidFill>
                <a:latin typeface="微软雅黑"/>
                <a:ea typeface="微软雅黑"/>
                <a:cs typeface="微软雅黑"/>
              </a:rPr>
              <a:t>本轮回放：AFD 同时优于 EP4、EP8 和 EP16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614D6D-587B-4252-AC3C-FA29A01B6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04875"/>
            <a:ext cx="1381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0000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AD5728-003C-4B3D-ADBA-CA688EA10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9650"/>
            <a:ext cx="10972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 w="0">
            <a:noFill/>
          </a:ln>
        </p:spPr>
      </p:sp>
      <p:sp>
        <p:nvSpPr>
          <p:cNvPr id="5" name="模型：dsv4-flash W4A8">
            <a:extLst xmlns:a="http://schemas.openxmlformats.org/drawingml/2006/main">
              <a:ext uri="{FF2B5EF4-FFF2-40B4-BE49-F238E27FC236}">
                <a16:creationId xmlns:a16="http://schemas.microsoft.com/office/drawing/2014/main" id="{070C2C98-84AC-4E0A-B306-F400BFA98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095375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284DA6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284DA6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284DA6"/>
                </a:solidFill>
                <a:latin typeface="微软雅黑"/>
                <a:ea typeface="微软雅黑"/>
                <a:cs typeface="微软雅黑"/>
              </a:rPr>
              <a:t>模型：dsv4-flash W4A8</a:t>
            </a:r>
          </a:p>
        </p:txBody>
      </p:sp>
      <p:sp>
        <p:nvSpPr>
          <p:cNvPr id="6" name="128 完整会话　C12　prefix caching 开启">
            <a:extLst xmlns:a="http://schemas.openxmlformats.org/drawingml/2006/main">
              <a:ext uri="{FF2B5EF4-FFF2-40B4-BE49-F238E27FC236}">
                <a16:creationId xmlns:a16="http://schemas.microsoft.com/office/drawing/2014/main" id="{C3B325F8-990A-44C8-BA34-657104D81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095375"/>
            <a:ext cx="581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050" b="0">
                <a:solidFill>
                  <a:srgbClr val="77A23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77A238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77A238"/>
                </a:solidFill>
                <a:latin typeface="微软雅黑"/>
                <a:ea typeface="微软雅黑"/>
                <a:cs typeface="微软雅黑"/>
              </a:rPr>
              <a:t>128 完整会话　C12　prefix caching 开启</a:t>
            </a:r>
          </a:p>
        </p:txBody>
      </p:sp>
      <p:sp>
        <p:nvSpPr>
          <p:cNvPr id="7" name="硬件：Ascend 910C">
            <a:extLst xmlns:a="http://schemas.openxmlformats.org/drawingml/2006/main">
              <a:ext uri="{FF2B5EF4-FFF2-40B4-BE49-F238E27FC236}">
                <a16:creationId xmlns:a16="http://schemas.microsoft.com/office/drawing/2014/main" id="{4C059C52-5150-4332-980B-22F136B07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095375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975" b="1">
                <a:solidFill>
                  <a:srgbClr val="EF7900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r">
              <a:defRPr sz="975" b="1">
                <a:solidFill>
                  <a:srgbClr val="EF7900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EF7900"/>
                </a:solidFill>
                <a:latin typeface="微软雅黑"/>
                <a:ea typeface="微软雅黑"/>
                <a:cs typeface="微软雅黑"/>
              </a:rPr>
              <a:t>硬件：Ascend 910C</a:t>
            </a:r>
          </a:p>
        </p:txBody>
      </p:sp>
      <p:sp>
        <p:nvSpPr>
          <p:cNvPr id="8" name="49">
            <a:extLst xmlns:a="http://schemas.openxmlformats.org/drawingml/2006/main">
              <a:ext uri="{FF2B5EF4-FFF2-40B4-BE49-F238E27FC236}">
                <a16:creationId xmlns:a16="http://schemas.microsoft.com/office/drawing/2014/main" id="{2B1EF58A-491A-4965-97F0-A4DC5AF00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553200"/>
            <a:ext cx="3048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800" b="0">
                <a:solidFill>
                  <a:srgbClr val="777777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r">
              <a:defRPr sz="800" b="0">
                <a:solidFill>
                  <a:srgbClr val="777777"/>
                </a:solidFill>
                <a:latin typeface="微软雅黑"/>
                <a:ea typeface="微软雅黑"/>
                <a:cs typeface="微软雅黑"/>
              </a:defRPr>
            </a:pPr>
            <a:r>
              <a:rPr sz="800" b="0">
                <a:solidFill>
                  <a:srgbClr val="777777"/>
                </a:solidFill>
                <a:latin typeface="微软雅黑"/>
                <a:ea typeface="微软雅黑"/>
                <a:cs typeface="微软雅黑"/>
              </a:rPr>
              <a:t>49</a:t>
            </a:r>
          </a:p>
        </p:txBody>
      </p:sp>
      <p:sp>
        <p:nvSpPr>
          <p:cNvPr id="9" name="完整负载耗时（分钟）">
            <a:extLst xmlns:a="http://schemas.openxmlformats.org/drawingml/2006/main">
              <a:ext uri="{FF2B5EF4-FFF2-40B4-BE49-F238E27FC236}">
                <a16:creationId xmlns:a16="http://schemas.microsoft.com/office/drawing/2014/main" id="{E5FE0A2A-F865-4EA7-BA53-78F63B3EB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9545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500" b="1">
                <a:solidFill>
                  <a:srgbClr val="333333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33333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完整负载耗时（分钟）</a:t>
            </a:r>
          </a:p>
        </p:txBody>
      </p:sp>
      <p:graphicFrame>
        <p:nvGraphicFramePr>
          <p:cNvPr id="10" name="Chart">
            <a:extLst xmlns:a="http://schemas.openxmlformats.org/drawingml/2006/main">
              <a:ext uri="{FF2B5EF4-FFF2-40B4-BE49-F238E27FC236}">
                <a16:creationId xmlns:a16="http://schemas.microsoft.com/office/drawing/2014/main" id="{7CCBF4E1-0EEB-41EE-AD9D-C23B4C492586}"/>
              </a:ext>
            </a:extLst>
          </p:cNvPr>
          <p:cNvGraphicFramePr/>
          <p:nvPr/>
        </p:nvGraphicFramePr>
        <p:xfrm>
          <a:off xmlns:a="http://schemas.openxmlformats.org/drawingml/2006/main" x="666750" y="2095500"/>
          <a:ext xmlns:a="http://schemas.openxmlformats.org/drawingml/2006/main" cx="5095875" cy="2952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3b3952bcc6c4249"/>
          </a:graphicData>
        </a:graphic>
      </p:graphicFrame>
      <p:sp>
        <p:nvSpPr>
          <p:cNvPr id="11" name="首 token 延迟 TTFT（秒）">
            <a:extLst xmlns:a="http://schemas.openxmlformats.org/drawingml/2006/main">
              <a:ext uri="{FF2B5EF4-FFF2-40B4-BE49-F238E27FC236}">
                <a16:creationId xmlns:a16="http://schemas.microsoft.com/office/drawing/2014/main" id="{A175D43A-ED0D-4A55-8E3A-7AEC9EC5B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95450"/>
            <a:ext cx="523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500" b="1">
                <a:solidFill>
                  <a:srgbClr val="333333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33333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首 token 延迟 TTFT（秒）</a:t>
            </a:r>
          </a:p>
        </p:txBody>
      </p:sp>
      <p:graphicFrame>
        <p:nvGraphicFrame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5ACB8F-DC6F-4E3C-8B35-A7CE57B60B45}"/>
              </a:ext>
            </a:extLst>
          </p:cNvPr>
          <p:cNvGraphicFramePr/>
          <p:nvPr/>
        </p:nvGraphicFramePr>
        <p:xfrm>
          <a:off xmlns:a="http://schemas.openxmlformats.org/drawingml/2006/main" x="6191250" y="2114550"/>
          <a:ext xmlns:a="http://schemas.openxmlformats.org/drawingml/2006/main" cx="5238750" cy="24003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428750"/>
                <a:gridCol w="952500"/>
                <a:gridCol w="952500"/>
                <a:gridCol w="952500"/>
                <a:gridCol w="952500"/>
              </a:tblGrid>
              <a:tr h="480060">
                <a:tc>
                  <a:txBody>
                    <a:bodyPr lIns="76200" tIns="76200" rIns="76200" bIns="76200"/>
                    <a:lstStyle/>
                    <a:p>
                      <a:pPr algn="l"/>
                      <a:r>
                        <a:rPr sz="1200" b="1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部署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E3E3E3"/>
                      </a:solidFill>
                      <a:prstDash val="solid"/>
                    </a:lnL>
                    <a:lnR w="5715">
                      <a:solidFill>
                        <a:srgbClr val="E3E3E3"/>
                      </a:solidFill>
                      <a:prstDash val="solid"/>
                    </a:lnR>
                    <a:lnT w="5715">
                      <a:solidFill>
                        <a:srgbClr val="E3E3E3"/>
                      </a:solidFill>
                      <a:prstDash val="solid"/>
                    </a:lnT>
                    <a:lnB w="5715">
                      <a:solidFill>
                        <a:srgbClr val="E3E3E3"/>
                      </a:solidFill>
                      <a:prstDash val="solid"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1200" b="1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均值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E3E3E3"/>
                      </a:solidFill>
                      <a:prstDash val="solid"/>
                    </a:lnR>
                    <a:lnT w="5715">
                      <a:solidFill>
                        <a:srgbClr val="E3E3E3"/>
                      </a:solidFill>
                      <a:prstDash val="solid"/>
                    </a:lnT>
                    <a:lnB w="5715">
                      <a:solidFill>
                        <a:srgbClr val="E3E3E3"/>
                      </a:solidFill>
                      <a:prstDash val="solid"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1200" b="1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P50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E3E3E3"/>
                      </a:solidFill>
                      <a:prstDash val="solid"/>
                    </a:lnR>
                    <a:lnT w="5715">
                      <a:solidFill>
                        <a:srgbClr val="E3E3E3"/>
                      </a:solidFill>
                      <a:prstDash val="solid"/>
                    </a:lnT>
                    <a:lnB w="5715">
                      <a:solidFill>
                        <a:srgbClr val="E3E3E3"/>
                      </a:solidFill>
                      <a:prstDash val="solid"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1200" b="1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P95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E3E3E3"/>
                      </a:solidFill>
                      <a:prstDash val="solid"/>
                    </a:lnR>
                    <a:lnT w="5715">
                      <a:solidFill>
                        <a:srgbClr val="E3E3E3"/>
                      </a:solidFill>
                      <a:prstDash val="solid"/>
                    </a:lnT>
                    <a:lnB w="5715">
                      <a:solidFill>
                        <a:srgbClr val="E3E3E3"/>
                      </a:solidFill>
                      <a:prstDash val="solid"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1200" b="1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P99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E3E3E3"/>
                      </a:solidFill>
                      <a:prstDash val="solid"/>
                    </a:lnR>
                    <a:lnT w="5715">
                      <a:solidFill>
                        <a:srgbClr val="E3E3E3"/>
                      </a:solidFill>
                      <a:prstDash val="solid"/>
                    </a:lnT>
                    <a:lnB w="5715">
                      <a:solidFill>
                        <a:srgbClr val="E3E3E3"/>
                      </a:solidFill>
                      <a:prstDash val="solid"/>
                    </a:lnB>
                    <a:solidFill>
                      <a:srgbClr val="EAEAEA"/>
                    </a:solidFill>
                  </a:tcPr>
                </a:tc>
              </a:tr>
              <a:tr h="480060">
                <a:tc>
                  <a:txBody>
                    <a:bodyPr lIns="76200" tIns="76200" rIns="76200" bIns="76200"/>
                    <a:lstStyle/>
                    <a:p>
                      <a:pPr algn="l"/>
                      <a:r>
                        <a:rPr sz="1275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EP4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E3E3E3"/>
                      </a:solidFill>
                      <a:prstDash val="solid"/>
                    </a:lnL>
                    <a:lnR w="5715">
                      <a:solidFill>
                        <a:srgbClr val="E3E3E3"/>
                      </a:solidFill>
                      <a:prstDash val="solid"/>
                    </a:lnR>
                    <a:lnB w="5715">
                      <a:solidFill>
                        <a:srgbClr val="E3E3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1275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6.239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E3E3E3"/>
                      </a:solidFill>
                      <a:prstDash val="solid"/>
                    </a:lnR>
                    <a:lnB w="5715">
                      <a:solidFill>
                        <a:srgbClr val="E3E3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1275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2.722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E3E3E3"/>
                      </a:solidFill>
                      <a:prstDash val="solid"/>
                    </a:lnR>
                    <a:lnB w="5715">
                      <a:solidFill>
                        <a:srgbClr val="E3E3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1275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24.768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E3E3E3"/>
                      </a:solidFill>
                      <a:prstDash val="solid"/>
                    </a:lnR>
                    <a:lnB w="5715">
                      <a:solidFill>
                        <a:srgbClr val="E3E3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1275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39.354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E3E3E3"/>
                      </a:solidFill>
                      <a:prstDash val="solid"/>
                    </a:lnR>
                    <a:lnB w="5715">
                      <a:solidFill>
                        <a:srgbClr val="E3E3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 lIns="76200" tIns="76200" rIns="76200" bIns="76200"/>
                    <a:lstStyle/>
                    <a:p>
                      <a:pPr algn="l"/>
                      <a:r>
                        <a:rPr sz="1275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EP8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E3E3E3"/>
                      </a:solidFill>
                      <a:prstDash val="solid"/>
                    </a:lnL>
                    <a:lnR w="5715">
                      <a:solidFill>
                        <a:srgbClr val="E3E3E3"/>
                      </a:solidFill>
                      <a:prstDash val="solid"/>
                    </a:lnR>
                    <a:lnB w="5715">
                      <a:solidFill>
                        <a:srgbClr val="E3E3E3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1275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3.171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E3E3E3"/>
                      </a:solidFill>
                      <a:prstDash val="solid"/>
                    </a:lnR>
                    <a:lnB w="5715">
                      <a:solidFill>
                        <a:srgbClr val="E3E3E3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1275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2.831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E3E3E3"/>
                      </a:solidFill>
                      <a:prstDash val="solid"/>
                    </a:lnR>
                    <a:lnB w="5715">
                      <a:solidFill>
                        <a:srgbClr val="E3E3E3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1275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6.532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E3E3E3"/>
                      </a:solidFill>
                      <a:prstDash val="solid"/>
                    </a:lnR>
                    <a:lnB w="5715">
                      <a:solidFill>
                        <a:srgbClr val="E3E3E3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1275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9.552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E3E3E3"/>
                      </a:solidFill>
                      <a:prstDash val="solid"/>
                    </a:lnR>
                    <a:lnB w="5715">
                      <a:solidFill>
                        <a:srgbClr val="E3E3E3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</a:tr>
              <a:tr h="480060">
                <a:tc>
                  <a:txBody>
                    <a:bodyPr lIns="76200" tIns="76200" rIns="76200" bIns="76200"/>
                    <a:lstStyle/>
                    <a:p>
                      <a:pPr algn="l"/>
                      <a:r>
                        <a:rPr sz="1275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EP16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E3E3E3"/>
                      </a:solidFill>
                      <a:prstDash val="solid"/>
                    </a:lnL>
                    <a:lnR w="5715">
                      <a:solidFill>
                        <a:srgbClr val="E3E3E3"/>
                      </a:solidFill>
                      <a:prstDash val="solid"/>
                    </a:lnR>
                    <a:lnB w="5715">
                      <a:solidFill>
                        <a:srgbClr val="E3E3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1275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3.793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E3E3E3"/>
                      </a:solidFill>
                      <a:prstDash val="solid"/>
                    </a:lnR>
                    <a:lnB w="5715">
                      <a:solidFill>
                        <a:srgbClr val="E3E3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1275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3.486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E3E3E3"/>
                      </a:solidFill>
                      <a:prstDash val="solid"/>
                    </a:lnR>
                    <a:lnB w="5715">
                      <a:solidFill>
                        <a:srgbClr val="E3E3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1275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6.676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E3E3E3"/>
                      </a:solidFill>
                      <a:prstDash val="solid"/>
                    </a:lnR>
                    <a:lnB w="5715">
                      <a:solidFill>
                        <a:srgbClr val="E3E3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1275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8.743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E3E3E3"/>
                      </a:solidFill>
                      <a:prstDash val="solid"/>
                    </a:lnR>
                    <a:lnB w="5715">
                      <a:solidFill>
                        <a:srgbClr val="E3E3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 lIns="76200" tIns="76200" rIns="76200" bIns="76200"/>
                    <a:lstStyle/>
                    <a:p>
                      <a:pPr algn="l"/>
                      <a:r>
                        <a:rPr sz="1275" b="1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AFD eager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E3E3E3"/>
                      </a:solidFill>
                      <a:prstDash val="solid"/>
                    </a:lnL>
                    <a:lnR w="5715">
                      <a:solidFill>
                        <a:srgbClr val="E3E3E3"/>
                      </a:solidFill>
                      <a:prstDash val="solid"/>
                    </a:lnR>
                    <a:lnB w="5715">
                      <a:solidFill>
                        <a:srgbClr val="E3E3E3"/>
                      </a:solidFill>
                      <a:prstDash val="solid"/>
                    </a:lnB>
                    <a:solidFill>
                      <a:srgbClr val="FFF3D8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1275" b="1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2.936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E3E3E3"/>
                      </a:solidFill>
                      <a:prstDash val="solid"/>
                    </a:lnR>
                    <a:lnB w="5715">
                      <a:solidFill>
                        <a:srgbClr val="E3E3E3"/>
                      </a:solidFill>
                      <a:prstDash val="solid"/>
                    </a:lnB>
                    <a:solidFill>
                      <a:srgbClr val="FFF3D8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1275" b="1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2.531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E3E3E3"/>
                      </a:solidFill>
                      <a:prstDash val="solid"/>
                    </a:lnR>
                    <a:lnB w="5715">
                      <a:solidFill>
                        <a:srgbClr val="E3E3E3"/>
                      </a:solidFill>
                      <a:prstDash val="solid"/>
                    </a:lnB>
                    <a:solidFill>
                      <a:srgbClr val="FFF3D8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1275" b="1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6.361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E3E3E3"/>
                      </a:solidFill>
                      <a:prstDash val="solid"/>
                    </a:lnR>
                    <a:lnB w="5715">
                      <a:solidFill>
                        <a:srgbClr val="E3E3E3"/>
                      </a:solidFill>
                      <a:prstDash val="solid"/>
                    </a:lnB>
                    <a:solidFill>
                      <a:srgbClr val="FFF3D8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1275" b="1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8.611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E3E3E3"/>
                      </a:solidFill>
                      <a:prstDash val="solid"/>
                    </a:lnR>
                    <a:lnB w="5715">
                      <a:solidFill>
                        <a:srgbClr val="E3E3E3"/>
                      </a:solidFill>
                      <a:prstDash val="solid"/>
                    </a:lnB>
                    <a:solidFill>
                      <a:srgbClr val="FFF3D8"/>
                    </a:solidFill>
                  </a:tcPr>
                </a:tc>
              </a:tr>
            </a:tbl>
          </a:graphicData>
        </a:graphic>
      </p:graphicFrame>
      <p:sp>
        <p:nvSpPr>
          <p:cNvPr id="13" name="AFD：940.08 秒完成全部请求">
            <a:extLst xmlns:a="http://schemas.openxmlformats.org/drawingml/2006/main">
              <a:ext uri="{FF2B5EF4-FFF2-40B4-BE49-F238E27FC236}">
                <a16:creationId xmlns:a16="http://schemas.microsoft.com/office/drawing/2014/main" id="{97FFCC38-9C8D-408A-83C7-8E13C9CF7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791075"/>
            <a:ext cx="523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575" b="1">
                <a:solidFill>
                  <a:srgbClr val="284DA6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284DA6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284DA6"/>
                </a:solidFill>
                <a:latin typeface="微软雅黑"/>
                <a:ea typeface="微软雅黑"/>
                <a:cs typeface="微软雅黑"/>
              </a:rPr>
              <a:t>AFD：940.08 秒完成全部请求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8A2FEC-7974-4082-8AA3-B8C382278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72150"/>
            <a:ext cx="109728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 w="0">
            <a:noFill/>
          </a:ln>
        </p:spPr>
      </p:sp>
      <p:sp>
        <p:nvSpPr>
          <p:cNvPr id="15" name="相对 EP4 / EP8 / EP16，AFD 耗时分别降低 5">
            <a:extLst xmlns:a="http://schemas.openxmlformats.org/drawingml/2006/main">
              <a:ext uri="{FF2B5EF4-FFF2-40B4-BE49-F238E27FC236}">
                <a16:creationId xmlns:a16="http://schemas.microsoft.com/office/drawing/2014/main" id="{C4CAB140-79B2-433B-8462-4FC6B88D4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29300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575" b="1">
                <a:solidFill>
                  <a:srgbClr val="D00000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D00000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D00000"/>
                </a:solidFill>
                <a:latin typeface="微软雅黑"/>
                <a:ea typeface="微软雅黑"/>
                <a:cs typeface="微软雅黑"/>
              </a:rPr>
              <a:t>相对 EP4 / EP8 / EP16，AFD 耗时分别降低 51.77% / 6.54% / 21.65%</a:t>
            </a:r>
          </a:p>
        </p:txBody>
      </p:sp>
      <p:sp>
        <p:nvSpPr>
          <p:cNvPr id="16" name="每组单次同机实测。全程含依赖与准入等待；TTFT 从请求发送前开">
            <a:extLst xmlns:a="http://schemas.openxmlformats.org/drawingml/2006/main">
              <a:ext uri="{FF2B5EF4-FFF2-40B4-BE49-F238E27FC236}">
                <a16:creationId xmlns:a16="http://schemas.microsoft.com/office/drawing/2014/main" id="{429394EB-C359-4A38-8EF0-4FFBE3503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05550"/>
            <a:ext cx="10763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900" b="0">
                <a:solidFill>
                  <a:srgbClr val="777777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777777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777777"/>
                </a:solidFill>
                <a:latin typeface="微软雅黑"/>
                <a:ea typeface="微软雅黑"/>
                <a:cs typeface="微软雅黑"/>
              </a:rPr>
              <a:t>每组单次同机实测。全程含依赖与准入等待；TTFT 从请求发送前开始计时，包含正文序列化。</a:t>
            </a:r>
          </a:p>
        </p:txBody>
      </p:sp>
    </p:spTree>
    <p:extLst>
      <p:ext uri="{BB962C8B-B14F-4D97-AF65-F5344CB8AC3E}">
        <p14:creationId xmlns:p14="http://schemas.microsoft.com/office/powerpoint/2010/main" val="1675065745"/>
      </p:ext>
    </p:extLst>
  </p:cSld>
</p:sld>
</file>

<file path=ppt/slides/v20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实验二｜128 会话 · 3,725 请求 · C12｜Pref">
            <a:extLst xmlns:a="http://schemas.openxmlformats.org/drawingml/2006/main">
              <a:ext uri="{FF2B5EF4-FFF2-40B4-BE49-F238E27FC236}">
                <a16:creationId xmlns:a16="http://schemas.microsoft.com/office/drawing/2014/main" id="{B1194241-D3B3-4800-A9B4-3B218789F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825" b="1">
                <a:solidFill>
                  <a:srgbClr val="777777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825" b="1">
                <a:solidFill>
                  <a:srgbClr val="777777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1">
                <a:solidFill>
                  <a:srgbClr val="777777"/>
                </a:solidFill>
                <a:latin typeface="微软雅黑"/>
                <a:ea typeface="微软雅黑"/>
                <a:cs typeface="微软雅黑"/>
              </a:rPr>
              <a:t>实验二｜128 会话 · 3,725 请求 · C12｜Prefix-on</a:t>
            </a:r>
          </a:p>
        </p:txBody>
      </p:sp>
      <p:sp>
        <p:nvSpPr>
          <p:cNvPr id="2" name="AFD 集中部署专家，为 A 侧保留更多缓存空间">
            <a:extLst xmlns:a="http://schemas.openxmlformats.org/drawingml/2006/main">
              <a:ext uri="{FF2B5EF4-FFF2-40B4-BE49-F238E27FC236}">
                <a16:creationId xmlns:a16="http://schemas.microsoft.com/office/drawing/2014/main" id="{1F231AA4-B7D4-4CD5-94CD-CC7DA21DE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50" b="1">
                <a:solidFill>
                  <a:srgbClr val="D00000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150" b="1">
                <a:solidFill>
                  <a:srgbClr val="D00000"/>
                </a:solidFill>
                <a:latin typeface="微软雅黑"/>
                <a:ea typeface="微软雅黑"/>
                <a:cs typeface="微软雅黑"/>
              </a:defRPr>
            </a:pPr>
            <a:r>
              <a:rPr sz="2150" b="1">
                <a:solidFill>
                  <a:srgbClr val="D00000"/>
                </a:solidFill>
                <a:latin typeface="微软雅黑"/>
                <a:ea typeface="微软雅黑"/>
                <a:cs typeface="微软雅黑"/>
              </a:rPr>
              <a:t>AFD 集中部署专家，为 A 侧保留更多缓存空间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4BE983-7137-4100-ACF5-C7955C76F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04875"/>
            <a:ext cx="1381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0000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09DDFE-BE02-4ADB-B234-601415442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9650"/>
            <a:ext cx="10972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 w="0">
            <a:noFill/>
          </a:ln>
        </p:spPr>
      </p:sp>
      <p:sp>
        <p:nvSpPr>
          <p:cNvPr id="5" name="模型：dsv4-flash W4A8">
            <a:extLst xmlns:a="http://schemas.openxmlformats.org/drawingml/2006/main">
              <a:ext uri="{FF2B5EF4-FFF2-40B4-BE49-F238E27FC236}">
                <a16:creationId xmlns:a16="http://schemas.microsoft.com/office/drawing/2014/main" id="{16456551-0DA3-4216-879E-52DA13295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095375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284DA6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284DA6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284DA6"/>
                </a:solidFill>
                <a:latin typeface="微软雅黑"/>
                <a:ea typeface="微软雅黑"/>
                <a:cs typeface="微软雅黑"/>
              </a:rPr>
              <a:t>模型：dsv4-flash W4A8</a:t>
            </a:r>
          </a:p>
        </p:txBody>
      </p:sp>
      <p:sp>
        <p:nvSpPr>
          <p:cNvPr id="6" name="单 DIE 显存与整机容量　各组自然 profile">
            <a:extLst xmlns:a="http://schemas.openxmlformats.org/drawingml/2006/main">
              <a:ext uri="{FF2B5EF4-FFF2-40B4-BE49-F238E27FC236}">
                <a16:creationId xmlns:a16="http://schemas.microsoft.com/office/drawing/2014/main" id="{5160587B-2397-41BE-BEDD-BBEF4D163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095375"/>
            <a:ext cx="581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050" b="0">
                <a:solidFill>
                  <a:srgbClr val="77A23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77A238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77A238"/>
                </a:solidFill>
                <a:latin typeface="微软雅黑"/>
                <a:ea typeface="微软雅黑"/>
                <a:cs typeface="微软雅黑"/>
              </a:rPr>
              <a:t>单 DIE 显存与整机容量　各组自然 profile</a:t>
            </a:r>
          </a:p>
        </p:txBody>
      </p:sp>
      <p:sp>
        <p:nvSpPr>
          <p:cNvPr id="7" name="硬件：Ascend 910C">
            <a:extLst xmlns:a="http://schemas.openxmlformats.org/drawingml/2006/main">
              <a:ext uri="{FF2B5EF4-FFF2-40B4-BE49-F238E27FC236}">
                <a16:creationId xmlns:a16="http://schemas.microsoft.com/office/drawing/2014/main" id="{D4D3BFF5-2013-4CB9-A80D-1361AB406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095375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975" b="1">
                <a:solidFill>
                  <a:srgbClr val="EF7900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r">
              <a:defRPr sz="975" b="1">
                <a:solidFill>
                  <a:srgbClr val="EF7900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EF7900"/>
                </a:solidFill>
                <a:latin typeface="微软雅黑"/>
                <a:ea typeface="微软雅黑"/>
                <a:cs typeface="微软雅黑"/>
              </a:rPr>
              <a:t>硬件：Ascend 910C</a:t>
            </a:r>
          </a:p>
        </p:txBody>
      </p:sp>
      <p:sp>
        <p:nvSpPr>
          <p:cNvPr id="8" name="50">
            <a:extLst xmlns:a="http://schemas.openxmlformats.org/drawingml/2006/main">
              <a:ext uri="{FF2B5EF4-FFF2-40B4-BE49-F238E27FC236}">
                <a16:creationId xmlns:a16="http://schemas.microsoft.com/office/drawing/2014/main" id="{790061F0-97C7-444B-9CD6-DE6712771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553200"/>
            <a:ext cx="3048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800" b="0">
                <a:solidFill>
                  <a:srgbClr val="777777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r">
              <a:defRPr sz="800" b="0">
                <a:solidFill>
                  <a:srgbClr val="777777"/>
                </a:solidFill>
                <a:latin typeface="微软雅黑"/>
                <a:ea typeface="微软雅黑"/>
                <a:cs typeface="微软雅黑"/>
              </a:defRPr>
            </a:pPr>
            <a:r>
              <a:rPr sz="800" b="0">
                <a:solidFill>
                  <a:srgbClr val="777777"/>
                </a:solidFill>
                <a:latin typeface="微软雅黑"/>
                <a:ea typeface="微软雅黑"/>
                <a:cs typeface="微软雅黑"/>
              </a:rPr>
              <a:t>50</a:t>
            </a:r>
          </a:p>
        </p:txBody>
      </p:sp>
      <p:sp>
        <p:nvSpPr>
          <p:cNvPr id="9" name="单 DIE：权重与实际 KV（GiB）">
            <a:extLst xmlns:a="http://schemas.openxmlformats.org/drawingml/2006/main">
              <a:ext uri="{FF2B5EF4-FFF2-40B4-BE49-F238E27FC236}">
                <a16:creationId xmlns:a16="http://schemas.microsoft.com/office/drawing/2014/main" id="{ADCA8926-37BB-4674-96E0-6E7069FD5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95450"/>
            <a:ext cx="600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500" b="1">
                <a:solidFill>
                  <a:srgbClr val="333333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33333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单 DIE：权重与实际 KV（GiB）</a:t>
            </a:r>
          </a:p>
        </p:txBody>
      </p:sp>
      <p:graphicFrame>
        <p:nvGraphicFrame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639D23-9F2F-4554-993F-EC23B77845E9}"/>
              </a:ext>
            </a:extLst>
          </p:cNvPr>
          <p:cNvGraphicFramePr/>
          <p:nvPr/>
        </p:nvGraphicFramePr>
        <p:xfrm>
          <a:off xmlns:a="http://schemas.openxmlformats.org/drawingml/2006/main" x="628650" y="2152650"/>
          <a:ext xmlns:a="http://schemas.openxmlformats.org/drawingml/2006/main" cx="6143625" cy="2743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571625"/>
                <a:gridCol w="809625"/>
                <a:gridCol w="1666875"/>
                <a:gridCol w="2095500"/>
              </a:tblGrid>
              <a:tr h="457200">
                <a:tc>
                  <a:txBody>
                    <a:bodyPr lIns="76200" tIns="76200" rIns="76200" bIns="76200"/>
                    <a:lstStyle/>
                    <a:p>
                      <a:pPr algn="l"/>
                      <a:r>
                        <a:rPr sz="1275" b="1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部署 / 角色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E3E3E3"/>
                      </a:solidFill>
                      <a:prstDash val="solid"/>
                    </a:lnL>
                    <a:lnR w="5715">
                      <a:solidFill>
                        <a:srgbClr val="E3E3E3"/>
                      </a:solidFill>
                      <a:prstDash val="solid"/>
                    </a:lnR>
                    <a:lnT w="5715">
                      <a:solidFill>
                        <a:srgbClr val="E3E3E3"/>
                      </a:solidFill>
                      <a:prstDash val="solid"/>
                    </a:lnT>
                    <a:lnB w="5715">
                      <a:solidFill>
                        <a:srgbClr val="E3E3E3"/>
                      </a:solidFill>
                      <a:prstDash val="solid"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1275" b="1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DIE 数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E3E3E3"/>
                      </a:solidFill>
                      <a:prstDash val="solid"/>
                    </a:lnR>
                    <a:lnT w="5715">
                      <a:solidFill>
                        <a:srgbClr val="E3E3E3"/>
                      </a:solidFill>
                      <a:prstDash val="solid"/>
                    </a:lnT>
                    <a:lnB w="5715">
                      <a:solidFill>
                        <a:srgbClr val="E3E3E3"/>
                      </a:solidFill>
                      <a:prstDash val="solid"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1275" b="1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权重加载占用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E3E3E3"/>
                      </a:solidFill>
                      <a:prstDash val="solid"/>
                    </a:lnR>
                    <a:lnT w="5715">
                      <a:solidFill>
                        <a:srgbClr val="E3E3E3"/>
                      </a:solidFill>
                      <a:prstDash val="solid"/>
                    </a:lnT>
                    <a:lnB w="5715">
                      <a:solidFill>
                        <a:srgbClr val="E3E3E3"/>
                      </a:solidFill>
                      <a:prstDash val="solid"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1275" b="1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实际 KV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E3E3E3"/>
                      </a:solidFill>
                      <a:prstDash val="solid"/>
                    </a:lnR>
                    <a:lnT w="5715">
                      <a:solidFill>
                        <a:srgbClr val="E3E3E3"/>
                      </a:solidFill>
                      <a:prstDash val="solid"/>
                    </a:lnT>
                    <a:lnB w="5715">
                      <a:solidFill>
                        <a:srgbClr val="E3E3E3"/>
                      </a:solidFill>
                      <a:prstDash val="solid"/>
                    </a:lnB>
                    <a:solidFill>
                      <a:srgbClr val="EAEAEA"/>
                    </a:solidFill>
                  </a:tcPr>
                </a:tc>
              </a:tr>
              <a:tr h="457200">
                <a:tc>
                  <a:txBody>
                    <a:bodyPr lIns="76200" tIns="76200" rIns="76200" bIns="76200"/>
                    <a:lstStyle/>
                    <a:p>
                      <a:pPr algn="l"/>
                      <a:r>
                        <a:rPr sz="13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EP4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E3E3E3"/>
                      </a:solidFill>
                      <a:prstDash val="solid"/>
                    </a:lnL>
                    <a:lnR w="5715">
                      <a:solidFill>
                        <a:srgbClr val="E3E3E3"/>
                      </a:solidFill>
                      <a:prstDash val="solid"/>
                    </a:lnR>
                    <a:lnB w="5715">
                      <a:solidFill>
                        <a:srgbClr val="E3E3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13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16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E3E3E3"/>
                      </a:solidFill>
                      <a:prstDash val="solid"/>
                    </a:lnR>
                    <a:lnB w="5715">
                      <a:solidFill>
                        <a:srgbClr val="E3E3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13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38.44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E3E3E3"/>
                      </a:solidFill>
                      <a:prstDash val="solid"/>
                    </a:lnR>
                    <a:lnB w="5715">
                      <a:solidFill>
                        <a:srgbClr val="E3E3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13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14.21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E3E3E3"/>
                      </a:solidFill>
                      <a:prstDash val="solid"/>
                    </a:lnR>
                    <a:lnB w="5715">
                      <a:solidFill>
                        <a:srgbClr val="E3E3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lIns="76200" tIns="76200" rIns="76200" bIns="76200"/>
                    <a:lstStyle/>
                    <a:p>
                      <a:pPr algn="l"/>
                      <a:r>
                        <a:rPr sz="13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EP8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E3E3E3"/>
                      </a:solidFill>
                      <a:prstDash val="solid"/>
                    </a:lnL>
                    <a:lnR w="5715">
                      <a:solidFill>
                        <a:srgbClr val="E3E3E3"/>
                      </a:solidFill>
                      <a:prstDash val="solid"/>
                    </a:lnR>
                    <a:lnB w="5715">
                      <a:solidFill>
                        <a:srgbClr val="E3E3E3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13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16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E3E3E3"/>
                      </a:solidFill>
                      <a:prstDash val="solid"/>
                    </a:lnR>
                    <a:lnB w="5715">
                      <a:solidFill>
                        <a:srgbClr val="E3E3E3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13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22.15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E3E3E3"/>
                      </a:solidFill>
                      <a:prstDash val="solid"/>
                    </a:lnR>
                    <a:lnB w="5715">
                      <a:solidFill>
                        <a:srgbClr val="E3E3E3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13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29.30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E3E3E3"/>
                      </a:solidFill>
                      <a:prstDash val="solid"/>
                    </a:lnR>
                    <a:lnB w="5715">
                      <a:solidFill>
                        <a:srgbClr val="E3E3E3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</a:tr>
              <a:tr h="457200">
                <a:tc>
                  <a:txBody>
                    <a:bodyPr lIns="76200" tIns="76200" rIns="76200" bIns="76200"/>
                    <a:lstStyle/>
                    <a:p>
                      <a:pPr algn="l"/>
                      <a:r>
                        <a:rPr sz="13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EP16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E3E3E3"/>
                      </a:solidFill>
                      <a:prstDash val="solid"/>
                    </a:lnL>
                    <a:lnR w="5715">
                      <a:solidFill>
                        <a:srgbClr val="E3E3E3"/>
                      </a:solidFill>
                      <a:prstDash val="solid"/>
                    </a:lnR>
                    <a:lnB w="5715">
                      <a:solidFill>
                        <a:srgbClr val="E3E3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13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16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E3E3E3"/>
                      </a:solidFill>
                      <a:prstDash val="solid"/>
                    </a:lnR>
                    <a:lnB w="5715">
                      <a:solidFill>
                        <a:srgbClr val="E3E3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13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14.00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E3E3E3"/>
                      </a:solidFill>
                      <a:prstDash val="solid"/>
                    </a:lnR>
                    <a:lnB w="5715">
                      <a:solidFill>
                        <a:srgbClr val="E3E3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13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35.17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E3E3E3"/>
                      </a:solidFill>
                      <a:prstDash val="solid"/>
                    </a:lnR>
                    <a:lnB w="5715">
                      <a:solidFill>
                        <a:srgbClr val="E3E3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lIns="76200" tIns="76200" rIns="76200" bIns="76200"/>
                    <a:lstStyle/>
                    <a:p>
                      <a:pPr algn="l"/>
                      <a:r>
                        <a:rPr sz="1350" b="1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AFD A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E3E3E3"/>
                      </a:solidFill>
                      <a:prstDash val="solid"/>
                    </a:lnL>
                    <a:lnR w="5715">
                      <a:solidFill>
                        <a:srgbClr val="E3E3E3"/>
                      </a:solidFill>
                      <a:prstDash val="solid"/>
                    </a:lnR>
                    <a:lnB w="5715">
                      <a:solidFill>
                        <a:srgbClr val="E3E3E3"/>
                      </a:solidFill>
                      <a:prstDash val="solid"/>
                    </a:lnB>
                    <a:solidFill>
                      <a:srgbClr val="FFF3D8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1350" b="1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12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E3E3E3"/>
                      </a:solidFill>
                      <a:prstDash val="solid"/>
                    </a:lnR>
                    <a:lnB w="5715">
                      <a:solidFill>
                        <a:srgbClr val="E3E3E3"/>
                      </a:solidFill>
                      <a:prstDash val="solid"/>
                    </a:lnB>
                    <a:solidFill>
                      <a:srgbClr val="FFF3D8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1350" b="1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6.70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E3E3E3"/>
                      </a:solidFill>
                      <a:prstDash val="solid"/>
                    </a:lnR>
                    <a:lnB w="5715">
                      <a:solidFill>
                        <a:srgbClr val="E3E3E3"/>
                      </a:solidFill>
                      <a:prstDash val="solid"/>
                    </a:lnB>
                    <a:solidFill>
                      <a:srgbClr val="FFF3D8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1350" b="1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42.98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E3E3E3"/>
                      </a:solidFill>
                      <a:prstDash val="solid"/>
                    </a:lnR>
                    <a:lnB w="5715">
                      <a:solidFill>
                        <a:srgbClr val="E3E3E3"/>
                      </a:solidFill>
                      <a:prstDash val="solid"/>
                    </a:lnB>
                    <a:solidFill>
                      <a:srgbClr val="FFF3D8"/>
                    </a:solidFill>
                  </a:tcPr>
                </a:tc>
              </a:tr>
              <a:tr h="457200">
                <a:tc>
                  <a:txBody>
                    <a:bodyPr lIns="76200" tIns="76200" rIns="76200" bIns="76200"/>
                    <a:lstStyle/>
                    <a:p>
                      <a:pPr algn="l"/>
                      <a:r>
                        <a:rPr sz="13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AFD F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E3E3E3"/>
                      </a:solidFill>
                      <a:prstDash val="solid"/>
                    </a:lnL>
                    <a:lnR w="5715">
                      <a:solidFill>
                        <a:srgbClr val="E3E3E3"/>
                      </a:solidFill>
                      <a:prstDash val="solid"/>
                    </a:lnR>
                    <a:lnB w="5715">
                      <a:solidFill>
                        <a:srgbClr val="E3E3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13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E3E3E3"/>
                      </a:solidFill>
                      <a:prstDash val="solid"/>
                    </a:lnR>
                    <a:lnB w="5715">
                      <a:solidFill>
                        <a:srgbClr val="E3E3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13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35.95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E3E3E3"/>
                      </a:solidFill>
                      <a:prstDash val="solid"/>
                    </a:lnR>
                    <a:lnB w="5715">
                      <a:solidFill>
                        <a:srgbClr val="E3E3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13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不配置 attention KV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E3E3E3"/>
                      </a:solidFill>
                      <a:prstDash val="solid"/>
                    </a:lnR>
                    <a:lnB w="5715">
                      <a:solidFill>
                        <a:srgbClr val="E3E3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整机：16 DIE 合计（GiB）">
            <a:extLst xmlns:a="http://schemas.openxmlformats.org/drawingml/2006/main">
              <a:ext uri="{FF2B5EF4-FFF2-40B4-BE49-F238E27FC236}">
                <a16:creationId xmlns:a16="http://schemas.microsoft.com/office/drawing/2014/main" id="{183A87BB-A97C-42D0-8F51-A5B1F005E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695450"/>
            <a:ext cx="419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500" b="1">
                <a:solidFill>
                  <a:srgbClr val="333333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33333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整机：16 DIE 合计（GiB）</a:t>
            </a:r>
          </a:p>
        </p:txBody>
      </p:sp>
      <p:graphicFrame>
        <p:nvGraphicFrame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1976CC-94A8-42AA-B632-6B89D190FE05}"/>
              </a:ext>
            </a:extLst>
          </p:cNvPr>
          <p:cNvGraphicFramePr/>
          <p:nvPr/>
        </p:nvGraphicFramePr>
        <p:xfrm>
          <a:off xmlns:a="http://schemas.openxmlformats.org/drawingml/2006/main" x="7239000" y="2152650"/>
          <a:ext xmlns:a="http://schemas.openxmlformats.org/drawingml/2006/main" cx="4191000" cy="2286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143000"/>
                <a:gridCol w="1619250"/>
                <a:gridCol w="1428750"/>
              </a:tblGrid>
              <a:tr h="457200">
                <a:tc>
                  <a:txBody>
                    <a:bodyPr lIns="76200" tIns="76200" rIns="76200" bIns="76200"/>
                    <a:lstStyle/>
                    <a:p>
                      <a:pPr algn="l"/>
                      <a:r>
                        <a:rPr sz="1275" b="1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部署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E3E3E3"/>
                      </a:solidFill>
                      <a:prstDash val="solid"/>
                    </a:lnL>
                    <a:lnR w="5715">
                      <a:solidFill>
                        <a:srgbClr val="E3E3E3"/>
                      </a:solidFill>
                      <a:prstDash val="solid"/>
                    </a:lnR>
                    <a:lnT w="5715">
                      <a:solidFill>
                        <a:srgbClr val="E3E3E3"/>
                      </a:solidFill>
                      <a:prstDash val="solid"/>
                    </a:lnT>
                    <a:lnB w="5715">
                      <a:solidFill>
                        <a:srgbClr val="E3E3E3"/>
                      </a:solidFill>
                      <a:prstDash val="solid"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1275" b="1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权重加载合计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E3E3E3"/>
                      </a:solidFill>
                      <a:prstDash val="solid"/>
                    </a:lnR>
                    <a:lnT w="5715">
                      <a:solidFill>
                        <a:srgbClr val="E3E3E3"/>
                      </a:solidFill>
                      <a:prstDash val="solid"/>
                    </a:lnT>
                    <a:lnB w="5715">
                      <a:solidFill>
                        <a:srgbClr val="E3E3E3"/>
                      </a:solidFill>
                      <a:prstDash val="solid"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1275" b="1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实际 KV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E3E3E3"/>
                      </a:solidFill>
                      <a:prstDash val="solid"/>
                    </a:lnR>
                    <a:lnT w="5715">
                      <a:solidFill>
                        <a:srgbClr val="E3E3E3"/>
                      </a:solidFill>
                      <a:prstDash val="solid"/>
                    </a:lnT>
                    <a:lnB w="5715">
                      <a:solidFill>
                        <a:srgbClr val="E3E3E3"/>
                      </a:solidFill>
                      <a:prstDash val="solid"/>
                    </a:lnB>
                    <a:solidFill>
                      <a:srgbClr val="EAEAEA"/>
                    </a:solidFill>
                  </a:tcPr>
                </a:tc>
              </a:tr>
              <a:tr h="457200">
                <a:tc>
                  <a:txBody>
                    <a:bodyPr lIns="76200" tIns="76200" rIns="76200" bIns="76200"/>
                    <a:lstStyle/>
                    <a:p>
                      <a:pPr algn="l"/>
                      <a:r>
                        <a:rPr sz="13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EP4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E3E3E3"/>
                      </a:solidFill>
                      <a:prstDash val="solid"/>
                    </a:lnL>
                    <a:lnR w="5715">
                      <a:solidFill>
                        <a:srgbClr val="E3E3E3"/>
                      </a:solidFill>
                      <a:prstDash val="solid"/>
                    </a:lnR>
                    <a:lnB w="5715">
                      <a:solidFill>
                        <a:srgbClr val="E3E3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13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615.11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E3E3E3"/>
                      </a:solidFill>
                      <a:prstDash val="solid"/>
                    </a:lnR>
                    <a:lnB w="5715">
                      <a:solidFill>
                        <a:srgbClr val="E3E3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13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227.36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E3E3E3"/>
                      </a:solidFill>
                      <a:prstDash val="solid"/>
                    </a:lnR>
                    <a:lnB w="5715">
                      <a:solidFill>
                        <a:srgbClr val="E3E3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lIns="76200" tIns="76200" rIns="76200" bIns="76200"/>
                    <a:lstStyle/>
                    <a:p>
                      <a:pPr algn="l"/>
                      <a:r>
                        <a:rPr sz="13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EP8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E3E3E3"/>
                      </a:solidFill>
                      <a:prstDash val="solid"/>
                    </a:lnL>
                    <a:lnR w="5715">
                      <a:solidFill>
                        <a:srgbClr val="E3E3E3"/>
                      </a:solidFill>
                      <a:prstDash val="solid"/>
                    </a:lnR>
                    <a:lnB w="5715">
                      <a:solidFill>
                        <a:srgbClr val="E3E3E3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13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354.40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E3E3E3"/>
                      </a:solidFill>
                      <a:prstDash val="solid"/>
                    </a:lnR>
                    <a:lnB w="5715">
                      <a:solidFill>
                        <a:srgbClr val="E3E3E3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13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468.83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E3E3E3"/>
                      </a:solidFill>
                      <a:prstDash val="solid"/>
                    </a:lnR>
                    <a:lnB w="5715">
                      <a:solidFill>
                        <a:srgbClr val="E3E3E3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</a:tr>
              <a:tr h="457200">
                <a:tc>
                  <a:txBody>
                    <a:bodyPr lIns="76200" tIns="76200" rIns="76200" bIns="76200"/>
                    <a:lstStyle/>
                    <a:p>
                      <a:pPr algn="l"/>
                      <a:r>
                        <a:rPr sz="13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EP16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E3E3E3"/>
                      </a:solidFill>
                      <a:prstDash val="solid"/>
                    </a:lnL>
                    <a:lnR w="5715">
                      <a:solidFill>
                        <a:srgbClr val="E3E3E3"/>
                      </a:solidFill>
                      <a:prstDash val="solid"/>
                    </a:lnR>
                    <a:lnB w="5715">
                      <a:solidFill>
                        <a:srgbClr val="E3E3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13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224.05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E3E3E3"/>
                      </a:solidFill>
                      <a:prstDash val="solid"/>
                    </a:lnR>
                    <a:lnB w="5715">
                      <a:solidFill>
                        <a:srgbClr val="E3E3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13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562.68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E3E3E3"/>
                      </a:solidFill>
                      <a:prstDash val="solid"/>
                    </a:lnR>
                    <a:lnB w="5715">
                      <a:solidFill>
                        <a:srgbClr val="E3E3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lIns="76200" tIns="76200" rIns="76200" bIns="76200"/>
                    <a:lstStyle/>
                    <a:p>
                      <a:pPr algn="l"/>
                      <a:r>
                        <a:rPr sz="1350" b="1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AFD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E3E3E3"/>
                      </a:solidFill>
                      <a:prstDash val="solid"/>
                    </a:lnL>
                    <a:lnR w="5715">
                      <a:solidFill>
                        <a:srgbClr val="E3E3E3"/>
                      </a:solidFill>
                      <a:prstDash val="solid"/>
                    </a:lnR>
                    <a:lnB w="5715">
                      <a:solidFill>
                        <a:srgbClr val="E3E3E3"/>
                      </a:solidFill>
                      <a:prstDash val="solid"/>
                    </a:lnB>
                    <a:solidFill>
                      <a:srgbClr val="FFF3D8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1350" b="1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224.18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E3E3E3"/>
                      </a:solidFill>
                      <a:prstDash val="solid"/>
                    </a:lnR>
                    <a:lnB w="5715">
                      <a:solidFill>
                        <a:srgbClr val="E3E3E3"/>
                      </a:solidFill>
                      <a:prstDash val="solid"/>
                    </a:lnB>
                    <a:solidFill>
                      <a:srgbClr val="FFF3D8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1350" b="1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515.77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E3E3E3"/>
                      </a:solidFill>
                      <a:prstDash val="solid"/>
                    </a:lnR>
                    <a:lnB w="5715">
                      <a:solidFill>
                        <a:srgbClr val="E3E3E3"/>
                      </a:solidFill>
                      <a:prstDash val="solid"/>
                    </a:lnB>
                    <a:solidFill>
                      <a:srgbClr val="FFF3D8"/>
                    </a:solidFill>
                  </a:tcPr>
                </a:tc>
              </a:tr>
            </a:tbl>
          </a:graphicData>
        </a:graphic>
      </p:graphicFrame>
      <p:sp>
        <p:nvSpPr>
          <p:cNvPr id="13" name="AFD 与 EP16 权重总量接近&#10;AFD 比 EP4 / EP">
            <a:extLst xmlns:a="http://schemas.openxmlformats.org/drawingml/2006/main">
              <a:ext uri="{FF2B5EF4-FFF2-40B4-BE49-F238E27FC236}">
                <a16:creationId xmlns:a16="http://schemas.microsoft.com/office/drawing/2014/main" id="{F705A7B9-09D5-4059-949A-4BFD008CE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695825"/>
            <a:ext cx="4191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350" b="1">
                <a:solidFill>
                  <a:srgbClr val="284DA6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284DA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284DA6"/>
                </a:solidFill>
                <a:latin typeface="微软雅黑"/>
                <a:ea typeface="微软雅黑"/>
                <a:cs typeface="微软雅黑"/>
              </a:rPr>
              <a:t>AFD 与 EP16 权重总量接近</a:t>
            </a:r>
          </a:p>
          <a:p xmlns:a="http://schemas.openxmlformats.org/drawingml/2006/main">
            <a:pPr algn="l">
              <a:defRPr sz="1350" b="1">
                <a:solidFill>
                  <a:srgbClr val="284DA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284DA6"/>
                </a:solidFill>
                <a:latin typeface="微软雅黑"/>
                <a:ea typeface="微软雅黑"/>
                <a:cs typeface="微软雅黑"/>
              </a:rPr>
              <a:t>AFD 比 EP4 / EP8 拥有更多 KV 空间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397803-AC29-4E2C-8525-733C3B1D8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72150"/>
            <a:ext cx="109728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 w="0">
            <a:noFill/>
          </a:ln>
        </p:spPr>
      </p:sp>
      <p:sp>
        <p:nvSpPr>
          <p:cNvPr id="15" name="AFD 将专家集中在 F 侧，减少多实例中的权重重复驻留">
            <a:extLst xmlns:a="http://schemas.openxmlformats.org/drawingml/2006/main">
              <a:ext uri="{FF2B5EF4-FFF2-40B4-BE49-F238E27FC236}">
                <a16:creationId xmlns:a16="http://schemas.microsoft.com/office/drawing/2014/main" id="{9F5B1426-2F18-425C-BFA9-6945690C2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29300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575" b="1">
                <a:solidFill>
                  <a:srgbClr val="D00000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D00000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D00000"/>
                </a:solidFill>
                <a:latin typeface="微软雅黑"/>
                <a:ea typeface="微软雅黑"/>
                <a:cs typeface="微软雅黑"/>
              </a:rPr>
              <a:t>AFD 将专家集中在 F 侧，减少多实例中的权重重复驻留</a:t>
            </a:r>
          </a:p>
        </p:txBody>
      </p:sp>
      <p:sp>
        <p:nvSpPr>
          <p:cNvPr id="16" name="单 DIE 为同类设备的均值。权重加载与 KV 分配属于不同记录">
            <a:extLst xmlns:a="http://schemas.openxmlformats.org/drawingml/2006/main">
              <a:ext uri="{FF2B5EF4-FFF2-40B4-BE49-F238E27FC236}">
                <a16:creationId xmlns:a16="http://schemas.microsoft.com/office/drawing/2014/main" id="{C6C6AE2B-6BCF-430F-8606-DA2A1E7BF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05550"/>
            <a:ext cx="10763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900" b="0">
                <a:solidFill>
                  <a:srgbClr val="777777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777777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777777"/>
                </a:solidFill>
                <a:latin typeface="微软雅黑"/>
                <a:ea typeface="微软雅黑"/>
                <a:cs typeface="微软雅黑"/>
              </a:rPr>
              <a:t>单 DIE 为同类设备的均值。权重加载与 KV 分配属于不同记录阶段，不直接相减推算工作区。</a:t>
            </a:r>
          </a:p>
        </p:txBody>
      </p:sp>
    </p:spTree>
    <p:extLst>
      <p:ext uri="{BB962C8B-B14F-4D97-AF65-F5344CB8AC3E}">
        <p14:creationId xmlns:p14="http://schemas.microsoft.com/office/powerpoint/2010/main" val="1666170204"/>
      </p:ext>
    </p:extLst>
  </p:cSld>
</p:sld>
</file>

<file path=ppt/slides/v20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实验二｜128 会话 · 3,725 请求 · C12｜Pref">
            <a:extLst xmlns:a="http://schemas.openxmlformats.org/drawingml/2006/main">
              <a:ext uri="{FF2B5EF4-FFF2-40B4-BE49-F238E27FC236}">
                <a16:creationId xmlns:a16="http://schemas.microsoft.com/office/drawing/2014/main" id="{2FB98927-5E1C-4F23-8939-0B144F8D8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825" b="1">
                <a:solidFill>
                  <a:srgbClr val="777777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825" b="1">
                <a:solidFill>
                  <a:srgbClr val="777777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1">
                <a:solidFill>
                  <a:srgbClr val="777777"/>
                </a:solidFill>
                <a:latin typeface="微软雅黑"/>
                <a:ea typeface="微软雅黑"/>
                <a:cs typeface="微软雅黑"/>
              </a:rPr>
              <a:t>实验二｜128 会话 · 3,725 请求 · C12｜Prefix-on</a:t>
            </a:r>
          </a:p>
        </p:txBody>
      </p:sp>
      <p:sp>
        <p:nvSpPr>
          <p:cNvPr id="2" name="AFD 对 EP4 少做 prefill，与 EP8、EP16 ">
            <a:extLst xmlns:a="http://schemas.openxmlformats.org/drawingml/2006/main">
              <a:ext uri="{FF2B5EF4-FFF2-40B4-BE49-F238E27FC236}">
                <a16:creationId xmlns:a16="http://schemas.microsoft.com/office/drawing/2014/main" id="{A968F8BC-8748-4E21-8E2D-28E681454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50" b="1">
                <a:solidFill>
                  <a:srgbClr val="D00000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150" b="1">
                <a:solidFill>
                  <a:srgbClr val="D00000"/>
                </a:solidFill>
                <a:latin typeface="微软雅黑"/>
                <a:ea typeface="微软雅黑"/>
                <a:cs typeface="微软雅黑"/>
              </a:defRPr>
            </a:pPr>
            <a:r>
              <a:rPr sz="2150" b="1">
                <a:solidFill>
                  <a:srgbClr val="D00000"/>
                </a:solidFill>
                <a:latin typeface="微软雅黑"/>
                <a:ea typeface="微软雅黑"/>
                <a:cs typeface="微软雅黑"/>
              </a:rPr>
              <a:t>AFD 对 EP4 少做 prefill，与 EP8、EP16 工作量相同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68C8F4-214D-4E4A-8075-FDED6CCB4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04875"/>
            <a:ext cx="1381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0000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226415-2222-41CF-B092-036BDE6AD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9650"/>
            <a:ext cx="10972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 w="0">
            <a:noFill/>
          </a:ln>
        </p:spPr>
      </p:sp>
      <p:sp>
        <p:nvSpPr>
          <p:cNvPr id="5" name="模型：dsv4-flash W4A8">
            <a:extLst xmlns:a="http://schemas.openxmlformats.org/drawingml/2006/main">
              <a:ext uri="{FF2B5EF4-FFF2-40B4-BE49-F238E27FC236}">
                <a16:creationId xmlns:a16="http://schemas.microsoft.com/office/drawing/2014/main" id="{FC72ABE5-8A7A-49A8-90E2-E3509A939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095375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284DA6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284DA6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284DA6"/>
                </a:solidFill>
                <a:latin typeface="微软雅黑"/>
                <a:ea typeface="微软雅黑"/>
                <a:cs typeface="微软雅黑"/>
              </a:rPr>
              <a:t>模型：dsv4-flash W4A8</a:t>
            </a:r>
          </a:p>
        </p:txBody>
      </p:sp>
      <p:sp>
        <p:nvSpPr>
          <p:cNvPr id="6" name="同一 2.946 亿输入 tokens　缓存复用与实际 pref">
            <a:extLst xmlns:a="http://schemas.openxmlformats.org/drawingml/2006/main">
              <a:ext uri="{FF2B5EF4-FFF2-40B4-BE49-F238E27FC236}">
                <a16:creationId xmlns:a16="http://schemas.microsoft.com/office/drawing/2014/main" id="{FC366F6A-9FC5-4988-8889-34A808B7D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095375"/>
            <a:ext cx="581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050" b="0">
                <a:solidFill>
                  <a:srgbClr val="77A23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77A238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77A238"/>
                </a:solidFill>
                <a:latin typeface="微软雅黑"/>
                <a:ea typeface="微软雅黑"/>
                <a:cs typeface="微软雅黑"/>
              </a:rPr>
              <a:t>同一 2.946 亿输入 tokens　缓存复用与实际 prefill</a:t>
            </a:r>
          </a:p>
        </p:txBody>
      </p:sp>
      <p:sp>
        <p:nvSpPr>
          <p:cNvPr id="7" name="硬件：Ascend 910C">
            <a:extLst xmlns:a="http://schemas.openxmlformats.org/drawingml/2006/main">
              <a:ext uri="{FF2B5EF4-FFF2-40B4-BE49-F238E27FC236}">
                <a16:creationId xmlns:a16="http://schemas.microsoft.com/office/drawing/2014/main" id="{9C6FBDF3-F890-4A6D-88F1-D465289D5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095375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975" b="1">
                <a:solidFill>
                  <a:srgbClr val="EF7900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r">
              <a:defRPr sz="975" b="1">
                <a:solidFill>
                  <a:srgbClr val="EF7900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EF7900"/>
                </a:solidFill>
                <a:latin typeface="微软雅黑"/>
                <a:ea typeface="微软雅黑"/>
                <a:cs typeface="微软雅黑"/>
              </a:rPr>
              <a:t>硬件：Ascend 910C</a:t>
            </a:r>
          </a:p>
        </p:txBody>
      </p:sp>
      <p:sp>
        <p:nvSpPr>
          <p:cNvPr id="8" name="51">
            <a:extLst xmlns:a="http://schemas.openxmlformats.org/drawingml/2006/main">
              <a:ext uri="{FF2B5EF4-FFF2-40B4-BE49-F238E27FC236}">
                <a16:creationId xmlns:a16="http://schemas.microsoft.com/office/drawing/2014/main" id="{E72962C4-F848-4B6E-975A-913D2D132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553200"/>
            <a:ext cx="3048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800" b="0">
                <a:solidFill>
                  <a:srgbClr val="777777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r">
              <a:defRPr sz="800" b="0">
                <a:solidFill>
                  <a:srgbClr val="777777"/>
                </a:solidFill>
                <a:latin typeface="微软雅黑"/>
                <a:ea typeface="微软雅黑"/>
                <a:cs typeface="微软雅黑"/>
              </a:defRPr>
            </a:pPr>
            <a:r>
              <a:rPr sz="800" b="0">
                <a:solidFill>
                  <a:srgbClr val="777777"/>
                </a:solidFill>
                <a:latin typeface="微软雅黑"/>
                <a:ea typeface="微软雅黑"/>
                <a:cs typeface="微软雅黑"/>
              </a:rPr>
              <a:t>51</a:t>
            </a:r>
          </a:p>
        </p:txBody>
      </p:sp>
      <p:sp>
        <p:nvSpPr>
          <p:cNvPr id="9" name="实际 prefill（百万 tokens）">
            <a:extLst xmlns:a="http://schemas.openxmlformats.org/drawingml/2006/main">
              <a:ext uri="{FF2B5EF4-FFF2-40B4-BE49-F238E27FC236}">
                <a16:creationId xmlns:a16="http://schemas.microsoft.com/office/drawing/2014/main" id="{F9F4EEE7-F00A-482A-8C62-80B99B98F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95450"/>
            <a:ext cx="504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500" b="1">
                <a:solidFill>
                  <a:srgbClr val="333333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33333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实际 prefill（百万 tokens）</a:t>
            </a:r>
          </a:p>
        </p:txBody>
      </p:sp>
      <p:graphicFrame>
        <p:nvGraphicFramePr>
          <p:cNvPr id="10" name="Chart">
            <a:extLst xmlns:a="http://schemas.openxmlformats.org/drawingml/2006/main">
              <a:ext uri="{FF2B5EF4-FFF2-40B4-BE49-F238E27FC236}">
                <a16:creationId xmlns:a16="http://schemas.microsoft.com/office/drawing/2014/main" id="{3037CB1D-E957-4F40-85EA-6D476BDB9783}"/>
              </a:ext>
            </a:extLst>
          </p:cNvPr>
          <p:cNvGraphicFramePr/>
          <p:nvPr/>
        </p:nvGraphicFramePr>
        <p:xfrm>
          <a:off xmlns:a="http://schemas.openxmlformats.org/drawingml/2006/main" x="666750" y="2143125"/>
          <a:ext xmlns:a="http://schemas.openxmlformats.org/drawingml/2006/main" cx="5095875" cy="29241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da6a074fd1b42ad"/>
          </a:graphicData>
        </a:graphic>
      </p:graphicFrame>
      <p:sp>
        <p:nvSpPr>
          <p:cNvPr id="11" name="逐请求核对缓存采用">
            <a:extLst xmlns:a="http://schemas.openxmlformats.org/drawingml/2006/main">
              <a:ext uri="{FF2B5EF4-FFF2-40B4-BE49-F238E27FC236}">
                <a16:creationId xmlns:a16="http://schemas.microsoft.com/office/drawing/2014/main" id="{ABF22F39-4ED5-4CA1-AC80-6827ADCDF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95450"/>
            <a:ext cx="523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500" b="1">
                <a:solidFill>
                  <a:srgbClr val="333333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33333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逐请求核对缓存采用</a:t>
            </a:r>
          </a:p>
        </p:txBody>
      </p:sp>
      <p:graphicFrame>
        <p:nvGraphicFrame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E7B3B7-1AAE-4571-8654-84977B8CBE36}"/>
              </a:ext>
            </a:extLst>
          </p:cNvPr>
          <p:cNvGraphicFramePr/>
          <p:nvPr/>
        </p:nvGraphicFramePr>
        <p:xfrm>
          <a:off xmlns:a="http://schemas.openxmlformats.org/drawingml/2006/main" x="6191250" y="2152650"/>
          <a:ext xmlns:a="http://schemas.openxmlformats.org/drawingml/2006/main" cx="5238750" cy="2190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143000"/>
                <a:gridCol w="2047875"/>
                <a:gridCol w="2047875"/>
              </a:tblGrid>
              <a:tr h="438150">
                <a:tc>
                  <a:txBody>
                    <a:bodyPr lIns="76200" tIns="76200" rIns="76200" bIns="76200"/>
                    <a:lstStyle/>
                    <a:p>
                      <a:pPr algn="l"/>
                      <a:r>
                        <a:rPr sz="1275" b="1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部署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E3E3E3"/>
                      </a:solidFill>
                      <a:prstDash val="solid"/>
                    </a:lnL>
                    <a:lnR w="5715">
                      <a:solidFill>
                        <a:srgbClr val="E3E3E3"/>
                      </a:solidFill>
                      <a:prstDash val="solid"/>
                    </a:lnR>
                    <a:lnT w="5715">
                      <a:solidFill>
                        <a:srgbClr val="E3E3E3"/>
                      </a:solidFill>
                      <a:prstDash val="solid"/>
                    </a:lnT>
                    <a:lnB w="5715">
                      <a:solidFill>
                        <a:srgbClr val="E3E3E3"/>
                      </a:solidFill>
                      <a:prstDash val="solid"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1275" b="1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输入 token 复用率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E3E3E3"/>
                      </a:solidFill>
                      <a:prstDash val="solid"/>
                    </a:lnR>
                    <a:lnT w="5715">
                      <a:solidFill>
                        <a:srgbClr val="E3E3E3"/>
                      </a:solidFill>
                      <a:prstDash val="solid"/>
                    </a:lnT>
                    <a:lnB w="5715">
                      <a:solidFill>
                        <a:srgbClr val="E3E3E3"/>
                      </a:solidFill>
                      <a:prstDash val="solid"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1275" b="1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实际 prefill / 百万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E3E3E3"/>
                      </a:solidFill>
                      <a:prstDash val="solid"/>
                    </a:lnR>
                    <a:lnT w="5715">
                      <a:solidFill>
                        <a:srgbClr val="E3E3E3"/>
                      </a:solidFill>
                      <a:prstDash val="solid"/>
                    </a:lnT>
                    <a:lnB w="5715">
                      <a:solidFill>
                        <a:srgbClr val="E3E3E3"/>
                      </a:solidFill>
                      <a:prstDash val="solid"/>
                    </a:lnB>
                    <a:solidFill>
                      <a:srgbClr val="EAEAEA"/>
                    </a:solidFill>
                  </a:tcPr>
                </a:tc>
              </a:tr>
              <a:tr h="438150">
                <a:tc>
                  <a:txBody>
                    <a:bodyPr lIns="76200" tIns="76200" rIns="76200" bIns="76200"/>
                    <a:lstStyle/>
                    <a:p>
                      <a:pPr algn="l"/>
                      <a:r>
                        <a:rPr sz="13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EP4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E3E3E3"/>
                      </a:solidFill>
                      <a:prstDash val="solid"/>
                    </a:lnL>
                    <a:lnR w="5715">
                      <a:solidFill>
                        <a:srgbClr val="E3E3E3"/>
                      </a:solidFill>
                      <a:prstDash val="solid"/>
                    </a:lnR>
                    <a:lnB w="5715">
                      <a:solidFill>
                        <a:srgbClr val="E3E3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13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82.7933%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E3E3E3"/>
                      </a:solidFill>
                      <a:prstDash val="solid"/>
                    </a:lnR>
                    <a:lnB w="5715">
                      <a:solidFill>
                        <a:srgbClr val="E3E3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13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50.69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E3E3E3"/>
                      </a:solidFill>
                      <a:prstDash val="solid"/>
                    </a:lnR>
                    <a:lnB w="5715">
                      <a:solidFill>
                        <a:srgbClr val="E3E3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38150">
                <a:tc>
                  <a:txBody>
                    <a:bodyPr lIns="76200" tIns="76200" rIns="76200" bIns="76200"/>
                    <a:lstStyle/>
                    <a:p>
                      <a:pPr algn="l"/>
                      <a:r>
                        <a:rPr sz="13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EP8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E3E3E3"/>
                      </a:solidFill>
                      <a:prstDash val="solid"/>
                    </a:lnL>
                    <a:lnR w="5715">
                      <a:solidFill>
                        <a:srgbClr val="E3E3E3"/>
                      </a:solidFill>
                      <a:prstDash val="solid"/>
                    </a:lnR>
                    <a:lnB w="5715">
                      <a:solidFill>
                        <a:srgbClr val="E3E3E3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13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93.3092%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E3E3E3"/>
                      </a:solidFill>
                      <a:prstDash val="solid"/>
                    </a:lnR>
                    <a:lnB w="5715">
                      <a:solidFill>
                        <a:srgbClr val="E3E3E3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13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19.71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E3E3E3"/>
                      </a:solidFill>
                      <a:prstDash val="solid"/>
                    </a:lnR>
                    <a:lnB w="5715">
                      <a:solidFill>
                        <a:srgbClr val="E3E3E3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</a:tr>
              <a:tr h="438150">
                <a:tc>
                  <a:txBody>
                    <a:bodyPr lIns="76200" tIns="76200" rIns="76200" bIns="76200"/>
                    <a:lstStyle/>
                    <a:p>
                      <a:pPr algn="l"/>
                      <a:r>
                        <a:rPr sz="13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EP16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E3E3E3"/>
                      </a:solidFill>
                      <a:prstDash val="solid"/>
                    </a:lnL>
                    <a:lnR w="5715">
                      <a:solidFill>
                        <a:srgbClr val="E3E3E3"/>
                      </a:solidFill>
                      <a:prstDash val="solid"/>
                    </a:lnR>
                    <a:lnB w="5715">
                      <a:solidFill>
                        <a:srgbClr val="E3E3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13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93.3092%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E3E3E3"/>
                      </a:solidFill>
                      <a:prstDash val="solid"/>
                    </a:lnR>
                    <a:lnB w="5715">
                      <a:solidFill>
                        <a:srgbClr val="E3E3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13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19.71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E3E3E3"/>
                      </a:solidFill>
                      <a:prstDash val="solid"/>
                    </a:lnR>
                    <a:lnB w="5715">
                      <a:solidFill>
                        <a:srgbClr val="E3E3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38150">
                <a:tc>
                  <a:txBody>
                    <a:bodyPr lIns="76200" tIns="76200" rIns="76200" bIns="76200"/>
                    <a:lstStyle/>
                    <a:p>
                      <a:pPr algn="l"/>
                      <a:r>
                        <a:rPr sz="1350" b="1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AFD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E3E3E3"/>
                      </a:solidFill>
                      <a:prstDash val="solid"/>
                    </a:lnL>
                    <a:lnR w="5715">
                      <a:solidFill>
                        <a:srgbClr val="E3E3E3"/>
                      </a:solidFill>
                      <a:prstDash val="solid"/>
                    </a:lnR>
                    <a:lnB w="5715">
                      <a:solidFill>
                        <a:srgbClr val="E3E3E3"/>
                      </a:solidFill>
                      <a:prstDash val="solid"/>
                    </a:lnB>
                    <a:solidFill>
                      <a:srgbClr val="FFF3D8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1350" b="1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93.3092%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E3E3E3"/>
                      </a:solidFill>
                      <a:prstDash val="solid"/>
                    </a:lnR>
                    <a:lnB w="5715">
                      <a:solidFill>
                        <a:srgbClr val="E3E3E3"/>
                      </a:solidFill>
                      <a:prstDash val="solid"/>
                    </a:lnB>
                    <a:solidFill>
                      <a:srgbClr val="FFF3D8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1350" b="1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19.71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E3E3E3"/>
                      </a:solidFill>
                      <a:prstDash val="solid"/>
                    </a:lnR>
                    <a:lnB w="5715">
                      <a:solidFill>
                        <a:srgbClr val="E3E3E3"/>
                      </a:solidFill>
                      <a:prstDash val="solid"/>
                    </a:lnB>
                    <a:solidFill>
                      <a:srgbClr val="FFF3D8"/>
                    </a:solidFill>
                  </a:tcPr>
                </a:tc>
              </a:tr>
            </a:tbl>
          </a:graphicData>
        </a:graphic>
      </p:graphicFrame>
      <p:sp>
        <p:nvSpPr>
          <p:cNvPr id="13" name="相对 EP4：减少 3,097.80 万 prefill tok">
            <a:extLst xmlns:a="http://schemas.openxmlformats.org/drawingml/2006/main">
              <a:ext uri="{FF2B5EF4-FFF2-40B4-BE49-F238E27FC236}">
                <a16:creationId xmlns:a16="http://schemas.microsoft.com/office/drawing/2014/main" id="{5A35ED82-B103-4DBE-B691-08AD4DB86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619625"/>
            <a:ext cx="5238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350" b="1">
                <a:solidFill>
                  <a:srgbClr val="284DA6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284DA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284DA6"/>
                </a:solidFill>
                <a:latin typeface="微软雅黑"/>
                <a:ea typeface="微软雅黑"/>
                <a:cs typeface="微软雅黑"/>
              </a:rPr>
              <a:t>相对 EP4：减少 3,097.80 万 prefill tokens</a:t>
            </a:r>
          </a:p>
          <a:p xmlns:a="http://schemas.openxmlformats.org/drawingml/2006/main">
            <a:pPr algn="l">
              <a:defRPr sz="1350" b="1">
                <a:solidFill>
                  <a:srgbClr val="284DA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284DA6"/>
                </a:solidFill>
                <a:latin typeface="微软雅黑"/>
                <a:ea typeface="微软雅黑"/>
                <a:cs typeface="微软雅黑"/>
              </a:rPr>
              <a:t>对 EP8 / EP16：3,725 条请求的缓存采用逐条相同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8DCD49-BB61-4E91-8D34-F7705B6CC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72150"/>
            <a:ext cx="109728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 w="0">
            <a:noFill/>
          </a:ln>
        </p:spPr>
      </p:sp>
      <p:sp>
        <p:nvSpPr>
          <p:cNvPr id="15" name="缓存减少 EP4 的额外工作量，AFD 对 EP8 / EP16">
            <a:extLst xmlns:a="http://schemas.openxmlformats.org/drawingml/2006/main">
              <a:ext uri="{FF2B5EF4-FFF2-40B4-BE49-F238E27FC236}">
                <a16:creationId xmlns:a16="http://schemas.microsoft.com/office/drawing/2014/main" id="{09CEB55E-C5C7-4F49-BE24-DB46D4F91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29300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575" b="1">
                <a:solidFill>
                  <a:srgbClr val="D00000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D00000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D00000"/>
                </a:solidFill>
                <a:latin typeface="微软雅黑"/>
                <a:ea typeface="微软雅黑"/>
                <a:cs typeface="微软雅黑"/>
              </a:rPr>
              <a:t>缓存减少 EP4 的额外工作量，AFD 对 EP8 / EP16 的收益体现于系统完成效率</a:t>
            </a:r>
          </a:p>
        </p:txBody>
      </p:sp>
      <p:sp>
        <p:nvSpPr>
          <p:cNvPr id="16" name="四组均零抢占、零抢占重算。等量 prefill 不代表相同批形状">
            <a:extLst xmlns:a="http://schemas.openxmlformats.org/drawingml/2006/main">
              <a:ext uri="{FF2B5EF4-FFF2-40B4-BE49-F238E27FC236}">
                <a16:creationId xmlns:a16="http://schemas.microsoft.com/office/drawing/2014/main" id="{36A96ECF-23E1-471A-B90E-066197C1C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05550"/>
            <a:ext cx="10763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900" b="0">
                <a:solidFill>
                  <a:srgbClr val="777777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777777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777777"/>
                </a:solidFill>
                <a:latin typeface="微软雅黑"/>
                <a:ea typeface="微软雅黑"/>
                <a:cs typeface="微软雅黑"/>
              </a:rPr>
              <a:t>四组均零抢占、零抢占重算。等量 prefill 不代表相同批形状，收益尚未拆分到具体算子或通信组件。</a:t>
            </a:r>
          </a:p>
        </p:txBody>
      </p:sp>
    </p:spTree>
    <p:extLst>
      <p:ext uri="{BB962C8B-B14F-4D97-AF65-F5344CB8AC3E}">
        <p14:creationId xmlns:p14="http://schemas.microsoft.com/office/powerpoint/2010/main" val="1822723543"/>
      </p:ext>
    </p:extLst>
  </p:cSld>
</p:sld>
</file>

<file path=ppt/slides/v20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实验二｜128 会话 · 3,725 请求 · C12｜Pref">
            <a:extLst xmlns:a="http://schemas.openxmlformats.org/drawingml/2006/main">
              <a:ext uri="{FF2B5EF4-FFF2-40B4-BE49-F238E27FC236}">
                <a16:creationId xmlns:a16="http://schemas.microsoft.com/office/drawing/2014/main" id="{CE41A3E2-118B-4548-80F3-75A03BE9A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825" b="1">
                <a:solidFill>
                  <a:srgbClr val="777777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825" b="1">
                <a:solidFill>
                  <a:srgbClr val="777777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1">
                <a:solidFill>
                  <a:srgbClr val="777777"/>
                </a:solidFill>
                <a:latin typeface="微软雅黑"/>
                <a:ea typeface="微软雅黑"/>
                <a:cs typeface="微软雅黑"/>
              </a:rPr>
              <a:t>实验二｜128 会话 · 3,725 请求 · C12｜Prefix-on</a:t>
            </a:r>
          </a:p>
        </p:txBody>
      </p:sp>
      <p:sp>
        <p:nvSpPr>
          <p:cNvPr id="2" name="Prefix-on 下，AFD 的收益随缓存工作集与执行效率变化">
            <a:extLst xmlns:a="http://schemas.openxmlformats.org/drawingml/2006/main">
              <a:ext uri="{FF2B5EF4-FFF2-40B4-BE49-F238E27FC236}">
                <a16:creationId xmlns:a16="http://schemas.microsoft.com/office/drawing/2014/main" id="{D99FC680-E590-42FE-86B9-5DEAC5F28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50" b="1">
                <a:solidFill>
                  <a:srgbClr val="D00000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150" b="1">
                <a:solidFill>
                  <a:srgbClr val="D00000"/>
                </a:solidFill>
                <a:latin typeface="微软雅黑"/>
                <a:ea typeface="微软雅黑"/>
                <a:cs typeface="微软雅黑"/>
              </a:defRPr>
            </a:pPr>
            <a:r>
              <a:rPr sz="2150" b="1">
                <a:solidFill>
                  <a:srgbClr val="D00000"/>
                </a:solidFill>
                <a:latin typeface="微软雅黑"/>
                <a:ea typeface="微软雅黑"/>
                <a:cs typeface="微软雅黑"/>
              </a:rPr>
              <a:t>Prefix-on 下，AFD 的收益随缓存工作集与执行效率变化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9BF146-2B44-4F08-9CB4-11487A950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04875"/>
            <a:ext cx="1381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0000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03C5F8-3F09-4526-ADEF-5AC654E29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9650"/>
            <a:ext cx="10972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 w="0">
            <a:noFill/>
          </a:ln>
        </p:spPr>
      </p:sp>
      <p:sp>
        <p:nvSpPr>
          <p:cNvPr id="5" name="模型：dsv4-flash W4A8">
            <a:extLst xmlns:a="http://schemas.openxmlformats.org/drawingml/2006/main">
              <a:ext uri="{FF2B5EF4-FFF2-40B4-BE49-F238E27FC236}">
                <a16:creationId xmlns:a16="http://schemas.microsoft.com/office/drawing/2014/main" id="{D5362BD3-1172-4D0B-A4C7-2239161A4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095375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284DA6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284DA6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284DA6"/>
                </a:solidFill>
                <a:latin typeface="微软雅黑"/>
                <a:ea typeface="微软雅黑"/>
                <a:cs typeface="微软雅黑"/>
              </a:rPr>
              <a:t>模型：dsv4-flash W4A8</a:t>
            </a:r>
          </a:p>
        </p:txBody>
      </p:sp>
      <p:sp>
        <p:nvSpPr>
          <p:cNvPr id="6" name="历史 256 会话基线与本轮 128 会话实测分别保留">
            <a:extLst xmlns:a="http://schemas.openxmlformats.org/drawingml/2006/main">
              <a:ext uri="{FF2B5EF4-FFF2-40B4-BE49-F238E27FC236}">
                <a16:creationId xmlns:a16="http://schemas.microsoft.com/office/drawing/2014/main" id="{4EDA6325-97AF-47C6-B4F5-EBA60A395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095375"/>
            <a:ext cx="581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050" b="0">
                <a:solidFill>
                  <a:srgbClr val="77A23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77A238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77A238"/>
                </a:solidFill>
                <a:latin typeface="微软雅黑"/>
                <a:ea typeface="微软雅黑"/>
                <a:cs typeface="微软雅黑"/>
              </a:rPr>
              <a:t>历史 256 会话基线与本轮 128 会话实测分别保留</a:t>
            </a:r>
          </a:p>
        </p:txBody>
      </p:sp>
      <p:sp>
        <p:nvSpPr>
          <p:cNvPr id="7" name="硬件：Ascend 910C">
            <a:extLst xmlns:a="http://schemas.openxmlformats.org/drawingml/2006/main">
              <a:ext uri="{FF2B5EF4-FFF2-40B4-BE49-F238E27FC236}">
                <a16:creationId xmlns:a16="http://schemas.microsoft.com/office/drawing/2014/main" id="{AF909014-934F-4797-9A54-79CF02B8B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095375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975" b="1">
                <a:solidFill>
                  <a:srgbClr val="EF7900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r">
              <a:defRPr sz="975" b="1">
                <a:solidFill>
                  <a:srgbClr val="EF7900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EF7900"/>
                </a:solidFill>
                <a:latin typeface="微软雅黑"/>
                <a:ea typeface="微软雅黑"/>
                <a:cs typeface="微软雅黑"/>
              </a:rPr>
              <a:t>硬件：Ascend 910C</a:t>
            </a:r>
          </a:p>
        </p:txBody>
      </p:sp>
      <p:sp>
        <p:nvSpPr>
          <p:cNvPr id="8" name="52">
            <a:extLst xmlns:a="http://schemas.openxmlformats.org/drawingml/2006/main">
              <a:ext uri="{FF2B5EF4-FFF2-40B4-BE49-F238E27FC236}">
                <a16:creationId xmlns:a16="http://schemas.microsoft.com/office/drawing/2014/main" id="{CA13D292-2819-492B-9FF1-35326DA73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553200"/>
            <a:ext cx="3048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800" b="0">
                <a:solidFill>
                  <a:srgbClr val="777777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r">
              <a:defRPr sz="800" b="0">
                <a:solidFill>
                  <a:srgbClr val="777777"/>
                </a:solidFill>
                <a:latin typeface="微软雅黑"/>
                <a:ea typeface="微软雅黑"/>
                <a:cs typeface="微软雅黑"/>
              </a:defRPr>
            </a:pPr>
            <a:r>
              <a:rPr sz="800" b="0">
                <a:solidFill>
                  <a:srgbClr val="777777"/>
                </a:solidFill>
                <a:latin typeface="微软雅黑"/>
                <a:ea typeface="微软雅黑"/>
                <a:cs typeface="微软雅黑"/>
              </a:rPr>
              <a:t>52</a:t>
            </a:r>
          </a:p>
        </p:txBody>
      </p:sp>
      <p:graphicFrame>
        <p:nvGraphicFrame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0F6C87-FEE6-4796-AE86-35AEC348A685}"/>
              </a:ext>
            </a:extLst>
          </p:cNvPr>
          <p:cNvGraphicFramePr/>
          <p:nvPr/>
        </p:nvGraphicFramePr>
        <p:xfrm>
          <a:off xmlns:a="http://schemas.openxmlformats.org/drawingml/2006/main" x="628650" y="1952625"/>
          <a:ext xmlns:a="http://schemas.openxmlformats.org/drawingml/2006/main" cx="10953750" cy="1476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86000"/>
                <a:gridCol w="2905125"/>
                <a:gridCol w="1809750"/>
                <a:gridCol w="1809750"/>
                <a:gridCol w="2143125"/>
              </a:tblGrid>
              <a:tr h="492125">
                <a:tc>
                  <a:txBody>
                    <a:bodyPr lIns="76200" tIns="76200" rIns="76200" bIns="76200"/>
                    <a:lstStyle/>
                    <a:p>
                      <a:pPr algn="l"/>
                      <a:r>
                        <a:rPr sz="1275" b="1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负载场景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E3E3E3"/>
                      </a:solidFill>
                      <a:prstDash val="solid"/>
                    </a:lnL>
                    <a:lnR w="5715">
                      <a:solidFill>
                        <a:srgbClr val="E3E3E3"/>
                      </a:solidFill>
                      <a:prstDash val="solid"/>
                    </a:lnR>
                    <a:lnT w="5715">
                      <a:solidFill>
                        <a:srgbClr val="E3E3E3"/>
                      </a:solidFill>
                      <a:prstDash val="solid"/>
                    </a:lnT>
                    <a:lnB w="5715">
                      <a:solidFill>
                        <a:srgbClr val="E3E3E3"/>
                      </a:solidFill>
                      <a:prstDash val="solid"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1275" b="1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AFD / EP16 实际 prefill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E3E3E3"/>
                      </a:solidFill>
                      <a:prstDash val="solid"/>
                    </a:lnR>
                    <a:lnT w="5715">
                      <a:solidFill>
                        <a:srgbClr val="E3E3E3"/>
                      </a:solidFill>
                      <a:prstDash val="solid"/>
                    </a:lnT>
                    <a:lnB w="5715">
                      <a:solidFill>
                        <a:srgbClr val="E3E3E3"/>
                      </a:solidFill>
                      <a:prstDash val="solid"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1275" b="1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AFD 相对 EP4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E3E3E3"/>
                      </a:solidFill>
                      <a:prstDash val="solid"/>
                    </a:lnR>
                    <a:lnT w="5715">
                      <a:solidFill>
                        <a:srgbClr val="E3E3E3"/>
                      </a:solidFill>
                      <a:prstDash val="solid"/>
                    </a:lnT>
                    <a:lnB w="5715">
                      <a:solidFill>
                        <a:srgbClr val="E3E3E3"/>
                      </a:solidFill>
                      <a:prstDash val="solid"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1275" b="1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AFD 相对 EP8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E3E3E3"/>
                      </a:solidFill>
                      <a:prstDash val="solid"/>
                    </a:lnR>
                    <a:lnT w="5715">
                      <a:solidFill>
                        <a:srgbClr val="E3E3E3"/>
                      </a:solidFill>
                      <a:prstDash val="solid"/>
                    </a:lnT>
                    <a:lnB w="5715">
                      <a:solidFill>
                        <a:srgbClr val="E3E3E3"/>
                      </a:solidFill>
                      <a:prstDash val="solid"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1275" b="1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AFD 相对 EP16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E3E3E3"/>
                      </a:solidFill>
                      <a:prstDash val="solid"/>
                    </a:lnR>
                    <a:lnT w="5715">
                      <a:solidFill>
                        <a:srgbClr val="E3E3E3"/>
                      </a:solidFill>
                      <a:prstDash val="solid"/>
                    </a:lnT>
                    <a:lnB w="5715">
                      <a:solidFill>
                        <a:srgbClr val="E3E3E3"/>
                      </a:solidFill>
                      <a:prstDash val="solid"/>
                    </a:lnB>
                    <a:solidFill>
                      <a:srgbClr val="EAEAEA"/>
                    </a:solidFill>
                  </a:tcPr>
                </a:tc>
              </a:tr>
              <a:tr h="492125">
                <a:tc>
                  <a:txBody>
                    <a:bodyPr lIns="76200" tIns="76200" rIns="76200" bIns="76200"/>
                    <a:lstStyle/>
                    <a:p>
                      <a:pPr algn="l"/>
                      <a:r>
                        <a:rPr sz="13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256 会话，C16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E3E3E3"/>
                      </a:solidFill>
                      <a:prstDash val="solid"/>
                    </a:lnL>
                    <a:lnR w="5715">
                      <a:solidFill>
                        <a:srgbClr val="E3E3E3"/>
                      </a:solidFill>
                      <a:prstDash val="solid"/>
                    </a:lnR>
                    <a:lnB w="5715">
                      <a:solidFill>
                        <a:srgbClr val="E3E3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13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9,339 万 / 6,200 万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E3E3E3"/>
                      </a:solidFill>
                      <a:prstDash val="solid"/>
                    </a:lnR>
                    <a:lnB w="5715">
                      <a:solidFill>
                        <a:srgbClr val="E3E3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13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耗时少 73.7%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E3E3E3"/>
                      </a:solidFill>
                      <a:prstDash val="solid"/>
                    </a:lnR>
                    <a:lnB w="5715">
                      <a:solidFill>
                        <a:srgbClr val="E3E3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13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耗时少 24.8%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E3E3E3"/>
                      </a:solidFill>
                      <a:prstDash val="solid"/>
                    </a:lnR>
                    <a:lnB w="5715">
                      <a:solidFill>
                        <a:srgbClr val="E3E3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13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耗时多 15.62%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E3E3E3"/>
                      </a:solidFill>
                      <a:prstDash val="solid"/>
                    </a:lnR>
                    <a:lnB w="5715">
                      <a:solidFill>
                        <a:srgbClr val="E3E3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92125">
                <a:tc>
                  <a:txBody>
                    <a:bodyPr lIns="76200" tIns="76200" rIns="76200" bIns="76200"/>
                    <a:lstStyle/>
                    <a:p>
                      <a:pPr algn="l"/>
                      <a:r>
                        <a:rPr sz="1350" b="1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128 会话，C12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E3E3E3"/>
                      </a:solidFill>
                      <a:prstDash val="solid"/>
                    </a:lnL>
                    <a:lnR w="5715">
                      <a:solidFill>
                        <a:srgbClr val="E3E3E3"/>
                      </a:solidFill>
                      <a:prstDash val="solid"/>
                    </a:lnR>
                    <a:lnB w="5715">
                      <a:solidFill>
                        <a:srgbClr val="E3E3E3"/>
                      </a:solidFill>
                      <a:prstDash val="solid"/>
                    </a:lnB>
                    <a:solidFill>
                      <a:srgbClr val="FFF3D8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1350" b="1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1,971 万 / 1,971 万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E3E3E3"/>
                      </a:solidFill>
                      <a:prstDash val="solid"/>
                    </a:lnR>
                    <a:lnB w="5715">
                      <a:solidFill>
                        <a:srgbClr val="E3E3E3"/>
                      </a:solidFill>
                      <a:prstDash val="solid"/>
                    </a:lnB>
                    <a:solidFill>
                      <a:srgbClr val="FFF3D8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1350" b="1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耗时少 51.77%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E3E3E3"/>
                      </a:solidFill>
                      <a:prstDash val="solid"/>
                    </a:lnR>
                    <a:lnB w="5715">
                      <a:solidFill>
                        <a:srgbClr val="E3E3E3"/>
                      </a:solidFill>
                      <a:prstDash val="solid"/>
                    </a:lnB>
                    <a:solidFill>
                      <a:srgbClr val="FFF3D8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1350" b="1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耗时少 6.54%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E3E3E3"/>
                      </a:solidFill>
                      <a:prstDash val="solid"/>
                    </a:lnR>
                    <a:lnB w="5715">
                      <a:solidFill>
                        <a:srgbClr val="E3E3E3"/>
                      </a:solidFill>
                      <a:prstDash val="solid"/>
                    </a:lnB>
                    <a:solidFill>
                      <a:srgbClr val="FFF3D8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1350" b="1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耗时少 21.65%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E3E3E3"/>
                      </a:solidFill>
                      <a:prstDash val="solid"/>
                    </a:lnR>
                    <a:lnB w="5715">
                      <a:solidFill>
                        <a:srgbClr val="E3E3E3"/>
                      </a:solidFill>
                      <a:prstDash val="solid"/>
                    </a:lnB>
                    <a:solidFill>
                      <a:srgbClr val="FFF3D8"/>
                    </a:solidFill>
                  </a:tcPr>
                </a:tc>
              </a:tr>
            </a:tbl>
          </a:graphicData>
        </a:graphic>
      </p:graphicFrame>
      <p:sp>
        <p:nvSpPr>
          <p:cNvPr id="10" name="本轮的收益条件">
            <a:extLst xmlns:a="http://schemas.openxmlformats.org/drawingml/2006/main">
              <a:ext uri="{FF2B5EF4-FFF2-40B4-BE49-F238E27FC236}">
                <a16:creationId xmlns:a16="http://schemas.microsoft.com/office/drawing/2014/main" id="{47378F96-8D87-4710-81CB-F35572E80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8620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650" b="1">
                <a:solidFill>
                  <a:srgbClr val="284DA6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284DA6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284DA6"/>
                </a:solidFill>
                <a:latin typeface="微软雅黑"/>
                <a:ea typeface="微软雅黑"/>
                <a:cs typeface="微软雅黑"/>
              </a:rPr>
              <a:t>本轮的收益条件</a:t>
            </a:r>
          </a:p>
        </p:txBody>
      </p:sp>
      <p:sp>
        <p:nvSpPr>
          <p:cNvPr id="11" name="EP4 的缓存压力仍带来额外 prefill&#10;EP16 多出的 ">
            <a:extLst xmlns:a="http://schemas.openxmlformats.org/drawingml/2006/main">
              <a:ext uri="{FF2B5EF4-FFF2-40B4-BE49-F238E27FC236}">
                <a16:creationId xmlns:a16="http://schemas.microsoft.com/office/drawing/2014/main" id="{A6DEFA45-1E94-4B9A-9301-7CE53CD30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62450"/>
            <a:ext cx="56197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575" b="0">
                <a:solidFill>
                  <a:srgbClr val="333333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333333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EP4 的缓存压力仍带来额外 prefill</a:t>
            </a:r>
          </a:p>
          <a:p xmlns:a="http://schemas.openxmlformats.org/drawingml/2006/main">
            <a:pPr algn="l">
              <a:defRPr sz="1575" b="0">
                <a:solidFill>
                  <a:srgbClr val="333333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EP16 多出的 46.91 GiB KV 未减少本轮实际 prefill</a:t>
            </a:r>
          </a:p>
        </p:txBody>
      </p:sp>
      <p:sp>
        <p:nvSpPr>
          <p:cNvPr id="12" name="AFD 的价值">
            <a:extLst xmlns:a="http://schemas.openxmlformats.org/drawingml/2006/main">
              <a:ext uri="{FF2B5EF4-FFF2-40B4-BE49-F238E27FC236}">
                <a16:creationId xmlns:a16="http://schemas.microsoft.com/office/drawing/2014/main" id="{4604489F-378D-4F10-89CD-02CDA5644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886200"/>
            <a:ext cx="4619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650" b="1">
                <a:solidFill>
                  <a:srgbClr val="284DA6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284DA6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284DA6"/>
                </a:solidFill>
                <a:latin typeface="微软雅黑"/>
                <a:ea typeface="微软雅黑"/>
                <a:cs typeface="微软雅黑"/>
              </a:rPr>
              <a:t>AFD 的价值</a:t>
            </a:r>
          </a:p>
        </p:txBody>
      </p:sp>
      <p:sp>
        <p:nvSpPr>
          <p:cNvPr id="13" name="减少多副本部署的权重驻留&#10;在本轮等量 prefill 下，完成时">
            <a:extLst xmlns:a="http://schemas.openxmlformats.org/drawingml/2006/main">
              <a:ext uri="{FF2B5EF4-FFF2-40B4-BE49-F238E27FC236}">
                <a16:creationId xmlns:a16="http://schemas.microsoft.com/office/drawing/2014/main" id="{82147946-9B7B-479D-83B3-0826E2600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362450"/>
            <a:ext cx="4619625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575" b="0">
                <a:solidFill>
                  <a:srgbClr val="333333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333333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减少多副本部署的权重驻留</a:t>
            </a:r>
          </a:p>
          <a:p xmlns:a="http://schemas.openxmlformats.org/drawingml/2006/main">
            <a:pPr algn="l">
              <a:defRPr sz="1575" b="0">
                <a:solidFill>
                  <a:srgbClr val="333333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在本轮等量 prefill 下，完成时间优于 EP8 / EP16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D81B64-8A5D-460C-B2AC-8C7A3A7CA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72150"/>
            <a:ext cx="109728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 w="0">
            <a:noFill/>
          </a:ln>
        </p:spPr>
      </p:sp>
      <p:sp>
        <p:nvSpPr>
          <p:cNvPr id="15" name="已找到 prefix-on 收益场景：AFD 对 EP4、EP8">
            <a:extLst xmlns:a="http://schemas.openxmlformats.org/drawingml/2006/main">
              <a:ext uri="{FF2B5EF4-FFF2-40B4-BE49-F238E27FC236}">
                <a16:creationId xmlns:a16="http://schemas.microsoft.com/office/drawing/2014/main" id="{07C45377-FC4D-434B-BE92-79B694095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29300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575" b="1">
                <a:solidFill>
                  <a:srgbClr val="D00000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D00000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D00000"/>
                </a:solidFill>
                <a:latin typeface="微软雅黑"/>
                <a:ea typeface="微软雅黑"/>
                <a:cs typeface="微软雅黑"/>
              </a:rPr>
              <a:t>已找到 prefix-on 收益场景：AFD 对 EP4、EP8 有优势，对 EP16 同样占优</a:t>
            </a:r>
          </a:p>
        </p:txBody>
      </p:sp>
      <p:sp>
        <p:nvSpPr>
          <p:cNvPr id="16" name="新旧实验的负载、并发和子集路由均有变化。每组各一次，结果限于对应">
            <a:extLst xmlns:a="http://schemas.openxmlformats.org/drawingml/2006/main">
              <a:ext uri="{FF2B5EF4-FFF2-40B4-BE49-F238E27FC236}">
                <a16:creationId xmlns:a16="http://schemas.microsoft.com/office/drawing/2014/main" id="{7EFE34B2-C2F0-44E4-AE76-C2B277AB5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05550"/>
            <a:ext cx="10763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900" b="0">
                <a:solidFill>
                  <a:srgbClr val="777777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777777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777777"/>
                </a:solidFill>
                <a:latin typeface="微软雅黑"/>
                <a:ea typeface="微软雅黑"/>
                <a:cs typeface="微软雅黑"/>
              </a:rPr>
              <a:t>新旧实验的负载、并发和子集路由均有变化。每组各一次，结果限于对应配置与 workflow。</a:t>
            </a:r>
          </a:p>
        </p:txBody>
      </p:sp>
    </p:spTree>
    <p:extLst>
      <p:ext uri="{BB962C8B-B14F-4D97-AF65-F5344CB8AC3E}">
        <p14:creationId xmlns:p14="http://schemas.microsoft.com/office/powerpoint/2010/main" val="1234286988"/>
      </p:ext>
    </p:extLst>
  </p:cSld>
</p:sld>
</file>

<file path=ppt/slides/v20/tableStyles.xml><?xml version="1.0" encoding="utf-8"?>
<a:tblStyleLst xmlns:a="http://schemas.openxmlformats.org/drawingml/2006/main" def="{5C22544A-7EE6-4342-B048-85BDC9FD1C3A}"/>
</file>

<file path=ppt/slides/v20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19755</Words>
  <Application>WPS 演示</Application>
  <PresentationFormat>宽屏</PresentationFormat>
  <Paragraphs>3010</Paragraphs>
  <Slides>52</Slides>
  <Notes>44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45</vt:i4>
      </vt:variant>
    </vt:vector>
  </HeadingPairs>
  <TitlesOfParts>
    <vt:vector size="61" baseType="lpstr">
      <vt:lpstr>Arial</vt:lpstr>
      <vt:lpstr>宋体</vt:lpstr>
      <vt:lpstr>Wingdings</vt:lpstr>
      <vt:lpstr>Calibri</vt:lpstr>
      <vt:lpstr>Helvetica Neue</vt:lpstr>
      <vt:lpstr>微软雅黑</vt:lpstr>
      <vt:lpstr>方正雅意黑 GB18030L2</vt:lpstr>
      <vt:lpstr>宋体</vt:lpstr>
      <vt:lpstr>汉仪书宋二KW</vt:lpstr>
      <vt:lpstr>微软雅黑</vt:lpstr>
      <vt:lpstr>Arial Unicode MS</vt:lpstr>
      <vt:lpstr>Arial</vt:lpstr>
      <vt:lpstr>Calibri Light</vt:lpstr>
      <vt:lpstr>微软雅黑</vt:lpstr>
      <vt:lpstr>ChatGPT</vt:lpstr>
      <vt:lpstr>ChatGPT</vt:lpstr>
      <vt:lpstr>WHY AFD</vt:lpstr>
      <vt:lpstr>WHY AFD</vt:lpstr>
      <vt:lpstr>PROJECT OVERVIEW</vt:lpstr>
      <vt:lpstr>ARCHITECTURE</vt:lpstr>
      <vt:lpstr>RUNTIME FLOW</vt:lpstr>
      <vt:lpstr>CONNECTOR CONTRACT</vt:lpstr>
      <vt:lpstr>ARCHITECTURE</vt:lpstr>
      <vt:lpstr>ARCHITECTURE</vt:lpstr>
      <vt:lpstr>USAGE</vt:lpstr>
      <vt:lpstr>SYNC DECODE RESULTS</vt:lpstr>
      <vt:lpstr>ASYNC PREFILL RESULTS</vt:lpstr>
      <vt:lpstr>NEXT STEPS</vt:lpstr>
      <vt:lpstr>AFD Plugin Community </vt:lpstr>
      <vt:lpstr>COMMUNITY UPDATE</vt:lpstr>
      <vt:lpstr>ASYNC PREFILL DATASET</vt:lpstr>
      <vt:lpstr>ASYNC PREFILL RESULTS</vt:lpstr>
      <vt:lpstr>ASYNC PREFILL RESULTS</vt:lpstr>
      <vt:lpstr>ASYNC PREFILL RESULTS</vt:lpstr>
      <vt:lpstr>ASYNC PREFILL RESULTS</vt:lpstr>
      <vt:lpstr>ASYNC PREFILL SLO</vt:lpstr>
      <vt:lpstr>ASYNC PREFILL SLO</vt:lpstr>
      <vt:lpstr>ASYNC PREFILL SLO</vt:lpstr>
      <vt:lpstr>ASYNC PREFILL RESULTS</vt:lpstr>
      <vt:lpstr>ASYNC PREFILL RESULTS</vt:lpstr>
      <vt:lpstr>ASYNC PREFILL RESULTS</vt:lpstr>
      <vt:lpstr>ASYNC PREFILL RESULTS</vt:lpstr>
      <vt:lpstr>ASYNC PREFILL RESULTS</vt:lpstr>
      <vt:lpstr>ASYNC PREFILL RESULTS</vt:lpstr>
      <vt:lpstr>ASYNC PREFILL RESULTS</vt:lpstr>
      <vt:lpstr>ASYNC PREFILL RESULTS</vt:lpstr>
      <vt:lpstr>ASYNC PREFILL RESULTS</vt:lpstr>
      <vt:lpstr>NEAR-TERM ROADMAP</vt:lpstr>
      <vt:lpstr>ASYNC PREFILL RESULTS</vt:lpstr>
      <vt:lpstr>ASYNC PREFILL RESULTS</vt:lpstr>
      <vt:lpstr>ASYNC PREFILL RESULTS</vt:lpstr>
      <vt:lpstr>ASYNC PREFILL RESULTS</vt:lpstr>
      <vt:lpstr>ASYNC PREFILL RESULTS</vt:lpstr>
      <vt:lpstr>ASYNC PREFILL RESULTS</vt:lpstr>
      <vt:lpstr>多轮长上下文：256 个完整会话，9,078 个请求</vt:lpstr>
      <vt:lpstr>会话内顺序执行，会话间并行；全局最多 16 个在途请求</vt:lpstr>
      <vt:lpstr>本轮回放：AFD 相对 EP4、EP8 分别加速 3.80×、1.33×</vt:lpstr>
      <vt:lpstr>AFD 集中部署专家，减少多实例中的权重副本</vt:lpstr>
      <vt:lpstr>AFD 实际 prefill 较 EP4、EP8 减少 77.2%、22.3%</vt:lpstr>
      <vt:lpstr>当前 workflow：4.19 个百分点的复用差，对应 50.63% 的 prefill 差</vt:lpstr>
      <vt:lpstr>AFD 在多副本部署中实现资源与性能收益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MaX</cp:lastModifiedBy>
  <cp:revision>5</cp:revision>
  <dcterms:created xsi:type="dcterms:W3CDTF">2026-10-10T07:07:02Z</dcterms:created>
  <dcterms:modified xsi:type="dcterms:W3CDTF">2026-10-10T07:07:02Z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D29F84B79FEEF03BF035AA6A3680A5BE_42</vt:lpwstr>
  </property>
  <property fmtid="{D5CDD505-2E9C-101B-9397-08002B2CF9AE}" pid="3" name="KSOProductBuildVer">
    <vt:lpwstr>2052-12.1.28496.28496</vt:lpwstr>
  </property>
</Properties>
</file>