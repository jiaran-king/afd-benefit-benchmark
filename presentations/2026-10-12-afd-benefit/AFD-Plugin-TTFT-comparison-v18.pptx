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8" r:id="rId23"/>
    <p:sldId id="294" r:id="rId24"/>
    <p:sldId id="295" r:id="rId25"/>
    <p:sldId id="296" r:id="rId26"/>
    <p:sldId id="297" r:id="rId27"/>
    <p:sldId id="292" r:id="rId28"/>
    <p:sldId id="289" r:id="rId29"/>
    <p:sldId id="290" r:id="rId30"/>
    <p:sldId id="291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93" r:id="rId41"/>
    <p:sldId id="299" r:id="rId42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请求占比</c:f>
              <c:strCache>
                <c:ptCount val="1"/>
                <c:pt idx="0">
                  <c:v>请求占比</c:v>
                </c:pt>
              </c:strCache>
            </c:strRef>
          </c:tx>
          <c:spPr>
            <a:solidFill>
              <a:srgbClr val="4472C4"/>
            </a:solidFill>
            <a:ln w="9525">
              <a:solidFill>
                <a:srgbClr val="4472C4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F2A900"/>
              </a:solidFill>
            </c:spPr>
          </c:dPt>
          <c:dPt>
            <c:idx val="4"/>
            <c:invertIfNegative val="0"/>
            <c:bubble3D val="0"/>
            <c:spPr>
              <a:solidFill>
                <a:srgbClr val="F2A900"/>
              </a:solidFill>
            </c:spPr>
          </c:dPt>
          <c:dPt>
            <c:idx val="5"/>
            <c:invertIfNegative val="0"/>
            <c:bubble3D val="0"/>
            <c:spPr>
              <a:solidFill>
                <a:srgbClr val="F2A900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75" b="1" i="0" u="none" strike="noStrike" kern="1200" baseline="0">
                    <a:solidFill>
                      <a:srgbClr val="22222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1–1K</c:v>
                </c:pt>
                <c:pt idx="1">
                  <c:v>1K–4K</c:v>
                </c:pt>
                <c:pt idx="2">
                  <c:v>4K–8K</c:v>
                </c:pt>
                <c:pt idx="3">
                  <c:v>8K–16K</c:v>
                </c:pt>
                <c:pt idx="4">
                  <c:v>16K–32K</c:v>
                </c:pt>
                <c:pt idx="5">
                  <c:v>32K–64K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11.7</c:v>
                </c:pt>
                <c:pt idx="1">
                  <c:v>23.1</c:v>
                </c:pt>
                <c:pt idx="2">
                  <c:v>22.3</c:v>
                </c:pt>
                <c:pt idx="3">
                  <c:v>22.7</c:v>
                </c:pt>
                <c:pt idx="4">
                  <c:v>15.5</c:v>
                </c:pt>
                <c:pt idx="5">
                  <c:v>4.8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4dfaeae-c6c8-442f-be57-79ef3fa9af97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1.111</c:v>
                </c:pt>
                <c:pt idx="1">
                  <c:v>1.838</c:v>
                </c:pt>
                <c:pt idx="2">
                  <c:v>22.172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1.23</c:v>
                </c:pt>
                <c:pt idx="1">
                  <c:v>1.596</c:v>
                </c:pt>
                <c:pt idx="2">
                  <c:v>2.168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625de33-97b9-4e15-86da-c1ff105f38ea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1.816</c:v>
                </c:pt>
                <c:pt idx="1">
                  <c:v>3.187</c:v>
                </c:pt>
                <c:pt idx="2">
                  <c:v>30.074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1.975</c:v>
                </c:pt>
                <c:pt idx="1">
                  <c:v>2.532</c:v>
                </c:pt>
                <c:pt idx="2">
                  <c:v>3.489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605e75c-7c00-46a7-ad6f-61979dd3b7f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4.633</c:v>
                </c:pt>
                <c:pt idx="1">
                  <c:v>7.616</c:v>
                </c:pt>
                <c:pt idx="2">
                  <c:v>47.337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5.125</c:v>
                </c:pt>
                <c:pt idx="1">
                  <c:v>6.215</c:v>
                </c:pt>
                <c:pt idx="2">
                  <c:v>8.144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fe422872-0fcb-41a6-8164-94440b652c1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6.009</c:v>
                </c:pt>
                <c:pt idx="1">
                  <c:v>9.197</c:v>
                </c:pt>
                <c:pt idx="2">
                  <c:v>51.255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6.484</c:v>
                </c:pt>
                <c:pt idx="1">
                  <c:v>8.024</c:v>
                </c:pt>
                <c:pt idx="2">
                  <c:v>10.185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082297e-b5dd-42b1-99de-1c002a64867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8.302</c:v>
                </c:pt>
                <c:pt idx="1">
                  <c:v>12.909</c:v>
                </c:pt>
                <c:pt idx="2">
                  <c:v>56.95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10.238</c:v>
                </c:pt>
                <c:pt idx="1">
                  <c:v>11.163</c:v>
                </c:pt>
                <c:pt idx="2">
                  <c:v>12.986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03d6bfd6-091f-4777-8d8a-c1161c86cf3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1.791</c:v>
                </c:pt>
                <c:pt idx="1">
                  <c:v>2.578</c:v>
                </c:pt>
                <c:pt idx="2">
                  <c:v>5.96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2.294</c:v>
                </c:pt>
                <c:pt idx="1">
                  <c:v>3.117</c:v>
                </c:pt>
                <c:pt idx="2">
                  <c:v>3.734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37dc868-ddc5-418b-a592-cdff26f6991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2.572</c:v>
                </c:pt>
                <c:pt idx="1">
                  <c:v>3.653</c:v>
                </c:pt>
                <c:pt idx="2">
                  <c:v>8.624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3.253</c:v>
                </c:pt>
                <c:pt idx="1">
                  <c:v>4.208</c:v>
                </c:pt>
                <c:pt idx="2">
                  <c:v>5.152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76649f0-116d-47c3-b318-1b845f46ac80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5.294</c:v>
                </c:pt>
                <c:pt idx="1">
                  <c:v>7.249</c:v>
                </c:pt>
                <c:pt idx="2">
                  <c:v>15.063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6.664</c:v>
                </c:pt>
                <c:pt idx="1">
                  <c:v>8.354</c:v>
                </c:pt>
                <c:pt idx="2">
                  <c:v>10.12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f5f1739-79f6-4bb3-b6cf-8eee5ced26f8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6.622</c:v>
                </c:pt>
                <c:pt idx="1">
                  <c:v>8.578</c:v>
                </c:pt>
                <c:pt idx="2">
                  <c:v>16.847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8.251</c:v>
                </c:pt>
                <c:pt idx="1">
                  <c:v>10.072</c:v>
                </c:pt>
                <c:pt idx="2">
                  <c:v>12.025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7e07d98c-0d43-4bcf-a72f-8097d9ede3a1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8.892</c:v>
                </c:pt>
                <c:pt idx="1">
                  <c:v>11.058</c:v>
                </c:pt>
                <c:pt idx="2">
                  <c:v>20.386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11.976</c:v>
                </c:pt>
                <c:pt idx="1">
                  <c:v>13.45</c:v>
                </c:pt>
                <c:pt idx="2">
                  <c:v>15.901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5972e544-3a88-470a-a033-696469baf3b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3.552</c:v>
                </c:pt>
                <c:pt idx="1">
                  <c:v>4.689</c:v>
                </c:pt>
                <c:pt idx="2">
                  <c:v>6.089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5.426</c:v>
                </c:pt>
                <c:pt idx="1">
                  <c:v>7.346</c:v>
                </c:pt>
                <c:pt idx="2">
                  <c:v>7.482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f326043-2c29-4664-b4fc-b6544891757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4.689</c:v>
                </c:pt>
                <c:pt idx="1">
                  <c:v>5.823</c:v>
                </c:pt>
                <c:pt idx="2">
                  <c:v>8.402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7.062</c:v>
                </c:pt>
                <c:pt idx="1">
                  <c:v>8.874</c:v>
                </c:pt>
                <c:pt idx="2">
                  <c:v>9.211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3a51928-a0f6-4d6d-90b1-6c887b507a8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7.84</c:v>
                </c:pt>
                <c:pt idx="1">
                  <c:v>9.599</c:v>
                </c:pt>
                <c:pt idx="2">
                  <c:v>13.611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11.338</c:v>
                </c:pt>
                <c:pt idx="1">
                  <c:v>14.125</c:v>
                </c:pt>
                <c:pt idx="2">
                  <c:v>14.688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9daf9ae-61f1-4bd1-870f-b9fa18aaa26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9.162</c:v>
                </c:pt>
                <c:pt idx="1">
                  <c:v>11.048</c:v>
                </c:pt>
                <c:pt idx="2">
                  <c:v>15.119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13.313</c:v>
                </c:pt>
                <c:pt idx="1">
                  <c:v>16.088</c:v>
                </c:pt>
                <c:pt idx="2">
                  <c:v>16.659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c28eb5a0-a226-4a0b-9f8d-a3a390397321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  <a:endParaRPr sz="127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</c:f>
              <c:strCache>
                <c:ptCount val="1"/>
                <c:pt idx="0">
                  <c:v>AFD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DP4TP4</c:f>
              <c:strCache>
                <c:ptCount val="1"/>
                <c:pt idx="0">
                  <c:v>DP4TP4</c:v>
                </c:pt>
              </c:strCache>
            </c:strRef>
          </c:tx>
          <c:spPr>
            <a:ln w="1905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12.012</c:v>
                </c:pt>
                <c:pt idx="1">
                  <c:v>14.082</c:v>
                </c:pt>
                <c:pt idx="2">
                  <c:v>18.246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DP8TP2</c:f>
              <c:strCache>
                <c:ptCount val="1"/>
                <c:pt idx="0">
                  <c:v>DP8TP2</c:v>
                </c:pt>
              </c:strCache>
            </c:strRef>
          </c:tx>
          <c:spPr>
            <a:ln w="1905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16.565</c:v>
                </c:pt>
                <c:pt idx="1">
                  <c:v>19.753</c:v>
                </c:pt>
                <c:pt idx="2">
                  <c:v>20.542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5715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4763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366a06d1-0c34-4df2-af85-f52bff704f3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4K</c:f>
              <c:strCache>
                <c:ptCount val="1"/>
                <c:pt idx="0">
                  <c:v>EP16 DP4TP4 4K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99.761285</c:v>
                </c:pt>
                <c:pt idx="1">
                  <c:v>96.24566</c:v>
                </c:pt>
                <c:pt idx="2">
                  <c:v>9.179688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4K</c:f>
              <c:strCache>
                <c:ptCount val="1"/>
                <c:pt idx="0">
                  <c:v>EP16 DP8TP2 4K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98.741319</c:v>
                </c:pt>
                <c:pt idx="1">
                  <c:v>97.699653</c:v>
                </c:pt>
                <c:pt idx="2">
                  <c:v>94.726563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3f1f24b-cf3b-474a-bbc1-f335b3c96b9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4K</c:f>
              <c:strCache>
                <c:ptCount val="1"/>
                <c:pt idx="0">
                  <c:v>EP16 DP4TP4 4K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99.631076</c:v>
                </c:pt>
                <c:pt idx="1">
                  <c:v>98.003472</c:v>
                </c:pt>
                <c:pt idx="2">
                  <c:v>93.489583</c:v>
                </c:pt>
                <c:pt idx="3">
                  <c:v>85.30816</c:v>
                </c:pt>
                <c:pt idx="4">
                  <c:v>76.280382</c:v>
                </c:pt>
                <c:pt idx="5">
                  <c:v>65.429688</c:v>
                </c:pt>
                <c:pt idx="6">
                  <c:v>49.696181</c:v>
                </c:pt>
                <c:pt idx="7">
                  <c:v>32.443576</c:v>
                </c:pt>
                <c:pt idx="8">
                  <c:v>21.571181</c:v>
                </c:pt>
                <c:pt idx="9">
                  <c:v>15.668403</c:v>
                </c:pt>
                <c:pt idx="10">
                  <c:v>9.179688</c:v>
                </c:pt>
                <c:pt idx="11">
                  <c:v>3.103299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4K</c:f>
              <c:strCache>
                <c:ptCount val="1"/>
                <c:pt idx="0">
                  <c:v>EP16 DP8TP2 4K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99.978299</c:v>
                </c:pt>
                <c:pt idx="9">
                  <c:v>99.500868</c:v>
                </c:pt>
                <c:pt idx="10">
                  <c:v>94.726563</c:v>
                </c:pt>
                <c:pt idx="11">
                  <c:v>69.37934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c353e88b-b0de-4d3a-9ece-efae3cdb2a0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8K</c:f>
              <c:strCache>
                <c:ptCount val="1"/>
                <c:pt idx="0">
                  <c:v>EP16 DP4TP4 8K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99.717882</c:v>
                </c:pt>
                <c:pt idx="1">
                  <c:v>98.046875</c:v>
                </c:pt>
                <c:pt idx="2">
                  <c:v>62.521701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8K</c:f>
              <c:strCache>
                <c:ptCount val="1"/>
                <c:pt idx="0">
                  <c:v>EP16 DP8TP2 8K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97.395833</c:v>
                </c:pt>
                <c:pt idx="1">
                  <c:v>94.835069</c:v>
                </c:pt>
                <c:pt idx="2">
                  <c:v>89.561632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187a1cc-a7c2-46d6-bba9-6fbe0be64bb5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8K</c:f>
              <c:strCache>
                <c:ptCount val="1"/>
                <c:pt idx="0">
                  <c:v>EP16 DP4TP4 8K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98.567708</c:v>
                </c:pt>
                <c:pt idx="9">
                  <c:v>89.735243</c:v>
                </c:pt>
                <c:pt idx="10">
                  <c:v>62.521701</c:v>
                </c:pt>
                <c:pt idx="11">
                  <c:v>17.1875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8K</c:f>
              <c:strCache>
                <c:ptCount val="1"/>
                <c:pt idx="0">
                  <c:v>EP16 DP8TP2 8K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99.956597</c:v>
                </c:pt>
                <c:pt idx="9">
                  <c:v>98.524306</c:v>
                </c:pt>
                <c:pt idx="10">
                  <c:v>89.561632</c:v>
                </c:pt>
                <c:pt idx="11">
                  <c:v>48.003472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ab216873-509e-457e-a7f9-79786b96e90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16K</c:f>
              <c:strCache>
                <c:ptCount val="1"/>
                <c:pt idx="0">
                  <c:v>EP16 DP4TP4 16K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96.744792</c:v>
                </c:pt>
                <c:pt idx="1">
                  <c:v>91.601563</c:v>
                </c:pt>
                <c:pt idx="2">
                  <c:v>66.297743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16K</c:f>
              <c:strCache>
                <c:ptCount val="1"/>
                <c:pt idx="0">
                  <c:v>EP16 DP8TP2 16K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84.309896</c:v>
                </c:pt>
                <c:pt idx="1">
                  <c:v>63.975694</c:v>
                </c:pt>
                <c:pt idx="2">
                  <c:v>59.592014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636d9438-47e2-4ca0-b11a-67c18c5aa2d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  <a:endParaRPr sz="1425" b="1">
              <a:latin typeface="微软雅黑"/>
              <a:ea typeface="微软雅黑"/>
              <a:cs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DP4TP2 64K</c:f>
              <c:strCache>
                <c:ptCount val="1"/>
                <c:pt idx="0">
                  <c:v>AFD DP4TP2 64K</c:v>
                </c:pt>
              </c:strCache>
            </c:strRef>
          </c:tx>
          <c:spPr>
            <a:ln w="23813" cap="rnd">
              <a:solidFill>
                <a:srgbClr val="F0A000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F0A000"/>
              </a:solidFill>
            </c:spPr>
          </c:marker>
          <c:dLbls>
            <c:delete val="1"/>
          </c:dLbls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EP16 DP4TP4 16K</c:f>
              <c:strCache>
                <c:ptCount val="1"/>
                <c:pt idx="0">
                  <c:v>EP16 DP4TP4 16K</c:v>
                </c:pt>
              </c:strCache>
            </c:strRef>
          </c:tx>
          <c:spPr>
            <a:ln w="23813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</c:spPr>
          </c:marker>
          <c:dLbls>
            <c:delete val="1"/>
          </c:dLbls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99.956597</c:v>
                </c:pt>
                <c:pt idx="8">
                  <c:v>99.674479</c:v>
                </c:pt>
                <c:pt idx="9">
                  <c:v>94.68316</c:v>
                </c:pt>
                <c:pt idx="10">
                  <c:v>66.297743</c:v>
                </c:pt>
                <c:pt idx="11">
                  <c:v>12.999132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EP16 DP8TP2 16K</c:f>
              <c:strCache>
                <c:ptCount val="1"/>
                <c:pt idx="0">
                  <c:v>EP16 DP8TP2 16K</c:v>
                </c:pt>
              </c:strCache>
            </c:strRef>
          </c:tx>
          <c:spPr>
            <a:ln w="23813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4472C4"/>
              </a:solidFill>
            </c:spPr>
          </c:marker>
          <c:dLbls>
            <c:delete val="1"/>
          </c:dLbls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99.913194</c:v>
                </c:pt>
                <c:pt idx="8">
                  <c:v>98.697917</c:v>
                </c:pt>
                <c:pt idx="9">
                  <c:v>90.885417</c:v>
                </c:pt>
                <c:pt idx="10">
                  <c:v>59.592014</c:v>
                </c:pt>
                <c:pt idx="11">
                  <c:v>1.041667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90% target</c:f>
              <c:strCache>
                <c:ptCount val="1"/>
                <c:pt idx="0">
                  <c:v>90% target</c:v>
                </c:pt>
              </c:strCache>
            </c:strRef>
          </c:tx>
          <c:spPr>
            <a:ln w="14288" cap="rnd">
              <a:solidFill>
                <a:srgbClr val="888888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  <a:endParaRPr sz="1125">
                  <a:latin typeface="Calibri"/>
                  <a:ea typeface="Calibri"/>
                  <a:cs typeface="Calibri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2a59a1fc-c878-44d5-a351-0c910fdbdb5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8K</c:f>
              <c:strCache>
                <c:ptCount val="1"/>
                <c:pt idx="0">
                  <c:v>8K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C00000"/>
              </a:solidFill>
            </c:spPr>
          </c:marker>
          <c:dLbls>
            <c:delete val="1"/>
          </c:dLbls>
          <c:cat>
            <c:strRef>
              <c:f>'Chart Data'!$A$2:$A$4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1.974441</c:v>
                </c:pt>
                <c:pt idx="1">
                  <c:v>4.004952</c:v>
                </c:pt>
                <c:pt idx="2">
                  <c:v>32.115772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16K</c:f>
              <c:strCache>
                <c:ptCount val="1"/>
                <c:pt idx="0">
                  <c:v>16K</c:v>
                </c:pt>
              </c:strCache>
            </c:strRef>
          </c:tx>
          <c:spPr>
            <a:ln w="19050" cap="rnd">
              <a:solidFill>
                <a:srgbClr val="2B50A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B50A4"/>
              </a:solidFill>
            </c:spPr>
          </c:marker>
          <c:dLbls>
            <c:delete val="1"/>
          </c:dLbls>
          <c:cat>
            <c:strRef>
              <c:f>'Chart Data'!$C$2:$C$4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1.535552</c:v>
                </c:pt>
                <c:pt idx="1">
                  <c:v>2.628173</c:v>
                </c:pt>
                <c:pt idx="2">
                  <c:v>10.155534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32K</c:f>
              <c:strCache>
                <c:ptCount val="1"/>
                <c:pt idx="0">
                  <c:v>32K</c:v>
                </c:pt>
              </c:strCache>
            </c:strRef>
          </c:tx>
          <c:spPr>
            <a:ln w="19050" cap="rnd">
              <a:solidFill>
                <a:srgbClr val="548A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A00"/>
              </a:solidFill>
            </c:spPr>
          </c:marker>
          <c:dLbls>
            <c:delete val="1"/>
          </c:dLbls>
          <c:cat>
            <c:strRef>
              <c:f>'Chart Data'!$E$2:$E$4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1.671063</c:v>
                </c:pt>
                <c:pt idx="1">
                  <c:v>2.76739</c:v>
                </c:pt>
                <c:pt idx="2">
                  <c:v>7.5424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64K</c:f>
              <c:strCache>
                <c:ptCount val="1"/>
                <c:pt idx="0">
                  <c:v>64K</c:v>
                </c:pt>
              </c:strCache>
            </c:strRef>
          </c:tx>
          <c:spPr>
            <a:ln w="1905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'Chart Data'!$G$2:$G$4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1.62058</c:v>
                </c:pt>
                <c:pt idx="1">
                  <c:v>2.896497</c:v>
                </c:pt>
                <c:pt idx="2">
                  <c:v>8.555265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26d55a2-f581-4fae-84ae-08a61a2b3a63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RPS 3</c:f>
              <c:strCache>
                <c:ptCount val="1"/>
                <c:pt idx="0">
                  <c:v>RPS 3</c:v>
                </c:pt>
              </c:strCache>
            </c:strRef>
          </c:tx>
          <c:spPr>
            <a:solidFill>
              <a:srgbClr val="2B50A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2.896497</c:v>
                </c:pt>
                <c:pt idx="1">
                  <c:v>1.970793</c:v>
                </c:pt>
                <c:pt idx="2">
                  <c:v>11.059542</c:v>
                </c:pt>
              </c:numCache>
            </c:numRef>
          </c:val>
        </c:ser>
        <c:ser>
          <c:idx val="1"/>
          <c:order val="1"/>
          <c:tx>
            <c:strRef>
              <c:f>RPS 4</c:f>
              <c:strCache>
                <c:ptCount val="1"/>
                <c:pt idx="0">
                  <c:v>RPS 4</c:v>
                </c:pt>
              </c:strCache>
            </c:strRef>
          </c:tx>
          <c:spPr>
            <a:solidFill>
              <a:srgbClr val="F2A3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8.555265</c:v>
                </c:pt>
                <c:pt idx="1">
                  <c:v>8.40692</c:v>
                </c:pt>
                <c:pt idx="2">
                  <c:v>20.284885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w="4763">
              <a:solidFill>
                <a:srgbClr val="DDDDDD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2079c3-f183-4842-8afd-3ef87c697534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1.093</c:v>
                </c:pt>
                <c:pt idx="1">
                  <c:v>1.792</c:v>
                </c:pt>
                <c:pt idx="2">
                  <c:v>12.123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5ed0835-5dc8-48b3-8c06-2c6bee534a09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1.753</c:v>
                </c:pt>
                <c:pt idx="1">
                  <c:v>2.959</c:v>
                </c:pt>
                <c:pt idx="2">
                  <c:v>17.854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8391569-cd7c-4056-8d7d-a74e09d0c421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4.524</c:v>
                </c:pt>
                <c:pt idx="1">
                  <c:v>6.784</c:v>
                </c:pt>
                <c:pt idx="2">
                  <c:v>28.606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7c2ff57-c89b-4bfb-9e5e-7f394e123dd1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5.762</c:v>
                </c:pt>
                <c:pt idx="1">
                  <c:v>8.289</c:v>
                </c:pt>
                <c:pt idx="2">
                  <c:v>30.993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2ef52ef-3ba6-471b-8493-40d312c3c93a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8.155</c:v>
                </c:pt>
                <c:pt idx="1">
                  <c:v>10.824</c:v>
                </c:pt>
                <c:pt idx="2">
                  <c:v>35.725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6b46d5d-170a-4a5b-a1ef-6b1aece83286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1.775</c:v>
                </c:pt>
                <c:pt idx="1">
                  <c:v>2.599</c:v>
                </c:pt>
                <c:pt idx="2">
                  <c:v>5.394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2f798b4-a820-4f3b-85a3-a8b570418df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2.575</c:v>
                </c:pt>
                <c:pt idx="1">
                  <c:v>3.612</c:v>
                </c:pt>
                <c:pt idx="2">
                  <c:v>7.423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274b993-5e88-424a-8b0d-4d4690d5dbd4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5.206</c:v>
                </c:pt>
                <c:pt idx="1">
                  <c:v>7.365</c:v>
                </c:pt>
                <c:pt idx="2">
                  <c:v>12.161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a372892-8b86-4850-8944-967d420d564e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6.482</c:v>
                </c:pt>
                <c:pt idx="1">
                  <c:v>8.879</c:v>
                </c:pt>
                <c:pt idx="2">
                  <c:v>13.829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3651da6-e5e7-43ba-a0ba-3c65618eb789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8.755</c:v>
                </c:pt>
                <c:pt idx="1">
                  <c:v>11.46</c:v>
                </c:pt>
                <c:pt idx="2">
                  <c:v>16.79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5e56fab-453b-4f40-a701-eba3c791edb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3.571</c:v>
                </c:pt>
                <c:pt idx="1">
                  <c:v>4.779</c:v>
                </c:pt>
                <c:pt idx="2">
                  <c:v>5.898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92e33c-a1eb-47b7-ae9a-7cd7b8c33e63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4.798</c:v>
                </c:pt>
                <c:pt idx="1">
                  <c:v>5.936</c:v>
                </c:pt>
                <c:pt idx="2">
                  <c:v>7.859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dd78ea0-c52a-41e4-8b1e-6a972d1ee083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7.981</c:v>
                </c:pt>
                <c:pt idx="1">
                  <c:v>9.991</c:v>
                </c:pt>
                <c:pt idx="2">
                  <c:v>12.648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0e82bdb-4a69-4404-a21a-6ccf9edc7e5f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9.513</c:v>
                </c:pt>
                <c:pt idx="1">
                  <c:v>11.557</c:v>
                </c:pt>
                <c:pt idx="2">
                  <c:v>14.213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97c88a6-a6a3-48c2-9798-b760983ccec5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  <a:endParaRPr lang="en-US" sz="1125" b="1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AFD (PR #320)</c:f>
              <c:strCache>
                <c:ptCount val="1"/>
                <c:pt idx="0">
                  <c:v>AFD (PR #320)</c:v>
                </c:pt>
              </c:strCache>
            </c:strRef>
          </c:tx>
          <c:spPr>
            <a:ln w="21908" cap="rnd">
              <a:solidFill>
                <a:srgbClr val="F2A9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900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F2A900"/>
                </a:solidFill>
              </c:spPr>
            </c:marker>
            <c:bubble3D val="0"/>
            <c:spPr>
              <a:ln w="9525" cap="rnd">
                <a:solidFill>
                  <a:srgbClr val="F2A900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2×EP16 + Router</c:f>
              <c:strCache>
                <c:ptCount val="1"/>
                <c:pt idx="0">
                  <c:v>2×EP16 + Router</c:v>
                </c:pt>
              </c:strCache>
            </c:strRef>
          </c:tx>
          <c:spPr>
            <a:ln w="21908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dPt>
            <c:idx val="0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1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Pt>
            <c:idx val="2"/>
            <c:marker>
              <c:symbol val="circle"/>
              <c:size val="5"/>
              <c:spPr>
                <a:solidFill>
                  <a:srgbClr val="4472C4"/>
                </a:solidFill>
              </c:spPr>
            </c:marker>
            <c:bubble3D val="0"/>
            <c:spPr>
              <a:ln w="9525" cap="rnd">
                <a:solidFill>
                  <a:srgbClr val="4472C4"/>
                </a:solidFill>
                <a:prstDash val="solid"/>
                <a:round/>
              </a:ln>
            </c:spPr>
          </c:dPt>
          <c:dLbls>
            <c:delete val="1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12.266</c:v>
                </c:pt>
                <c:pt idx="1">
                  <c:v>14.676</c:v>
                </c:pt>
                <c:pt idx="2">
                  <c:v>17.253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8E8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CECEC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4c7e209-073e-435a-8873-cfc07cbfe7a8}"/>
      </c:ext>
    </c:extLst>
  </c:chart>
  <c:spPr>
    <a:solidFill>
      <a:srgbClr val="FFFFFF"/>
    </a:solidFill>
    <a:ln w="9525">
      <a:solidFill>
        <a:srgbClr val="D0D0D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0.451674560084939</c:v>
                </c:pt>
                <c:pt idx="1">
                  <c:v>0.813542610965669</c:v>
                </c:pt>
                <c:pt idx="2">
                  <c:v>2.86460497820129</c:v>
                </c:pt>
                <c:pt idx="3">
                  <c:v>6.08422859028603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0.373181615645687</c:v>
                </c:pt>
                <c:pt idx="1">
                  <c:v>0.82474814945211</c:v>
                </c:pt>
                <c:pt idx="2">
                  <c:v>2.92796594494333</c:v>
                </c:pt>
                <c:pt idx="3">
                  <c:v>5.94948286581786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1.07586598598088</c:v>
                </c:pt>
                <c:pt idx="1">
                  <c:v>1.86886880919337</c:v>
                </c:pt>
                <c:pt idx="2">
                  <c:v>4.46411869737009</c:v>
                </c:pt>
                <c:pt idx="3">
                  <c:v>7.69696350411202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2.32124865831186</c:v>
                </c:pt>
                <c:pt idx="1">
                  <c:v>3.17153960218032</c:v>
                </c:pt>
                <c:pt idx="2">
                  <c:v>6.25004000837604</c:v>
                </c:pt>
                <c:pt idx="3">
                  <c:v>10.1204706088019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2835e68-0883-4702-9116-db7dd57f42f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0.731251559065034</c:v>
                </c:pt>
                <c:pt idx="1">
                  <c:v>1.62456194373469</c:v>
                </c:pt>
                <c:pt idx="2">
                  <c:v>5.12873287529995</c:v>
                </c:pt>
                <c:pt idx="3">
                  <c:v>8.10777107768382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0.51651247497648</c:v>
                </c:pt>
                <c:pt idx="1">
                  <c:v>1.25648603433122</c:v>
                </c:pt>
                <c:pt idx="2">
                  <c:v>3.81072510840992</c:v>
                </c:pt>
                <c:pt idx="3">
                  <c:v>6.74501762818545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2.10673035572593</c:v>
                </c:pt>
                <c:pt idx="1">
                  <c:v>3.1814243827636</c:v>
                </c:pt>
                <c:pt idx="2">
                  <c:v>6.717952077277</c:v>
                </c:pt>
                <c:pt idx="3">
                  <c:v>10.4776374955972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3.11195796029642</c:v>
                </c:pt>
                <c:pt idx="1">
                  <c:v>4.41150796754907</c:v>
                </c:pt>
                <c:pt idx="2">
                  <c:v>8.05045057218522</c:v>
                </c:pt>
                <c:pt idx="3">
                  <c:v>11.9868703563573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b650bde-9d5b-4041-8574-59ec05b76f40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3.18688036051268</c:v>
                </c:pt>
                <c:pt idx="1">
                  <c:v>6.28650079636524</c:v>
                </c:pt>
                <c:pt idx="2">
                  <c:v>11.7045200771342</c:v>
                </c:pt>
                <c:pt idx="3">
                  <c:v>16.5624530739462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1.49823665960381</c:v>
                </c:pt>
                <c:pt idx="1">
                  <c:v>3.09803589464476</c:v>
                </c:pt>
                <c:pt idx="2">
                  <c:v>7.2806502111877</c:v>
                </c:pt>
                <c:pt idx="3">
                  <c:v>10.7107637822939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4.73638338114445</c:v>
                </c:pt>
                <c:pt idx="1">
                  <c:v>7.42761846259236</c:v>
                </c:pt>
                <c:pt idx="2">
                  <c:v>13.9023705174526</c:v>
                </c:pt>
                <c:pt idx="3">
                  <c:v>18.938207457525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11.2181258344402</c:v>
                </c:pt>
                <c:pt idx="1">
                  <c:v>15.6745700525741</c:v>
                </c:pt>
                <c:pt idx="2">
                  <c:v>24.9229017402977</c:v>
                </c:pt>
                <c:pt idx="3">
                  <c:v>32.3612060722274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1d68fd-580d-41bf-abaa-df34ca9f7f6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794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20.4690215333054</c:v>
                </c:pt>
                <c:pt idx="1">
                  <c:v>30.7385649013643</c:v>
                </c:pt>
                <c:pt idx="2">
                  <c:v>49.1156799814974</c:v>
                </c:pt>
                <c:pt idx="3">
                  <c:v>62.8945236524878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7940" cap="rnd">
              <a:solidFill>
                <a:srgbClr val="548235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14.1751570408233</c:v>
                </c:pt>
                <c:pt idx="1">
                  <c:v>22.2867931701864</c:v>
                </c:pt>
                <c:pt idx="2">
                  <c:v>38.2971443186204</c:v>
                </c:pt>
                <c:pt idx="3">
                  <c:v>48.3580868431367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7940" cap="rnd">
              <a:solidFill>
                <a:srgbClr val="4472C4"/>
              </a:solidFill>
              <a:prstDash val="solid"/>
              <a:round/>
            </a:ln>
          </c:spPr>
          <c:marker>
            <c:symbol val="triangle"/>
            <c:size val="6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23.3518817528772</c:v>
                </c:pt>
                <c:pt idx="1">
                  <c:v>37.756422217004</c:v>
                </c:pt>
                <c:pt idx="2">
                  <c:v>66.3529290268198</c:v>
                </c:pt>
                <c:pt idx="3">
                  <c:v>81.0876907091277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7940" cap="rnd">
              <a:solidFill>
                <a:srgbClr val="7030A0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P25</c:v>
                </c:pt>
                <c:pt idx="1">
                  <c:v>P50</c:v>
                </c:pt>
                <c:pt idx="2">
                  <c:v>P90</c:v>
                </c:pt>
                <c:pt idx="3">
                  <c:v>P99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30.5126143032685</c:v>
                </c:pt>
                <c:pt idx="1">
                  <c:v>49.7817134000361</c:v>
                </c:pt>
                <c:pt idx="2">
                  <c:v>90.6988785658032</c:v>
                </c:pt>
                <c:pt idx="3">
                  <c:v>107.807949254755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7620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35354e8-3029-4678-a3fa-b6048734ea7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P25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0.451674560084939</c:v>
                </c:pt>
                <c:pt idx="1">
                  <c:v>0.731251559065034</c:v>
                </c:pt>
                <c:pt idx="2">
                  <c:v>3.18688036051268</c:v>
                </c:pt>
                <c:pt idx="3">
                  <c:v>20.4690215333054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0.373181615645687</c:v>
                </c:pt>
                <c:pt idx="1">
                  <c:v>0.51651247497648</c:v>
                </c:pt>
                <c:pt idx="2">
                  <c:v>1.49823665960381</c:v>
                </c:pt>
                <c:pt idx="3">
                  <c:v>14.1751570408233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1.07586598598088</c:v>
                </c:pt>
                <c:pt idx="1">
                  <c:v>2.10673035572593</c:v>
                </c:pt>
                <c:pt idx="2">
                  <c:v>4.73638338114445</c:v>
                </c:pt>
                <c:pt idx="3">
                  <c:v>23.3518817528772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2.32124865831186</c:v>
                </c:pt>
                <c:pt idx="1">
                  <c:v>3.11195796029642</c:v>
                </c:pt>
                <c:pt idx="2">
                  <c:v>11.2181258344402</c:v>
                </c:pt>
                <c:pt idx="3">
                  <c:v>30.5126143032685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fff4b21-e310-4fd3-af1d-4180edceb92d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P50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0.813542610965669</c:v>
                </c:pt>
                <c:pt idx="1">
                  <c:v>1.62456194373469</c:v>
                </c:pt>
                <c:pt idx="2">
                  <c:v>6.28650079636524</c:v>
                </c:pt>
                <c:pt idx="3">
                  <c:v>30.7385649013643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0.82474814945211</c:v>
                </c:pt>
                <c:pt idx="1">
                  <c:v>1.25648603433122</c:v>
                </c:pt>
                <c:pt idx="2">
                  <c:v>3.09803589464476</c:v>
                </c:pt>
                <c:pt idx="3">
                  <c:v>22.2867931701864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1.86886880919337</c:v>
                </c:pt>
                <c:pt idx="1">
                  <c:v>3.1814243827636</c:v>
                </c:pt>
                <c:pt idx="2">
                  <c:v>7.42761846259236</c:v>
                </c:pt>
                <c:pt idx="3">
                  <c:v>37.756422217004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3.17153960218032</c:v>
                </c:pt>
                <c:pt idx="1">
                  <c:v>4.41150796754907</c:v>
                </c:pt>
                <c:pt idx="2">
                  <c:v>15.6745700525741</c:v>
                </c:pt>
                <c:pt idx="3">
                  <c:v>49.7817134000361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dea8f17-bf20-4490-a4ae-107221876926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P90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2.86460497820129</c:v>
                </c:pt>
                <c:pt idx="1">
                  <c:v>5.12873287529995</c:v>
                </c:pt>
                <c:pt idx="2">
                  <c:v>11.7045200771342</c:v>
                </c:pt>
                <c:pt idx="3">
                  <c:v>49.1156799814974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2.92796594494333</c:v>
                </c:pt>
                <c:pt idx="1">
                  <c:v>3.81072510840992</c:v>
                </c:pt>
                <c:pt idx="2">
                  <c:v>7.2806502111877</c:v>
                </c:pt>
                <c:pt idx="3">
                  <c:v>38.2971443186204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4.46411869737009</c:v>
                </c:pt>
                <c:pt idx="1">
                  <c:v>6.717952077277</c:v>
                </c:pt>
                <c:pt idx="2">
                  <c:v>13.9023705174526</c:v>
                </c:pt>
                <c:pt idx="3">
                  <c:v>66.3529290268198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6.25004000837604</c:v>
                </c:pt>
                <c:pt idx="1">
                  <c:v>8.05045057218522</c:v>
                </c:pt>
                <c:pt idx="2">
                  <c:v>24.9229017402977</c:v>
                </c:pt>
                <c:pt idx="3">
                  <c:v>90.6988785658032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d545745-6630-4d07-8238-616cec7536d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latin typeface="微软雅黑"/>
              </a:rPr>
              <a:t>P99 TTFT</a:t>
            </a:r>
            <a:endParaRPr lang="en-US" sz="1400" b="1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AFD 64K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2A300"/>
              </a:solidFill>
              <a:ln w="12700">
                <a:solidFill>
                  <a:srgbClr val="F2A30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6.08422859028603</c:v>
                </c:pt>
                <c:pt idx="1">
                  <c:v>8.10777107768382</c:v>
                </c:pt>
                <c:pt idx="2">
                  <c:v>16.5624530739462</c:v>
                </c:pt>
                <c:pt idx="3">
                  <c:v>62.8945236524878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4×EP4 8K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548235"/>
              </a:solidFill>
              <a:ln w="12700">
                <a:solidFill>
                  <a:srgbClr val="54823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5.94948286581786</c:v>
                </c:pt>
                <c:pt idx="1">
                  <c:v>6.74501762818545</c:v>
                </c:pt>
                <c:pt idx="2">
                  <c:v>10.7107637822939</c:v>
                </c:pt>
                <c:pt idx="3">
                  <c:v>48.3580868431367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2×EP8 8K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4472C4"/>
              </a:solidFill>
              <a:ln w="12700">
                <a:solidFill>
                  <a:srgbClr val="4472C4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7.69696350411202</c:v>
                </c:pt>
                <c:pt idx="1">
                  <c:v>10.4776374955972</c:v>
                </c:pt>
                <c:pt idx="2">
                  <c:v>18.938207457525</c:v>
                </c:pt>
                <c:pt idx="3">
                  <c:v>81.0876907091277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EP16 8K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030A0"/>
              </a:solidFill>
              <a:ln w="12700">
                <a:solidFill>
                  <a:srgbClr val="7030A0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10.1204706088019</c:v>
                </c:pt>
                <c:pt idx="1">
                  <c:v>11.9868703563573</c:v>
                </c:pt>
                <c:pt idx="2">
                  <c:v>32.3612060722274</c:v>
                </c:pt>
                <c:pt idx="3">
                  <c:v>107.807949254755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12700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5f10f7f-ff6b-4925-a25a-fd1426115df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P25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0.449385073191176</c:v>
                </c:pt>
                <c:pt idx="1">
                  <c:v>0.741079315543175</c:v>
                </c:pt>
                <c:pt idx="2">
                  <c:v>3.08323643744613</c:v>
                </c:pt>
                <c:pt idx="3">
                  <c:v>21.3446140419692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0.543004187134405</c:v>
                </c:pt>
                <c:pt idx="1">
                  <c:v>2.2576978392899</c:v>
                </c:pt>
                <c:pt idx="2">
                  <c:v>24.4253879094807</c:v>
                </c:pt>
                <c:pt idx="3">
                  <c:v>42.585881866049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0.453301488887519</c:v>
                </c:pt>
                <c:pt idx="1">
                  <c:v>0.737286215803275</c:v>
                </c:pt>
                <c:pt idx="2">
                  <c:v>3.29645802592859</c:v>
                </c:pt>
                <c:pt idx="3">
                  <c:v>20.5190890938975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0.569803062360734</c:v>
                </c:pt>
                <c:pt idx="1">
                  <c:v>2.13579453760758</c:v>
                </c:pt>
                <c:pt idx="2">
                  <c:v>24.3671103465992</c:v>
                </c:pt>
                <c:pt idx="3">
                  <c:v>39.9073271122761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d6c428c-1e9c-40f1-bdb0-99e233b4838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P50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0.814288557507098</c:v>
                </c:pt>
                <c:pt idx="1">
                  <c:v>1.5926552657038</c:v>
                </c:pt>
                <c:pt idx="2">
                  <c:v>5.48547978543987</c:v>
                </c:pt>
                <c:pt idx="3">
                  <c:v>32.6889252141118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1.24155641626567</c:v>
                </c:pt>
                <c:pt idx="1">
                  <c:v>4.5826930028076</c:v>
                </c:pt>
                <c:pt idx="2">
                  <c:v>39.435876596719</c:v>
                </c:pt>
                <c:pt idx="3">
                  <c:v>74.2715306806688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0.814784718987842</c:v>
                </c:pt>
                <c:pt idx="1">
                  <c:v>1.64260004119327</c:v>
                </c:pt>
                <c:pt idx="2">
                  <c:v>6.40341969020665</c:v>
                </c:pt>
                <c:pt idx="3">
                  <c:v>31.4503625879685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1.2637192622448</c:v>
                </c:pt>
                <c:pt idx="1">
                  <c:v>4.97502490909149</c:v>
                </c:pt>
                <c:pt idx="2">
                  <c:v>36.3488871383791</c:v>
                </c:pt>
                <c:pt idx="3">
                  <c:v>69.7557875495404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2c0443b-d235-4939-b604-f3468f11bd7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P90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3.02099687109391</c:v>
                </c:pt>
                <c:pt idx="1">
                  <c:v>4.33796449905882</c:v>
                </c:pt>
                <c:pt idx="2">
                  <c:v>11.0058875096962</c:v>
                </c:pt>
                <c:pt idx="3">
                  <c:v>53.1853993292898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4.13485964915405</c:v>
                </c:pt>
                <c:pt idx="1">
                  <c:v>9.73193522946288</c:v>
                </c:pt>
                <c:pt idx="2">
                  <c:v>65.8448165431619</c:v>
                </c:pt>
                <c:pt idx="3">
                  <c:v>132.464734333257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2.89507454757889</c:v>
                </c:pt>
                <c:pt idx="1">
                  <c:v>5.03413736727089</c:v>
                </c:pt>
                <c:pt idx="2">
                  <c:v>12.0220436497281</c:v>
                </c:pt>
                <c:pt idx="3">
                  <c:v>49.6588407891492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4.2582440674305</c:v>
                </c:pt>
                <c:pt idx="1">
                  <c:v>9.96050311811268</c:v>
                </c:pt>
                <c:pt idx="2">
                  <c:v>58.0905029249067</c:v>
                </c:pt>
                <c:pt idx="3">
                  <c:v>120.116722282333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6f69e55-0705-438f-9475-0055e7225db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latin typeface="微软雅黑"/>
              </a:rPr>
              <a:t>P99 TTFT</a:t>
            </a:r>
            <a:endParaRPr lang="en-US" sz="1400">
              <a:latin typeface="微软雅黑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32K 开</c:v>
                </c:pt>
              </c:strCache>
            </c:strRef>
          </c:tx>
          <c:spPr>
            <a:ln w="22860" cap="rnd">
              <a:solidFill>
                <a:srgbClr val="F2A30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F2A30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5.31952003731082</c:v>
                </c:pt>
                <c:pt idx="1">
                  <c:v>7.19180990071968</c:v>
                </c:pt>
                <c:pt idx="2">
                  <c:v>15.1611163822375</c:v>
                </c:pt>
                <c:pt idx="3">
                  <c:v>69.675257985356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32K 关</c:v>
                </c:pt>
              </c:strCache>
            </c:strRef>
          </c:tx>
          <c:spPr>
            <a:ln w="22860" cap="rnd">
              <a:solidFill>
                <a:srgbClr val="548235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548235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6.91432943415518</c:v>
                </c:pt>
                <c:pt idx="1">
                  <c:v>14.3150053302137</c:v>
                </c:pt>
                <c:pt idx="2">
                  <c:v>79.7362926232629</c:v>
                </c:pt>
                <c:pt idx="3">
                  <c:v>156.280935510403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64K 开</c:v>
                </c:pt>
              </c:strCache>
            </c:strRef>
          </c:tx>
          <c:spPr>
            <a:ln w="22860" cap="rnd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5.77602723501625</c:v>
                </c:pt>
                <c:pt idx="1">
                  <c:v>7.75690388157964</c:v>
                </c:pt>
                <c:pt idx="2">
                  <c:v>16.873569166412</c:v>
                </c:pt>
                <c:pt idx="3">
                  <c:v>63.1883247399703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64K 关</c:v>
                </c:pt>
              </c:strCache>
            </c:strRef>
          </c:tx>
          <c:spPr>
            <a:ln w="22860" cap="rnd">
              <a:solidFill>
                <a:srgbClr val="7030A0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7030A0"/>
              </a:solidFill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7.88709329832967</c:v>
                </c:pt>
                <c:pt idx="1">
                  <c:v>14.5365544356095</c:v>
                </c:pt>
                <c:pt idx="2">
                  <c:v>67.367692045557</c:v>
                </c:pt>
                <c:pt idx="3">
                  <c:v>143.608701523518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a3467d7-244e-4e28-8043-d5866785dea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实测值</c:v>
                </c:pt>
              </c:strCache>
            </c:strRef>
          </c:tx>
          <c:dPt>
            <c:idx val="0"/>
            <c:spPr>
              <a:solidFill>
                <a:srgbClr val="234CA5"/>
              </a:solidFill>
              <a:ln>
                <a:noFill/>
              </a:ln>
            </c:spPr>
          </c:dPt>
          <c:dPt>
            <c:idx val="1"/>
            <c:spPr>
              <a:solidFill>
                <a:srgbClr val="234CA5"/>
              </a:solidFill>
              <a:ln>
                <a:noFill/>
              </a:ln>
            </c:spPr>
          </c:dPt>
          <c:dPt>
            <c:idx val="2"/>
            <c:spPr>
              <a:solidFill>
                <a:srgbClr val="234CA5"/>
              </a:solidFill>
              <a:ln>
                <a:noFill/>
              </a:ln>
            </c:spPr>
          </c:dPt>
          <c:dPt>
            <c:idx val="3"/>
            <c:spPr>
              <a:solidFill>
                <a:srgbClr val="234CA5"/>
              </a:solidFill>
              <a:ln>
                <a:noFill/>
              </a:ln>
            </c:spPr>
          </c:dPt>
          <c:dPt>
            <c:idx val="4"/>
            <c:spPr>
              <a:solidFill>
                <a:srgbClr val="234CA5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&lt;32K</c:v>
                </c:pt>
                <c:pt idx="1">
                  <c:v>32–64K</c:v>
                </c:pt>
                <c:pt idx="2">
                  <c:v>64–128K</c:v>
                </c:pt>
                <c:pt idx="3">
                  <c:v>128–192K</c:v>
                </c:pt>
                <c:pt idx="4">
                  <c:v>192–256K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874</c:v>
                </c:pt>
                <c:pt idx="1">
                  <c:v>2440</c:v>
                </c:pt>
                <c:pt idx="2">
                  <c:v>4676</c:v>
                </c:pt>
                <c:pt idx="3">
                  <c:v>1010</c:v>
                </c:pt>
                <c:pt idx="4">
                  <c:v>78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5000.0"/>
          <c:min val="0.0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1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实测值</c:v>
                </c:pt>
              </c:strCache>
            </c:strRef>
          </c:tx>
          <c:dPt>
            <c:idx val="0"/>
            <c:spPr>
              <a:solidFill>
                <a:srgbClr val="528A00"/>
              </a:solidFill>
              <a:ln>
                <a:noFill/>
              </a:ln>
            </c:spPr>
          </c:dPt>
          <c:dPt>
            <c:idx val="1"/>
            <c:spPr>
              <a:solidFill>
                <a:srgbClr val="4472C4"/>
              </a:solidFill>
              <a:ln>
                <a:noFill/>
              </a:ln>
            </c:spPr>
          </c:dPt>
          <c:dPt>
            <c:idx val="2"/>
            <c:spPr>
              <a:solidFill>
                <a:srgbClr val="7030A0"/>
              </a:solidFill>
              <a:ln>
                <a:noFill/>
              </a:ln>
            </c:spPr>
          </c:dPt>
          <c:dPt>
            <c:idx val="3"/>
            <c:spPr>
              <a:solidFill>
                <a:srgbClr val="F2A900"/>
              </a:solidFill>
              <a:ln>
                <a:noFill/>
              </a:ln>
            </c:spPr>
          </c:dPt>
          <c:dPt>
            <c:idx val="4"/>
            <c:spPr>
              <a:solidFill>
                <a:srgbClr val="C06000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  <c:pt idx="4">
                  <c:v>AFD F 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238.9240512016695</c:v>
                </c:pt>
                <c:pt idx="1">
                  <c:v>83.71357934062058</c:v>
                </c:pt>
                <c:pt idx="2">
                  <c:v>54.415783901993805</c:v>
                </c:pt>
                <c:pt idx="3">
                  <c:v>62.91741288310538</c:v>
                </c:pt>
                <c:pt idx="4">
                  <c:v>63.48847835965765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none"/>
        <c:minorTickMark val="none"/>
        <c:tickLblPos val="low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max"/>
        <c:auto val="1"/>
        <c:lblAlgn val="ctr"/>
        <c:lblOffset val="100"/>
        <c:noMultiLvlLbl val="0"/>
      </c:catAx>
      <c:valAx>
        <c:axId val="2180972856"/>
        <c:scaling>
          <c:max val="275.0"/>
          <c:min val="0.0"/>
        </c:scaling>
        <c:delete val="0"/>
        <c:axPos val="b"/>
        <c:majorGridlines>
          <c:spPr>
            <a:ln w="6350">
              <a:solidFill>
                <a:srgbClr val="E5E5E5"/>
              </a:solidFill>
            </a:ln>
          </c:spPr>
        </c:majorGridlines>
        <c:numFmt formatCode="0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spPr>
            <a:solidFill>
              <a:srgbClr val="91AAD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38.4446</c:v>
                </c:pt>
                <c:pt idx="1">
                  <c:v>22.1503</c:v>
                </c:pt>
                <c:pt idx="2">
                  <c:v>14.0032</c:v>
                </c:pt>
                <c:pt idx="3">
                  <c:v>6.6995</c:v>
                </c:pt>
                <c:pt idx="4">
                  <c:v>35.9467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KV Cache</c:v>
                </c:pt>
              </c:strCache>
            </c:strRef>
          </c:tx>
          <c:spPr>
            <a:solidFill>
              <a:srgbClr val="F5C34B"/>
            </a:solidFill>
            <a:ln>
              <a:noFill/>
            </a:ln>
          </c:spPr>
          <c:dLbls>
            <c:dLbl>
              <c:idx val="4"/>
              <c:delete val="1"/>
            </c:dLbl>
            <c:numFmt formatCode="0.0;-0.0;" sourceLinked="0"/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微软雅黑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14.211299911141396</c:v>
                </c:pt>
                <c:pt idx="1">
                  <c:v>29.302372947335243</c:v>
                </c:pt>
                <c:pt idx="2">
                  <c:v>35.16721346974373</c:v>
                </c:pt>
                <c:pt idx="3">
                  <c:v>42.98160614569982</c:v>
                </c:pt>
                <c:pt idx="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其他已用</c:v>
                </c:pt>
              </c:strCache>
            </c:strRef>
          </c:tx>
          <c:spPr>
            <a:solidFill>
              <a:srgbClr val="B4B4B4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4.399153799796103</c:v>
                </c:pt>
                <c:pt idx="1">
                  <c:v>4.480615626883505</c:v>
                </c:pt>
                <c:pt idx="2">
                  <c:v>4.537045026350022</c:v>
                </c:pt>
                <c:pt idx="3">
                  <c:v>6.009242161591847</c:v>
                </c:pt>
                <c:pt idx="4">
                  <c:v>17.7798625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空闲</c:v>
                </c:pt>
              </c:strCache>
            </c:strRef>
          </c:tx>
          <c:spPr>
            <a:solidFill>
              <a:srgbClr val="EBEBE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 ×16</c:v>
                </c:pt>
                <c:pt idx="1">
                  <c:v>EP8 ×16</c:v>
                </c:pt>
                <c:pt idx="2">
                  <c:v>EP16 ×16</c:v>
                </c:pt>
                <c:pt idx="3">
                  <c:v>AFD A ×12</c:v>
                </c:pt>
                <c:pt idx="4">
                  <c:v>AFD F ×4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6.9449462890625</c:v>
                </c:pt>
                <c:pt idx="1">
                  <c:v>8.06671142578125</c:v>
                </c:pt>
                <c:pt idx="2">
                  <c:v>10.29254150390625</c:v>
                </c:pt>
                <c:pt idx="3">
                  <c:v>8.309651692708334</c:v>
                </c:pt>
                <c:pt idx="4">
                  <c:v>10.2734375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222222"/>
                  </a:solidFill>
                  <a:latin typeface="微软雅黑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overlap val="10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none"/>
        <c:minorTickMark val="none"/>
        <c:tickLblPos val="low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max"/>
        <c:auto val="1"/>
        <c:lblAlgn val="ctr"/>
        <c:lblOffset val="100"/>
        <c:noMultiLvlLbl val="0"/>
      </c:catAx>
      <c:valAx>
        <c:axId val="2180972856"/>
        <c:scaling>
          <c:max val="64.0"/>
          <c:min val="0.0"/>
        </c:scaling>
        <c:delete val="0"/>
        <c:axPos val="b"/>
        <c:majorGridlines>
          <c:spPr>
            <a:ln>
              <a:solidFill>
                <a:srgbClr val="E4E4E4"/>
              </a:solidFill>
            </a:ln>
          </c:spPr>
        </c:majorGridlines>
        <c:numFmt formatCode="0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1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缓存复用</c:v>
                </c:pt>
              </c:strCache>
            </c:strRef>
          </c:tx>
          <c:spPr>
            <a:solidFill>
              <a:srgbClr val="94ADD9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  <c:pt idx="4">
                  <c:v>AFD F 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338.255872</c:v>
                </c:pt>
                <c:pt idx="1">
                  <c:v>628.49024</c:v>
                </c:pt>
                <c:pt idx="2">
                  <c:v>686.751744</c:v>
                </c:pt>
                <c:pt idx="3">
                  <c:v>655.36</c:v>
                </c:pt>
                <c:pt idx="4">
                  <c:v>654.667776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 prefill</c:v>
                </c:pt>
              </c:strCache>
            </c:strRef>
          </c:tx>
          <c:spPr>
            <a:solidFill>
              <a:srgbClr val="F3BB45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  <c:pt idx="4">
                  <c:v>AFD F FULL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410.495525</c:v>
                </c:pt>
                <c:pt idx="1">
                  <c:v>120.261157</c:v>
                </c:pt>
                <c:pt idx="2">
                  <c:v>61.999653</c:v>
                </c:pt>
                <c:pt idx="3">
                  <c:v>93.391397</c:v>
                </c:pt>
                <c:pt idx="4">
                  <c:v>94.083621</c:v>
                </c:pt>
              </c:numCache>
            </c:numRef>
          </c:val>
        </c:ser>
        <c:gapWidth val="65"/>
        <c:overlap val="10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none"/>
        <c:minorTickMark val="none"/>
        <c:tickLblPos val="low"/>
        <c:txPr>
          <a:bodyPr/>
          <a:lstStyle/>
          <a:p>
            <a:pPr>
              <a:defRPr sz="1000">
                <a:latin typeface="微软雅黑"/>
              </a:defRPr>
            </a:pPr>
          </a:p>
        </c:txPr>
        <c:crossAx val="2180972856"/>
        <c:crosses val="max"/>
        <c:auto val="1"/>
        <c:lblAlgn val="ctr"/>
        <c:lblOffset val="100"/>
        <c:noMultiLvlLbl val="0"/>
      </c:catAx>
      <c:valAx>
        <c:axId val="2180972856"/>
        <c:scaling>
          <c:max val="800.0"/>
          <c:min val="0.0"/>
        </c:scaling>
        <c:delete val="0"/>
        <c:axPos val="b"/>
        <c:majorGridlines>
          <c:spPr>
            <a:ln>
              <a:solidFill>
                <a:srgbClr val="E4E4E4"/>
              </a:solidFill>
            </a:ln>
          </c:spPr>
        </c:majorGridlines>
        <c:numFmt formatCode="0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226939960"/>
        <c:crosses val="autoZero"/>
        <c:majorUnit val="2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当前部署 MoE 模型的一项主要挑战，在于 Attention 与 MoE 层之间存在异构性。</a:t>
            </a:r>
          </a:p>
          <a:p>
            <a:r>
              <a:t>Attention 受限于 KV Cache 容量：随着上下文长度增加，一个解码批次能够容纳的活跃请求会越来越少。相比之下，MoE 层需要足够大的批次，才能保证专家 GEMM 运算的效率。</a:t>
            </a:r>
          </a:p>
          <a:p>
            <a:r>
              <a:t>因此，随着上下文变长，活跃解码批次逐渐缩小，Attention 的开销主要由 KV Cache 读取主导；与此同时，MoE 无法获得高效执行专家计算所需的足够 Token 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AFD-Plugin.pptx, source slide 4 (architecture diagram, legend, component labels, and grouping).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/Users/jiangkuaixue/Desktop/vllm-afd-plugin-architecture.svg</a:t>
            </a:r>
          </a:p>
          <a:p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/Users/jiangkuaixue/Desktop/afd-connector-base-diagram-v2.png (built-in ImageGen output)</a:t>
            </a:r>
          </a:p>
          <a:p>
            <a:r>
              <a:t>- /Users/jiangkuaixue/code/afd-plugin/afd_plugin/connectors/base.py</a:t>
            </a:r>
          </a:p>
          <a:p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P4补充基础方案的问题总结，引导推到到下一页</a:t>
            </a:r>
            <a:br/>
            <a:r>
              <a:t>P6华为云的性能结果分析补充一些总结描述</a:t>
            </a:r>
            <a:br/>
            <a:r>
              <a:t>增加一个跟VLLM当前的配合状态，放在华为云之前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https://github.com/vllm-project/afd-plugin/pull/186</a:t>
            </a:r>
          </a:p>
          <a:p>
            <a:r>
              <a:t>https://github.com/vllm-project/afd-plugin/issues/169</a:t>
            </a:r>
          </a:p>
          <a:p>
            <a:r>
              <a:t>https://github.com/vllm-project/afd-plugin/issues/179</a:t>
            </a:r>
          </a:p>
          <a:p>
            <a:r>
              <a:t>https://github.com/vllm-project/afd-plugin/pull/191</a:t>
            </a:r>
          </a:p>
          <a:p>
            <a:r>
              <a:t>https://github.com/vllm-project/afd-plugin/issues/202</a:t>
            </a:r>
          </a:p>
          <a:p>
            <a:r>
              <a:t>https://github.com/vllm-project/afd-plugin/pull/205</a:t>
            </a:r>
          </a:p>
          <a:p>
            <a:r>
              <a:t>https://github.com/vllm-project/afd-plugin/pull/216</a:t>
            </a:r>
          </a:p>
          <a:p>
            <a:r>
              <a:t>https://github.com/vllm-project/afd-plugin/pull/222</a:t>
            </a:r>
          </a:p>
          <a:p>
            <a:r>
              <a:t>https://github.com/vllm-project/afd-plugin/issues/224</a:t>
            </a:r>
          </a:p>
          <a:p>
            <a:r>
              <a:t>https://github.com/vllm-project/afd-plugin/issues/227</a:t>
            </a:r>
          </a:p>
          <a:p>
            <a:r>
              <a:t>https://github.com/vllm-project/afd-plugin/issues/228</a:t>
            </a:r>
          </a:p>
          <a:p>
            <a:r>
              <a:t>Accessed 2026-08-12.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DP4TP4与DP8TP2保留上一版数据，MBT=4K，属于原2026-09-07/08批次。跨批次配置比较。红色最优值按未四舍五入的均值判断。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/Users/wentiange/afd-download/afd_experiment_results_20260907_20260908/dsv4-flash-six-node-rerun-20260907/exp3_jcz_afd4/ep16_dp4tp4/chunk_4096/rps_2/repeat_1/result.json</a:t>
            </a:r>
          </a:p>
          <a:p>
            <a:r>
              <a:t>/Users/wentiange/afd-download/afd_experiment_results_20260907_20260908/dsv4-flash-six-node-rerun-20260907/exp3_jcz_afd4/ep16_dp4tp4/chunk_4096/rps_2/repeat_2/result.json</a:t>
            </a:r>
          </a:p>
          <a:p>
            <a:r>
              <a:t>/Users/wentiange/afd-download/afd_experiment_results_20260907_20260908/dsv4-flash-six-node-rerun-20260907/exp3_jcz_afd4/ep16_dp4tp4/chunk_4096/rps_2/repeat_3/result.json</a:t>
            </a:r>
          </a:p>
          <a:p>
            <a:r>
              <a:t>/Users/wentiange/afd-download/afd_experiment_results_20260907_20260908/dsv4-flash-six-node-rerun-20260907/exp3_jcz_afd4/ep16_dp4tp4/chunk_4096/rps_3/repeat_1/result.json</a:t>
            </a:r>
          </a:p>
          <a:p>
            <a:r>
              <a:t>/Users/wentiange/afd-download/afd_experiment_results_20260907_20260908/dsv4-flash-six-node-rerun-20260907/exp3_jcz_afd4/ep16_dp4tp4/chunk_4096/rps_3/repeat_2/result.json</a:t>
            </a:r>
          </a:p>
          <a:p>
            <a:r>
              <a:t>/Users/wentiange/afd-download/afd_experiment_results_20260907_20260908/dsv4-flash-six-node-rerun-20260907/exp3_jcz_afd4/ep16_dp4tp4/chunk_4096/rps_3/repeat_3/result.json</a:t>
            </a:r>
          </a:p>
          <a:p>
            <a:r>
              <a:t>/Users/wentiange/afd-download/afd_experiment_results_20260907_20260908/dsv4-flash-six-node-rerun-20260907/exp3_jcz_afd4/ep16_dp4tp4/chunk_4096/rps_4/repeat_1/result.json</a:t>
            </a:r>
          </a:p>
          <a:p>
            <a:r>
              <a:t>/Users/wentiange/afd-download/afd_experiment_results_20260907_20260908/dsv4-flash-six-node-rerun-20260907/exp3_jcz_afd4/ep16_dp4tp4/chunk_4096/rps_4/repeat_2/result.json</a:t>
            </a:r>
          </a:p>
          <a:p>
            <a:r>
              <a:t>/Users/wentiange/afd-download/afd_experiment_results_20260907_20260908/dsv4-flash-six-node-rerun-20260907/exp3_jcz_afd4/ep16_dp4tp4/chunk_4096/rps_4/repeat_3/result.json</a:t>
            </a:r>
          </a:p>
          <a:p>
            <a:r>
              <a:t>/Users/wentiange/afd-download/afd_experiment_results_20260907_20260908/dsv4-flash/exp4_ep16_dp8tp2_jcz_afd5_20260907_2348/ep16_dp8tp2/chunk_4096/rps_2/repeat_1/result.json</a:t>
            </a:r>
          </a:p>
          <a:p>
            <a:r>
              <a:t>/Users/wentiange/afd-download/afd_experiment_results_20260907_20260908/dsv4-flash/exp4_ep16_dp8tp2_jcz_afd5_20260907_2348/ep16_dp8tp2/chunk_4096/rps_2/repeat_2/result.json</a:t>
            </a:r>
          </a:p>
          <a:p>
            <a:r>
              <a:t>/Users/wentiange/afd-download/afd_experiment_results_20260907_20260908/dsv4-flash/exp4_ep16_dp8tp2_jcz_afd5_20260907_2348/ep16_dp8tp2/chunk_4096/rps_2/repeat_3/result.json</a:t>
            </a:r>
          </a:p>
          <a:p>
            <a:r>
              <a:t>/Users/wentiange/afd-download/afd_experiment_results_20260907_20260908/dsv4-flash/exp4_ep16_dp8tp2_jcz_afd5_20260907_2348/ep16_dp8tp2/chunk_4096/rps_3/repeat_1/result.json</a:t>
            </a:r>
          </a:p>
          <a:p>
            <a:r>
              <a:t>/Users/wentiange/afd-download/afd_experiment_results_20260907_20260908/dsv4-flash/exp4_ep16_dp8tp2_jcz_afd5_20260907_2348/ep16_dp8tp2/chunk_4096/rps_3/repeat_2/result.json</a:t>
            </a:r>
          </a:p>
          <a:p>
            <a:r>
              <a:t>/Users/wentiange/afd-download/afd_experiment_results_20260907_20260908/dsv4-flash/exp4_ep16_dp8tp2_jcz_afd5_20260907_2348/ep16_dp8tp2/chunk_4096/rps_3/repeat_3/result.json</a:t>
            </a:r>
          </a:p>
          <a:p>
            <a:r>
              <a:t>/Users/wentiange/afd-download/afd_experiment_results_20260907_20260908/dsv4-flash/exp4_ep16_dp8tp2_jcz_afd5_20260907_2348/ep16_dp8tp2/chunk_4096/rps_4/repeat_1/result.json</a:t>
            </a:r>
          </a:p>
          <a:p>
            <a:r>
              <a:t>/Users/wentiange/afd-download/afd_experiment_results_20260907_20260908/dsv4-flash/exp4_ep16_dp8tp2_jcz_afd5_20260907_2348/ep16_dp8tp2/chunk_4096/rps_4/repeat_2/result.json</a:t>
            </a:r>
          </a:p>
          <a:p>
            <a:r>
              <a:t>/Users/wentiange/afd-download/afd_experiment_results_20260907_20260908/dsv4-flash/exp4_ep16_dp8tp2_jcz_afd5_20260907_2348/ep16_dp8tp2/chunk_4096/rps_4/repeat_3/result.json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DP4TP4与DP8TP2保留上一版数据，MBT=8K，属于原2026-09-07/08批次。跨批次配置比较。红色最优值按未四舍五入的均值判断。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/Users/wentiange/afd-download/afd_experiment_results_20260907_20260908/dsv4-flash-six-node-rerun-20260907/exp3_jcz_afd4/ep16_dp4tp4/chunk_8192/rps_2/repeat_1/result.json</a:t>
            </a:r>
          </a:p>
          <a:p>
            <a:r>
              <a:t>/Users/wentiange/afd-download/afd_experiment_results_20260907_20260908/dsv4-flash-six-node-rerun-20260907/exp3_jcz_afd4/ep16_dp4tp4/chunk_8192/rps_2/repeat_2/result.json</a:t>
            </a:r>
          </a:p>
          <a:p>
            <a:r>
              <a:t>/Users/wentiange/afd-download/afd_experiment_results_20260907_20260908/dsv4-flash-six-node-rerun-20260907/exp3_jcz_afd4/ep16_dp4tp4/chunk_8192/rps_2/repeat_3/result.json</a:t>
            </a:r>
          </a:p>
          <a:p>
            <a:r>
              <a:t>/Users/wentiange/afd-download/afd_experiment_results_20260907_20260908/dsv4-flash-six-node-rerun-20260907/exp3_jcz_afd4/ep16_dp4tp4/chunk_8192/rps_3/repeat_1/result.json</a:t>
            </a:r>
          </a:p>
          <a:p>
            <a:r>
              <a:t>/Users/wentiange/afd-download/afd_experiment_results_20260907_20260908/dsv4-flash-six-node-rerun-20260907/exp3_jcz_afd4/ep16_dp4tp4/chunk_8192/rps_3/repeat_2/result.json</a:t>
            </a:r>
          </a:p>
          <a:p>
            <a:r>
              <a:t>/Users/wentiange/afd-download/afd_experiment_results_20260907_20260908/dsv4-flash-six-node-rerun-20260907/exp3_jcz_afd4/ep16_dp4tp4/chunk_8192/rps_3/repeat_3/result.json</a:t>
            </a:r>
          </a:p>
          <a:p>
            <a:r>
              <a:t>/Users/wentiange/afd-download/afd_experiment_results_20260907_20260908/dsv4-flash-six-node-rerun-20260907/exp3_jcz_afd4/ep16_dp4tp4/chunk_8192/rps_4/repeat_1/result.json</a:t>
            </a:r>
          </a:p>
          <a:p>
            <a:r>
              <a:t>/Users/wentiange/afd-download/afd_experiment_results_20260907_20260908/dsv4-flash-six-node-rerun-20260907/exp3_jcz_afd4/ep16_dp4tp4/chunk_8192/rps_4/repeat_2/result.json</a:t>
            </a:r>
          </a:p>
          <a:p>
            <a:r>
              <a:t>/Users/wentiange/afd-download/afd_experiment_results_20260907_20260908/dsv4-flash-six-node-rerun-20260907/exp3_jcz_afd4/ep16_dp4tp4/chunk_8192/rps_4/repeat_3/result.json</a:t>
            </a:r>
          </a:p>
          <a:p>
            <a:r>
              <a:t>/Users/wentiange/afd-download/afd_experiment_results_20260907_20260908/dsv4-flash/exp4_ep16_dp8tp2_jcz_afd5_20260907_2348/ep16_dp8tp2/chunk_8192/rps_2/repeat_1/result.json</a:t>
            </a:r>
          </a:p>
          <a:p>
            <a:r>
              <a:t>/Users/wentiange/afd-download/afd_experiment_results_20260907_20260908/dsv4-flash/exp4_ep16_dp8tp2_jcz_afd5_20260907_2348/ep16_dp8tp2/chunk_8192/rps_2/repeat_2/result.json</a:t>
            </a:r>
          </a:p>
          <a:p>
            <a:r>
              <a:t>/Users/wentiange/afd-download/afd_experiment_results_20260907_20260908/dsv4-flash/exp4_ep16_dp8tp2_jcz_afd5_20260907_2348/ep16_dp8tp2/chunk_8192/rps_2/repeat_3/result.json</a:t>
            </a:r>
          </a:p>
          <a:p>
            <a:r>
              <a:t>/Users/wentiange/afd-download/afd_experiment_results_20260907_20260908/dsv4-flash/exp4_ep16_dp8tp2_jcz_afd5_20260907_2348/ep16_dp8tp2/chunk_8192/rps_3/repeat_1/result.json</a:t>
            </a:r>
          </a:p>
          <a:p>
            <a:r>
              <a:t>/Users/wentiange/afd-download/afd_experiment_results_20260907_20260908/dsv4-flash/exp4_ep16_dp8tp2_jcz_afd5_20260907_2348/ep16_dp8tp2/chunk_8192/rps_3/repeat_2/result.json</a:t>
            </a:r>
          </a:p>
          <a:p>
            <a:r>
              <a:t>/Users/wentiange/afd-download/afd_experiment_results_20260907_20260908/dsv4-flash/exp4_ep16_dp8tp2_jcz_afd5_20260907_2348/ep16_dp8tp2/chunk_8192/rps_3/repeat_3/result.json</a:t>
            </a:r>
          </a:p>
          <a:p>
            <a:r>
              <a:t>/Users/wentiange/afd-download/afd_experiment_results_20260907_20260908/dsv4-flash/exp4_ep16_dp8tp2_jcz_afd5_20260907_2348/ep16_dp8tp2/chunk_8192/rps_4/repeat_1/result.json</a:t>
            </a:r>
          </a:p>
          <a:p>
            <a:r>
              <a:t>/Users/wentiange/afd-download/afd_experiment_results_20260907_20260908/dsv4-flash/exp4_ep16_dp8tp2_jcz_afd5_20260907_2348/ep16_dp8tp2/chunk_8192/rps_4/repeat_2/result.json</a:t>
            </a:r>
          </a:p>
          <a:p>
            <a:r>
              <a:t>/Users/wentiange/afd-download/afd_experiment_results_20260907_20260908/dsv4-flash/exp4_ep16_dp8tp2_jcz_afd5_20260907_2348/ep16_dp8tp2/chunk_8192/rps_4/repeat_3/result.json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DP4TP4与DP8TP2保留上一版数据，MBT=16K，属于原2026-09-07/08批次。跨批次配置比较。红色最优值按未四舍五入的均值判断。</a:t>
            </a:r>
          </a:p>
          <a:p>
            <a:r>
              <a:t>AFD来源：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EP16来源：</a:t>
            </a:r>
          </a:p>
          <a:p>
            <a:r>
              <a:t>/Users/wentiange/afd-download/afd_experiment_results_20260907_20260908/dsv4-flash-six-node-rerun-20260907/exp3_jcz_afd4/ep16_dp4tp4/chunk_16384/rps_2/repeat_1/result.json</a:t>
            </a:r>
          </a:p>
          <a:p>
            <a:r>
              <a:t>/Users/wentiange/afd-download/afd_experiment_results_20260907_20260908/dsv4-flash-six-node-rerun-20260907/exp3_jcz_afd4/ep16_dp4tp4/chunk_16384/rps_2/repeat_2/result.json</a:t>
            </a:r>
          </a:p>
          <a:p>
            <a:r>
              <a:t>/Users/wentiange/afd-download/afd_experiment_results_20260907_20260908/dsv4-flash-six-node-rerun-20260907/exp3_jcz_afd4/ep16_dp4tp4/chunk_16384/rps_2/repeat_3/result.json</a:t>
            </a:r>
          </a:p>
          <a:p>
            <a:r>
              <a:t>/Users/wentiange/afd-download/afd_experiment_results_20260907_20260908/dsv4-flash-six-node-rerun-20260907/exp3_jcz_afd4/ep16_dp4tp4/chunk_16384/rps_3/repeat_1/result.json</a:t>
            </a:r>
          </a:p>
          <a:p>
            <a:r>
              <a:t>/Users/wentiange/afd-download/afd_experiment_results_20260907_20260908/dsv4-flash-six-node-rerun-20260907/exp3_jcz_afd4/ep16_dp4tp4/chunk_16384/rps_3/repeat_2/result.json</a:t>
            </a:r>
          </a:p>
          <a:p>
            <a:r>
              <a:t>/Users/wentiange/afd-download/afd_experiment_results_20260907_20260908/dsv4-flash-six-node-rerun-20260907/exp3_jcz_afd4/ep16_dp4tp4/chunk_16384/rps_3/repeat_3/result.json</a:t>
            </a:r>
          </a:p>
          <a:p>
            <a:r>
              <a:t>/Users/wentiange/afd-download/afd_experiment_results_20260907_20260908/dsv4-flash-six-node-rerun-20260907/exp3_jcz_afd4/ep16_dp4tp4/chunk_16384/rps_4/repeat_1/result.json</a:t>
            </a:r>
          </a:p>
          <a:p>
            <a:r>
              <a:t>/Users/wentiange/afd-download/afd_experiment_results_20260907_20260908/dsv4-flash-six-node-rerun-20260907/exp3_jcz_afd4/ep16_dp4tp4/chunk_16384/rps_4/repeat_2/result.json</a:t>
            </a:r>
          </a:p>
          <a:p>
            <a:r>
              <a:t>/Users/wentiange/afd-download/afd_experiment_results_20260907_20260908/dsv4-flash-six-node-rerun-20260907/exp3_jcz_afd4/ep16_dp4tp4/chunk_16384/rps_4/repeat_3/result.json</a:t>
            </a:r>
          </a:p>
          <a:p>
            <a:r>
              <a:t>/Users/wentiange/afd-download/afd_experiment_results_20260907_20260908/dsv4-flash/exp4_ep16_dp8tp2_jcz_afd5_20260907_2348/ep16_dp8tp2/chunk_16384/rps_2/repeat_1/result.json</a:t>
            </a:r>
          </a:p>
          <a:p>
            <a:r>
              <a:t>/Users/wentiange/afd-download/afd_experiment_results_20260907_20260908/dsv4-flash/exp4_ep16_dp8tp2_jcz_afd5_20260907_2348/ep16_dp8tp2/chunk_16384/rps_2/repeat_2/result.json</a:t>
            </a:r>
          </a:p>
          <a:p>
            <a:r>
              <a:t>/Users/wentiange/afd-download/afd_experiment_results_20260907_20260908/dsv4-flash/exp4_ep16_dp8tp2_jcz_afd5_20260907_2348/ep16_dp8tp2/chunk_16384/rps_2/repeat_3/result.json</a:t>
            </a:r>
          </a:p>
          <a:p>
            <a:r>
              <a:t>/Users/wentiange/afd-download/afd_experiment_results_20260907_20260908/dsv4-flash/exp4_ep16_dp8tp2_jcz_afd5_20260907_2348/ep16_dp8tp2/chunk_16384/rps_3/repeat_1/result.json</a:t>
            </a:r>
          </a:p>
          <a:p>
            <a:r>
              <a:t>/Users/wentiange/afd-download/afd_experiment_results_20260907_20260908/dsv4-flash/exp4_ep16_dp8tp2_jcz_afd5_20260907_2348/ep16_dp8tp2/chunk_16384/rps_3/repeat_2/result.json</a:t>
            </a:r>
          </a:p>
          <a:p>
            <a:r>
              <a:t>/Users/wentiange/afd-download/afd_experiment_results_20260907_20260908/dsv4-flash/exp4_ep16_dp8tp2_jcz_afd5_20260907_2348/ep16_dp8tp2/chunk_16384/rps_3/repeat_3/result.json</a:t>
            </a:r>
          </a:p>
          <a:p>
            <a:r>
              <a:t>/Users/wentiange/afd-download/afd_experiment_results_20260907_20260908/dsv4-flash/exp4_ep16_dp8tp2_jcz_afd5_20260907_2348/ep16_dp8tp2/chunk_16384/rps_4/repeat_1/result.json</a:t>
            </a:r>
          </a:p>
          <a:p>
            <a:r>
              <a:t>/Users/wentiange/afd-download/afd_experiment_results_20260907_20260908/dsv4-flash/exp4_ep16_dp8tp2_jcz_afd5_20260907_2348/ep16_dp8tp2/chunk_16384/rps_4/repeat_2/result.json</a:t>
            </a:r>
          </a:p>
          <a:p>
            <a:r>
              <a:t>/Users/wentiange/afd-download/afd_experiment_results_20260907_20260908/dsv4-flash/exp4_ep16_dp8tp2_jcz_afd5_20260907_2348/ep16_dp8tp2/chunk_16384/rps_4/repeat_3/result.json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源：tp2-dp-64k-throughput.png。数据源：/Users/wentiange/afd-download/dsv4-flash-20260910-rps325to5/afd_dp4tp2/chunk_65536；/Users/wentiange/afd-download/dsv4-flash-20260914/afd_dp{6,8,10,12}tp2/chunk_65536。完整来源路径和计算值见同任务目录tp2-dp-64k-data.json。DP4为单机、旧插件、FFN HCCL_BUFFSIZE=4096；DP6–12为双机、FFN HCCL_BUFFSIZE=5000。跨配置历史比较仅作趋势参考。图中误差线为重复间样本标准差。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4096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4K","rates":{"2":{"at10":99.76128472222221,"scale":[100,100,100,100,100,100,100,100,100,100,99.76128472222221,91.84027777777779],"percentiles":{"25":1.1112057277932763,"50":1.816377775122722,"90":4.633404955267906,"95":6.008528912129502,"99":8.301711083514002},"failed":0},"3":{"at10":96.24565972222221,"scale":[100,100,100,100,100,100,100,100,100,99.71788194444444,96.24565972222221,73.95833333333333],"percentiles":{"25":1.837532591695587,"50":3.1865838735053935,"90":7.61622683207194,"95":9.197015212538341,"99":12.909390794734165},"failed":0},"4":{"at10":9.1796875,"scale":[99.63107638888889,98.00347222222223,93.48958333333333,85.30815972222221,76.28038194444444,65.42968750000001,49.69618055555556,32.443576388888886,21.571180555555554,15.668402777777779,9.1796875,3.103298611111111],"percentiles":{"25":22.171944693972666,"50":30.074087555830676,"90":47.33734494075179,"95":51.25458312562356,"99":56.949655518122036},"failed":0}}},{"name":"EP16 DP8TP2 4K","rates":{"2":{"at10":98.74131944444444,"scale":[100,100,100,100,100,100,100,100,100,99.95659722222223,98.74131944444444,89.21440972222221],"percentiles":{"25":1.230010274099186,"50":1.9753090164934595,"90":5.124845764910181,"95":6.483921441249549,"99":10.237622215350477},"failed":0},"3":{"at10":97.69965277777779,"scale":[100,100,100,100,100,100,100,100,100,99.97829861111111,97.69965277777779,82.13975694444444],"percentiles":{"25":1.5964741279215862,"50":2.531782894705733,"90":6.214728743303567,"95":8.024309556543207,"99":11.162746429940068},"failed":0},"4":{"at10":94.7265625,"scale":[100,100,100,100,100,100,100,100,99.97829861111111,99.50086805555556,94.7265625,69.37934027777777],"percentiles":{"25":2.167761188466102,"50":3.488759712781757,"90":8.144284384790808,"95":10.185274205170572,"99":12.986161493246144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8192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8K","rates":{"2":{"at10":99.71788194444444,"scale":[100,100,100,100,100,100,100,100,100,99.97829861111111,99.71788194444444,87.84722222222221],"percentiles":{"25":1.7907607185964782,"50":2.5724083396295705,"90":5.2942909728735685,"95":6.622404955327511,"99":8.891578614215064},"failed":0},"3":{"at10":98.04687499999999,"scale":[100,100,100,100,100,100,100,100,100,99.97829861111111,98.04687499999999,71.22395833333333],"percentiles":{"25":2.57772664912045,"50":3.653233910600344,"90":7.249252452204625,"95":8.577872270718217,"99":11.05817665799211},"failed":0},"4":{"at10":62.521701388888886,"scale":[100,100,100,100,100,100,100,100,98.56770833333333,89.73524305555556,62.521701388888886,17.1875],"percentiles":{"25":5.95976707773904,"50":8.623764546588063,"90":15.062554584195217,"95":16.84744916856289,"99":20.385753283773862},"failed":0}}},{"name":"EP16 DP8TP2 8K","rates":{"2":{"at10":97.39583333333333,"scale":[100,100,100,100,100,100,100,100,100,99.89149305555556,97.39583333333333,77.03993055555556],"percentiles":{"25":2.2936930718521276,"50":3.252773870403568,"90":6.663616052207847,"95":8.250655280891806,"99":11.975677930718913},"failed":0},"3":{"at10":94.83506944444444,"scale":[100,100,100,100,100,100,100,100,100,99.43576388888889,94.83506944444444,63.020833333333336],"percentiles":{"25":3.1169630073321364,"50":4.207905201551815,"90":8.354183196400603,"95":10.071615917763362,"99":13.449840901745501},"failed":0},"4":{"at10":89.56163194444444,"scale":[100,100,100,100,100,100,100,100,99.95659722222221,98.52430555555556,89.56163194444444,48.00347222222222],"percentiles":{"25":3.733680306157718,"50":5.152407061619063,"90":10.120132042095065,"95":12.025209024005258,"99":15.901029686847105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16384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16K","rates":{"2":{"at10":96.74479166666667,"scale":[100,100,100,100,100,100,100,100,100,99.78298611111111,96.74479166666667,56.705729166666664],"percentiles":{"25":3.551767404501637,"50":4.6893975387016935,"90":7.840256173784534,"95":9.162166531818608,"99":12.012135140970361},"failed":0},"3":{"at10":91.6015625,"scale":[100,100,100,100,100,100,100,100,99.95659722222223,99.4357638888889,91.6015625,32.400173611111114],"percentiles":{"25":4.689332753730317,"50":5.8233625671515865,"90":9.599189821009835,"95":11.047861258809766,"99":14.082038091309373},"failed":0},"4":{"at10":66.29774305555556,"scale":[100,100,100,100,100,100,100,99.95659722222221,99.67447916666667,94.68315972222223,66.29774305555556,12.999131944444445],"percentiles":{"25":6.088788283057511,"50":8.401742336029807,"90":13.611160033072034,"95":15.118597842752934,"99":18.246145718544735},"failed":0}}},{"name":"EP16 DP8TP2 16K","rates":{"2":{"at10":84.30989583333333,"scale":[100,100,100,100,100,100,100,99.97829861111111,99.84809027777777,97.4392361111111,84.30989583333333,19.227430555555557],"percentiles":{"25":5.426110147265717,"50":7.06239201206093,"90":11.337681417353451,"95":13.313225952986008,"99":16.565372069987166},"failed":0},"3":{"at10":63.975694444444436,"scale":[100,100,100,100,100,99.95659722222221,99.89149305555556,99.82638888888889,98.93663194444444,92.578125,63.975694444444436,3.1684027777777777],"percentiles":{"25":7.3458586429866655,"50":8.873912262419859,"90":14.12471725186333,"95":16.088032054171588,"99":19.753332204123343},"failed":0},"4":{"at10":59.59201388888889,"scale":[100,100,100,100,100,100,100,99.91319444444444,98.69791666666667,90.88541666666666,59.59201388888889,1.0416666666666667],"percentiles":{"25":7.481995730350415,"50":9.211385090835392,"90":14.688100746522347,"95":16.659023971762508,"99":20.541766609779263},"failed":0}}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  <a:p>
            <a:r>
              <a:t>补充DP8TP2来源：/Users/wentiange/afd-download/dsv4-flash-20260908-rps234/ep16_dp8tp2/chunk_8192/rps_{3,4}/repeat_{1,2,3}/timing_audit.json，以及对应before/after原始metrics。各轮取sum/count后求三轮均值，增量用未舍入均值相减。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>
            <a:r>
              <a:t>/Users/wentiange/afd-download/dsv4-flash-20260909-afd8k-rps234/afd_dp4tp2/chunk_8192/rps_2/repeat_1/result.json</a:t>
            </a:r>
          </a:p>
          <a:p>
            <a:r>
              <a:t>/Users/wentiange/afd-download/dsv4-flash-20260909-afd8k-rps234/afd_dp4tp2/chunk_8192/rps_3/repeat_1/result.json</a:t>
            </a:r>
          </a:p>
          <a:p>
            <a:r>
              <a:t>/Users/wentiange/afd-download/dsv4-flash-20260909-afd8k-rps234/afd_dp4tp2/chunk_8192/rps_4/repeat_1/result.json</a:t>
            </a:r>
          </a:p>
          <a:p>
            <a:r>
              <a:t>/Users/wentiange/afd-download/dsv4-flash-20260909-afd16k32k-rps234/afd_dp4tp2/chunk_16384/rps_2/repeat_1/result.json</a:t>
            </a:r>
          </a:p>
          <a:p>
            <a:r>
              <a:t>/Users/wentiange/afd-download/dsv4-flash-20260909-afd16k32k-rps234/afd_dp4tp2/chunk_16384/rps_3/repeat_1/result.json</a:t>
            </a:r>
          </a:p>
          <a:p>
            <a:r>
              <a:t>/Users/wentiange/afd-download/dsv4-flash-20260909-afd16k32k-rps234/afd_dp4tp2/chunk_16384/rps_4/repeat_1/result.json</a:t>
            </a:r>
          </a:p>
          <a:p>
            <a:r>
              <a:t>/Users/wentiange/afd-download/dsv4-flash-20260909-afd16k32k-rps234/afd_dp4tp2/chunk_32768/rps_2/repeat_1/result.json</a:t>
            </a:r>
          </a:p>
          <a:p>
            <a:r>
              <a:t>/Users/wentiange/afd-download/dsv4-flash-20260909-afd16k32k-rps234/afd_dp4tp2/chunk_32768/rps_3/repeat_1/result.json</a:t>
            </a:r>
          </a:p>
          <a:p>
            <a:r>
              <a:t>/Users/wentiange/afd-download/dsv4-flash-20260909-afd16k32k-rps234/afd_dp4tp2/chunk_32768/rps_4/repeat_1/result.json</a:t>
            </a:r>
          </a:p>
          <a:p>
            <a:r>
              <a:t>/Users/wentiange/afd-download/dsv4-flash-20260908-rps234/afd_dp4tp2/chunk_65536/rps_2/repeat_1/result.json</a:t>
            </a:r>
          </a:p>
          <a:p>
            <a:r>
              <a:t>/Users/wentiange/afd-download/dsv4-flash-20260908-rps234/afd_dp4tp2/chunk_65536/rps_2/repeat_2/result.json</a:t>
            </a:r>
          </a:p>
          <a:p>
            <a:r>
              <a:t>/Users/wentiange/afd-download/dsv4-flash-20260908-rps234/afd_dp4tp2/chunk_65536/rps_2/repeat_3/result.json</a:t>
            </a:r>
          </a:p>
          <a:p>
            <a:r>
              <a:t>/Users/wentiange/afd-download/dsv4-flash-20260908-rps234/afd_dp4tp2/chunk_65536/rps_3/repeat_1/result.json</a:t>
            </a:r>
          </a:p>
          <a:p>
            <a:r>
              <a:t>/Users/wentiange/afd-download/dsv4-flash-20260908-rps234/afd_dp4tp2/chunk_65536/rps_3/repeat_2/result.json</a:t>
            </a:r>
          </a:p>
          <a:p>
            <a:r>
              <a:t>/Users/wentiange/afd-download/dsv4-flash-20260908-rps234/afd_dp4tp2/chunk_65536/rps_3/repeat_3/result.json</a:t>
            </a:r>
          </a:p>
          <a:p>
            <a:r>
              <a:t>/Users/wentiange/afd-download/dsv4-flash-20260908-rps234/afd_dp4tp2/chunk_65536/rps_4/repeat_1/result.json</a:t>
            </a:r>
          </a:p>
          <a:p>
            <a:r>
              <a:t>/Users/wentiange/afd-download/dsv4-flash-20260908-rps234/afd_dp4tp2/chunk_65536/rps_4/repeat_2/result.json</a:t>
            </a:r>
          </a:p>
          <a:p>
            <a:r>
              <a:t>/Users/wentiange/afd-download/dsv4-flash-20260908-rps234/afd_dp4tp2/chunk_65536/rps_4/repeat_3/result.json</a:t>
            </a:r>
          </a:p>
          <a:p>
            <a:r>
              <a:t>/Users/wentiange/afd-download/dsv4-flash-20260908-rps234/ep16_dp4tp4/chunk_8192/rps_2/repeat_1/result.json</a:t>
            </a:r>
          </a:p>
          <a:p>
            <a:r>
              <a:t>/Users/wentiange/afd-download/dsv4-flash-20260908-rps234/ep16_dp4tp4/chunk_8192/rps_2/repeat_2/result.json</a:t>
            </a:r>
          </a:p>
          <a:p>
            <a:r>
              <a:t>/Users/wentiange/afd-download/dsv4-flash-20260908-rps234/ep16_dp4tp4/chunk_8192/rps_2/repeat_3/result.json</a:t>
            </a:r>
          </a:p>
          <a:p>
            <a:r>
              <a:t>/Users/wentiange/afd-download/dsv4-flash-20260908-rps234/ep16_dp4tp4/chunk_8192/rps_3/repeat_1/result.json</a:t>
            </a:r>
          </a:p>
          <a:p>
            <a:r>
              <a:t>/Users/wentiange/afd-download/dsv4-flash-20260908-rps234/ep16_dp4tp4/chunk_8192/rps_3/repeat_2/result.json</a:t>
            </a:r>
          </a:p>
          <a:p>
            <a:r>
              <a:t>/Users/wentiange/afd-download/dsv4-flash-20260908-rps234/ep16_dp4tp4/chunk_8192/rps_3/repeat_3/result.json</a:t>
            </a:r>
          </a:p>
          <a:p>
            <a:r>
              <a:t>/Users/wentiange/afd-download/dsv4-flash-20260908-rps234/ep16_dp4tp4/chunk_8192/rps_4/repeat_1/result.json</a:t>
            </a:r>
          </a:p>
          <a:p>
            <a:r>
              <a:t>/Users/wentiange/afd-download/dsv4-flash-20260908-rps234/ep16_dp4tp4/chunk_8192/rps_4/repeat_2/result.json</a:t>
            </a:r>
          </a:p>
          <a:p>
            <a:r>
              <a:t>/Users/wentiange/afd-download/dsv4-flash-20260908-rps234/ep16_dp4tp4/chunk_8192/rps_4/repeat_3/result.json</a:t>
            </a:r>
          </a:p>
          <a:p>
            <a:r>
              <a:t>/Users/wentiange/afd-download/dsv4-flash-20260908-rps234/ep16_dp4tp4/chunk_16384/rps_2/repeat_1/result.json</a:t>
            </a:r>
          </a:p>
          <a:p>
            <a:r>
              <a:t>/Users/wentiange/afd-download/dsv4-flash-20260908-rps234/ep16_dp4tp4/chunk_16384/rps_2/repeat_2/result.json</a:t>
            </a:r>
          </a:p>
          <a:p>
            <a:r>
              <a:t>/Users/wentiange/afd-download/dsv4-flash-20260908-rps234/ep16_dp4tp4/chunk_16384/rps_2/repeat_3/result.json</a:t>
            </a:r>
          </a:p>
          <a:p>
            <a:r>
              <a:t>/Users/wentiange/afd-download/dsv4-flash-20260908-rps234/ep16_dp4tp4/chunk_16384/rps_3/repeat_1/result.json</a:t>
            </a:r>
          </a:p>
          <a:p>
            <a:r>
              <a:t>/Users/wentiange/afd-download/dsv4-flash-20260908-rps234/ep16_dp4tp4/chunk_16384/rps_3/repeat_2/result.json</a:t>
            </a:r>
          </a:p>
          <a:p>
            <a:r>
              <a:t>/Users/wentiange/afd-download/dsv4-flash-20260908-rps234/ep16_dp4tp4/chunk_16384/rps_3/repeat_3/result.json</a:t>
            </a:r>
          </a:p>
          <a:p>
            <a:r>
              <a:t>/Users/wentiange/afd-download/dsv4-flash-20260908-rps234/ep16_dp4tp4/chunk_16384/rps_4/repeat_1/result.json</a:t>
            </a:r>
          </a:p>
          <a:p>
            <a:r>
              <a:t>/Users/wentiange/afd-download/dsv4-flash-20260908-rps234/ep16_dp4tp4/chunk_16384/rps_4/repeat_2/result.json</a:t>
            </a:r>
          </a:p>
          <a:p>
            <a:r>
              <a:t>/Users/wentiange/afd-download/dsv4-flash-20260908-rps234/ep16_dp4tp4/chunk_16384/rps_4/repeat_3/result.json</a:t>
            </a:r>
          </a:p>
          <a:p>
            <a:r>
              <a:t>/Users/wentiange/afd-download/dsv4-flash-20260908-rps234/ep16_dp8tp2/chunk_8192/rps_2/repeat_1/result.json</a:t>
            </a:r>
          </a:p>
          <a:p>
            <a:r>
              <a:t>/Users/wentiange/afd-download/dsv4-flash-20260908-rps234/ep16_dp8tp2/chunk_8192/rps_2/repeat_2/result.json</a:t>
            </a:r>
          </a:p>
          <a:p>
            <a:r>
              <a:t>/Users/wentiange/afd-download/dsv4-flash-20260908-rps234/ep16_dp8tp2/chunk_8192/rps_2/repeat_3/result.json</a:t>
            </a:r>
          </a:p>
          <a:p>
            <a:r>
              <a:t>/Users/wentiange/afd-download/dsv4-flash-20260908-rps234/ep16_dp8tp2/chunk_8192/rps_3/repeat_1/result.json</a:t>
            </a:r>
          </a:p>
          <a:p>
            <a:r>
              <a:t>/Users/wentiange/afd-download/dsv4-flash-20260908-rps234/ep16_dp8tp2/chunk_8192/rps_3/repeat_2/result.json</a:t>
            </a:r>
          </a:p>
          <a:p>
            <a:r>
              <a:t>/Users/wentiange/afd-download/dsv4-flash-20260908-rps234/ep16_dp8tp2/chunk_8192/rps_3/repeat_3/result.json</a:t>
            </a:r>
          </a:p>
          <a:p>
            <a:r>
              <a:t>/Users/wentiange/afd-download/dsv4-flash-20260908-rps234/ep16_dp8tp2/chunk_8192/rps_4/repeat_1/result.json</a:t>
            </a:r>
          </a:p>
          <a:p>
            <a:r>
              <a:t>/Users/wentiange/afd-download/dsv4-flash-20260908-rps234/ep16_dp8tp2/chunk_8192/rps_4/repeat_2/result.json</a:t>
            </a:r>
          </a:p>
          <a:p>
            <a:r>
              <a:t>/Users/wentiange/afd-download/dsv4-flash-20260908-rps234/ep16_dp8tp2/chunk_8192/rps_4/repeat_3/result.json</a:t>
            </a:r>
          </a:p>
          <a:p>
            <a:r>
              <a:t>/Users/wentiange/afd-download/dsv4-flash-20260908-rps234/ep16_dp8tp2/chunk_16384/rps_2/repeat_1/result.json</a:t>
            </a:r>
          </a:p>
          <a:p>
            <a:r>
              <a:t>/Users/wentiange/afd-download/dsv4-flash-20260908-rps234/ep16_dp8tp2/chunk_16384/rps_2/repeat_2/result.json</a:t>
            </a:r>
          </a:p>
          <a:p>
            <a:r>
              <a:t>/Users/wentiange/afd-download/dsv4-flash-20260908-rps234/ep16_dp8tp2/chunk_16384/rps_2/repeat_3/result.json</a:t>
            </a:r>
          </a:p>
          <a:p>
            <a:r>
              <a:t>/Users/wentiange/afd-download/dsv4-flash-20260908-rps234/ep16_dp8tp2/chunk_16384/rps_3/repeat_1/result.json</a:t>
            </a:r>
          </a:p>
          <a:p>
            <a:r>
              <a:t>/Users/wentiange/afd-download/dsv4-flash-20260908-rps234/ep16_dp8tp2/chunk_16384/rps_3/repeat_2/result.json</a:t>
            </a:r>
          </a:p>
          <a:p>
            <a:r>
              <a:t>/Users/wentiange/afd-download/dsv4-flash-20260908-rps234/ep16_dp8tp2/chunk_16384/rps_3/repeat_3/result.json</a:t>
            </a:r>
          </a:p>
          <a:p>
            <a:r>
              <a:t>/Users/wentiange/afd-download/dsv4-flash-20260908-rps234/ep16_dp8tp2/chunk_16384/rps_4/repeat_1/result.json</a:t>
            </a:r>
          </a:p>
          <a:p>
            <a:r>
              <a:t>/Users/wentiange/afd-download/dsv4-flash-20260908-rps234/ep16_dp8tp2/chunk_16384/rps_4/repeat_2/result.json</a:t>
            </a:r>
          </a:p>
          <a:p>
            <a:r>
              <a:t>/Users/wentiange/afd-download/dsv4-flash-20260908-rps234/ep16_dp8tp2/chunk_16384/rps_4/repeat_3/result.json</a:t>
            </a:r>
          </a:p>
          <a:p>
            <a:r>
              <a:t>/Users/wentiange/afd-download/dsv4-flash-20260908-rps234/afd_dp4tp2/chunk_65536/rps_3/repeat_1/metrics/attention_before.prom</a:t>
            </a:r>
          </a:p>
          <a:p>
            <a:r>
              <a:t>/Users/wentiange/afd-download/dsv4-flash-20260908-rps234/afd_dp4tp2/chunk_65536/rps_3/repeat_1/metrics/attention_after.prom</a:t>
            </a:r>
          </a:p>
          <a:p>
            <a:r>
              <a:t>/Users/wentiange/afd-download/dsv4-flash-20260908-rps234/afd_dp4tp2/chunk_65536/rps_3/repeat_2/metrics/attention_before.prom</a:t>
            </a:r>
          </a:p>
          <a:p>
            <a:r>
              <a:t>/Users/wentiange/afd-download/dsv4-flash-20260908-rps234/afd_dp4tp2/chunk_65536/rps_3/repeat_2/metrics/attention_after.prom</a:t>
            </a:r>
          </a:p>
          <a:p>
            <a:r>
              <a:t>/Users/wentiange/afd-download/dsv4-flash-20260908-rps234/afd_dp4tp2/chunk_65536/rps_3/repeat_3/metrics/attention_before.prom</a:t>
            </a:r>
          </a:p>
          <a:p>
            <a:r>
              <a:t>/Users/wentiange/afd-download/dsv4-flash-20260908-rps234/afd_dp4tp2/chunk_65536/rps_3/repeat_3/metrics/attention_after.prom</a:t>
            </a:r>
          </a:p>
          <a:p>
            <a:r>
              <a:t>/Users/wentiange/afd-download/dsv4-flash-20260908-rps234/afd_dp4tp2/chunk_65536/rps_4/repeat_1/metrics/attention_before.prom</a:t>
            </a:r>
          </a:p>
          <a:p>
            <a:r>
              <a:t>/Users/wentiange/afd-download/dsv4-flash-20260908-rps234/afd_dp4tp2/chunk_65536/rps_4/repeat_1/metrics/attention_after.prom</a:t>
            </a:r>
          </a:p>
          <a:p>
            <a:r>
              <a:t>/Users/wentiange/afd-download/dsv4-flash-20260908-rps234/afd_dp4tp2/chunk_65536/rps_4/repeat_2/metrics/attention_before.prom</a:t>
            </a:r>
          </a:p>
          <a:p>
            <a:r>
              <a:t>/Users/wentiange/afd-download/dsv4-flash-20260908-rps234/afd_dp4tp2/chunk_65536/rps_4/repeat_2/metrics/attention_after.prom</a:t>
            </a:r>
          </a:p>
          <a:p>
            <a:r>
              <a:t>/Users/wentiange/afd-download/dsv4-flash-20260908-rps234/afd_dp4tp2/chunk_65536/rps_4/repeat_3/metrics/attention_before.prom</a:t>
            </a:r>
          </a:p>
          <a:p>
            <a:r>
              <a:t>/Users/wentiange/afd-download/dsv4-flash-20260908-rps234/afd_dp4tp2/chunk_65536/rps_4/repeat_3/metrics/attention_after.prom</a:t>
            </a:r>
          </a:p>
          <a:p>
            <a:r>
              <a:t>/Users/wentiange/afd-download/dsv4-flash-20260908-afd-length-analysis/summary.csv</a:t>
            </a:r>
          </a:p>
          <a:p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下一步围绕 FFN 的同步、入图和通信控核开销开展优化。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"2.0", "mode": "split", "runs": "3", "layer_gmm": "ON", "ffn_graph": "FULL", "memory": "0.7", "evidence": "原始逐请求重算", "qps": "1.988624739687901", "qps_std": "0.00010306562999969647", "qps_n": "3", "mean": "1.2823346936141509", "mean_std": "0.010170411538325349", "mean_n": "3", "p25": "0.451674560084939", "p25_std": "0.0025299902222388087", "p25_n": "3", "p50": "0.8135426109656692", "p50_std": "0.016924288802781743", "p50_n": "3", "p75": "1.6530190932874878", "p75_std": "0.013335260847311193", "p75_n": "3", "p90": "2.86460497820129", "p90_std": "0.023996750081315254", "p90_n": "3", "p95": "3.751375253777951", "p95_std": "0.039791094179029214", "p95_n": "3", "p99": "6.084228590286029", "p99_std": "0.12835741093342634", "p99_n": "3", "p99.9": "8.602214774380686", "p99.9_std": "0.06199782201159109", "p99.9_n": "3", "success": "4608", "failed": "0"}</a:t>
            </a:r>
          </a:p>
          <a:p>
            <a:r>
              <a:t>4×EP4 8K: {"family": "AFD / 大EP 主矩阵", "topology": "4×EP4 DP1TP4", "mbt": "8192", "rps": "2.0", "mode": "full-model", "runs": "3", "layer_gmm": "N/A", "ffn_graph": "EAGER", "memory": "0.9", "evidence": "原始逐请求重算", "qps": "1.9884223146600692", "qps_std": "0.002965984074370013", "qps_n": "3", "mean": "1.2629997613698327", "mean_std": "0.014201612139130775", "mean_n": "3", "p25": "0.3731816156456868", "p25_std": "0.002918794664205914", "p25_n": "3", "p50": "0.8247481494521102", "p50_std": "0.04399655531307145", "p50_n": "3", "p75": "1.7776400504323344", "p75_std": "0.013103521381507402", "p75_n": "3", "p90": "2.927965944943329", "p90_std": "0.012567696183486809", "p90_n": "3", "p95": "3.7385222002243004", "p95_std": "0.06102516355819375", "p95_n": "3", "p99": "5.949482865817862", "p99_std": "0.09125846119611936", "p99_n": "3", "p99.9": "6.467180530379209", "p99.9_std": "0.016199015516566002", "p99.9_n": "3", "success": "4608", "failed": "0"}</a:t>
            </a:r>
          </a:p>
          <a:p>
            <a:r>
              <a:t>2×EP8 8K: {"family": "AFD / 大EP 主矩阵", "topology": "2×EP8 DP2TP4", "mbt": "8192", "rps": "2.0", "mode": "full-model", "runs": "3", "layer_gmm": "N/A", "ffn_graph": "EAGER", "memory": "0.9", "evidence": "原始逐请求重算", "qps": "1.9777657806981135", "qps_std": "0.0021142499142137706", "qps_n": "3", "mean": "2.2584500201058595", "mean_std": "0.06589096274235935", "mean_n": "3", "p25": "1.0758659859808783", "p25_std": "0.044548657389500944", "p25_n": "3", "p50": "1.8688688091933727", "p50_std": "0.06785944075570095", "p50_n": "3", "p75": "3.0061512406294546", "p75_std": "0.08023731448742037", "p75_n": "3", "p90": "4.464118697370092", "p90_std": "0.14184141127706154", "p90_n": "3", "p95": "5.6451589603287475", "p95_std": "0.1268644779011593", "p95_n": "3", "p99": "7.696963504112019", "p99_std": "0.16996276508995115", "p99_n": "3", "p99.9": "9.553214065687085", "p99.9_std": "0.36999942007334025", "p99.9_n": "3", "success": "4608", "failed": "0"}</a:t>
            </a:r>
          </a:p>
          <a:p>
            <a:r>
              <a:t>EP16 8K: {"family": "AFD / 大EP 主矩阵", "topology": "EP16 DP4TP4", "mbt": "8192", "rps": "2.0", "mode": "full-model", "runs": "3", "layer_gmm": "N/A", "ffn_graph": "EAGER", "memory": "0.7", "evidence": "原始逐请求重算", "qps": "1.9794818973359412", "qps_std": "0.0035018911437541198", "qps_n": "3", "mean": "3.6349223990364408", "mean_std": "0.08229474212874895", "mean_n": "3", "p25": "2.321248658311864", "p25_std": "0.05420358651139329", "p25_n": "3", "p50": "3.171539602180322", "p50_std": "0.07146354614512425", "p50_n": "3", "p75": "4.476920648788412", "p75_std": "0.11740129573627575", "p75_n": "3", "p90": "6.250040008376042", "p90_std": "0.17738736698718585", "p90_n": "3", "p95": "7.537594998255372", "p95_std": "0.34008370082064054", "p95_n": "3", "p99": "10.120470608801895", "p99_std": "0.2819458513071849", "p99_n": "3", "p99.9": "13.130027715905243", "p99.9_std": "0.3521250972331267",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"3.0", "mode": "split", "runs": "3", "layer_gmm": "ON", "ffn_graph": "FULL", "memory": "0.7", "evidence": "原始逐请求重算", "qps": "2.966281717256644", "qps_std": "0.0029151937216875612", "qps_n": "3", "mean": "2.242276313817477", "mean_std": "0.03286884120511202", "mean_n": "3", "p25": "0.731251559065034", "p25_std": "0.024417072417774764", "p25_n": "3", "p50": "1.6245619437346857", "p50_std": "0.013445239284976204", "p50_n": "3", "p75": "3.167242770238469", "p75_std": "0.06194683024512624", "p75_n": "3", "p90": "5.12873287529995", "p90_std": "0.047516187169439096", "p90_n": "3", "p95": "6.271160423755646", "p95_std": "0.25970168181132813", "p95_n": "3", "p99": "8.107771077683823", "p99_std": "0.48396191618734075", "p99_n": "3", "p99.9": "10.07447369248667", "p99.9_std": "0.6558236525681806", "p99.9_n": "3", "success": "4607", "failed": "1"}</a:t>
            </a:r>
          </a:p>
          <a:p>
            <a:r>
              <a:t>4×EP4 8K: {"family": "AFD / 大EP 主矩阵", "topology": "4×EP4 DP1TP4", "mbt": "8192", "rps": "3.0", "mode": "full-model", "runs": "3", "layer_gmm": "N/A", "ffn_graph": "EAGER", "memory": "0.9", "evidence": "原始逐请求重算", "qps": "2.962205568516389", "qps_std": "0.00739051886784956", "qps_n": "3", "mean": "1.7301459112722013", "mean_std": "0.03225421473796037", "mean_n": "3", "p25": "0.51651247497648", "p25_std": "0.018233590339346482", "p25_n": "3", "p50": "1.2564860343312223", "p50_std": "0.043589568967308756", "p50_n": "3", "p75": "2.42120417393744", "p75_std": "0.021747541216062417", "p75_n": "3", "p90": "3.810725108409921", "p90_std": "0.04172423901680061", "p90_n": "3", "p95": "5.00418848823756", "p95_std": "0.2364169239181168", "p95_n": "3", "p99": "6.745017628185452", "p99_std": "0.27685777644383514", "p99_n": "3", "p99.9": "8.07763270671785", "p99.9_std": "0.8721533031856907", "p99.9_n": "3", "success": "4608", "failed": "0"}</a:t>
            </a:r>
          </a:p>
          <a:p>
            <a:r>
              <a:t>2×EP8 8K: {"family": "AFD / 大EP 主矩阵", "topology": "2×EP8 DP2TP4", "mbt": "8192", "rps": "3.0", "mode": "full-model", "runs": "3", "layer_gmm": "N/A", "ffn_graph": "EAGER", "memory": "0.9", "evidence": "原始逐请求重算", "qps": "2.9421369187007413", "qps_std": "0.004830359828070807", "qps_n": "3", "mean": "3.677348897406773", "mean_std": "0.10423985948475702", "mean_n": "3", "p25": "2.1067303557259343", "p25_std": "0.06974511438682549", "p25_n": "3", "p50": "3.181424382763604", "p50_std": "0.1050422134610696", "p50_n": "3", "p75": "4.756990122919281", "p75_std": "0.1375870286989066", "p75_n": "3", "p90": "6.717952077277005", "p90_std": "0.04324692192936557", "p90_n": "3", "p95": "8.010685940117886", "p95_std": "0.1175541781072152", "p95_n": "3", "p99": "10.477637495597206", "p99_std": "0.6197775526564644", "p99_n": "3", "p99.9": "13.916817851584986", "p99.9_std": "0.10969835621019307", "p99.9_n": "3", "success": "4608", "failed": "0"}</a:t>
            </a:r>
          </a:p>
          <a:p>
            <a:r>
              <a:t>EP16 8K: {"family": "AFD / 大EP 主矩阵", "topology": "EP16 DP4TP4", "mbt": "8192", "rps": "3.0", "mode": "full-model", "runs": "3", "layer_gmm": "N/A", "ffn_graph": "EAGER", "memory": "0.7", "evidence": "原始逐请求重算", "qps": "2.939419120309089", "qps_std": "0.010852121999543975", "qps_n": "3", "mean": "4.879156789670983", "mean_std": "0.2516888149056419", "mean_n": "3", "p25": "3.1119579602964222", "p25_std": "0.1326498916852857", "p25_n": "3", "p50": "4.411507967549066", "p50_std": "0.25872329002806704", "p50_n": "3", "p75": "6.053055223543197", "p75_std": "0.3446718714476421", "p75_n": "3", "p90": "8.050450572185218", "p90_std": "0.4478375915308329", "p90_n": "3", "p95": "9.279241816699503", "p95_std": "0.5374253102914864", "p95_n": "3", "p99": "11.986870356357349", "p99_std": "0.7866594987274909", "p99_n": "3", "p99.9": "14.972793665507126", "p99.9_std": "0.5009933508931522", "p99.9_n": "3", "success": "4607", "failed": "1"}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"4.0", "mode": "split", "runs": "3", "layer_gmm": "ON", "ffn_graph": "FULL", "memory": "0.7", "evidence": "原始逐请求重算", "qps": "3.8834688774188395", "qps_std": "0.022317916514563045", "qps_n": "3", "mean": "6.488780873596827", "mean_std": "0.3215080912663052", "mean_n": "3", "p25": "3.1868803605126836", "p25_std": "0.13445454890939074", "p25_n": "3", "p50": "6.2865007963652415", "p50_std": "0.31441000318322104", "p50_n": "3", "p75": "9.020645172024766", "p75_std": "0.5297742139552254", "p75_n": "3", "p90": "11.704520077134172", "p90_std": "0.6639865138321752", "p90_n": "3", "p95": "13.433669506106526", "p95_std": "0.43586264509298017", "p95_n": "3", "p99": "16.562453073946156", "p99_std": "0.5806273614394502", "p99_n": "3", "p99.9": "19.21633625513559", "p99.9_std": "0.30227655041120216", "p99.9_n": "3", "success": "4608", "failed": "0"}</a:t>
            </a:r>
          </a:p>
          <a:p>
            <a:r>
              <a:t>4×EP4 8K: {"family": "AFD / 大EP 主矩阵", "topology": "4×EP4 DP1TP4", "mbt": "8192", "rps": "4.0", "mode": "full-model", "runs": "3", "layer_gmm": "N/A", "ffn_graph": "EAGER", "memory": "0.9", "evidence": "原始逐请求重算", "qps": "3.9181413489202725", "qps_std": "0.03051800819786486", "qps_n": "3", "mean": "3.6139708614407735", "mean_std": "0.08809812267819483", "mean_n": "3", "p25": "1.4982366596038144", "p25_std": "0.03308810858410623", "p25_n": "3", "p50": "3.0980358946447573", "p50_std": "0.129412321090152", "p50_n": "3", "p75": "5.249841972564657", "p75_std": "0.16820632491116055", "p75_n": "3", "p90": "7.280650211187701", "p90_std": "0.08527506380407023", "p90_n": "3", "p95": "8.564923260981837", "p95_std": "0.09147635520894482", "p95_n": "3", "p99": "10.710763782293855", "p99_std": "0.3738072462377302", "p99_n": "3", "p99.9": "12.859730177105664", "p99.9_std": "0.45488425739778937", "p99.9_n": "3", "success": "4608", "failed": "0"}</a:t>
            </a:r>
          </a:p>
          <a:p>
            <a:r>
              <a:t>2×EP8 8K: {"family": "AFD / 大EP 主矩阵", "topology": "2×EP8 DP2TP4", "mbt": "8192", "rps": "4.0", "mode": "full-model", "runs": "3", "layer_gmm": "N/A", "ffn_graph": "EAGER", "memory": "0.9", "evidence": "原始逐请求重算", "qps": "3.833374957025368", "qps_std": "0.04054103807322974", "qps_n": "3", "mean": "8.051989872278986", "mean_std": "0.6266677663594441", "mean_n": "3", "p25": "4.736383381144454", "p25_std": "0.430654483871779", "p25_n": "3", "p50": "7.427618462592363", "p50_std": "0.5530135051679157", "p50_n": "3", "p75": "10.859571575342367", "p75_std": "0.8720448830521689", "p75_n": "3", "p90": "13.902370517452558", "p90_std": "1.0822499112325485", "p90_n": "3", "p95": "15.747565831368169", "p95_std": "1.1902467146823457", "p95_n": "3", "p99": "18.938207457525046", "p99_std": "0.8212133106838867", "p99_n": "3", "p99.9": "21.69015419870302", "p99.9_std": "0.8562662072823356", "p99.9_n": "3", "success": "4608", "failed": "0"}</a:t>
            </a:r>
          </a:p>
          <a:p>
            <a:r>
              <a:t>EP16 8K: {"family": "AFD / 大EP 主矩阵", "topology": "EP16 DP4TP4", "mbt": "8192", "rps": "4.0", "mode": "full-model", "runs": "3", "layer_gmm": "N/A", "ffn_graph": "EAGER", "memory": "0.7", "evidence": "原始逐请求重算", "qps": "3.6831711161650116", "qps_std": "0.05436651207462095", "qps_n": "3", "mean": "15.843584110149903", "mean_std": "1.754655411932003", "mean_n": "3", "p25": "11.218125834440192", "p25_std": "1.3630276325260229", "p25_n": "3", "p50": "15.674570052574078", "p50_std": "2.0906508867996316", "p50_n": "3", "p75": "20.248636496408533", "p75_std": "2.0098975802495995", "p75_n": "3", "p90": "24.922901740297675", "p90_std": "1.953682855454682", "p90_n": "3", "p95": "27.41407905736317", "p95_std": "2.763960843977882", "p95_n": "3", "p99": "32.36120607222741", "p99_std": "4.582236741389926", "p99_n": "3", "p99.9": "34.67051098817332", "p99.9_std": "4.848306348891062",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新增TP4同RPS比较；原矩阵AFD64K使用token split ON、layered GMM ON、FFN FULL。</a:t>
            </a:r>
          </a:p>
          <a:p>
            <a:r>
              <a:t>数据：/home/nielinfeng/afd-download/dsv4-flash-w4a8/tp4_report_20261009/all_group_results.csv</a:t>
            </a:r>
          </a:p>
          <a:p>
            <a:r>
              <a:t>数据SHA256：54674776e223d95abc06200b1a9a2355c111140081a7a9c2138a8e301f1f24a9</a:t>
            </a:r>
          </a:p>
          <a:p>
            <a:r>
              <a:t>全部值为三轮统计量均值；不是混合逐请求分位数，也不是同机跨方案消融。</a:t>
            </a:r>
          </a:p>
          <a:p>
            <a:r>
              <a:t>基线EP4=4个DP1TP4EP4、EP8=2个DP2TP4EP8、EP16=DP4TP4EP16；均16die。</a:t>
            </a:r>
          </a:p>
          <a:p>
            <a:r>
              <a:t>AFD 64K: {"family": "AFD / 大EP 主矩阵", "topology": "AFD A:DP3TP4 / F:EP4", "mbt": "65536", "rps": "5.0", "mode": "split", "runs": "3", "layer_gmm": "ON", "ffn_graph": "FULL", "memory": "0.7", "evidence": "原始逐请求重算", "qps": "4.151903403494427", "qps_std": "0.04419827551353195", "qps_n": "3", "mean": "30.319273983032165", "mean_std": "0.45177375531160047", "mean_n": "3", "p25": "20.469021533305447", "p25_std": "1.1115081603079868", "p25_n": "3", "p50": "30.738564901364345", "p50_std": "0.7655001185161546", "p50_n": "3", "p75": "41.3896695173656", "p75_std": "0.3801327051813017", "p75_n": "3", "p90": "49.11567998149743", "p90_std": "0.7089139678468067", "p90_n": "3", "p95": "54.62404752041524", "p95_std": "0.3693659665019265", "p95_n": "3", "p99": "62.894523652487756", "p99_std": "1.2975137358720044", "p99_n": "3", "p99.9": "66.89502056385697", "p99.9_std": "3.5756290229338434", "p99.9_n": "3", "success": "4608", "failed": "0"}</a:t>
            </a:r>
          </a:p>
          <a:p>
            <a:r>
              <a:t>4×EP4 8K: {"family": "AFD / 大EP 主矩阵", "topology": "4×EP4 DP1TP4", "mbt": "8192", "rps": "5.0", "mode": "full-model", "runs": "3", "layer_gmm": "N/A", "ffn_graph": "EAGER", "memory": "0.9", "evidence": "原始逐请求重算", "qps": "4.255483793215323", "qps_std": "0.04647879633652787", "qps_n": "3", "mean": "22.408054384245286", "mean_std": "0.22919727604098847", "mean_n": "3", "p25": "14.175157040823251", "p25_std": "0.17143109878372628", "p25_n": "3", "p50": "22.28679317018638", "p50_std": "1.0546781370276956", "p50_n": "3", "p75": "30.00548537665357", "p75_std": "0.6239776069073015", "p75_n": "3", "p90": "38.29714431862036", "p90_std": "0.42221284427383776", "p90_n": "3", "p95": "43.470449153799564", "p95_std": "1.0951590416598815", "p95_n": "3", "p99": "48.35808684313671", "p99_std": "1.393862223135051", "p99_n": "3", "p99.9": "53.64236289004173", "p99.9_std": "3.768268631400482", "p99.9_n": "3", "success": "4608", "failed": "0"}</a:t>
            </a:r>
          </a:p>
          <a:p>
            <a:r>
              <a:t>2×EP8 8K: {"family": "AFD / 大EP 主矩阵", "topology": "2×EP8 DP2TP4", "mbt": "8192", "rps": "5.0", "mode": "full-model", "runs": "3", "layer_gmm": "N/A", "ffn_graph": "EAGER", "memory": "0.9", "evidence": "原始逐请求重算", "qps": "3.9321613325784575", "qps_std": "0.060895238466129056", "qps_n": "3", "mean": "38.285855817547905", "mean_std": "1.9047432121924055", "mean_n": "3", "p25": "23.351881752877187", "p25_std": "0.11911919983686448", "p25_n": "3", "p50": "37.756422217004", "p50_std": "2.34544246569029", "p50_n": "3", "p75": "53.12689182472726", "p75_std": "2.1964839032386845", "p75_n": "3", "p90": "66.35292902681977", "p90_std": "2.914591976187639", "p90_n": "3", "p95": "72.75050477248926", "p95_std": "4.5646630986389", "p95_n": "3", "p99": "81.08769070912774", "p99_std": "2.0666798211955246", "p99_n": "3", "p99.9": "85.75256166991461", "p99.9_std": "4.325927175125061", "p99.9_n": "3", "success": "4608", "failed": "0"}</a:t>
            </a:r>
          </a:p>
          <a:p>
            <a:r>
              <a:t>EP16 8K: {"family": "AFD / 大EP 主矩阵", "topology": "EP16 DP4TP4", "mbt": "8192", "rps": "5.0", "mode": "full-model", "runs": "3", "layer_gmm": "N/A", "ffn_graph": "EAGER", "memory": "0.7", "evidence": "原始逐请求重算", "qps": "3.679906905012409", "qps_std": "0.10260458616810432", "qps_n": "3", "mean": "50.342708047715455", "mean_std": "2.4658455123731957", "mean_n": "3", "p25": "30.512614303268492", "p25_std": "1.830314162134188", "p25_n": "3", "p50": "49.7817134000361", "p50_std": "3.37560484144052", "p50_n": "3", "p75": "68.06921410746872", "p75_std": "3.1304924538813745", "p75_n": "3", "p90": "90.69887856580317", "p90_std": "5.873945895514621", "p90_n": "3", "p95": "98.25703237205744", "p95_std": "7.642183527708032", "p95_n": "3", "p99": "107.80794925475494", "p99_std": "12.048639742478542", "p99_n": "3", "p99.9": "111.54242429608789", "p99.9_std": "11.46268490056117", "p99.9_n": "3", "success": "4608", "failed": "0"}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TP4 overview; offered QPS2/3/4/5, original formal matrix three-repeat means.</a:t>
            </a:r>
          </a:p>
          <a:p>
            <a:r>
              <a:t>Source: /home/nielinfeng/afd-download/dsv4-flash-w4a8/tp4_report_20261009/all_group_results.csv</a:t>
            </a:r>
          </a:p>
          <a:p>
            <a:r>
              <a:t>SHA256: 54674776e223d95abc06200b1a9a2355c111140081a7a9c2138a8e301f1f24a9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/home/nielinfeng/afd-download/dsv4-flash-w4a8/tp4_report_20261009/all_group_results.csv</a:t>
            </a:r>
          </a:p>
          <a:p>
            <a:r>
              <a:t>SHA256: 54674776e223d95abc06200b1a9a2355c111140081a7a9c2138a8e301f1f24a9</a:t>
            </a:r>
          </a:p>
          <a:p>
            <a:r>
              <a:t>红字为同MBT开/关中更小的TTFT；QPS为offered RPS。</a:t>
            </a:r>
          </a:p>
          <a:p>
            <a:r>
              <a:t>[{"family": "ubatch 同机对照", "topology": "AFD A:DP3TP4 / F:EP4", "mbt": "32768", "rps": "2.0", "mode": "off", "runs": "3", "layer_gmm": "ON", "ffn_graph": "FULL", "memory": "0.7", "evidence": "原始逐请求重算", "qps": "1.9875477907422223", "qps_std": "0.00015510854293085066", "qps_n": "3", "mean": "1.7915916403403067", "mean_std": "0.0329350389297551", "mean_n": "3", "p25": "0.543004187134405", "p25_std": "0.009059721316959113", "p25_n": "3", "p50": "1.2415564162656665", "p50_std": "0.026932978128925616", "p50_n": "3", "p75": "2.5539702215852835", "p75_std": "0.10894281281310694", "p75_n": "3", "p90": "4.1348596491540475", "p90_std": "0.10715435708308764", "p90_n": "3", "p95": "5.343767518332849", "p95_std": "0.07795290965839673", "p95_n": "3", "p99": "6.9143294341551815", "p99_std": "0.2711877918864003", "p99_n": "3", "p99.9": "8.050312775022645", "p99.9_std": "0.2927090305584152", "p99.9_n": "3", "success": "4608", "failed": "0"}, {"family": "ubatch 同机对照", "topology": "AFD A:DP3TP4 / F:EP4", "mbt": "32768", "rps": "2.0", "mode": "split", "runs": "3", "layer_gmm": "ON", "ffn_graph": "FULL", "memory": "0.7", "evidence": "原始逐请求重算", "qps": "1.991731269692057", "qps_std": "0.00011679940298365626", "qps_n": "3", "mean": "1.278200545940005", "mean_std": "0.024435066331953255", "mean_n": "3", "p25": "0.4493850731911759", "p25_std": "0.003450884428883633", "p25_n": "3", "p50": "0.8142885575070977", "p50_std": "0.005751300506923764", "p50_n": "3", "p75": "1.6879551359452307", "p75_std": "0.03585898881182783", "p75_n": "3", "p90": "3.020996871093909", "p90_std": "0.06361460550395862", "p90_n": "3", "p95": "3.8296372924620905", "p95_std": "0.07641966917243406", "p95_n": "3", "p99": "5.31952003731082", "p99_std": "0.05085465059052928", "p99_n": "3", "p99.9": "6.295973997653133", "p99.9_std": "0.04759631142099493", "p99.9_n": "3", "success": "4608", "failed": "0"}, {"family": "ubatch 同机对照", "topology": "AFD A:DP3TP4 / F:EP4", "mbt": "32768", "rps": "3.0", "mode": "off", "runs": "3", "layer_gmm": "ON", "ffn_graph": "FULL", "memory": "0.7", "evidence": "原始逐请求重算", "qps": "2.935280576964325", "qps_std": "0.028246083759124394", "qps_n": "3", "mean": "5.043057986268751", "mean_std": "0.3733555501218601", "mean_n": "3", "p25": "2.2576978392899036", "p25_std": "0.1816740756466343", "p25_n": "3", "p50": "4.582693002807598", "p50_std": "0.2757651860205488", "p50_n": "3", "p75": "7.22774131083861", "p75_std": "0.62066231508317", "p75_n": "3", "p90": "9.731935229462882", "p90_std": "0.922434229344786", "p90_n": "3", "p95": "11.489802340200791", "p95_std": "0.7857461402769004", "p95_n": "3", "p99": "14.31500533021366", "p99_std": "0.480966210184518", "p99_n": "3", "p99.9": "17.202478727757295", "p99.9_std": "1.3600424347642712", "p99.9_n": "3", "success": "4608", "failed": "0"}, {"family": "ubatch 同机对照", "topology": "AFD A:DP3TP4 / F:EP4", "mbt": "32768", "rps": "3.0", "mode": "split", "runs": "3", "layer_gmm": "ON", "ffn_graph": "FULL", "memory": "0.7", "evidence": "原始逐请求重算", "qps": "2.9657388695478133", "qps_std": "0.002301380248821395", "qps_n": "3", "mean": "2.0656442717331114", "mean_std": "0.040571876418802826", "mean_n": "3", "p25": "0.7410793155431747", "p25_std": "0.0035586627787835235", "p25_n": "3", "p50": "1.5926552657037973", "p50_std": "0.03148741487122593", "p50_n": "3", "p75": "2.978152365113298", "p75_std": "0.08591979714710615", "p75_n": "3", "p90": "4.337964499058823", "p90_std": "0.09984068555081843", "p90_n": "3", "p95": "5.41767616191258", "p95_std": "0.20623536823337849", "p95_n": "3", "p99": "7.19180990071968", "p99_std": "0.273104745333511", "p99_n": "3", "p99.9": "9.27152602812213", "p99.9_std": "0.5351395334909905", "p99.9_n": "3", "success": "4607", "failed": "1"}, {"family": "ubatch 同机对照", "topology": "AFD A:DP3TP4 / F:EP4", "mbt": "32768", "rps": "4.0", "mode": "off", "runs": "3", "layer_gmm": "ON", "ffn_graph": "FULL", "memory": "0.7", "evidence": "原始逐请求重算", "qps": "3.2783647701144107", "qps_std": "0.030951104510419585", "qps_n": "3", "mean": "38.842341787223425", "mean_std": "1.8693775722035475", "mean_n": "3", "p25": "24.42538790948068", "p25_std": "1.6750301461348536", "p25_n": "3", "p50": "39.43587659671903", "p50_std": "1.085654022139951", "p50_n": "3", "p75": "54.293830612674356", "p75_std": "3.67691797225297", "p75_n": "3", "p90": "65.84481654316187", "p90_std": "4.520646106565895", "p90_n": "3", "p95": "70.09263142757118", "p95_std": "4.56721553971024", "p95_n": "3", "p99": "79.7362926232629", "p99_std": "2.197539522850437", "p99_n": "3", "p99.9": "86.12427937968633", "p99.9_std": "3.024464059769158", "p99.9_n": "3", "success": "4608", "failed": "0"}, {"family": "ubatch 同机对照", "topology": "AFD A:DP3TP4 / F:EP4", "mbt": "32768", "rps": "4.0", "mode": "split", "runs": "3", "layer_gmm": "ON", "ffn_graph": "FULL", "memory": "0.7", "evidence": "原始逐请求重算", "qps": "3.8849707709043213", "qps_std": "0.019629885712362044", "qps_n": "3", "mean": "5.924921399744822", "mean_std": "0.366797753434471", "mean_n": "3", "p25": "3.083236437446127", "p25_std": "0.2868982389416604", "p25_n": "3", "p50": "5.4854797854398685", "p50_std": "0.3271406284456023", "p50_n": "3", "p75": "8.32521391644453", "p75_std": "0.5482974624150431", "p75_n": "3", "p90": "11.005887509696185", "p90_std": "0.6402634390390567", "p90_n": "3", "p95": "12.408803305712839", "p95_std": "0.9393159594702426", "p95_n": "3", "p99": "15.16111638223754", "p99_std": "1.099748196777437", "p99_n": "3", "p99.9": "17.625640710806465", "p99.9_std": "1.0017184851867362", "p99.9_n": "3", "success": "4607", "failed": "1"}, {"family": "ubatch 同机对照", "topology": "AFD A:DP3TP4 / F:EP4", "mbt": "32768", "rps": "5.0", "mode": "off", "runs": "3", "layer_gmm": "ON", "ffn_graph": "FULL", "memory": "0.7", "evidence": "原始逐请求重算", "qps": "3.257135434177248", "qps_std": "0.06505484548057515", "qps_n": "3", "mean": "75.60279332761154", "mean_std": "1.80383669607965", "mean_n": "3", "p25": "42.58588186604902", "p25_std": "1.7953236456178436", "p25_n": "3", "p50": "74.27153068066885", "p50_std": "2.557530176701276", "p50_n": "3", "p75": "108.7024548247767", "p75_std": "2.6877198993712312", "p75_n": "3", "p90": "132.46473433325687", "p90_std": "4.961947349994852", "p90_n": "3", "p95": "140.4526557167992", "p95_std": "7.053362256063951", "p95_n": "3", "p99": "156.28093551040317", "p99_std": "8.601441934998451", "p99_n": "3", "p99.9": "164.9086763712298", "p99.9_std": "9.06875954827475", "p99.9_n": "3", "success": "4608", "failed": "0"}, {"family": "ubatch 同机对照", "topology": "AFD A:DP3TP4 / F:EP4", "mbt": "32768", "rps": "5.0", "mode": "split", "runs": "3", "layer_gmm": "ON", "ffn_graph": "FULL", "memory": "0.7", "evidence": "原始逐请求重算", "qps": "4.0218353402736575", "qps_std": "0.0619683188959595", "qps_n": "3", "mean": "32.359760493976665", "mean_std": "1.6299453080967603", "mean_n": "3", "p25": "21.34461404196918", "p25_std": "0.8798585827638713", "p25_n": "3", "p50": "32.688925214111805", "p50_std": "1.15860737455101", "p50_n": "3", "p75": "44.431992473080754", "p75_std": "2.4660163690122876", "p75_n": "3", "p90": "53.185399329289794", "p90_std": "2.5386654774898942", "p90_n": "3", "p95": "60.358958268072456", "p95_std": "1.329256367175667", "p95_n": "3", "p99": "69.675257985356", "p99_std": "6.770971959331271", "p99_n": "3", "p99.9": "75.13009833568702", "p99.9_std": "6.323026074837209", "p99.9_n": "3", "success": "4608", "failed": "0"}, {"family": "ubatch 同机对照", "topology": "AFD A:DP3TP4 / F:EP4", "mbt": "65536", "rps": "2.0", "mode": "off", "runs": "3", "layer_gmm": "ON", "ffn_graph": "FULL", "memory": "0.7", "evidence": "原始逐请求重算", "qps": "1.9847076667264403", "qps_std": "0.0019269528896696151", "qps_n": "3", "mean": "1.8507920719477622", "mean_std": "0.004070787636711053", "mean_n": "3", "p25": "0.5698030623607337", "p25_std": "0.01412764887221013", "p25_n": "3", "p50": "1.2637192622448008", "p50_std": "0.02446608433793695", "p50_n": "3", "p75": "2.5697956918738782", "p75_std": "0.05484118940943263", "p75_n": "3", "p90": "4.258244067430496", "p90_std": "0.08063593949187389", "p90_n": "3", "p95": "5.728595742707451", "p95_std": "0.2596942281356412", "p95_n": "3", "p99": "7.887093298329667", "p99_std": "0.15436327421732687", "p99_n": "3", "p99.9": "9.7647761974465", "p99.9_std": "0.4478369408206463", "p99.9_n": "3", "success": "4607", "failed": "1"}, {"family": "ubatch 同机对照", "topology": "AFD A:DP3TP4 / F:EP4", "mbt": "65536", "rps": "2.0", "mode": "split", "runs": "3", "layer_gmm": "ON", "ffn_graph": "FULL", "memory": "0.7", "evidence": "原始逐请求重算", "qps": "1.9886960772958628", "qps_std": "5.2451361021622546e-05", "qps_n": "3", "mean": "1.2875296221613501", "mean_std": "0.0048531788722646525", "mean_n": "3", "p25": "0.45330148888751864", "p25_std": "0.0035844084784224794", "p25_n": "3", "p50": "0.8147847189878424", "p50_std": "0.010491398110715961", "p50_n": "3", "p75": "1.6796164481590192", "p75_std": "0.022538625028021484", "p75_n": "3", "p90": "2.8950745475788913", "p90_std": "0.02944361939010502", "p90_n": "3", "p95": "3.803221929507951", "p95_std": "0.018627179537000608", "p95_n": "3", "p99": "5.776027235016246", "p99_std": "0.07110348671864403", "p99_n": "3", "p99.9": "8.104641453772711", "p99.9_std": "0.48035159694174995", "p99.9_n": "3", "success": "4608", "failed": "0"}, {"family": "ubatch 同机对照", "topology": "AFD A:DP3TP4 / F:EP4", "mbt": "65536", "rps": "3.0", "mode": "off", "runs": "3", "layer_gmm": "ON", "ffn_graph": "FULL", "memory": "0.7", "evidence": "原始逐请求重算", "qps": "2.9450002020762476", "qps_std": "0.009372299900841064", "qps_n": "3", "mean": "5.260615023278256", "mean_std": "0.09964285460959041", "mean_n": "3", "p25": "2.1357945376075804", "p25_std": "0.11788133716340854", "p25_n": "3", "p50": "4.975024909091492", "p50_std": "0.1611686216559727", "p50_n": "3", "p75": "7.822194644870858", "p75_std": "0.27922485139277076", "p75_n": "3", "p90": "9.960503118112683", "p90_std": "0.3071122044078587", "p90_n": "3", "p95": "11.586264042028537", "p95_std": "0.12748227771131332", "p95_n": "3", "p99": "14.536554435609535", "p99_std": "0.5440933452335146", "p99_n": "3", "p99.9": "16.66861402263863", "p99.9_std": "0.792861793058337", "p99.9_n": "3", "success": "4608", "failed": "0"}, {"family": "ubatch 同机对照", "topology": "AFD A:DP3TP4 / F:EP4", "mbt": "65536", "rps": "3.0", "mode": "split", "runs": "3", "layer_gmm": "ON", "ffn_graph": "FULL", "memory": "0.7", "evidence": "原始逐请求重算", "qps": "2.96628943057042", "qps_std": "0.0021379490539767676", "qps_n": "3", "mean": "2.2031125854721014", "mean_std": "0.08605674981272675", "mean_n": "3", "p25": "0.7372862158032755", "p25_std": "0.018736818361440765", "p25_n": "3", "p50": "1.6426000411932666", "p50_std": "0.03886459131121772", "p50_n": "3", "p75": "3.112384215928614", "p75_std": "0.09230357008538033", "p75_n": "3", "p90": "5.034137367270887", "p90_std": "0.1711786465071122", "p90_n": "3", "p95": "6.143929458068063", "p95_std": "0.4436487696480354", "p95_n": "3", "p99": "7.7569038815796425", "p99_std": "0.6600791501847191", "p99_n": "3", "p99.9": "9.401469630245098", "p99.9_std": "1.0073832094065152", "p99.9_n": "3", "success": "4608", "failed": "0"}, {"family": "ubatch 同机对照", "topology": "AFD A:DP3TP4 / F:EP4", "mbt": "65536", "rps": "4.0", "mode": "off", "runs": "3", "layer_gmm": "ON", "ffn_graph": "FULL", "memory": "0.7", "evidence": "原始逐请求重算", "qps": "3.40701836913923", "qps_std": "0.025967084680254937", "qps_n": "3", "mean": "35.3858797774883", "mean_std": "0.22776999806484366", "mean_n": "3", "p25": "24.367110346599173", "p25_std": "0.6312030572985188", "p25_n": "3", "p50": "36.34888713837912", "p50_std": "0.9379970119939307", "p50_n": "3", "p75": "47.859461894414075", "p75_std": "0.4231785841342646", "p75_n": "3", "p90": "58.09050292490671", "p90_std": "0.9121636118695574", "p90_n": "3", "p95": "62.48375387893369", "p95_std": "0.7292286463638504", "p95_n": "3", "p99": "67.36769204555702", "p99_std": "1.7636898299584394", "p99_n": "3", "p99.9": "70.01081007510732", "p99.9_std": "2.342513060134456", "p99.9_n": "3", "success": "4608", "failed": "0"}, {"family": "ubatch 同机对照", "topology": "AFD A:DP3TP4 / F:EP4", "mbt": "65536", "rps": "4.0", "mode": "split", "runs": "3", "layer_gmm": "ON", "ffn_graph": "FULL", "memory": "0.7", "evidence": "原始逐请求重算", "qps": "3.863295288302765", "qps_std": "0.02871683545356478", "qps_n": "3", "mean": "6.596623168163205", "mean_std": "0.45512702722559445", "mean_n": "3", "p25": "3.2964580259285867", "p25_std": "0.29879889479606436", "p25_n": "3", "p50": "6.403419690206647", "p50_std": "0.3741874311194263", "p50_n": "3", "p75": "9.172361826679358", "p75_std": "0.5999689351968668", "p75_n": "3", "p90": "12.022043649728099", "p90_std": "1.0143514121063766", "p90_n": "3", "p95": "13.640639464526126", "p95_std": "1.1976862958987224", "p95_n": "3", "p99": "16.873569166411972", "p99_std": "1.4091700034444221", "p99_n": "3", "p99.9": "19.832335705903", "p99.9_std": "2.311043614572027", "p99.9_n": "3", "success": "4608", "failed": "0"}, {"family": "ubatch 同机对照", "topology": "AFD A:DP3TP4 / F:EP4", "mbt": "65536", "rps": "5.0", "mode": "off", "runs": "3", "layer_gmm": "ON", "ffn_graph": "FULL", "memory": "0.7", "evidence": "原始逐请求重算", "qps": "3.387143221562398", "qps_std": "0.039747580670808774", "qps_n": "3", "mean": "70.23505674885301", "mean_std": "0.30167524039230775", "mean_n": "3", "p25": "39.90732711227611", "p25_std": "1.44414095074146", "p25_n": "3", "p50": "69.7557875495404", "p50_std": "1.279411141554524", "p50_n": "3", "p75": "99.02346391913791", "p75_std": "1.0341192378605513", "p75_n": "3", "p90": "120.11672228233267", "p90_std": "1.8275033450962814", "p90_n": "3", "p95": "129.1408261382021", "p95_std": "2.8686730867480317", "p95_n": "3", "p99": "143.6087015235176", "p99_std": "8.71875952483509", "p99_n": "3", "p99.9": "148.83763367628367", "p99.9_std": "9.01987578412602", "p99.9_n": "3", "success": "4608", "failed": "0"}, {"family": "ubatch 同机对照", "topology": "AFD A:DP3TP4 / F:EP4", "mbt": "65536", "rps": "5.0", "mode": "split", "runs": "3", "layer_gmm": "ON", "ffn_graph": "FULL", "memory": "0.7", "evidence": "原始逐请求重算", "qps": "4.140229272869155", "qps_std": "0.0076307174979777246", "qps_n": "3", "mean": "30.453458325275683", "mean_std": "0.9334163423309068", "mean_n": "3", "p25": "20.51908909389749", "p25_std": "1.1937404090330215", "p25_n": "3", "p50": "31.45036258796851", "p50_std": "1.1602315135965389", "p50_n": "3", "p75": "40.42701747516791", "p75_std": "1.4294369792645356", "p75_n": "3", "p90": "49.6588407891492", "p90_std": "1.6542518784509215", "p90_n": "3", "p95": "54.465868778837226", "p95_std": "1.4684233285246027", "p95_n": "3", "p99": "63.18832473997028", "p99_std": "2.664868345409617", "p99_n": "3", "p99.9": "65.26799861426153", "p99.9_std": "2.4967148438241784", "p99.9_n": "3", "success": "4608", "failed": "0"}]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数据源是用户提供的 codex_swebenchpro.json，名称不代表某个官方 SWE-bench 版本。正式子集源序前256完整会话，源ID0–248、250–256；源249超长整会话排除。主页面不展示父集筛选流程。9,078请求，748,751,397输入tokens，均值82,479.77495，P50=77,400，P95=154,355.45，max235,936；分布数量[874, 2440, 4676, 1010, 78]。真实AgentInfer回放，重建会话轮次，回放间隔为0；不是人工固定QPS流量。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真实AgentInfer analyzer/planner/依赖/SSE链。global C16是未完成HTTP请求总上限直到SSE完成；max_num_seqs=8是每个DP缓存域在一次调度中的序列上限。异步调度不取消会话依赖。冻结优先级只在ready请求中选择；无每域串行客户端队列。各部署完成时间不同，实际发送顺序和组批可不同。Non均MBT8192，AFD32768。Non三组复用4域路由；AFD复用3域路由。server block32, utilization.9, checkpoint ratio.25, chunked prefill ON;AFD CAM async,2 token ubatches,layered GMM=1。两AFD组仅F eager/FULL及必要graph配置不同。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五组完整数据无删减；F FULL保留为对照，无单独无收益标题。3.7974233245×=EP4耗时/AFD eager耗时；1.3305311758×=EP8耗时/AFD eager耗时。AFD相对EP8平均TTFT降低25.2876%。AFD P50 TTFT最低，但EP16均值/尾部与全程最优，不能宣称AFD所有分位都优。单次部署比较，非统计显著性结论。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权重是加载日志已报告值，KV按实际tensor storage求和，包含TP驻留副本。单DIE为对应组/角色平均值。other=启动profile后整卡已用HBM-已报告权重-实际KV；free=64GiB-HBM已用，不是峰值激活分项。AFD F侧承担专家权重，不能把F无KV直接等同于显存浪费。EP16/AFD总权重224.0512/224.1808GiB；AFD对EP4/8减少专家重复驻留，专家副本数分别4/2/1，Attention/共享专家布局并非完全相同。明细见随稿CSV。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prefill是原生request_finished累计计算token，不等同FLOPs。每组cached+actual_prefill=748751397。减幅77.24910719%和22.34280332%均以相应Non组为分母。缓存复用与prefill之间是本实验零重算条件下的恒等关系；容量增加对命中改善的贡献未单独隔离，不能把全程收益全部归因KV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D实际KV相对EP16少46.89614177GiB（8.33449%）；cache比例差4.19254563pp；actual_prefill多50.6321285%；耗时多15.62346%，反向EP16比AFD短13.51236%。AFD每域85/86/85会话；Non各域64。不能把12A或F不放KV直接当KV缺口的原因。双方权重总量接近，已用非权重非KV差额+70.64GiB，空闲-23.87GiB，但组成未完成诊断。每组一次，不能泛化为AFD在所有工作负载落后EP16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中心是AFD相对多副本Non部署的实测收益。这里只把EP4/EP8作为已经验证的收益条件，EP16保留为当前workflow的完整对照。专家副本指路由MoE专家集合，并非全部模型参数副本。未声称其他负载已经测得收益，也未从EP16推导AFD没有价值。未声称回收70GiB即可获得某个保证收益，未把prefill/time的比值宣称纯设备计算吞吐。详细五组结果和配置见实验报告。</a:t>
            </a:r>
          </a:p>
          <a:p/>
          <a:p>
            <a:r>
              <a:t>正式报告：https://github.com/jiaran-king/afd-benefit-benchmark/blob/main/results/2026-10-12-ep16/REPORT.zh-CN.md</a:t>
            </a:r>
          </a:p>
          <a:p>
            <a:r>
              <a:t>调度方法：https://github.com/jiaran-king/afd-benefit-benchmark/blob/main/docs/bench-method.md</a:t>
            </a:r>
          </a:p>
          <a:p>
            <a:r>
              <a:t>数据基线：2026-10-11–12；每配置一次完整运行。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hyperlink" Target="https://vllm-dev.slack.com/archives/C0B4C1D84GG" TargetMode="External"/><Relationship Id="rId3" Type="http://schemas.openxmlformats.org/officeDocument/2006/relationships/image" Target="../media/image20.png"/><Relationship Id="rId2" Type="http://schemas.openxmlformats.org/officeDocument/2006/relationships/hyperlink" Target="https://github.com/vllm-project/afd-plugin" TargetMode="Externa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2.xml"/><Relationship Id="rId1" Type="http://schemas.openxmlformats.org/officeDocument/2006/relationships/chart" Target="../charts/char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3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chart" Target="../charts/chart25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3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chart" Target="../charts/chart30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3.xml"/><Relationship Id="rId5" Type="http://schemas.openxmlformats.org/officeDocument/2006/relationships/chart" Target="../charts/chart39.xml"/><Relationship Id="rId4" Type="http://schemas.openxmlformats.org/officeDocument/2006/relationships/chart" Target="../charts/chart38.xml"/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chart" Target="../charts/char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3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7.xml"/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chart" Target="../charts/chart44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51.xml"/><Relationship Id="rId3" Type="http://schemas.openxmlformats.org/officeDocument/2006/relationships/chart" Target="../charts/chart50.xml"/><Relationship Id="rId2" Type="http://schemas.openxmlformats.org/officeDocument/2006/relationships/chart" Target="../charts/chart49.xml"/><Relationship Id="rId1" Type="http://schemas.openxmlformats.org/officeDocument/2006/relationships/chart" Target="../charts/chart4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2.xml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3.xml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4.xml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5.xml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noGrp="1"/>
          </p:cNvSpPr>
          <p:nvPr/>
        </p:nvSpPr>
        <p:spPr>
          <a:xfrm>
            <a:off x="713232" y="1828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  <a:endParaRPr sz="1100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713232" y="408051"/>
            <a:ext cx="107442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  <a:endParaRPr sz="29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2648" y="914400"/>
            <a:ext cx="1444752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13232" y="100584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  <a:endParaRPr sz="1550" b="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1671320"/>
            <a:ext cx="9619615" cy="4244975"/>
          </a:xfrm>
          <a:prstGeom prst="rect">
            <a:avLst/>
          </a:prstGeom>
        </p:spPr>
      </p:pic>
      <p:sp>
        <p:nvSpPr>
          <p:cNvPr id="7" name="Rounded Rectangle 6"/>
          <p:cNvSpPr>
            <a:spLocks noGrp="1"/>
          </p:cNvSpPr>
          <p:nvPr/>
        </p:nvSpPr>
        <p:spPr>
          <a:xfrm>
            <a:off x="566928" y="2160143"/>
            <a:ext cx="1161288" cy="804672"/>
          </a:xfrm>
          <a:prstGeom prst="roundRect">
            <a:avLst/>
          </a:prstGeom>
          <a:solidFill>
            <a:srgbClr val="EEF5FF"/>
          </a:solidFill>
          <a:ln w="13970">
            <a:solidFill>
              <a:srgbClr val="1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bIns="36576" anchor="ctr"/>
          <a:lstStyle/>
          <a:p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  <a:endParaRPr sz="1500" b="1">
              <a:solidFill>
                <a:srgbClr val="1F5FB8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  <a:endParaRPr sz="105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66928" y="4187952"/>
            <a:ext cx="1161288" cy="804672"/>
          </a:xfrm>
          <a:prstGeom prst="roundRect">
            <a:avLst/>
          </a:prstGeom>
          <a:solidFill>
            <a:srgbClr val="F1F8EC"/>
          </a:solidFill>
          <a:ln w="13970">
            <a:solidFill>
              <a:srgbClr val="4F8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bIns="36576" anchor="ctr"/>
          <a:lstStyle/>
          <a:p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  <a:endParaRPr sz="1500" b="1">
              <a:solidFill>
                <a:srgbClr val="4F8D22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  <a:endParaRPr sz="105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407408" y="13533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  <a:endParaRPr sz="1250" b="1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904486" y="3325876"/>
            <a:ext cx="2633472" cy="347472"/>
          </a:xfrm>
          <a:prstGeom prst="roundRect">
            <a:avLst/>
          </a:prstGeom>
          <a:solidFill>
            <a:srgbClr val="FFF2F2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  <a:endParaRPr sz="13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155567" y="5886831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  <a:endParaRPr sz="1150" b="1">
              <a:solidFill>
                <a:srgbClr val="4F8D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669278" y="589762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  <a:endParaRPr sz="1150" b="1">
              <a:solidFill>
                <a:srgbClr val="B265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9704959" y="58861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  <a:endParaRPr sz="115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12648" y="6144768"/>
            <a:ext cx="10972800" cy="3657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  <a:endParaRPr sz="14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713232" y="6601968"/>
            <a:ext cx="45720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  <a:endParaRPr sz="800" b="0">
              <a:solidFill>
                <a:srgbClr val="8D8D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1475720" y="6556248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  <a:endParaRPr sz="850" b="0">
              <a:solidFill>
                <a:srgbClr val="79797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43000"/>
            <a:ext cx="4476750" cy="487680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276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  <a:endParaRPr sz="1500" b="1">
              <a:solidFill>
                <a:srgbClr val="C00000"/>
              </a:solidFill>
            </a:endParaRPr>
          </a:p>
        </p:txBody>
      </p:sp>
      <p:pic>
        <p:nvPicPr>
          <p:cNvPr id="57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969" y="1657350"/>
            <a:ext cx="2315563" cy="16764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3676650" y="197167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  <a:endParaRPr sz="1200" b="1">
              <a:solidFill>
                <a:srgbClr val="56870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76650" y="2686050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  <a:endParaRPr sz="1200" b="1">
              <a:solidFill>
                <a:srgbClr val="2046A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314700"/>
            <a:ext cx="4019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  <a:endParaRPr sz="1125" b="0">
              <a:solidFill>
                <a:srgbClr val="555757"/>
              </a:solidFill>
            </a:endParaRPr>
          </a:p>
          <a:p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  <a:endParaRPr sz="1125" b="0">
              <a:solidFill>
                <a:srgbClr val="55575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8862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  <a:endParaRPr sz="1200" b="1">
              <a:solidFill>
                <a:srgbClr val="1B1D21"/>
              </a:solidFill>
            </a:endParaRPr>
          </a:p>
        </p:txBody>
      </p:sp>
      <p:pic>
        <p:nvPicPr>
          <p:cNvPr id="62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42" y="4171950"/>
            <a:ext cx="2854766" cy="16764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314950" y="1143000"/>
            <a:ext cx="62674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1257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  <a:endParaRPr sz="1425" b="1">
              <a:solidFill>
                <a:srgbClr val="C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86650" y="12763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19750" y="1562100"/>
            <a:ext cx="2552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58200" y="1562100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  <a:endParaRPr sz="975" b="1">
              <a:solidFill>
                <a:srgbClr val="C00000"/>
              </a:solidFill>
            </a:endParaRPr>
          </a:p>
        </p:txBody>
      </p:sp>
      <p:pic>
        <p:nvPicPr>
          <p:cNvPr id="68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34" y="1752600"/>
            <a:ext cx="1517333" cy="1028700"/>
          </a:xfrm>
          <a:prstGeom prst="rect">
            <a:avLst/>
          </a:prstGeom>
        </p:spPr>
      </p:pic>
      <p:pic>
        <p:nvPicPr>
          <p:cNvPr id="69" name="图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727" y="1752600"/>
            <a:ext cx="1539296" cy="102870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5314950" y="3048000"/>
            <a:ext cx="626745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0" y="31432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  <a:endParaRPr sz="1425" b="1">
              <a:solidFill>
                <a:srgbClr val="C00000"/>
              </a:solidFill>
            </a:endParaRPr>
          </a:p>
        </p:txBody>
      </p:sp>
      <p:pic>
        <p:nvPicPr>
          <p:cNvPr id="72" name="图片 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420" y="3467100"/>
            <a:ext cx="3545811" cy="106680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9734550" y="3409950"/>
            <a:ext cx="1619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  <a:endParaRPr sz="975" b="0">
              <a:solidFill>
                <a:srgbClr val="555757"/>
              </a:solidFill>
            </a:endParaRPr>
          </a:p>
          <a:p>
            <a:endParaRPr sz="975"/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  <a:endParaRPr sz="975" b="0">
              <a:solidFill>
                <a:srgbClr val="555757"/>
              </a:solidFill>
            </a:endParaRPr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14950" y="4838700"/>
            <a:ext cx="62674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0" y="4933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  <a:endParaRPr sz="1425" b="1">
              <a:solidFill>
                <a:srgbClr val="C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0" y="5257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  <a:endParaRPr sz="900" b="1">
              <a:solidFill>
                <a:srgbClr val="55575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0" y="5581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  <a:endParaRPr sz="900" b="1">
              <a:solidFill>
                <a:srgbClr val="C0000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5790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2940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0085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7235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4380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15300" y="5238750"/>
            <a:ext cx="95250" cy="2095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86750" y="5257800"/>
            <a:ext cx="5143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58250" y="5238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  <a:endParaRPr sz="750" b="0">
              <a:solidFill>
                <a:srgbClr val="89898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57900" y="5581650"/>
            <a:ext cx="5905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05600" y="558165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934200" y="5629275"/>
            <a:ext cx="49530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486650" y="554355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715250" y="5581650"/>
            <a:ext cx="6286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401050" y="5638800"/>
            <a:ext cx="171450" cy="17145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629650" y="5581650"/>
            <a:ext cx="590550" cy="17145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429750" y="52006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  <a:endParaRPr sz="975" b="0">
              <a:solidFill>
                <a:srgbClr val="555757"/>
              </a:solidFill>
            </a:endParaRPr>
          </a:p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190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  <a:endParaRPr sz="1500" b="1">
              <a:solidFill>
                <a:srgbClr val="0969D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847850"/>
            <a:ext cx="4762500" cy="9525"/>
          </a:xfrm>
          <a:prstGeom prst="rect">
            <a:avLst/>
          </a:prstGeom>
          <a:solidFill>
            <a:srgbClr val="D0D7DE"/>
          </a:solidFill>
          <a:ln w="0">
            <a:solidFill>
              <a:srgbClr val="D0D7DE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019300"/>
            <a:ext cx="4667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  <a:endParaRPr sz="1275" b="0">
              <a:solidFill>
                <a:srgbClr val="55575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952750"/>
            <a:ext cx="4667250" cy="19050"/>
          </a:xfrm>
          <a:prstGeom prst="rect">
            <a:avLst/>
          </a:prstGeom>
          <a:solidFill>
            <a:srgbClr val="2046A0"/>
          </a:solidFill>
          <a:ln w="0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0480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  <a:endParaRPr sz="1200" b="1">
              <a:solidFill>
                <a:srgbClr val="2046A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62150" y="30194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3752850"/>
            <a:ext cx="4667250" cy="19050"/>
          </a:xfrm>
          <a:prstGeom prst="rect">
            <a:avLst/>
          </a:prstGeom>
          <a:solidFill>
            <a:srgbClr val="7757B5"/>
          </a:solidFill>
          <a:ln w="0">
            <a:solidFill>
              <a:srgbClr val="7757B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8481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  <a:endParaRPr sz="1200" b="1">
              <a:solidFill>
                <a:srgbClr val="7757B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38195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552950"/>
            <a:ext cx="4667250" cy="19050"/>
          </a:xfrm>
          <a:prstGeom prst="rect">
            <a:avLst/>
          </a:prstGeom>
          <a:solidFill>
            <a:srgbClr val="56870C"/>
          </a:solidFill>
          <a:ln w="0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6482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  <a:endParaRPr sz="1200" b="1">
              <a:solidFill>
                <a:srgbClr val="56870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62150" y="4619625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vLLM/vLLM-Ascend source tree。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5467350"/>
            <a:ext cx="4667250" cy="533400"/>
          </a:xfrm>
          <a:prstGeom prst="rect">
            <a:avLst/>
          </a:prstGeom>
          <a:solidFill>
            <a:srgbClr val="FFF5DF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572125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1143000"/>
            <a:ext cx="5924550" cy="485775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/>
        </p:txBody>
      </p:sp>
      <p:pic>
        <p:nvPicPr>
          <p:cNvPr id="44" name="图片 42"/>
          <p:cNvPicPr>
            <a:picLocks noChangeAspect="1"/>
          </p:cNvPicPr>
          <p:nvPr/>
        </p:nvPicPr>
        <p:blipFill>
          <a:blip r:embed="rId1"/>
          <a:srcRect l="3296" r="3296"/>
          <a:stretch>
            <a:fillRect/>
          </a:stretch>
        </p:blipFill>
        <p:spPr>
          <a:xfrm>
            <a:off x="5810250" y="1295400"/>
            <a:ext cx="5619750" cy="45529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  <a:endParaRPr sz="825" b="0">
              <a:solidFill>
                <a:srgbClr val="898989"/>
              </a:solidFill>
            </a:endParaRPr>
          </a:p>
        </p:txBody>
      </p:sp>
      <p:pic>
        <p:nvPicPr>
          <p:cNvPr id="35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248" y="1247775"/>
            <a:ext cx="7332155" cy="412432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953375" y="12712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Role｜负责调度、KV Cache 与注意力计算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53375" y="1480820"/>
            <a:ext cx="3667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2669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53375" y="2343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25527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GPU 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基于NPU，使用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基于NPU，通过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预留其他加速器与通信后端的扩展接口。未来可新增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36004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53375" y="36766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Role｜负责专家计算与结果回传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38862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53375" y="47815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53375" y="48577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53375" y="5086350"/>
            <a:ext cx="3667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5905500"/>
            <a:ext cx="1097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06034"/>
            <a:ext cx="11277600" cy="4598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53375" y="12712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53375" y="1480820"/>
            <a:ext cx="3667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2669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53375" y="2343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25527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36004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53375" y="36766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3886200"/>
            <a:ext cx="36671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53375" y="4781550"/>
            <a:ext cx="3667125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53375" y="48577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53375" y="5086350"/>
            <a:ext cx="3667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475" y="1247775"/>
            <a:ext cx="7311701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9334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  <a:endParaRPr sz="1275" b="0" i="0">
              <a:solidFill>
                <a:srgbClr val="555757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09600" y="1371600"/>
            <a:ext cx="7429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pic>
        <p:nvPicPr>
          <p:cNvPr id="61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03408"/>
            <a:ext cx="7200900" cy="2879634"/>
          </a:xfrm>
          <a:prstGeom prst="rect">
            <a:avLst/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8191500" y="1371600"/>
            <a:ext cx="3314700" cy="3143250"/>
          </a:xfrm>
          <a:prstGeom prst="roundRect">
            <a:avLst>
              <a:gd name="adj" fmla="val 2424"/>
            </a:avLst>
          </a:prstGeom>
          <a:solidFill>
            <a:srgbClr val="F5F7F8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43900" y="150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  <a:endParaRPr sz="1500" b="1" i="0">
              <a:solidFill>
                <a:srgbClr val="C7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343900" y="1762125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  <a:endParaRPr sz="900" b="0" i="0">
              <a:solidFill>
                <a:srgbClr val="89898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343900" y="20764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743950" y="20574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743950" y="22764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343900" y="2667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43950" y="26479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743950" y="28670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343900" y="3257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743950" y="32385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43950" y="34575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343900" y="38481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43950" y="38290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43950" y="40481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09600" y="4686300"/>
            <a:ext cx="10896600" cy="1162050"/>
          </a:xfrm>
          <a:prstGeom prst="roundRect">
            <a:avLst>
              <a:gd name="adj" fmla="val 6557"/>
            </a:avLst>
          </a:prstGeom>
          <a:solidFill>
            <a:srgbClr val="FFF4EC"/>
          </a:solidFill>
          <a:ln w="9525">
            <a:solidFill>
              <a:srgbClr val="F1C2A5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00100" y="4857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  <a:endParaRPr sz="1350" b="1" i="0">
              <a:solidFill>
                <a:srgbClr val="C70000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095500" y="4791075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  <a:endParaRPr sz="1650" b="1" i="0">
              <a:solidFill>
                <a:srgbClr val="102A43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00100" y="5219700"/>
            <a:ext cx="1036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  <a:endParaRPr sz="1125" b="0" i="0">
              <a:solidFill>
                <a:srgbClr val="55575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Prefill 分离异步方案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971550"/>
            <a:ext cx="10896600" cy="1581150"/>
          </a:xfrm>
          <a:prstGeom prst="roundRect">
            <a:avLst>
              <a:gd name="adj" fmla="val 4819"/>
            </a:avLst>
          </a:prstGeom>
          <a:solidFill>
            <a:srgbClr val="F5F7F8"/>
          </a:solidFill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0477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76350" y="10477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  <a:endParaRPr sz="1350" b="1" i="0">
              <a:solidFill>
                <a:srgbClr val="1D1D1A"/>
              </a:solidFill>
            </a:endParaRPr>
          </a:p>
        </p:txBody>
      </p:sp>
      <p:pic>
        <p:nvPicPr>
          <p:cNvPr id="38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595" y="1352550"/>
            <a:ext cx="5902960" cy="1066800"/>
          </a:xfrm>
          <a:prstGeom prst="rect">
            <a:avLst/>
          </a:prstGeom>
        </p:spPr>
      </p:pic>
      <p:pic>
        <p:nvPicPr>
          <p:cNvPr id="39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25" y="1181100"/>
            <a:ext cx="2819400" cy="129540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09600" y="2686050"/>
            <a:ext cx="10896600" cy="1657350"/>
          </a:xfrm>
          <a:prstGeom prst="roundRect">
            <a:avLst>
              <a:gd name="adj" fmla="val 4598"/>
            </a:avLst>
          </a:prstGeom>
          <a:solidFill>
            <a:srgbClr val="EAF4F8"/>
          </a:solidFill>
          <a:ln w="9525">
            <a:solidFill>
              <a:srgbClr val="B8CEE4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762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  <a:endParaRPr sz="1425" b="1" i="0">
              <a:solidFill>
                <a:srgbClr val="15608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276225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  <a:endParaRPr sz="1350" b="1" i="0">
              <a:solidFill>
                <a:srgbClr val="1D1D1A"/>
              </a:solidFill>
            </a:endParaRPr>
          </a:p>
        </p:txBody>
      </p:sp>
      <p:pic>
        <p:nvPicPr>
          <p:cNvPr id="43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80" y="3086100"/>
            <a:ext cx="6542690" cy="1143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648700" y="31718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3495675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4958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76350" y="44958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791075"/>
            <a:ext cx="10896600" cy="9525"/>
          </a:xfrm>
          <a:prstGeom prst="rect">
            <a:avLst/>
          </a:prstGeom>
          <a:solidFill>
            <a:srgbClr val="C70000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4876800"/>
            <a:ext cx="9525" cy="106680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48768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943100" y="48768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48400" y="48768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0" y="48768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54483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943100" y="54483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5448300"/>
            <a:ext cx="116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0" y="54483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430000" y="6419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  <a:endParaRPr sz="825" b="0" i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028700"/>
            <a:ext cx="10896600" cy="2266950"/>
          </a:xfrm>
          <a:prstGeom prst="roundRect">
            <a:avLst>
              <a:gd name="adj" fmla="val 4819"/>
            </a:avLst>
          </a:prstGeom>
          <a:noFill/>
          <a:ln w="9525">
            <a:solidFill>
              <a:srgbClr val="D9E0E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1049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76350" y="11049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30" name="图片 33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/>
        </p:txBody>
      </p:sp>
      <p:pic>
        <p:nvPicPr>
          <p:cNvPr id="42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31" name="图片 34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/>
        </p:txBody>
      </p:sp>
      <p:pic>
        <p:nvPicPr>
          <p:cNvPr id="44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609600" y="3429000"/>
            <a:ext cx="10896600" cy="2362200"/>
          </a:xfrm>
          <a:prstGeom prst="roundRect">
            <a:avLst>
              <a:gd name="adj" fmla="val 4598"/>
            </a:avLst>
          </a:prstGeom>
          <a:noFill/>
          <a:ln w="9525">
            <a:solidFill>
              <a:srgbClr val="B8CEE4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5052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  <a:endParaRPr sz="1425" b="1" i="0">
              <a:solidFill>
                <a:srgbClr val="15608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3505200"/>
            <a:ext cx="988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32" name="图片 38"/>
          <p:cNvSpPr>
            <a:spLocks noGrp="1"/>
          </p:cNvSpPr>
          <p:nvPr/>
        </p:nvSpPr>
        <p:spPr>
          <a:xfrm>
            <a:off x="0" y="0"/>
            <a:ext cx="0" cy="0"/>
          </a:xfrm>
        </p:spPr>
        <p:txBody>
          <a:bodyPr/>
          <a:lstStyle/>
          <a:p/>
        </p:txBody>
      </p:sp>
      <p:pic>
        <p:nvPicPr>
          <p:cNvPr id="4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76300" y="1428750"/>
            <a:ext cx="1028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3829050"/>
            <a:ext cx="1028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C70000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  <a:endParaRPr sz="825" b="0" i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09650"/>
            <a:ext cx="10972800" cy="438150"/>
          </a:xfrm>
          <a:prstGeom prst="rect">
            <a:avLst/>
          </a:prstGeom>
          <a:solidFill>
            <a:srgbClr val="FFF5DF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085850"/>
            <a:ext cx="1062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  <a:endParaRPr sz="940" b="0">
              <a:solidFill>
                <a:srgbClr val="55575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04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504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  <a:endParaRPr sz="1125" b="1">
              <a:solidFill>
                <a:srgbClr val="56870C"/>
              </a:solidFill>
            </a:endParaRPr>
          </a:p>
        </p:txBody>
      </p:sp>
      <p:pic>
        <p:nvPicPr>
          <p:cNvPr id="28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00" y="1752600"/>
            <a:ext cx="4462226" cy="2266950"/>
          </a:xfrm>
          <a:prstGeom prst="rect">
            <a:avLst/>
          </a:prstGeom>
        </p:spPr>
      </p:pic>
      <p:pic>
        <p:nvPicPr>
          <p:cNvPr id="29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75" y="1752600"/>
            <a:ext cx="4462226" cy="2266950"/>
          </a:xfrm>
          <a:prstGeom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="609600" y="4114800"/>
          <a:ext cx="10972800" cy="12573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>
            <a:spLocks noGrp="1"/>
          </p:cNvSpPr>
          <p:nvPr/>
        </p:nvSpPr>
        <p:spPr>
          <a:xfrm>
            <a:off x="609600" y="5562600"/>
            <a:ext cx="10972800" cy="4381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55911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1912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0953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  <a:endParaRPr sz="1050" b="1">
              <a:solidFill>
                <a:srgbClr val="2046A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38550" y="10953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  <a:endParaRPr sz="1050" b="1">
              <a:solidFill>
                <a:srgbClr val="56870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82050" y="1095375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  <a:endParaRPr sz="1050" b="1">
              <a:solidFill>
                <a:srgbClr val="ED6D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5811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  <a:endParaRPr sz="1200" b="1">
              <a:solidFill>
                <a:srgbClr val="1B1D2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48400" y="15811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  <a:endParaRPr sz="1200" b="1">
              <a:solidFill>
                <a:srgbClr val="1B1D21"/>
              </a:solidFill>
            </a:endParaRPr>
          </a:p>
        </p:txBody>
      </p:sp>
      <p:pic>
        <p:nvPicPr>
          <p:cNvPr id="36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90235"/>
            <a:ext cx="5334000" cy="2582230"/>
          </a:xfrm>
          <a:prstGeom prst="rect">
            <a:avLst/>
          </a:prstGeom>
        </p:spPr>
      </p:pic>
      <p:pic>
        <p:nvPicPr>
          <p:cNvPr id="37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153" y="1885950"/>
            <a:ext cx="5060494" cy="25908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09600" y="4667250"/>
            <a:ext cx="5334000" cy="723900"/>
          </a:xfrm>
          <a:prstGeom prst="rect">
            <a:avLst/>
          </a:prstGeom>
          <a:solidFill>
            <a:srgbClr val="E9F1FB"/>
          </a:solidFill>
          <a:ln w="9525">
            <a:solidFill>
              <a:srgbClr val="2046A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7720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43050" y="4752975"/>
            <a:ext cx="4229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48400" y="4667250"/>
            <a:ext cx="5334000" cy="723900"/>
          </a:xfrm>
          <a:prstGeom prst="rect">
            <a:avLst/>
          </a:prstGeom>
          <a:solidFill>
            <a:srgbClr val="EDF6E7"/>
          </a:solidFill>
          <a:ln w="9525">
            <a:solidFill>
              <a:srgbClr val="56870C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477202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  <a:endParaRPr sz="1125" b="1">
              <a:solidFill>
                <a:srgbClr val="56870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10450" y="4752975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5562600"/>
            <a:ext cx="10972800" cy="4381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55911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29325"/>
            <a:ext cx="971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  <a:endParaRPr sz="1400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028700"/>
            <a:ext cx="10896600" cy="819150"/>
          </a:xfrm>
          <a:prstGeom prst="roundRect">
            <a:avLst>
              <a:gd name="adj" fmla="val 9302"/>
            </a:avLst>
          </a:prstGeom>
          <a:solidFill>
            <a:srgbClr val="FFF4EC"/>
          </a:solidFill>
          <a:ln w="9525">
            <a:solidFill>
              <a:srgbClr val="F1C2A5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1620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  <a:endParaRPr sz="1350" b="1" i="0">
              <a:solidFill>
                <a:srgbClr val="C7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038350" y="1133475"/>
            <a:ext cx="918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  <a:endParaRPr sz="1125" b="1" i="0">
              <a:solidFill>
                <a:srgbClr val="102A4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466850"/>
            <a:ext cx="1040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" y="2314575"/>
            <a:ext cx="8610600" cy="38100"/>
          </a:xfrm>
          <a:prstGeom prst="rect">
            <a:avLst/>
          </a:prstGeom>
          <a:solidFill>
            <a:srgbClr val="D9E0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1525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  <a:endParaRPr sz="1500" b="1" i="0">
              <a:solidFill>
                <a:srgbClr val="C7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0100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861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  <a:endParaRPr sz="1500" b="1" i="0">
              <a:solidFill>
                <a:srgbClr val="15608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861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675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4F8F13"/>
          </a:solidFill>
          <a:ln w="9525">
            <a:solidFill>
              <a:srgbClr val="4F8F1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436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  <a:endParaRPr sz="1500" b="1" i="0">
              <a:solidFill>
                <a:srgbClr val="4F8F1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436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725025" y="2085975"/>
            <a:ext cx="552450" cy="495300"/>
          </a:xfrm>
          <a:prstGeom prst="roundRect">
            <a:avLst>
              <a:gd name="adj" fmla="val 50000"/>
            </a:avLst>
          </a:prstGeom>
          <a:solidFill>
            <a:srgbClr val="7652C9"/>
          </a:solidFill>
          <a:ln w="9525">
            <a:solidFill>
              <a:srgbClr val="7652C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011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  <a:endParaRPr sz="1500" b="1" i="0">
              <a:solidFill>
                <a:srgbClr val="7652C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01100" y="3105150"/>
            <a:ext cx="2400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  <a:endParaRPr sz="1050" b="0" i="0">
              <a:solidFill>
                <a:srgbClr val="555757"/>
              </a:solidFill>
            </a:endParaRPr>
          </a:p>
          <a:p>
            <a:endParaRPr sz="1050"/>
          </a:p>
          <a:p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9600" y="5219700"/>
            <a:ext cx="10896600" cy="781050"/>
          </a:xfrm>
          <a:prstGeom prst="roundRect">
            <a:avLst>
              <a:gd name="adj" fmla="val 9756"/>
            </a:avLst>
          </a:prstGeom>
          <a:solidFill>
            <a:srgbClr val="C70000"/>
          </a:solidFill>
          <a:ln w="9525">
            <a:solidFill>
              <a:srgbClr val="C7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5353050"/>
            <a:ext cx="1024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  <a:endParaRPr sz="825" b="0" i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>
            <a:spLocks noGrp="1"/>
          </p:cNvSpPr>
          <p:nvPr/>
        </p:nvSpPr>
        <p:spPr>
          <a:xfrm>
            <a:off x="713232" y="408051"/>
            <a:ext cx="107442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 Community </a:t>
            </a:r>
            <a:endParaRPr sz="29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2648" y="914400"/>
            <a:ext cx="1444752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13232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13232" y="1481328"/>
            <a:ext cx="3401568" cy="50292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1691640"/>
            <a:ext cx="420624" cy="274320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1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444752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444752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307592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7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395728"/>
            <a:ext cx="2029968" cy="2029968"/>
          </a:xfrm>
          <a:prstGeom prst="rect">
            <a:avLst/>
          </a:prstGeom>
        </p:spPr>
      </p:pic>
      <p:sp>
        <p:nvSpPr>
          <p:cNvPr id="13" name="TextBox 12"/>
          <p:cNvSpPr>
            <a:spLocks noGrp="1"/>
          </p:cNvSpPr>
          <p:nvPr/>
        </p:nvSpPr>
        <p:spPr>
          <a:xfrm>
            <a:off x="941832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024128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398264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398264" y="1481328"/>
            <a:ext cx="3401568" cy="50292"/>
          </a:xfrm>
          <a:prstGeom prst="rect">
            <a:avLst/>
          </a:prstGeom>
          <a:solidFill>
            <a:srgbClr val="C4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599431" y="1691640"/>
            <a:ext cx="420624" cy="274320"/>
          </a:xfrm>
          <a:prstGeom prst="rect">
            <a:avLst/>
          </a:prstGeom>
          <a:solidFill>
            <a:srgbClr val="C4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129783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129783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992624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6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395728"/>
            <a:ext cx="2029968" cy="2029968"/>
          </a:xfrm>
          <a:prstGeom prst="rect">
            <a:avLst/>
          </a:prstGeom>
        </p:spPr>
      </p:pic>
      <p:sp>
        <p:nvSpPr>
          <p:cNvPr id="22" name="TextBox 21"/>
          <p:cNvSpPr>
            <a:spLocks noGrp="1"/>
          </p:cNvSpPr>
          <p:nvPr/>
        </p:nvSpPr>
        <p:spPr>
          <a:xfrm>
            <a:off x="4626864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4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4709159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083296" y="1481328"/>
            <a:ext cx="340156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083296" y="1481328"/>
            <a:ext cx="3401568" cy="502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284464" y="1691640"/>
            <a:ext cx="420624" cy="27432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814816" y="1636776"/>
            <a:ext cx="24597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814816" y="192024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677656" y="2304288"/>
            <a:ext cx="2212848" cy="221284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5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395728"/>
            <a:ext cx="2029968" cy="2029968"/>
          </a:xfrm>
          <a:prstGeom prst="rect">
            <a:avLst/>
          </a:prstGeom>
        </p:spPr>
      </p:pic>
      <p:sp>
        <p:nvSpPr>
          <p:cNvPr id="31" name="TextBox 30"/>
          <p:cNvSpPr>
            <a:spLocks noGrp="1"/>
          </p:cNvSpPr>
          <p:nvPr/>
        </p:nvSpPr>
        <p:spPr>
          <a:xfrm>
            <a:off x="8311896" y="4645152"/>
            <a:ext cx="294436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  <a:endParaRPr sz="1020" b="1">
              <a:solidFill>
                <a:srgbClr val="2DA4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8394192" y="5157216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1384280" y="655624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8989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850" b="0">
              <a:solidFill>
                <a:srgbClr val="8989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09600" y="2095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315700" y="64198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1295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125730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15265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2419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143250" y="238125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>
              <a:rPr sz="865" b="0">
                <a:solidFill>
                  <a:srgbClr val="555757"/>
                </a:solidFill>
              </a:rPr>
            </a:b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27660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3543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143250" y="350520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>
              <a:rPr sz="865" b="0">
                <a:solidFill>
                  <a:srgbClr val="555757"/>
                </a:solidFill>
              </a:rPr>
            </a:b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400550"/>
            <a:ext cx="110109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466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43250" y="4629150"/>
            <a:ext cx="847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>
              <a:rPr sz="865" b="0">
                <a:solidFill>
                  <a:srgbClr val="555757"/>
                </a:solidFill>
              </a:rPr>
            </a:br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>
              <a:rPr sz="865" b="0">
                <a:solidFill>
                  <a:srgbClr val="555757"/>
                </a:solidFill>
              </a:rPr>
            </a:b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61531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  <a:endParaRPr sz="675" b="0" i="1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16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DATASET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6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压测数据集的输入长度分布</a:t>
            </a:r>
            <a:endParaRPr sz="225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6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6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6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dataset-16"/>
          <p:cNvSpPr>
            <a:spLocks noGrp="1"/>
          </p:cNvSpPr>
          <p:nvPr/>
        </p:nvSpPr>
        <p:spPr>
          <a:xfrm>
            <a:off x="304800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数据集：Mooncake trace-derived WildChat workload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quests-16"/>
          <p:cNvSpPr>
            <a:spLocks noGrp="1"/>
          </p:cNvSpPr>
          <p:nvPr/>
        </p:nvSpPr>
        <p:spPr>
          <a:xfrm>
            <a:off x="9334500" y="1095375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正式请求：1,536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6"/>
          <p:cNvSpPr>
            <a:spLocks noGrp="1"/>
          </p:cNvSpPr>
          <p:nvPr/>
        </p:nvSpPr>
        <p:spPr>
          <a:xfrm>
            <a:off x="609600" y="15049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 token 长度区间占比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6"/>
          <p:cNvSpPr>
            <a:spLocks noGrp="1"/>
          </p:cNvSpPr>
          <p:nvPr/>
        </p:nvSpPr>
        <p:spPr>
          <a:xfrm>
            <a:off x="8001000" y="1504950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关键统计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0" name="Chart"/>
          <p:cNvGraphicFramePr/>
          <p:nvPr/>
        </p:nvGraphicFramePr>
        <p:xfrm>
          <a:off x="609600" y="1809750"/>
          <a:ext cx="69532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1" name="dataset-table-16"/>
          <p:cNvGraphicFramePr/>
          <p:nvPr/>
        </p:nvGraphicFramePr>
        <p:xfrm>
          <a:off x="8001000" y="1809750"/>
          <a:ext cx="3581400" cy="3524250"/>
        </p:xfrm>
        <a:graphic>
          <a:graphicData uri="http://schemas.openxmlformats.org/drawingml/2006/table">
            <a:tbl>
              <a:tblPr firstRow="1" bandRow="1"/>
              <a:tblGrid>
                <a:gridCol w="1619250"/>
                <a:gridCol w="1962150"/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  <a:endParaRPr sz="9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  <a:endParaRPr sz="9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正式请求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1,536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Formal windows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 × 512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平均输入长度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10,288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6,369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P75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14,379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24,794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32,213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54,280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 / 最大</a:t>
                      </a:r>
                      <a:endParaRPr sz="9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891 / 63,778 tokens</a:t>
                      </a:r>
                      <a:endParaRPr sz="900" b="1">
                        <a:solidFill>
                          <a:srgbClr val="234CA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19050" marB="19050"/>
                </a:tc>
              </a:tr>
            </a:tbl>
          </a:graphicData>
        </a:graphic>
      </p:graphicFrame>
      <p:sp>
        <p:nvSpPr>
          <p:cNvPr id="12" name="conclusion-bg-16"/>
          <p:cNvSpPr>
            <a:spLocks noGrp="1"/>
          </p:cNvSpPr>
          <p:nvPr/>
        </p:nvSpPr>
        <p:spPr>
          <a:xfrm>
            <a:off x="609600" y="5476875"/>
            <a:ext cx="10972800" cy="457200"/>
          </a:xfrm>
          <a:prstGeom prst="rect">
            <a:avLst/>
          </a:prstGeom>
          <a:solidFill>
            <a:srgbClr val="EDF3FC"/>
          </a:solidFill>
          <a:ln w="12383">
            <a:solidFill>
              <a:srgbClr val="4472C4"/>
            </a:solidFill>
            <a:prstDash val="solid"/>
          </a:ln>
        </p:spPr>
      </p:sp>
      <p:sp>
        <p:nvSpPr>
          <p:cNvPr id="13" name="conclusion-label-16"/>
          <p:cNvSpPr>
            <a:spLocks noGrp="1"/>
          </p:cNvSpPr>
          <p:nvPr/>
        </p:nvSpPr>
        <p:spPr>
          <a:xfrm>
            <a:off x="819150" y="5581650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12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conclusion-16"/>
          <p:cNvSpPr>
            <a:spLocks noGrp="1"/>
          </p:cNvSpPr>
          <p:nvPr/>
        </p:nvSpPr>
        <p:spPr>
          <a:xfrm>
            <a:off x="1524000" y="5543550"/>
            <a:ext cx="984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65% 的请求不少于 4K tokens，43% 不少于 8K；P99 为 54.3K，覆盖明显的长输入尾部。</a:t>
            </a:r>
            <a:endParaRPr sz="1125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settings-16"/>
          <p:cNvSpPr>
            <a:spLocks noGrp="1"/>
          </p:cNvSpPr>
          <p:nvPr/>
        </p:nvSpPr>
        <p:spPr>
          <a:xfrm>
            <a:off x="609600" y="60198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构成：3 个 formal window，每组 512 请求；每个请求输出长度固定为 1 token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ource-16"/>
          <p:cNvSpPr>
            <a:spLocks noGrp="1"/>
          </p:cNvSpPr>
          <p:nvPr/>
        </p:nvSpPr>
        <p:spPr>
          <a:xfrm>
            <a:off x="609600" y="62674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来源：formal_0_1_2_vllm_bench.jsonl；输入长度与 Mooncake 参考序列一致</a:t>
            </a:r>
            <a:endParaRPr sz="675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page-16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00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00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  <a:endParaRPr sz="600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对比（4K）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两种布局（4K）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DP8TP2（12.99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MBT=4K。各取三轮分位数均值，红色粗体为同 RPS / 分位最小值。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  <a:endParaRPr sz="975" b="1">
              <a:solidFill>
                <a:srgbClr val="F2A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4K</a:t>
            </a:r>
            <a:endParaRPr sz="975" b="1">
              <a:solidFill>
                <a:srgbClr val="548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4K</a:t>
            </a:r>
            <a:endParaRPr sz="975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3.49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47.34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10.19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12.99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对比（8K）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两种布局（8K）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DP8TP2（15.90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MBT=8K。各取三轮分位数均值，红色粗体为同 RPS / 分位最小值。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  <a:endParaRPr sz="975" b="1">
              <a:solidFill>
                <a:srgbClr val="F2A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8K</a:t>
            </a:r>
            <a:endParaRPr sz="975" b="1">
              <a:solidFill>
                <a:srgbClr val="548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8K</a:t>
            </a:r>
            <a:endParaRPr sz="975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3.73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12.03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对比（16K）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两种布局（16K）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DP4TP4（18.25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MBT=16K。各取三轮分位数均值，红色粗体为同 RPS / 分位最小值。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="609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="27051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4800600" y="1790700"/>
          <a:ext cx="198120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="9334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="3790950" y="3629025"/>
          <a:ext cx="2686050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矩形 27"/>
          <p:cNvSpPr>
            <a:spLocks noGrp="1"/>
          </p:cNvSpPr>
          <p:nvPr/>
        </p:nvSpPr>
        <p:spPr>
          <a:xfrm>
            <a:off x="838200" y="5286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  <a:endParaRPr sz="975" b="1">
              <a:solidFill>
                <a:srgbClr val="F2A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9875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16K</a:t>
            </a:r>
            <a:endParaRPr sz="975" b="1">
              <a:solidFill>
                <a:srgbClr val="548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52863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16K</a:t>
            </a:r>
            <a:endParaRPr sz="975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8" name="表格 52"/>
          <p:cNvGraphicFramePr/>
          <p:nvPr/>
        </p:nvGraphicFramePr>
        <p:xfrm>
          <a:off x="7029450" y="1724025"/>
          <a:ext cx="4552950" cy="4133850"/>
        </p:xfrm>
        <a:graphic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16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165" b="1">
                        <a:solidFill>
                          <a:srgbClr val="F2A3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165" b="1">
                        <a:solidFill>
                          <a:srgbClr val="54823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165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165" b="1">
                        <a:solidFill>
                          <a:srgbClr val="4472C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5.43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14.12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19.75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8.40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9.21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13.61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14.69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15.12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16.66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75" b="1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18.25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20.54</a:t>
                      </a:r>
                      <a:endParaRPr sz="1275" b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TP2 / EP8：MBT 64K 下的 DP 扩展吞吐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095375"/>
            <a:ext cx="8286750" cy="55245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9020175" y="1524000"/>
            <a:ext cx="25527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DP10 至 DP12</a:t>
            </a:r>
            <a:endParaRPr sz="165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020175" y="199072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8.79 → 8.91 req/s</a:t>
            </a:r>
            <a:endParaRPr sz="18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20175" y="248602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最高实测吞吐增加 1.4%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20175" y="323850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统计口径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20175" y="3657600"/>
            <a:ext cx="25527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各负载档位先取重复均值，再选最高值。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DP4：历史 3 轮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DP6–12：本次 2 轮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20175" y="5057775"/>
            <a:ext cx="25527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DP10、DP12 最高仅测到目标 10 RPS，绝对容量上限尚未确认。</a:t>
            </a:r>
            <a:endParaRPr sz="12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58575" y="6562725"/>
            <a:ext cx="3048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4K）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  <a:endParaRPr sz="1275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  <a:endParaRPr sz="1200" b="1">
              <a:solidFill>
                <a:srgbClr val="F0A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4K</a:t>
            </a:r>
            <a:endParaRPr sz="1200" b="1">
              <a:solidFill>
                <a:srgbClr val="548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4K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9.2%，EP16 DP8TP2 94.7%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  <a:endParaRPr sz="105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  <a:endParaRPr sz="97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MBT=4K。沿用原第 17 页批次及节点，属于跨配置比较。仅 TTFT SLO，不含 TPOT。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8K）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  <a:endParaRPr sz="1275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  <a:endParaRPr sz="1200" b="1">
              <a:solidFill>
                <a:srgbClr val="F0A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8K</a:t>
            </a:r>
            <a:endParaRPr sz="1200" b="1">
              <a:solidFill>
                <a:srgbClr val="548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8K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62.5%，EP16 DP8TP2 89.6%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  <a:endParaRPr sz="105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  <a:endParaRPr sz="97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MBT=8K。沿用原第 18 页批次及节点，属于跨配置比较。仅 TTFT SLO，不含 TPOT。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95325" y="25717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  <a:endParaRPr sz="825" b="1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953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16K）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047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  <a:endParaRPr sz="1275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7637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  <a:endParaRPr sz="1200" b="1">
              <a:solidFill>
                <a:srgbClr val="F0A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857750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16K</a:t>
            </a:r>
            <a:endParaRPr sz="1200" b="1">
              <a:solidFill>
                <a:srgbClr val="54823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39125" y="1476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16K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600075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="6267450" y="1933575"/>
          <a:ext cx="53149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325" y="52959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66.3%，EP16 DP8TP2 59.6%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816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  <a:endParaRPr sz="105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" y="60388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  <a:endParaRPr sz="97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6286500"/>
            <a:ext cx="108585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MBT=16K。沿用原第 19 页批次及节点，属于跨配置比较。仅 TTFT SLO，不含 TPOT。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58575" y="6562725"/>
            <a:ext cx="33337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</a:t>
            </a:r>
            <a:endParaRPr sz="675" b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AFD DP4TP2 + FFN EP8：不同 MBT 与 RPS 的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+ FFN EP8：不同 MBT 与 RPS 的 TTFT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补充实验：单机 16 die，dsv4-flash，同一 1,536 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本次实验：单机 16 die，dsv4-flash，同一 1,536 请求序列，输出 1 token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3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平均 TTFT（秒）"/>
          <p:cNvSpPr>
            <a:spLocks noGrp="1"/>
          </p:cNvSpPr>
          <p:nvPr/>
        </p:nvSpPr>
        <p:spPr>
          <a:xfrm>
            <a:off x="609600" y="1524000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每格：均值 / P99（秒）"/>
          <p:cNvSpPr>
            <a:spLocks noGrp="1"/>
          </p:cNvSpPr>
          <p:nvPr/>
        </p:nvSpPr>
        <p:spPr>
          <a:xfrm>
            <a:off x="6667500" y="1524000"/>
            <a:ext cx="4857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每格：均值 / P99（秒）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0" name="表格 17"/>
          <p:cNvGraphicFramePr/>
          <p:nvPr/>
        </p:nvGraphicFramePr>
        <p:xfrm>
          <a:off x="6667500" y="1952625"/>
          <a:ext cx="4905375" cy="2809875"/>
        </p:xfrm>
        <a:graphic>
          <a:graphicData uri="http://schemas.openxmlformats.org/drawingml/2006/table">
            <a:tbl>
              <a:tblPr/>
              <a:tblGrid>
                <a:gridCol w="704850"/>
                <a:gridCol w="1400175"/>
                <a:gridCol w="1400175"/>
                <a:gridCol w="1400175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 / 7.97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 / 13.68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32.12 / 59.81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 / 7.05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2.63 / 9.98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 / 21.35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/ 7.07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2.77 / 11.01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7.54 / 18.52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1.62 / 6.98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2.90 / 11.06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8.56 / 20.28</a:t>
                      </a:r>
                      <a:endParaRPr sz="12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PS 2/3：16K 的平均 TTFT 最低&#10;RPS 4：32K 的"/>
          <p:cNvSpPr>
            <a:spLocks noGrp="1"/>
          </p:cNvSpPr>
          <p:nvPr/>
        </p:nvSpPr>
        <p:spPr>
          <a:xfrm>
            <a:off x="6667500" y="5000625"/>
            <a:ext cx="49053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2/3：16K 的平均 TTFT 最低</a:t>
            </a:r>
            <a:endParaRPr sz="157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4：32K 的平均值与 P99 最低</a:t>
            </a:r>
            <a:endParaRPr sz="157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8K/16K/32K 各 1 轮，64K 为 3 轮均值，节点不同。此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轮均值。节点不同，64K 与前页 AFD 数据一致。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="609600" y="1924050"/>
          <a:ext cx="57150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MBT 调整收益：以同一 RPS 的 AFD 64K 为基准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MBT 调整收益：以同一 RPS 的 AFD 64K 为基准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收益 = 1 − 当前 MBT 的 TTFT / 64K 的 TTFT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收益 = 1 − 当前 MBT 的 TTFT / 64K 的 TTFT。正值表示延迟降低，负值表示增加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4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每格：平均 TTFT 降幅 / P99 降幅"/>
          <p:cNvSpPr>
            <a:spLocks noGrp="1"/>
          </p:cNvSpPr>
          <p:nvPr/>
        </p:nvSpPr>
        <p:spPr>
          <a:xfrm>
            <a:off x="609600" y="15621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每格：平均 TTFT 降幅 / P99 降幅</a:t>
            </a:r>
            <a:endParaRPr sz="16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7" name="表格 14"/>
          <p:cNvGraphicFramePr/>
          <p:nvPr/>
        </p:nvGraphicFramePr>
        <p:xfrm>
          <a:off x="609600" y="2000250"/>
          <a:ext cx="10972800" cy="2476500"/>
        </p:xfrm>
        <a:graphic>
          <a:graphicData uri="http://schemas.openxmlformats.org/drawingml/2006/table">
            <a:tbl>
              <a:tblPr/>
              <a:tblGrid>
                <a:gridCol w="1428750"/>
                <a:gridCol w="3181350"/>
                <a:gridCol w="3181350"/>
                <a:gridCol w="318135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−21.8% / −14.2%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−38.3% / −23.7%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−275.4% / −194.8%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+5.2% / −1.0%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+9.3% / +9.7%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−18.7% / −5.3%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−3.1% / −1.3%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+4.5% / +0.4%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+11.8% / +8.7%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PS=4：32K 相比 64K，平均 TTFT 降低 11.8%，P"/>
          <p:cNvSpPr>
            <a:spLocks noGrp="1"/>
          </p:cNvSpPr>
          <p:nvPr/>
        </p:nvSpPr>
        <p:spPr>
          <a:xfrm>
            <a:off x="609600" y="47625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RPS=4：32K 相比 64K，平均 TTFT 降低 11.8%，P99 降低 8.7%</a:t>
            </a:r>
            <a:endParaRPr sz="18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8K 在 RPS=4 的实际 QPS 仅 3.465，平均 TTFT "/>
          <p:cNvSpPr>
            <a:spLocks noGrp="1"/>
          </p:cNvSpPr>
          <p:nvPr/>
        </p:nvSpPr>
        <p:spPr>
          <a:xfrm>
            <a:off x="609600" y="5267325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8K 在 RPS=4 的实际 QPS 仅 3.465，平均 TTFT 达 32.12 秒。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当前数据支持负载相关的 MBT 选择，尚不能认定单轮最优值具有稳定优势。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8K/16K/32K 各 1 轮，64K 为 3 轮均值。这里只比较 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轮均值。比较 AFD 内部参数收益，节点和轮数不同。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64K：RPS 从 3 增至 4，三轮都出现 TTFT 上升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64K：RPS 从 3 增至 4，三轮都出现 TTFT 上升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同一数据集与输入顺序，输出 1 token。RPS=3 为 4,608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同一数据集与输入顺序，输出 1 token。RPS=3 为 4,608 成功，RPS=4 为 4,607 成功、1 失败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6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三轮均值：平均 2.90s / 8.56s，P50 1.97s / 8"/>
          <p:cNvSpPr>
            <a:spLocks noGrp="1"/>
          </p:cNvSpPr>
          <p:nvPr/>
        </p:nvSpPr>
        <p:spPr>
          <a:xfrm>
            <a:off x="609600" y="1562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三轮均值：平均 2.90s / 8.56s，P50 1.97s / 8.41s，P99 11.06s / 20.28s</a:t>
            </a:r>
            <a:endParaRPr sz="1575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逐轮平均 TTFT（秒）"/>
          <p:cNvSpPr>
            <a:spLocks noGrp="1"/>
          </p:cNvSpPr>
          <p:nvPr/>
        </p:nvSpPr>
        <p:spPr>
          <a:xfrm>
            <a:off x="6572250" y="20193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逐轮平均 TTFT（秒）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1" name="表格 18"/>
          <p:cNvGraphicFramePr/>
          <p:nvPr/>
        </p:nvGraphicFramePr>
        <p:xfrm>
          <a:off x="6572250" y="2466975"/>
          <a:ext cx="5000625" cy="2124076"/>
        </p:xfrm>
        <a:graphic>
          <a:graphicData uri="http://schemas.openxmlformats.org/drawingml/2006/table">
            <a:tbl>
              <a:tblPr/>
              <a:tblGrid>
                <a:gridCol w="904875"/>
                <a:gridCol w="1381125"/>
                <a:gridCol w="1381125"/>
                <a:gridCol w="1333500"/>
              </a:tblGrid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  <a:endParaRPr sz="15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9.84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3.32×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2.89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8.07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2.79×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2.84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2.73×</a:t>
                      </a:r>
                      <a:endParaRPr sz="157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平均 TTFT 增至 2.95 倍&#10;实际 QPS 仅从 2.980 增"/>
          <p:cNvSpPr>
            <a:spLocks noGrp="1"/>
          </p:cNvSpPr>
          <p:nvPr/>
        </p:nvSpPr>
        <p:spPr>
          <a:xfrm>
            <a:off x="6572250" y="4857750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平均 TTFT 增至 2.95 倍</a:t>
            </a:r>
            <a:endParaRPr sz="16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实际 QPS 仅从 2.980 增至 3.947</a:t>
            </a:r>
            <a:endParaRPr sz="16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延迟上升跨三轮复现，不由单个失败请求或单次异常测量造成"/>
          <p:cNvSpPr>
            <a:spLocks noGrp="1"/>
          </p:cNvSpPr>
          <p:nvPr/>
        </p:nvSpPr>
        <p:spPr>
          <a:xfrm>
            <a:off x="609600" y="563880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延迟上升跨三轮复现，不由单个失败请求或单次异常测量造成</a:t>
            </a:r>
            <a:endParaRPr sz="16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分位数先逐轮计算再取均值。失败请求不纳入延迟。请求速率提高 33.3%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20260908-rps234：分位数先逐轮计算再取均值，失败请求不纳入延迟。RPS 提高 33.3%，输入序列和输出长度一致。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5" name="Chart"/>
          <p:cNvGraphicFramePr/>
          <p:nvPr/>
        </p:nvGraphicFramePr>
        <p:xfrm>
          <a:off x="609600" y="2076450"/>
          <a:ext cx="5429250" cy="307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64K 的 metrics：延迟增长不只发生在首次调度之前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64K 与 DP8TP2 8K：RPS 3/4 的 metrics 对比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ttention API 的 before/after histog"/>
          <p:cNvSpPr>
            <a:spLocks noGrp="1"/>
          </p:cNvSpPr>
          <p:nvPr/>
        </p:nvSpPr>
        <p:spPr>
          <a:xfrm>
            <a:off x="609600" y="1066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API before/after histogram 差分，每轮 sum/count 后取三轮均值。AFD 为 DP4TP2 + EP8，DP8TP2 为 EP16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7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排队均值增加约 0.32 秒，prefill 区间增加约 4.02 秒"/>
          <p:cNvSpPr>
            <a:spLocks noGrp="1"/>
          </p:cNvSpPr>
          <p:nvPr/>
        </p:nvSpPr>
        <p:spPr>
          <a:xfrm>
            <a:off x="609600" y="46958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 时，AFD 大 chunk size 配置排队更少，但请求平均 prefill 时间更长</a:t>
            </a:r>
            <a:endParaRPr sz="18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queue：QUEUED 到首次 SCHEDULED&#10;prefill："/>
          <p:cNvSpPr>
            <a:spLocks noGrp="1"/>
          </p:cNvSpPr>
          <p:nvPr/>
        </p:nvSpPr>
        <p:spPr>
          <a:xfrm>
            <a:off x="609600" y="52482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queue：QUEUED 到首次 SCHEDULED。prefill：首次 SCHEDULED 到首个 NEW_TOKEN，含等待和抢占。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prefill 区间的变化无法单独归因于 Attention、FFN 或通信耗时。</a:t>
            </a:r>
            <a:endParaRPr sz="15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窗口包含每轮 16 个 warmup，与客户端纯正式请求统计略有差异。"/>
          <p:cNvSpPr>
            <a:spLocks noGrp="1"/>
          </p:cNvSpPr>
          <p:nvPr/>
        </p:nvSpPr>
        <p:spPr>
          <a:xfrm>
            <a:off x="609600" y="61245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38100" rIns="91440" bIns="38100"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20260908-rps234 metrics，窗口含每轮 16 个 warmup，各区间不直接相加。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结论基于 AFD 64K 与 DP8TP2 8K 的配置对比，尚未单独分离 chunk size 的影响。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1714500"/>
          <a:ext cx="10972800" cy="2800350"/>
        </p:xfrm>
        <a:graphic>
          <a:graphicData uri="http://schemas.openxmlformats.org/drawingml/2006/table">
            <a:tbl>
              <a:tblPr/>
              <a:tblGrid>
                <a:gridCol w="2362200"/>
                <a:gridCol w="2419350"/>
                <a:gridCol w="2066925"/>
                <a:gridCol w="2066925"/>
                <a:gridCol w="205740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 / MBT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指标（秒）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0.0005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0.3173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+0.3168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2.0429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6.0672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+4.0243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2.8759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8.4676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+5.5916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0.4847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1.2776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+0.7929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3.2181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3.5940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+0.3759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4.6991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5.7431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+1.0440</a:t>
                      </a:r>
                      <a:endParaRPr sz="165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SYNC PREFILL SUPPLEMENT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64K 的请求级证据：短请求也变慢，共同调度与跨步增加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的请求级证据：短请求也变慢，共同调度与跨步增加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合并三轮成功请求。长度固定，指标 M(r)=输入长度 / 所有包含该请"/>
          <p:cNvSpPr>
            <a:spLocks noGrp="1"/>
          </p:cNvSpPr>
          <p:nvPr/>
        </p:nvSpPr>
        <p:spPr>
          <a:xfrm>
            <a:off x="609600" y="1066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M(r) = 请求 r 的输入 token 数 ÷ Σ（包含 r 的每个 step 的 batch 总 token 数）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按请求所属 DP rank 的 batch 计算；逐请求算出 M(r)，再对三轮成功请求取均值。</a:t>
            </a:r>
            <a:endParaRPr sz="1125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28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按输入长度的 P50 TTFT（秒）"/>
          <p:cNvSpPr>
            <a:spLocks noGrp="1"/>
          </p:cNvSpPr>
          <p:nvPr/>
        </p:nvSpPr>
        <p:spPr>
          <a:xfrm>
            <a:off x="609600" y="159067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按输入长度的 P50 TTFT（秒）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0" name="表格 16"/>
          <p:cNvGraphicFramePr/>
          <p:nvPr/>
        </p:nvGraphicFramePr>
        <p:xfrm>
          <a:off x="609600" y="2009775"/>
          <a:ext cx="5810250" cy="3048003"/>
        </p:xfrm>
        <a:graphic>
          <a:graphicData uri="http://schemas.openxmlformats.org/drawingml/2006/table">
            <a:tbl>
              <a:tblPr/>
              <a:tblGrid>
                <a:gridCol w="1524000"/>
                <a:gridCol w="1428750"/>
                <a:gridCol w="1428750"/>
                <a:gridCol w="1428750"/>
              </a:tblGrid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输入长度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  <a:endParaRPr sz="15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2–4K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6.50×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4–8K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1.31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5.72×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8–16K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1.78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8.43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4.73×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16–32K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9.22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32–64K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10.39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1.91×</a:t>
                      </a:r>
                      <a:endParaRPr sz="1500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chedulerStep 日志统计"/>
          <p:cNvSpPr>
            <a:spLocks noGrp="1"/>
          </p:cNvSpPr>
          <p:nvPr/>
        </p:nvSpPr>
        <p:spPr>
          <a:xfrm>
            <a:off x="6762750" y="1590675"/>
            <a:ext cx="4810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SchedulerStep 日志统计</a:t>
            </a:r>
            <a:endParaRPr sz="1575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2" name="表格 18"/>
          <p:cNvGraphicFramePr/>
          <p:nvPr/>
        </p:nvGraphicFramePr>
        <p:xfrm>
          <a:off x="6762750" y="2009775"/>
          <a:ext cx="4810125" cy="2152652"/>
        </p:xfrm>
        <a:graphic>
          <a:graphicData uri="http://schemas.openxmlformats.org/drawingml/2006/table">
            <a:tbl>
              <a:tblPr/>
              <a:tblGrid>
                <a:gridCol w="2333625"/>
                <a:gridCol w="1238250"/>
                <a:gridCol w="1238250"/>
              </a:tblGrid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  <a:endParaRPr sz="14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  <a:endParaRPr sz="14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  <a:endParaRPr sz="14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跨步请求数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跨步请求占比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M(r) 均值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73.18%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29.57%</a:t>
                      </a:r>
                      <a:endParaRPr sz="1425" b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更低的 M(r) 表示相关 batch 中&#10;其他请求 token 的相"/>
          <p:cNvSpPr>
            <a:spLocks noGrp="1"/>
          </p:cNvSpPr>
          <p:nvPr/>
        </p:nvSpPr>
        <p:spPr>
          <a:xfrm>
            <a:off x="6762750" y="4457700"/>
            <a:ext cx="4810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计算示例：请求输入长度为 4K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单步 batch=16K：4K ÷ 16K = 25%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跨步 batch=16K、8K：4K ÷ (16K+8K) = 16.7%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每个包含该请求的 step，计入完整 batch 总量</a:t>
            </a:r>
            <a:endParaRPr sz="135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证据支持请求间共同调度增多、跨步增多与延迟上升同时出现；具体瓶颈仍需逐"/>
          <p:cNvSpPr>
            <a:spLocks noGrp="1"/>
          </p:cNvSpPr>
          <p:nvPr/>
        </p:nvSpPr>
        <p:spPr>
          <a:xfrm>
            <a:off x="609600" y="551497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证据支持请求间共同调度增多、跨步增多与延迟上升同时出现；具体瓶颈仍需逐步耗时分析</a:t>
            </a:r>
            <a:endParaRPr sz="15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K=1024，区间左闭右开。此页为合并请求分位数。日志已排除 warm"/>
          <p:cNvSpPr>
            <a:spLocks noGrp="1"/>
          </p:cNvSpPr>
          <p:nvPr/>
        </p:nvSpPr>
        <p:spPr>
          <a:xfrm>
            <a:off x="609600" y="61245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20260908-rps234。M(r) 不含耗时，不能解释为空泡率。K=1024，长度区间左闭右开。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TTFT 合并三轮成功请求取分位数；SchedulerStep 已排除 warmup，逐请求核对 chunk token 之和等于输入长度。</a:t>
            </a:r>
            <a:endParaRPr sz="9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-kicker"/>
          <p:cNvSpPr>
            <a:spLocks noGrp="1"/>
          </p:cNvSpPr>
          <p:nvPr/>
        </p:nvSpPr>
        <p:spPr>
          <a:xfrm>
            <a:off x="609600" y="2286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  <a:endParaRPr sz="1100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476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接下来的 FFN 优化方向</a:t>
            </a:r>
            <a:endParaRPr sz="28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09600" y="10668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降低 FFN 的 Host 同步、图执行和通信控核开销</a:t>
            </a:r>
            <a:endParaRPr sz="1500" b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optimization-heading"/>
          <p:cNvSpPr>
            <a:spLocks noGrp="1"/>
          </p:cNvSpPr>
          <p:nvPr/>
        </p:nvSpPr>
        <p:spPr>
          <a:xfrm>
            <a:off x="609600" y="16002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优化方向</a:t>
            </a:r>
            <a:endParaRPr sz="22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optimization-list"/>
          <p:cNvSpPr>
            <a:spLocks noGrp="1"/>
          </p:cNvSpPr>
          <p:nvPr/>
        </p:nvSpPr>
        <p:spPr>
          <a:xfrm>
            <a:off x="609600" y="20955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接入选层算子，消除所有 Host 同步气泡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入图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通信使用多流，掩盖控核开销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benefit-heading"/>
          <p:cNvSpPr>
            <a:spLocks noGrp="1"/>
          </p:cNvSpPr>
          <p:nvPr/>
        </p:nvSpPr>
        <p:spPr>
          <a:xfrm>
            <a:off x="6438900" y="16002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预期收益</a:t>
            </a:r>
            <a:endParaRPr sz="22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enefit-list"/>
          <p:cNvSpPr>
            <a:spLocks noGrp="1"/>
          </p:cNvSpPr>
          <p:nvPr/>
        </p:nvSpPr>
        <p:spPr>
          <a:xfrm>
            <a:off x="6438900" y="20955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承载更多 Attention DP，增加吞吐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减小 chunksize，在单位时间内增加 FFN 算子执行次数</a:t>
            </a:r>
            <a:endParaRPr sz="21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admap-takeaway"/>
          <p:cNvSpPr>
            <a:spLocks noGrp="1"/>
          </p:cNvSpPr>
          <p:nvPr/>
        </p:nvSpPr>
        <p:spPr>
          <a:xfrm>
            <a:off x="609600" y="500062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优化 FFN 后，可承载更多 Attention DP，并以更小的 chunksize 提高 FFN 算子执行频率</a:t>
            </a:r>
            <a:endParaRPr sz="240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lide-number"/>
          <p:cNvSpPr>
            <a:spLocks noGrp="1"/>
          </p:cNvSpPr>
          <p:nvPr/>
        </p:nvSpPr>
        <p:spPr>
          <a:xfrm>
            <a:off x="1123950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100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7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7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4K）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7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7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7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17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17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7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7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ttft-table-17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17.85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30.99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35.73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7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4/8 分别低 13%/30%；RPS 6 时高 4%。</a:t>
            </a:r>
            <a:endParaRPr sz="12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17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MBT=4K、重复实验均值；表内单位：秒，红色粗体为同 RPS/分位点最优</a:t>
            </a:r>
            <a:endParaRPr sz="7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17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  <a:endParaRPr sz="60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17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  <a:endParaRPr sz="675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8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8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8K）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8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8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8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18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18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8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8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ttft-table-18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16.79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8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19%/2%；RPS 8 时高 49%。</a:t>
            </a:r>
            <a:endParaRPr sz="12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18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MBT=8K、重复实验均值；表内单位：秒，红色粗体为同 RPS/分位点最优</a:t>
            </a:r>
            <a:endParaRPr sz="7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18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  <a:endParaRPr sz="60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18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  <a:endParaRPr sz="675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9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19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16K）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19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19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19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19"/>
          <p:cNvSpPr>
            <a:spLocks noGrp="1"/>
          </p:cNvSpPr>
          <p:nvPr/>
        </p:nvSpPr>
        <p:spPr>
          <a:xfrm>
            <a:off x="3143250" y="1095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  <a:endParaRPr sz="975" b="1">
              <a:solidFill>
                <a:srgbClr val="4F8A1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19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19"/>
          <p:cNvSpPr>
            <a:spLocks noGrp="1"/>
          </p:cNvSpPr>
          <p:nvPr/>
        </p:nvSpPr>
        <p:spPr>
          <a:xfrm>
            <a:off x="609600" y="1466850"/>
            <a:ext cx="7162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19"/>
          <p:cNvSpPr>
            <a:spLocks noGrp="1"/>
          </p:cNvSpPr>
          <p:nvPr/>
        </p:nvSpPr>
        <p:spPr>
          <a:xfrm>
            <a:off x="7772400" y="14668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35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0960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="3019425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="5429250" y="1724025"/>
          <a:ext cx="2238375" cy="176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="990600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="4238625" y="3524250"/>
          <a:ext cx="3048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ttft-table-19"/>
          <p:cNvGraphicFramePr/>
          <p:nvPr/>
        </p:nvGraphicFramePr>
        <p:xfrm>
          <a:off x="7772400" y="1724025"/>
          <a:ext cx="3810000" cy="4191008"/>
        </p:xfrm>
        <a:graphic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5.94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9.99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11.56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5.90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  <a:endParaRPr sz="1200" b="1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  <a:endParaRPr sz="1200" b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9"/>
          <p:cNvSpPr>
            <a:spLocks noGrp="1"/>
          </p:cNvSpPr>
          <p:nvPr/>
        </p:nvSpPr>
        <p:spPr>
          <a:xfrm>
            <a:off x="609600" y="5486400"/>
            <a:ext cx="6953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42%/23%；RPS 8 时高 45%。</a:t>
            </a:r>
            <a:endParaRPr sz="12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19"/>
          <p:cNvSpPr>
            <a:spLocks noGrp="1"/>
          </p:cNvSpPr>
          <p:nvPr/>
        </p:nvSpPr>
        <p:spPr>
          <a:xfrm>
            <a:off x="609600" y="593407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MBT=16K、重复实验均值；表内单位：秒，红色粗体为同 RPS/分位点最优</a:t>
            </a:r>
            <a:endParaRPr sz="75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19"/>
          <p:cNvSpPr>
            <a:spLocks noGrp="1"/>
          </p:cNvSpPr>
          <p:nvPr/>
        </p:nvSpPr>
        <p:spPr>
          <a:xfrm>
            <a:off x="609600" y="61912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  <a:endParaRPr sz="60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19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  <a:endParaRPr sz="675" b="0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95325" y="2190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NEAR-TERM ROADMAP</a:t>
            </a:r>
            <a:endParaRPr sz="825" b="1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4572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近期规划与进展</a:t>
            </a:r>
            <a:endParaRPr sz="21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095375"/>
          <a:ext cx="10972800" cy="5137785"/>
        </p:xfrm>
        <a:graphic>
          <a:graphicData uri="http://schemas.openxmlformats.org/drawingml/2006/table">
            <a:tbl>
              <a:tblPr/>
              <a:tblGrid>
                <a:gridCol w="1438275"/>
                <a:gridCol w="6562725"/>
                <a:gridCol w="2019300"/>
                <a:gridCol w="952500"/>
              </a:tblGrid>
              <a:tr h="304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任务与关键事项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负责人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目标日期</a:t>
                      </a:r>
                      <a:endParaRPr sz="1200" b="1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E7E6E6"/>
                    </a:solidFill>
                  </a:tcPr>
                </a:tc>
              </a:tr>
              <a:tr h="3048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FFN 架构升级：FFN Service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侯安捷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Async 路径架构升级与重构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李瑞鑫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 rowSpan="4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升级 v0.30.0，废弃 ModelRunnerV1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启用 ModelRunnerV2 + DBO，完成 graph 适配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main2main agent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升级 v0.30.0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周子恒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10.10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废弃 ModelRunnerV1，启用 ModelRunnerV2 + DBO + graph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同步评估 AsyncConnector 异步 ubatch 与 camp2p ubatch 切分逻辑合并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李瑞鑫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算子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通信与选层算子合入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李玉星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9.23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性能优化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李玉星、江晨舟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42900">
                <a:tc rowSpan="3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DSV4-flash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 AsyncConnector 通信算子与选层 GMM 算子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9.24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DeepSeekV4-flash w4a8 AgentBench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甜点收益区间仿真与场景性能测试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周子恒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304800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FFN 侧入图与通信多流掩盖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江晨舟、白竞帆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待定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GLM5.3-Flash</a:t>
                      </a:r>
                      <a:endParaRPr sz="1275" b="1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Async 路径适配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升级 v0.30.0 后合入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10.15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 vMerge="1"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性能测试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曹玉娟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江晨舟、周子恒协助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待定</a:t>
                      </a:r>
                      <a:endParaRPr sz="120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11334750" y="6524625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32</a:t>
            </a:r>
            <a:endParaRPr sz="675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9" name="title-rule-19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对比（QPS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=2）</a:t>
            </a:r>
            <a:endParaRPr sz="2175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 dirty="0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</a:t>
            </a:r>
            <a:r>
              <a:rPr sz="1125" b="0" dirty="0" err="1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GMM＋FULL）vs</a:t>
            </a:r>
            <a:r>
              <a:rPr sz="1125" b="0" dirty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 大 EP 8K</a:t>
            </a:r>
            <a:endParaRPr sz="1125" b="0" dirty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最低：AFD 64K（0.81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8K（5.95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1.28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2.26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3.63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0.45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0.37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1.08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2.32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0.82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1.87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3.17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2.86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2.93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4.46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6.25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6.08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5.95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7.70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10.12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1.99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1.99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1.98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1.98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对比（QPS=3）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QPS=3：各分位点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8K（1.26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8K（6.75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2.24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1.73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4.88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0.73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0.52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2.11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3.11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1.62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3.18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4.41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5.13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3.81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6.72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8.11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</a:rPr>
                        <a:t>6.75</a:t>
                      </a:r>
                      <a:endParaRPr sz="12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10.48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11.99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2.97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2.94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对比（QPS=4）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QPS=4：各分位点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8K（3.10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8K（10.71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6.49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3.61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15.84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1.50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4.74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11.22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6.29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3.10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7.43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15.67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11.70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7.28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13.90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24.92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16.56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10.71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18.94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32.36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3.88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3.92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3.83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对比（QPS=5）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QPS=5：各分位点 TTFT（秒）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明细（秒）与实际吞吐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P50 最低：4×EP4 8K（22.29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P99 最低：4×EP4 8K（48.36 秒）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每配置三轮分位数均值；红色粗体为表中同分位最小值（两位小数）。QPS为offered RPS，末行为实际QPS（req/s）。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2026-10-04/05正式矩阵：AFD/EP16显存0.7，4×EP4/2×EP8为0.9；序列槽48/64。跨MBT/节点的部署方案比较。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6191402" cy="349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9907" y="1723644"/>
          <a:ext cx="4552796" cy="399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950747"/>
                <a:gridCol w="950747"/>
                <a:gridCol w="950747"/>
                <a:gridCol w="950747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105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1050" b="1" dirty="0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10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均值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30.32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22.41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38.29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50.34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20.47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14.18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23.35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30.51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30.74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22.29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37.76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49.78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49.12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38.30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66.35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90.70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62.89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微软雅黑"/>
                        </a:rPr>
                        <a:t>48.36</a:t>
                      </a:r>
                      <a:endParaRPr sz="12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81.09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107.81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590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111"/>
                          </a:solidFill>
                          <a:latin typeface="微软雅黑"/>
                        </a:rPr>
                        <a:t>实际QPS</a:t>
                      </a:r>
                      <a:endParaRPr sz="10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4.15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4.26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</a:rPr>
                        <a:t>3.93</a:t>
                      </a:r>
                      <a:endParaRPr sz="12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3.68</a:t>
                      </a:r>
                      <a:endParaRPr sz="12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 与 EP4 / EP8 / EP16：TTFT 对比（8K 基线）</a:t>
            </a:r>
            <a:endParaRPr sz="2175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64K（layered GMM＋FULL）vs 大 EP 8K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QPS=2/3/4/5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P99（QPS 2/3/4/5）：6.08 / 8.11 / 16.56 / 62.89 秒</a:t>
            </a:r>
            <a:endParaRPr sz="1200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四档</a:t>
            </a: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P99 </a:t>
            </a:r>
            <a:r>
              <a:rPr sz="1200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最低均为</a:t>
            </a:r>
            <a:r>
              <a:rPr sz="12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4×EP4（MBT=8K）</a:t>
            </a:r>
            <a:endParaRPr sz="1200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三轮分位数均值；红色粗体为表中同 QPS / 分位最小值（两位小数）。QPS为offered RPS。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2026-10-04/05正式矩阵：AFD/EP16显存0.7，4×EP4/2×EP8为0.9；序列槽48/64。跨MBT/节点比较。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715207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9904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715207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2A300"/>
                </a:solidFill>
                <a:latin typeface="微软雅黑"/>
              </a:rPr>
              <a:t>AFD 64K</a:t>
            </a:r>
            <a:endParaRPr sz="1000" b="1">
              <a:solidFill>
                <a:srgbClr val="F2A300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31136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48235"/>
                </a:solidFill>
                <a:latin typeface="微软雅黑"/>
              </a:rPr>
              <a:t>4×EP4 8K</a:t>
            </a:r>
            <a:endParaRPr sz="1000" b="1">
              <a:solidFill>
                <a:srgbClr val="548235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76472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472C4"/>
                </a:solidFill>
                <a:latin typeface="微软雅黑"/>
              </a:rPr>
              <a:t>2×EP8 8K</a:t>
            </a:r>
            <a:endParaRPr sz="1000" b="1">
              <a:solidFill>
                <a:srgbClr val="4472C4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21808" y="5276088"/>
            <a:ext cx="152704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030A0"/>
                </a:solidFill>
                <a:latin typeface="微软雅黑"/>
              </a:rPr>
              <a:t>EP16 8K</a:t>
            </a:r>
            <a:endParaRPr sz="1000" b="1">
              <a:solidFill>
                <a:srgbClr val="7030A0"/>
              </a:solidFill>
              <a:latin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038748" y="1829988"/>
          <a:ext cx="4552796" cy="4237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"/>
                <a:gridCol w="466344"/>
                <a:gridCol w="932459"/>
                <a:gridCol w="932459"/>
                <a:gridCol w="932459"/>
                <a:gridCol w="932459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111"/>
                          </a:solidFill>
                          <a:latin typeface="微软雅黑"/>
                        </a:rPr>
                        <a:t>QPS</a:t>
                      </a:r>
                      <a:endParaRPr sz="8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85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F2A300"/>
                          </a:solidFill>
                          <a:latin typeface="微软雅黑"/>
                        </a:rPr>
                        <a:t>AFD</a:t>
                      </a:r>
                      <a:endParaRPr sz="8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F2A300"/>
                          </a:solidFill>
                          <a:latin typeface="微软雅黑"/>
                        </a:rPr>
                        <a:t>64K</a:t>
                      </a:r>
                      <a:endParaRPr sz="850" b="1" dirty="0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548235"/>
                          </a:solidFill>
                          <a:latin typeface="微软雅黑"/>
                        </a:rPr>
                        <a:t>4×EP4</a:t>
                      </a:r>
                      <a:endParaRPr sz="8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548235"/>
                          </a:solidFill>
                          <a:latin typeface="微软雅黑"/>
                        </a:rPr>
                        <a:t>8K</a:t>
                      </a:r>
                      <a:endParaRPr sz="85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4472C4"/>
                          </a:solidFill>
                          <a:latin typeface="微软雅黑"/>
                        </a:rPr>
                        <a:t>2×EP8</a:t>
                      </a:r>
                      <a:endParaRPr sz="8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4472C4"/>
                          </a:solidFill>
                          <a:latin typeface="微软雅黑"/>
                        </a:rPr>
                        <a:t>8K</a:t>
                      </a:r>
                      <a:endParaRPr sz="850" b="1" dirty="0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7030A0"/>
                          </a:solidFill>
                          <a:latin typeface="微软雅黑"/>
                        </a:rPr>
                        <a:t>EP16</a:t>
                      </a:r>
                      <a:endParaRPr sz="8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7030A0"/>
                          </a:solidFill>
                          <a:latin typeface="微软雅黑"/>
                        </a:rPr>
                        <a:t>8K</a:t>
                      </a:r>
                      <a:endParaRPr sz="85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E7E6E6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2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0.45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0.37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1.08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2.32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0.82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1.87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3.17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C00000"/>
                          </a:solidFill>
                          <a:latin typeface="微软雅黑"/>
                        </a:rPr>
                        <a:t>2.86</a:t>
                      </a:r>
                      <a:endParaRPr sz="1000" b="1" dirty="0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2.93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4.46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6.25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6.08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5.95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7.70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10.12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3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0.73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0.52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2.11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3.11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1.62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1.26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4.41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5.13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6.72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8.05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8.11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6.75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10.48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11.99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4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3.19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1.50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4.74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11.22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6.29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3.10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7.43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15.67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11.70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7.28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13.90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24.92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16.56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10.71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18.94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32.36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111"/>
                          </a:solidFill>
                          <a:latin typeface="微软雅黑"/>
                        </a:rPr>
                        <a:t>5</a:t>
                      </a:r>
                      <a:endParaRPr sz="11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20.47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14.18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23.35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30.51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30.74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22.29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37.76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49.78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49.12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38.30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66.35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90.70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  <a:tr h="24313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62.89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48.36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81.09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107.81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0"/>
          <p:cNvSpPr>
            <a:spLocks noGrp="1"/>
          </p:cNvSpPr>
          <p:nvPr/>
        </p:nvSpPr>
        <p:spPr>
          <a:xfrm>
            <a:off x="609600" y="2095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  <a:endParaRPr sz="825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609600" y="4191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DP3TP4：开启 /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关闭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ubatch</a:t>
            </a:r>
            <a:r>
              <a:rPr sz="2175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的 TTFT </a:t>
            </a:r>
            <a:r>
              <a:rPr sz="2175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</a:t>
            </a:r>
            <a:endParaRPr sz="2175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609600" y="914400"/>
            <a:ext cx="1428750" cy="2857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metadata-bg-20"/>
          <p:cNvSpPr>
            <a:spLocks noGrp="1"/>
          </p:cNvSpPr>
          <p:nvPr/>
        </p:nvSpPr>
        <p:spPr>
          <a:xfrm>
            <a:off x="609600" y="1028700"/>
            <a:ext cx="10972800" cy="40005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20"/>
          <p:cNvSpPr>
            <a:spLocks noGrp="1"/>
          </p:cNvSpPr>
          <p:nvPr/>
        </p:nvSpPr>
        <p:spPr>
          <a:xfrm>
            <a:off x="800100" y="1095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 W4A8</a:t>
            </a:r>
            <a:endParaRPr sz="1050" b="1">
              <a:solidFill>
                <a:srgbClr val="234C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mparison-20"/>
          <p:cNvSpPr>
            <a:spLocks noGrp="1"/>
          </p:cNvSpPr>
          <p:nvPr/>
        </p:nvSpPr>
        <p:spPr>
          <a:xfrm>
            <a:off x="3476625" y="1095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A:DP3TP4 / F:EP4；layered GMM ON；FFN FULL</a:t>
            </a:r>
            <a:endParaRPr sz="1125" b="0">
              <a:solidFill>
                <a:srgbClr val="528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hardware-20"/>
          <p:cNvSpPr>
            <a:spLocks noGrp="1"/>
          </p:cNvSpPr>
          <p:nvPr/>
        </p:nvSpPr>
        <p:spPr>
          <a:xfrm>
            <a:off x="9144000" y="1095375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  <a:endParaRPr sz="975" b="1">
              <a:solidFill>
                <a:srgbClr val="F0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hart-heading-20"/>
          <p:cNvSpPr>
            <a:spLocks noGrp="1"/>
          </p:cNvSpPr>
          <p:nvPr/>
        </p:nvSpPr>
        <p:spPr>
          <a:xfrm>
            <a:off x="609600" y="14668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QPS=2/3/4/5 下的 TTFT 分位点（秒）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able-heading-20"/>
          <p:cNvSpPr>
            <a:spLocks noGrp="1"/>
          </p:cNvSpPr>
          <p:nvPr/>
        </p:nvSpPr>
        <p:spPr>
          <a:xfrm>
            <a:off x="7029450" y="1466850"/>
            <a:ext cx="455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  <a:endParaRPr sz="1500" b="1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clusion-20"/>
          <p:cNvSpPr>
            <a:spLocks noGrp="1"/>
          </p:cNvSpPr>
          <p:nvPr/>
        </p:nvSpPr>
        <p:spPr>
          <a:xfrm>
            <a:off x="609600" y="5514975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RPS=5 开启 split：32K / 64K 实际 QPS 提升 23.51% / 22.25%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 降低 57.22% / 56.64%（三对同机相对变化的均值）</a:t>
            </a:r>
            <a:endParaRPr sz="1200" b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ettings-20"/>
          <p:cNvSpPr>
            <a:spLocks noGrp="1"/>
          </p:cNvSpPr>
          <p:nvPr/>
        </p:nvSpPr>
        <p:spPr>
          <a:xfrm>
            <a:off x="609600" y="6067425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开＝ubatch=2、token split；关＝不切分。四档各三轮同机配对，AB/BA顺序平衡；表为三轮分位数均值。</a:t>
            </a:r>
            <a:endParaRPr sz="825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ource-20"/>
          <p:cNvSpPr>
            <a:spLocks noGrp="1"/>
          </p:cNvSpPr>
          <p:nvPr/>
        </p:nvSpPr>
        <p:spPr>
          <a:xfrm>
            <a:off x="609600" y="630555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2026-10-05/06 ubatch 正式48点；显存0.7，prefix cache OFF，1536请求/轮。3次断连保留；仅成功请求计算TTFT。</a:t>
            </a:r>
            <a:endParaRPr sz="825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age-20"/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750" b="0">
              <a:solidFill>
                <a:srgbClr val="7777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09904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715207" y="1790395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9904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715207" y="3534156"/>
          <a:ext cx="2971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029907" y="1723644"/>
          <a:ext cx="4552795" cy="413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21207"/>
                <a:gridCol w="905027"/>
                <a:gridCol w="905027"/>
                <a:gridCol w="905027"/>
                <a:gridCol w="905027"/>
              </a:tblGrid>
              <a:tr h="24312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QPS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111"/>
                          </a:solidFill>
                          <a:latin typeface="微软雅黑"/>
                        </a:rPr>
                        <a:t>分位</a:t>
                      </a:r>
                      <a:endParaRPr sz="9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2A300"/>
                          </a:solidFill>
                          <a:latin typeface="微软雅黑"/>
                        </a:rPr>
                        <a:t>32K 开</a:t>
                      </a:r>
                      <a:endParaRPr sz="900" b="1">
                        <a:solidFill>
                          <a:srgbClr val="F2A3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548235"/>
                          </a:solidFill>
                          <a:latin typeface="微软雅黑"/>
                        </a:rPr>
                        <a:t>32K 关</a:t>
                      </a:r>
                      <a:endParaRPr sz="900" b="1">
                        <a:solidFill>
                          <a:srgbClr val="548235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4472C4"/>
                          </a:solidFill>
                          <a:latin typeface="微软雅黑"/>
                        </a:rPr>
                        <a:t>64K 开</a:t>
                      </a:r>
                      <a:endParaRPr sz="900" b="1">
                        <a:solidFill>
                          <a:srgbClr val="4472C4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7030A0"/>
                          </a:solidFill>
                          <a:latin typeface="微软雅黑"/>
                        </a:rPr>
                        <a:t>64K 关</a:t>
                      </a:r>
                      <a:endParaRPr sz="900" b="1">
                        <a:solidFill>
                          <a:srgbClr val="7030A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E7E6E6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2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0.45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0.54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0.45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0.57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1.24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0.81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1.26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3.02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4.13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2.90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4.26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5.32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6.91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5.78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7.89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3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0.74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2.26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0.74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2.14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1.59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4.58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1.64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4.98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4.34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9.73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5.03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9.96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7.19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14.32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7.76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14.54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4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3.08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24.43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3.30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24.37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5.49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39.44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6.40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36.35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11.01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65.84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12.02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58.09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15.16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79.74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16.87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67.37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rowSpan="4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111"/>
                          </a:solidFill>
                          <a:latin typeface="微软雅黑"/>
                        </a:rPr>
                        <a:t>5</a:t>
                      </a:r>
                      <a:endParaRPr sz="1000" b="1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P25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21.34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42.59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20.52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39.91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22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P50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32.69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74.27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31.45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69.76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3122">
                <a:tc vMerge="1"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P90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53.19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132.46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49.66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120.12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3135">
                <a:tc vMerge="1"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微软雅黑"/>
                        </a:rPr>
                        <a:t>P99</a:t>
                      </a:r>
                      <a:endParaRPr sz="9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69.68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111"/>
                          </a:solidFill>
                          <a:latin typeface="微软雅黑"/>
                        </a:rPr>
                        <a:t>156.28</a:t>
                      </a:r>
                      <a:endParaRPr sz="1000" b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微软雅黑"/>
                        </a:rPr>
                        <a:t>63.19</a:t>
                      </a:r>
                      <a:endParaRPr sz="1000" b="1">
                        <a:solidFill>
                          <a:srgbClr val="C00000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11111"/>
                          </a:solidFill>
                          <a:latin typeface="微软雅黑"/>
                        </a:rPr>
                        <a:t>143.61</a:t>
                      </a:r>
                      <a:endParaRPr sz="1000" b="0" dirty="0">
                        <a:solidFill>
                          <a:srgbClr val="111111"/>
                        </a:solidFill>
                        <a:latin typeface="微软雅黑"/>
                      </a:endParaRPr>
                    </a:p>
                  </a:txBody>
                  <a:tcPr marL="22860" marR="22860" marT="22860" marB="22860" anchor="ctr">
                    <a:lnL w="6350">
                      <a:solidFill>
                        <a:srgbClr val="D5D5D5"/>
                      </a:solidFill>
                    </a:lnL>
                    <a:lnR w="6350">
                      <a:solidFill>
                        <a:srgbClr val="D5D5D5"/>
                      </a:solidFill>
                    </a:lnR>
                    <a:lnT w="6350">
                      <a:solidFill>
                        <a:srgbClr val="D5D5D5"/>
                      </a:solidFill>
                    </a:lnT>
                    <a:lnB w="6350">
                      <a:solidFill>
                        <a:srgbClr val="D5D5D5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MULTI-TURN WORKLOAD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多轮长上下文：256 个完整会话，9,078 个请求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真实会话历史｜相同输入｜每轮输出 1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55778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请求输入长度分布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9224" y="2084831"/>
          <a:ext cx="5596128" cy="27797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4937760"/>
            <a:ext cx="539496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输入长度中位数 77,400 tokens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最大 235,936 tokens；K=1,024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27632"/>
            <a:ext cx="5029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数据与回放设置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19672" y="2048256"/>
          <a:ext cx="5056632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488"/>
                <a:gridCol w="3438144"/>
              </a:tblGrid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测试项目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数据来源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用户提供的多轮代码任务会话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完整会话 / 请求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256 / 9,078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平均轮次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35.46 轮 / 会话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累计输入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748.75 百万 tokens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每轮输出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token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测试起点 / 次数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冷缓存 / 每配置完整回放 1 次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1792" y="5650992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769864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保留全部轮次与原始历史；各组使用相同输入，本轮生成不回填下一轮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632764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666666"/>
                </a:solidFill>
                <a:latin typeface="微软雅黑"/>
                <a:ea typeface="微软雅黑"/>
              </a:rPr>
              <a:t>测试范围：长历史输入的 prefill 与缓存复用；输出固定 1 token，不含完整 Agent 生成与工具执行。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SCHEDULING &amp; CONFIGURATION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会话内顺序执行，会话间并行；全局最多 16 个在途请求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开启异步调度｜同一会话固定分配到同一缓存分组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256 个完整会话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每个会话按轮次推进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上一轮完成后发出下一轮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82696" y="2322576"/>
            <a:ext cx="91440" cy="15544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2424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2424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就绪请求选择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按固定优先级选择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全局最多 16 个请求在途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3328" y="2322576"/>
            <a:ext cx="91440" cy="15544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5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会话固定路由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历史始终落在同一缓存分组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缓存随会话持续复用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59" y="2322576"/>
            <a:ext cx="91440" cy="15544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1773936"/>
            <a:ext cx="2624328" cy="1243584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3688" y="1773936"/>
            <a:ext cx="41148" cy="1243584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1901952"/>
            <a:ext cx="23317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4CA5"/>
                </a:solidFill>
                <a:latin typeface="微软雅黑"/>
                <a:ea typeface="微软雅黑"/>
              </a:rPr>
              <a:t>服务端异步调度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386584"/>
            <a:ext cx="233172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每个缓存分组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22222"/>
                </a:solidFill>
                <a:latin typeface="微软雅黑"/>
                <a:ea typeface="微软雅黑"/>
              </a:rPr>
              <a:t>单次最多调度 8 个请求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310128"/>
            <a:ext cx="10881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部署与并发配置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21792" y="3703320"/>
          <a:ext cx="1095451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749039"/>
                <a:gridCol w="1645920"/>
                <a:gridCol w="1874519"/>
                <a:gridCol w="2724912"/>
              </a:tblGrid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并行拓扑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独立缓存分组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会话分配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单批 token 上限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 实例 × DP1 / TP4 / 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每组 64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8,192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 实例 × DP2 / TP4 / 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每组 64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8,192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实例 × DP4 / TP4 / 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每组 64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8,192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12A+4F；A DP3/TP4，F EP4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85 / 86 / 85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32,768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31520" y="5687568"/>
            <a:ext cx="1065276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234CA5"/>
                </a:solidFill>
                <a:latin typeface="微软雅黑"/>
                <a:ea typeface="微软雅黑"/>
              </a:rPr>
              <a:t>AFD：CAM 异步通信；token 拆为两份微批次。各组：前缀缓存开启，最大上下文 262,144。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6254496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客户端按就绪请求补充并发，不设置固定 QPS；服务端每个缓存分组独立维护历史缓存。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MULTI-TURN RESULTS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本轮回放：AFD 相对 EP4、EP8 分别加速 3.80×、1.33×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同为 16 DIE｜单批上限：Non 8K / AFD 32K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54406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完整负载耗时（分钟）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2648" y="2103120"/>
          <a:ext cx="557784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73368" y="1645920"/>
            <a:ext cx="52120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首 token 延迟 TTFT（秒）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73368" y="2093976"/>
          <a:ext cx="520293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32688"/>
                <a:gridCol w="932688"/>
                <a:gridCol w="932688"/>
                <a:gridCol w="941832"/>
              </a:tblGrid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均值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P50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P95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P99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24.99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15.38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79.62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147.31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8.78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4.02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33.51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53.48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5.67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4.05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14.82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30.87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6.56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3.83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23.64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50.77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C06000"/>
                          </a:solidFill>
                          <a:latin typeface="微软雅黑"/>
                          <a:ea typeface="微软雅黑"/>
                        </a:rPr>
                        <a:t>AFD F FULL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6.62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3.85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24.39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50.57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37376" y="4937760"/>
            <a:ext cx="500176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90" b="1">
                <a:solidFill>
                  <a:srgbClr val="234CA5"/>
                </a:solidFill>
                <a:latin typeface="微软雅黑"/>
                <a:ea typeface="微软雅黑"/>
              </a:rPr>
              <a:t>AFD eager：全程 62.92 分钟；P50 为 3.83 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" y="5468112"/>
            <a:ext cx="5321808" cy="66751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" y="5468112"/>
            <a:ext cx="41148" cy="667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5029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相对 EP4：耗时降低 73.7%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5468112"/>
            <a:ext cx="5376672" cy="667512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5468112"/>
            <a:ext cx="41148" cy="667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596128"/>
            <a:ext cx="508406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相对 EP8：耗时降低 24.8%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291072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666666"/>
                </a:solidFill>
                <a:latin typeface="微软雅黑"/>
                <a:ea typeface="微软雅黑"/>
              </a:rPr>
              <a:t>收益以 AFD eager 计算；表中红色为同列最低值。全程含期间排队与依赖等待；TTFT 从请求实际发出开始计时。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MULTI-TURN RESULTS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AFD 集中部署专家，减少多实例中的权重副本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单 DIE 显存分配 + 整机容量｜AFD 采用 eager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36776"/>
            <a:ext cx="60350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单 DIE：64 GiB 显存分配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052828"/>
            <a:ext cx="146304" cy="109728"/>
          </a:xfrm>
          <a:prstGeom prst="rect">
            <a:avLst/>
          </a:prstGeom>
          <a:solidFill>
            <a:srgbClr val="91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9696" y="2052828"/>
            <a:ext cx="146304" cy="109728"/>
          </a:xfrm>
          <a:prstGeom prst="rect">
            <a:avLst/>
          </a:prstGeom>
          <a:solidFill>
            <a:srgbClr val="F5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KV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5576" y="2052828"/>
            <a:ext cx="146304" cy="10972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其他已用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5" y="2052828"/>
            <a:ext cx="146304" cy="10972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3" y="2029968"/>
            <a:ext cx="109728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空闲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03504" y="2377440"/>
          <a:ext cx="6007608" cy="27614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32104" y="5157216"/>
            <a:ext cx="559612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同类 DIE 平均值；其他已用为未细分差额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636776"/>
            <a:ext cx="4709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整机：16 DIE 合计（GiB）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93992" y="2075688"/>
          <a:ext cx="4745736" cy="2606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1563624"/>
                <a:gridCol w="1691640"/>
              </a:tblGrid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权重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 KV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615.11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227.38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354.40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468.84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224.05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562.68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224.18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515.78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48856" y="4919472"/>
            <a:ext cx="4654296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234CA5"/>
                </a:solidFill>
                <a:latin typeface="微软雅黑"/>
                <a:ea typeface="微软雅黑"/>
              </a:rPr>
              <a:t>AFD 与 EP16 权重总量接近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234CA5"/>
                </a:solidFill>
                <a:latin typeface="微软雅黑"/>
                <a:ea typeface="微软雅黑"/>
              </a:rPr>
              <a:t>相对 EP4 / EP8，AFD 的 KV 空间更大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5660136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779008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AFD 将专家权重集中到 F 侧，为 A 侧留出更多缓存空间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MULTI-TURN RESULTS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AFD 实际 prefill 较 EP4、EP8 减少 77.2%、22.3%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相同 748.75 百万输入 tokens｜缓存复用与实际计算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56692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相同输入：缓存复用与实际计算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2043684"/>
            <a:ext cx="146304" cy="109728"/>
          </a:xfrm>
          <a:prstGeom prst="rect">
            <a:avLst/>
          </a:prstGeom>
          <a:solidFill>
            <a:srgbClr val="94A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0824"/>
            <a:ext cx="169164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缓存复用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2043684"/>
            <a:ext cx="146304" cy="109728"/>
          </a:xfrm>
          <a:prstGeom prst="rect">
            <a:avLst/>
          </a:prstGeom>
          <a:solidFill>
            <a:srgbClr val="F3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020824"/>
            <a:ext cx="169164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222222"/>
                </a:solidFill>
                <a:latin typeface="微软雅黑"/>
                <a:ea typeface="微软雅黑"/>
              </a:rPr>
              <a:t>实际 prefill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1792" y="2386584"/>
          <a:ext cx="5769864" cy="26883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" y="5093208"/>
            <a:ext cx="5449824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单位：百万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645920"/>
            <a:ext cx="492861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缓存复用与 prefill 明细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601968" y="2093976"/>
          <a:ext cx="494690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645920"/>
                <a:gridCol w="1728216"/>
              </a:tblGrid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缓存复用比例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prefill / 百万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528A00"/>
                          </a:solidFill>
                          <a:latin typeface="微软雅黑"/>
                          <a:ea typeface="微软雅黑"/>
                        </a:rPr>
                        <a:t>EP4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45.18%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410.50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</a:rPr>
                        <a:t>EP8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83.94%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120.26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7030A0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91.72%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62.00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F2A900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87.53%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93.39</a:t>
                      </a:r>
                    </a:p>
                  </a:txBody>
                  <a:tcPr marL="45720" marR="45720" marT="27432" marB="27432" anchor="ctr">
                    <a:solidFill>
                      <a:srgbClr val="FFF4DA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C06000"/>
                          </a:solidFill>
                          <a:latin typeface="微软雅黑"/>
                          <a:ea typeface="微软雅黑"/>
                        </a:rPr>
                        <a:t>AFD F FULL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87.43%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94.08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47688" y="4956048"/>
            <a:ext cx="48280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234CA5"/>
                </a:solidFill>
                <a:latin typeface="微软雅黑"/>
                <a:ea typeface="微软雅黑"/>
              </a:rPr>
              <a:t>AFD eager：87.53% 输入由缓存复用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234CA5"/>
                </a:solidFill>
                <a:latin typeface="微软雅黑"/>
                <a:ea typeface="微软雅黑"/>
              </a:rPr>
              <a:t>实际 prefill 为 9,339 万 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5660136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779008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0000"/>
                </a:solidFill>
                <a:latin typeface="微软雅黑"/>
                <a:ea typeface="微软雅黑"/>
              </a:rPr>
              <a:t>相对 EP4 / EP8，AFD 复用更多历史，减少本轮实际输入计算量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6318504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缓存复用比例按输入 token 计；prefill 包含首次输入、新增内容与未复用历史。五组均无抢占重算。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MULTI-TURN RESULTS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当前 workflow：4.19 个百分点的复用差，对应 50.63% 的 prefill 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AFD eager 与 EP16｜同一多轮长上下文负载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64208"/>
            <a:ext cx="5760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</a:rPr>
              <a:t>缓存容量与实际工作量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2084831"/>
          <a:ext cx="611733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688"/>
                <a:gridCol w="1417320"/>
                <a:gridCol w="1481328"/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EP16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AFD eager</a:t>
                      </a:r>
                    </a:p>
                  </a:txBody>
                  <a:tcPr marL="45720" marR="45720" marT="27432" marB="27432" anchor="ctr">
                    <a:solidFill>
                      <a:srgbClr val="EDEDED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 KV / GiB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562.68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515.78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缓存复用比例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91.72%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87.53%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仍需 prefill 的输入比例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8.28%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12.47%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 prefill / 百万 tokens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62.00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93.39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完整负载耗时 / 分钟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54.42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62.92</a:t>
                      </a:r>
                    </a:p>
                  </a:txBody>
                  <a:tcPr marL="45720" marR="45720" marT="27432" marB="27432" anchor="ctr">
                    <a:solidFill>
                      <a:srgbClr val="F8F8F8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TTFT 中位数 / 秒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4.05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3.83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141464" y="2084831"/>
            <a:ext cx="4407408" cy="114300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41464" y="2084831"/>
            <a:ext cx="41148" cy="1143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212848"/>
            <a:ext cx="4114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</a:rPr>
              <a:t>+50.63% 实际 prefill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697479"/>
            <a:ext cx="4114800" cy="4663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微软雅黑"/>
                <a:ea typeface="微软雅黑"/>
              </a:rPr>
              <a:t>AFD 相对 EP16，需要处理更多输入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41464" y="3438144"/>
            <a:ext cx="4407408" cy="1143000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41464" y="3438144"/>
            <a:ext cx="41148" cy="1143000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3566160"/>
            <a:ext cx="4114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34CA5"/>
                </a:solidFill>
                <a:latin typeface="微软雅黑"/>
                <a:ea typeface="微软雅黑"/>
              </a:rPr>
              <a:t>+15.62% 全程耗时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4050791"/>
            <a:ext cx="4114800" cy="4663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62.92 分钟 vs. 54.42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937760"/>
            <a:ext cx="42885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当前负载持续复用长历史，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</a:rPr>
              <a:t>缓存容量差异对应明显的工作量差异。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5687568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806440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0000"/>
                </a:solidFill>
                <a:latin typeface="微软雅黑"/>
                <a:ea typeface="微软雅黑"/>
              </a:rPr>
              <a:t>缓存复用是本轮差异的重要解释；AFD 的中位 TTFT 仍更低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632764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本页为既定部署实测；通信、组批与执行路径也有差异，尚未单独量化各因素的耗时贡献。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0312"/>
            <a:ext cx="1005840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</a:rPr>
              <a:t>AFD MULTI-TURN RESULTS</a:t>
            </a:r>
          </a:p>
        </p:txBody>
      </p:sp>
      <p:sp>
        <p:nvSpPr>
          <p:cNvPr id="3" name="benefit-title"/>
          <p:cNvSpPr txBox="1"/>
          <p:nvPr/>
        </p:nvSpPr>
        <p:spPr>
          <a:xfrm>
            <a:off x="609904" y="420624"/>
            <a:ext cx="10972800" cy="4480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50" b="1">
                <a:solidFill>
                  <a:srgbClr val="C00000"/>
                </a:solidFill>
                <a:latin typeface="微软雅黑"/>
                <a:ea typeface="微软雅黑"/>
              </a:rPr>
              <a:t>AFD 在多副本部署中实现资源与性能收益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914400"/>
            <a:ext cx="1426464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" y="1028700"/>
            <a:ext cx="10972800" cy="400507"/>
          </a:xfrm>
          <a:prstGeom prst="rect">
            <a:avLst/>
          </a:prstGeom>
          <a:solidFill>
            <a:srgbClr val="F5F5F5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01852"/>
            <a:ext cx="24688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</a:rPr>
              <a:t>模型：dsv4-flash W4A8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101852"/>
            <a:ext cx="58064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28A00"/>
                </a:solidFill>
                <a:latin typeface="微软雅黑"/>
                <a:ea typeface="微软雅黑"/>
              </a:rPr>
              <a:t>相同 16 DIE｜多轮长上下文实测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101852"/>
            <a:ext cx="21945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</a:rPr>
              <a:t>硬件：Ascend 910C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56248"/>
            <a:ext cx="32004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777777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1783080"/>
            <a:ext cx="5321808" cy="15270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783080"/>
            <a:ext cx="41148" cy="1527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11095"/>
            <a:ext cx="5029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C00000"/>
                </a:solidFill>
                <a:latin typeface="微软雅黑"/>
                <a:ea typeface="微软雅黑"/>
              </a:rPr>
              <a:t>3.80×  相对 EP4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5029200" cy="850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路由专家副本从 4 份集中为 1 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完整负载：238.92 → 62.92 分钟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349240" cy="15270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41148" cy="1527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11095"/>
            <a:ext cx="5056631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C00000"/>
                </a:solidFill>
                <a:latin typeface="微软雅黑"/>
                <a:ea typeface="微软雅黑"/>
              </a:rPr>
              <a:t>1.33×  相对 EP8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95728"/>
            <a:ext cx="5056631" cy="850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路由专家副本从 2 份集中为 1 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完整负载：83.71 → 62.92 分钟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" y="3703320"/>
            <a:ext cx="3502152" cy="12984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" y="3703320"/>
            <a:ext cx="41148" cy="1298448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31335"/>
            <a:ext cx="32095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4CA5"/>
                </a:solidFill>
                <a:latin typeface="微软雅黑"/>
                <a:ea typeface="微软雅黑"/>
              </a:rPr>
              <a:t>资源收益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3209544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减少专家权重重复驻留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更多显存可用于会话缓存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827" y="3703320"/>
            <a:ext cx="3502152" cy="12984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827" y="3703320"/>
            <a:ext cx="41148" cy="1298448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5131" y="3831335"/>
            <a:ext cx="32095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4CA5"/>
                </a:solidFill>
                <a:latin typeface="微软雅黑"/>
                <a:ea typeface="微软雅黑"/>
              </a:rPr>
              <a:t>当前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5131" y="4315968"/>
            <a:ext cx="3209544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EP16 总 KV 更大、prefill 更少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本轮全程耗时更短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3703320"/>
            <a:ext cx="3502152" cy="1298448"/>
          </a:xfrm>
          <a:prstGeom prst="rect">
            <a:avLst/>
          </a:prstGeom>
          <a:solidFill>
            <a:srgbClr val="F7F7F7"/>
          </a:solidFill>
          <a:ln w="762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03320"/>
            <a:ext cx="41148" cy="1298448"/>
          </a:xfrm>
          <a:prstGeom prst="rect">
            <a:avLst/>
          </a:prstGeom>
          <a:solidFill>
            <a:srgbClr val="234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3831335"/>
            <a:ext cx="32095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4CA5"/>
                </a:solidFill>
                <a:latin typeface="微软雅黑"/>
                <a:ea typeface="微软雅黑"/>
              </a:rPr>
              <a:t>适用场景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4315968"/>
            <a:ext cx="3209544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Non-AFD 需多份专家权重时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>
                <a:solidFill>
                  <a:srgbClr val="222222"/>
                </a:solidFill>
                <a:latin typeface="微软雅黑"/>
                <a:ea typeface="微软雅黑"/>
              </a:rPr>
              <a:t>AFD 的资源优势更具价值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5559552"/>
            <a:ext cx="1095451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678424"/>
            <a:ext cx="1057046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收益随部署与负载变化：本轮已验证 AFD 相对 EP4 / EP8 的优势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6300216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>
                <a:solidFill>
                  <a:srgbClr val="666666"/>
                </a:solidFill>
                <a:latin typeface="微软雅黑"/>
                <a:ea typeface="微软雅黑"/>
              </a:rPr>
              <a:t>其他负载的收益需结合缓存压力与执行特征评估；本轮数字为各配置一次完整运行结果。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19755</Words>
  <Application>WPS 演示</Application>
  <PresentationFormat>宽屏</PresentationFormat>
  <Paragraphs>3010</Paragraphs>
  <Slides>45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Arial</vt:lpstr>
      <vt:lpstr>宋体</vt:lpstr>
      <vt:lpstr>Wingdings</vt:lpstr>
      <vt:lpstr>Calibri</vt:lpstr>
      <vt:lpstr>Helvetica Neue</vt:lpstr>
      <vt:lpstr>微软雅黑</vt:lpstr>
      <vt:lpstr>方正雅意黑 GB18030L2</vt:lpstr>
      <vt:lpstr>宋体</vt:lpstr>
      <vt:lpstr>汉仪书宋二KW</vt:lpstr>
      <vt:lpstr>微软雅黑</vt:lpstr>
      <vt:lpstr>Arial Unicode MS</vt:lpstr>
      <vt:lpstr>Arial</vt:lpstr>
      <vt:lpstr>Calibri Light</vt:lpstr>
      <vt:lpstr>微软雅黑</vt:lpstr>
      <vt:lpstr>ChatGPT</vt:lpstr>
      <vt:lpstr>ChatGPT</vt:lpstr>
      <vt:lpstr>WHY AFD</vt:lpstr>
      <vt:lpstr>WHY AFD</vt:lpstr>
      <vt:lpstr>PROJECT OVERVIEW</vt:lpstr>
      <vt:lpstr>ARCHITECTURE</vt:lpstr>
      <vt:lpstr>RUNTIME FLOW</vt:lpstr>
      <vt:lpstr>CONNECTOR CONTRACT</vt:lpstr>
      <vt:lpstr>ARCHITECTURE</vt:lpstr>
      <vt:lpstr>ARCHITECTURE</vt:lpstr>
      <vt:lpstr>USAGE</vt:lpstr>
      <vt:lpstr>SYNC DECODE RESULTS</vt:lpstr>
      <vt:lpstr>ASYNC PREFILL RESULTS</vt:lpstr>
      <vt:lpstr>NEXT STEPS</vt:lpstr>
      <vt:lpstr>AFD Plugin Community </vt:lpstr>
      <vt:lpstr>COMMUNITY UPDATE</vt:lpstr>
      <vt:lpstr>ASYNC PREFILL DATASET</vt:lpstr>
      <vt:lpstr>ASYNC PREFILL RESULTS</vt:lpstr>
      <vt:lpstr>ASYNC PREFILL RESULTS</vt:lpstr>
      <vt:lpstr>ASYNC PREFILL RESULTS</vt:lpstr>
      <vt:lpstr>ASYNC PREFILL RESULTS</vt:lpstr>
      <vt:lpstr>ASYNC PREFILL SLO</vt:lpstr>
      <vt:lpstr>ASYNC PREFILL SLO</vt:lpstr>
      <vt:lpstr>ASYNC PREFILL SLO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NEAR-TERM ROADMAP</vt:lpstr>
      <vt:lpstr>ASYNC PREFILL RESULTS</vt:lpstr>
      <vt:lpstr>ASYNC PREFILL RESULTS</vt:lpstr>
      <vt:lpstr>ASYNC PREFILL RESULTS</vt:lpstr>
      <vt:lpstr>ASYNC PREFILL RESULTS</vt:lpstr>
      <vt:lpstr>ASYNC PREFILL RESULTS</vt:lpstr>
      <vt:lpstr>ASYNC PREFILL RESULTS</vt:lpstr>
      <vt:lpstr>多轮长上下文：256 个完整会话，9,078 个请求</vt:lpstr>
      <vt:lpstr>会话内顺序执行，会话间并行；全局最多 16 个在途请求</vt:lpstr>
      <vt:lpstr>本轮回放：AFD 相对 EP4、EP8 分别加速 3.80×、1.33×</vt:lpstr>
      <vt:lpstr>AFD 集中部署专家，减少多实例中的权重副本</vt:lpstr>
      <vt:lpstr>AFD 实际 prefill 较 EP4、EP8 减少 77.2%、22.3%</vt:lpstr>
      <vt:lpstr>当前 workflow：4.19 个百分点的复用差，对应 50.63% 的 prefill 差</vt:lpstr>
      <vt:lpstr>AFD 在多副本部署中实现资源与性能收益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</cp:lastModifiedBy>
  <cp:revision>5</cp:revision>
  <dcterms:created xsi:type="dcterms:W3CDTF">2026-10-10T07:07:02Z</dcterms:created>
  <dcterms:modified xsi:type="dcterms:W3CDTF">2026-10-10T07:07:02Z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D29F84B79FEEF03BF035AA6A3680A5BE_42</vt:lpwstr>
  </property>
  <property fmtid="{D5CDD505-2E9C-101B-9397-08002B2CF9AE}" pid="3" name="KSOProductBuildVer">
    <vt:lpwstr>2052-12.1.28496.28496</vt:lpwstr>
  </property>
</Properties>
</file>