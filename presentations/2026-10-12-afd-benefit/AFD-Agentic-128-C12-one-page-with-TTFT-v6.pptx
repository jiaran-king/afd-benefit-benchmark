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3f923098f24e64" /><Relationship Type="http://schemas.openxmlformats.org/officeDocument/2006/relationships/extended-properties" Target="/docProps/app.xml" Id="R870e58d9b2e144ea" /><Relationship Type="http://schemas.openxmlformats.org/officeDocument/2006/relationships/officeDocument" Target="/ppt/presentation.xml" Id="R964282dce70a48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47586c69ae421d"/>
  </p:sldMasterIdLst>
  <p:notesMasterIdLst>
    <p:notesMasterId xmlns:r="http://schemas.openxmlformats.org/officeDocument/2006/relationships" r:id="Rbda49d5f058144ef"/>
  </p:notesMasterIdLst>
  <p:sldIdLst>
    <p:sldId xmlns:r="http://schemas.openxmlformats.org/officeDocument/2006/relationships" id="256" r:id="R1d42b0444009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e158f724854553" /><Relationship Type="http://schemas.openxmlformats.org/officeDocument/2006/relationships/slideMaster" Target="/ppt/slideMasters/slideMaster1.xml" Id="Rdf47586c69ae421d" /><Relationship Type="http://schemas.openxmlformats.org/officeDocument/2006/relationships/notesMaster" Target="/ppt/notesMasters/notesMaster1.xml" Id="Rbda49d5f058144ef" /><Relationship Type="http://schemas.openxmlformats.org/officeDocument/2006/relationships/presProps" Target="/ppt/presProps.xml" Id="Re56524fa058c445d" /><Relationship Type="http://schemas.openxmlformats.org/officeDocument/2006/relationships/tableStyles" Target="/ppt/tableStyles.xml" Id="Rcba26ff11b494c77" /><Relationship Type="http://schemas.openxmlformats.org/officeDocument/2006/relationships/slide" Target="/ppt/slides/slide1.xml" Id="R1d42b0444009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169f3c93544e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84ddfc09c94354" /><Relationship Type="http://schemas.openxmlformats.org/officeDocument/2006/relationships/notesMaster" Target="/ppt/notesMasters/notesMaster1.xml" Id="R8e4a3499c78f46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来源：https://github.com/jiaran-king/afd-benefit-benchmark/blob/main/results/2026-10-14-c12-128/REPORT.zh-CN.md</a:t>
            </a:r>
          </a:p>
          <a:p xmlns:a="http://schemas.openxmlformats.org/drawingml/2006/main">
            <a:r>
              <a:t>https://github.com/jiaran-king/afd-benefit-benchmark/blob/main/results/2026-10-14-c12-128/metrics.csv</a:t>
            </a:r>
          </a:p>
          <a:p xmlns:a="http://schemas.openxmlformats.org/drawingml/2006/main">
            <a:r>
              <a:t>128 个完整会话，源顺序0–127，保留所有轮次及原始历史，生成不回填下一轮。全局HTTP在途请求上限C12，按依赖和冻结就绪优先级准入，会话固定路由。AFD 3域分配43/42/43，Non 4域各32会话。Non EP4为4×DP1/TP4/EP4，EP8为2×DP2/TP4/EP8，EP16为1×DP4/TP4/EP16；AFD为12A+4F，A DP3/TP4、F DP4/TP1/EP4。全部eager，prefix-on、async scheduling；maxlen262144、block32、utilization0.9、checkpoint ratio0.25、OMP4及绑核。AFD CAM async、两份token微批次、F layered GMM开启。四组同一节点顺序独占16DIE，各一次；没有抢占重算。EP4/EP8/EP16/AFD耗时分别1949.2837916556746/1005.9154730439186/1199.9087823508307/940.079049827531秒。EP4 prefill 50,688,150，其他三组均19,710,102，逐请求缓存相同；减少61.115%。等量prefill不代表相同批形状，未将收益单独归因于通信或算子。单次实测不宣称稳定或普遍收益。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0ab75ff5c41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e73533a424d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8de0fa65f48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f4e96099344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c302add1748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66184fca8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C31C70-F2BB-4F13-83E7-45BB93DD4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4CAC2B-858C-42B2-914F-F81EC37B5E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8EE068-F978-4E48-B122-CC2AB584E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8E5960-5555-42E0-8DA8-5FBDA018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7647F4-DB0B-4E50-AB9D-5FB3514A1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475CE0-6FE0-4C50-A4CC-867B5D05D9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DCB2BB-4329-42B1-B2C7-4EE38655A1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CCD235-ED63-4CC8-A288-F061723623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F2C5F9-1879-430E-B479-F9E945162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5654DC-D2AB-46A8-82CA-AB47C573FA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e72397635a4e9c" /><Relationship Type="http://schemas.openxmlformats.org/officeDocument/2006/relationships/slideLayout" Target="/ppt/slideLayouts/slideLayout1.xml" Id="Rcb94a210e1ca4770" /><Relationship Type="http://schemas.openxmlformats.org/officeDocument/2006/relationships/slideLayout" Target="/ppt/slideLayouts/slideLayout2.xml" Id="Rf703695e11814f59" /><Relationship Type="http://schemas.openxmlformats.org/officeDocument/2006/relationships/slideLayout" Target="/ppt/slideLayouts/slideLayout3.xml" Id="Ra829d23f30d4404a" /><Relationship Type="http://schemas.openxmlformats.org/officeDocument/2006/relationships/slideLayout" Target="/ppt/slideLayouts/slideLayout4.xml" Id="R1b14465612e344fc" /><Relationship Type="http://schemas.openxmlformats.org/officeDocument/2006/relationships/slideLayout" Target="/ppt/slideLayouts/slideLayout5.xml" Id="Rf7b7b2130bc44b91" /><Relationship Type="http://schemas.openxmlformats.org/officeDocument/2006/relationships/slideLayout" Target="/ppt/slideLayouts/slideLayout6.xml" Id="Rf6e746b1dc034b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4a210e1ca4770"/>
    <p:sldLayoutId xmlns:r="http://schemas.openxmlformats.org/officeDocument/2006/relationships" id="2147483650" r:id="Rf703695e11814f59"/>
    <p:sldLayoutId xmlns:r="http://schemas.openxmlformats.org/officeDocument/2006/relationships" id="2147483651" r:id="Ra829d23f30d4404a"/>
    <p:sldLayoutId xmlns:r="http://schemas.openxmlformats.org/officeDocument/2006/relationships" id="2147483652" r:id="R1b14465612e344fc"/>
    <p:sldLayoutId xmlns:r="http://schemas.openxmlformats.org/officeDocument/2006/relationships" id="2147483653" r:id="Rf7b7b2130bc44b91"/>
    <p:sldLayoutId xmlns:r="http://schemas.openxmlformats.org/officeDocument/2006/relationships" id="2147483654" r:id="Rf6e746b1dc034b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dd2d2931d4cfe" /><Relationship Type="http://schemas.openxmlformats.org/officeDocument/2006/relationships/chart" Target="/ppt/slides/charts/chart1.xml" Id="Re94b9eb5b3454120" /><Relationship Type="http://schemas.openxmlformats.org/officeDocument/2006/relationships/notesSlide" Target="/ppt/notesSlides/notesSlide1.xml" Id="Re1ad1f7c891441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完整负载耗时（分钟）</c:v>
          </c:tx>
          <c:spPr>
            <a:solidFill xmlns:a="http://schemas.openxmlformats.org/drawingml/2006/main">
              <a:srgbClr val="284D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77A23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774C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134A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A900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EP4</c:v>
                </c:pt>
                <c:pt idx="1">
                  <c:v>EP8</c:v>
                </c:pt>
                <c:pt idx="2">
                  <c:v>EP16</c:v>
                </c:pt>
                <c:pt idx="3">
                  <c:v>AFD eager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32.488063</c:v>
                </c:pt>
                <c:pt idx="1">
                  <c:v>16.765258</c:v>
                </c:pt>
                <c:pt idx="2">
                  <c:v>19.99848</c:v>
                </c:pt>
                <c:pt idx="3">
                  <c:v>15.667984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4763">
            <a:solidFill>
              <a:srgbClr val="E3E3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3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AEA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GENTIC WORKLOAD｜PREFIX CACHING ">
            <a:extLst xmlns:a="http://schemas.openxmlformats.org/drawingml/2006/main">
              <a:ext uri="{FF2B5EF4-FFF2-40B4-BE49-F238E27FC236}">
                <a16:creationId xmlns:a16="http://schemas.microsoft.com/office/drawing/2014/main" id="{A4C255D4-F121-4AE0-85C4-E93AA3F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AGENTIC WORKLOAD｜PREFIX CACHING ON</a:t>
            </a:r>
          </a:p>
        </p:txBody>
      </p:sp>
      <p:sp>
        <p:nvSpPr>
          <p:cNvPr id="2" name="Agentic 多轮会话：AFD 完整负载耗时降低 6.5%–5">
            <a:extLst xmlns:a="http://schemas.openxmlformats.org/drawingml/2006/main">
              <a:ext uri="{FF2B5EF4-FFF2-40B4-BE49-F238E27FC236}">
                <a16:creationId xmlns:a16="http://schemas.microsoft.com/office/drawing/2014/main" id="{49A76465-98D7-4FDE-AC04-6E96BA5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Agentic 多轮会话：AFD 完整负载耗时降低 6.5%–51.8%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68812-302D-429E-A117-5B1DDB03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D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C71F9-4249-4367-B859-C8AD92D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</a:ln>
        </p:spPr>
      </p:sp>
      <p:sp>
        <p:nvSpPr>
          <p:cNvPr id="5" name="模型：DeepSeek V4 Flash W4A8">
            <a:extLst xmlns:a="http://schemas.openxmlformats.org/drawingml/2006/main">
              <a:ext uri="{FF2B5EF4-FFF2-40B4-BE49-F238E27FC236}">
                <a16:creationId xmlns:a16="http://schemas.microsoft.com/office/drawing/2014/main" id="{A3DB0201-3B96-4C5C-8BCA-A37B87A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模型：DeepSeek V4 Flash W4A8</a:t>
            </a:r>
          </a:p>
        </p:txBody>
      </p:sp>
      <p:sp>
        <p:nvSpPr>
          <p:cNvPr id="6" name="硬件：Ascend 910C · 同机 16 DIE">
            <a:extLst xmlns:a="http://schemas.openxmlformats.org/drawingml/2006/main">
              <a:ext uri="{FF2B5EF4-FFF2-40B4-BE49-F238E27FC236}">
                <a16:creationId xmlns:a16="http://schemas.microsoft.com/office/drawing/2014/main" id="{5E5CB100-C082-48DD-B300-2D45F6A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763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D48429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D4842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D48429"/>
                </a:solidFill>
                <a:latin typeface="微软雅黑"/>
                <a:ea typeface="微软雅黑"/>
                <a:cs typeface="微软雅黑"/>
              </a:rPr>
              <a:t>硬件：Ascend 910C · 同机 16 DIE</a:t>
            </a:r>
          </a:p>
        </p:txBody>
      </p:sp>
      <p:sp>
        <p:nvSpPr>
          <p:cNvPr id="7" name="128 个完整会话 · 3,725 个请求　｜　最多 12 个在">
            <a:extLst xmlns:a="http://schemas.openxmlformats.org/drawingml/2006/main">
              <a:ext uri="{FF2B5EF4-FFF2-40B4-BE49-F238E27FC236}">
                <a16:creationId xmlns:a16="http://schemas.microsoft.com/office/drawing/2014/main" id="{2B171359-8A60-4A8A-B17D-4E619DF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7A23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77A238"/>
                </a:solidFill>
                <a:latin typeface="微软雅黑"/>
                <a:ea typeface="微软雅黑"/>
                <a:cs typeface="微软雅黑"/>
              </a:rPr>
              <a:t>128 个完整会话 · 3,725 个请求　｜　最多 12 个在途请求　｜　前缀缓存开启</a:t>
            </a:r>
          </a:p>
        </p:txBody>
      </p:sp>
      <p:sp>
        <p:nvSpPr>
          <p:cNvPr id="8" name="完整负载耗时（分钟）">
            <a:extLst xmlns:a="http://schemas.openxmlformats.org/drawingml/2006/main">
              <a:ext uri="{FF2B5EF4-FFF2-40B4-BE49-F238E27FC236}">
                <a16:creationId xmlns:a16="http://schemas.microsoft.com/office/drawing/2014/main" id="{6AF9420A-04BC-4B9B-81C7-BDD551C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完整负载耗时（分钟）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3DDDBE28-F359-411F-931B-BF50EA064403}"/>
              </a:ext>
            </a:extLst>
          </p:cNvPr>
          <p:cNvGraphicFramePr/>
          <p:nvPr/>
        </p:nvGraphicFramePr>
        <p:xfrm>
          <a:off xmlns:a="http://schemas.openxmlformats.org/drawingml/2006/main" x="552450" y="2390775"/>
          <a:ext xmlns:a="http://schemas.openxmlformats.org/drawingml/2006/main" cx="6191250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4b9eb5b3454120"/>
          </a:graphicData>
        </a:graphic>
      </p:graphicFrame>
      <p:sp>
        <p:nvSpPr>
          <p:cNvPr id="10" name="首 token 延迟 TTFT（秒）">
            <a:extLst xmlns:a="http://schemas.openxmlformats.org/drawingml/2006/main">
              <a:ext uri="{FF2B5EF4-FFF2-40B4-BE49-F238E27FC236}">
                <a16:creationId xmlns:a16="http://schemas.microsoft.com/office/drawing/2014/main" id="{C3C7C800-6999-4D03-9213-6AAAA29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97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 token 延迟 TTFT（秒）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1D318-40D2-4A47-8FFE-035514E6DAE4}"/>
              </a:ext>
            </a:extLst>
          </p:cNvPr>
          <p:cNvGraphicFramePr/>
          <p:nvPr/>
        </p:nvGraphicFramePr>
        <p:xfrm>
          <a:off xmlns:a="http://schemas.openxmlformats.org/drawingml/2006/main" x="7191375" y="2438400"/>
          <a:ext xmlns:a="http://schemas.openxmlformats.org/drawingml/2006/main" cx="4505325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876300"/>
                <a:gridCol w="876300"/>
                <a:gridCol w="876300"/>
                <a:gridCol w="876300"/>
              </a:tblGrid>
              <a:tr h="38100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12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38100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6.239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2.722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24.768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39.354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3.171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6.532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9.552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38100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3.793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3.486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6.676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D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2.936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D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D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6.361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1200" b="1">
                          <a:solidFill>
                            <a:srgbClr val="D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46AD5-62EB-41AF-94D6-560A0ECB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13" name="比 EP4 少用时 51.8%">
            <a:extLst xmlns:a="http://schemas.openxmlformats.org/drawingml/2006/main">
              <a:ext uri="{FF2B5EF4-FFF2-40B4-BE49-F238E27FC236}">
                <a16:creationId xmlns:a16="http://schemas.microsoft.com/office/drawing/2014/main" id="{F278917C-7539-401A-8B2C-5CBD287B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43425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比 EP4 少用时 51.8%</a:t>
            </a:r>
          </a:p>
        </p:txBody>
      </p:sp>
      <p:sp>
        <p:nvSpPr>
          <p:cNvPr id="14" name="32.49 → 15.67 分钟">
            <a:extLst xmlns:a="http://schemas.openxmlformats.org/drawingml/2006/main">
              <a:ext uri="{FF2B5EF4-FFF2-40B4-BE49-F238E27FC236}">
                <a16:creationId xmlns:a16="http://schemas.microsoft.com/office/drawing/2014/main" id="{A383371A-9D12-42B1-8A5C-B7A25251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81550"/>
            <a:ext cx="337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32.49 → 15.67 分钟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D962D-1404-45EC-8A2C-BAD2718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24375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16" name="比 EP8 少用时 6.5%">
            <a:extLst xmlns:a="http://schemas.openxmlformats.org/drawingml/2006/main">
              <a:ext uri="{FF2B5EF4-FFF2-40B4-BE49-F238E27FC236}">
                <a16:creationId xmlns:a16="http://schemas.microsoft.com/office/drawing/2014/main" id="{8DC2C830-3A53-4F37-AC38-5163981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43425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比 EP8 少用时 6.5%</a:t>
            </a:r>
          </a:p>
        </p:txBody>
      </p:sp>
      <p:sp>
        <p:nvSpPr>
          <p:cNvPr id="17" name="16.77 → 15.67 分钟">
            <a:extLst xmlns:a="http://schemas.openxmlformats.org/drawingml/2006/main">
              <a:ext uri="{FF2B5EF4-FFF2-40B4-BE49-F238E27FC236}">
                <a16:creationId xmlns:a16="http://schemas.microsoft.com/office/drawing/2014/main" id="{A2E9D30E-5DFF-406C-ABDD-B4AFCFA3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337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16.77 → 15.67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793BE-2C09-438F-8424-53416E2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</a:ln>
        </p:spPr>
      </p:sp>
      <p:sp>
        <p:nvSpPr>
          <p:cNvPr id="19" name="比 EP16 少用时 21.7%">
            <a:extLst xmlns:a="http://schemas.openxmlformats.org/drawingml/2006/main">
              <a:ext uri="{FF2B5EF4-FFF2-40B4-BE49-F238E27FC236}">
                <a16:creationId xmlns:a16="http://schemas.microsoft.com/office/drawing/2014/main" id="{2021E9C1-BC45-48A9-B47C-8303DB5B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43425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84DA6"/>
                </a:solidFill>
                <a:latin typeface="微软雅黑"/>
                <a:ea typeface="微软雅黑"/>
                <a:cs typeface="微软雅黑"/>
              </a:rPr>
              <a:t>比 EP16 少用时 21.7%</a:t>
            </a:r>
          </a:p>
        </p:txBody>
      </p:sp>
      <p:sp>
        <p:nvSpPr>
          <p:cNvPr id="20" name="20.00 → 15.67 分钟">
            <a:extLst xmlns:a="http://schemas.openxmlformats.org/drawingml/2006/main">
              <a:ext uri="{FF2B5EF4-FFF2-40B4-BE49-F238E27FC236}">
                <a16:creationId xmlns:a16="http://schemas.microsoft.com/office/drawing/2014/main" id="{163C1E8A-A854-4F70-BBB5-6AF01B5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781550"/>
            <a:ext cx="337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20.00 → 15.67 分钟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4DF0A-F2B6-4B62-A5C1-9EE816E01312}"/>
              </a:ext>
            </a:extLst>
          </p:cNvPr>
          <p:cNvGraphicFramePr/>
          <p:nvPr/>
        </p:nvGraphicFramePr>
        <p:xfrm>
          <a:off xmlns:a="http://schemas.openxmlformats.org/drawingml/2006/main" x="552450" y="5076825"/>
          <a:ext xmlns:a="http://schemas.openxmlformats.org/drawingml/2006/main" cx="1114425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6000750"/>
              </a:tblGrid>
              <a:tr h="20574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9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实例 / 角色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T w="5715">
                      <a:solidFill>
                        <a:srgbClr val="E3E3E3"/>
                      </a:solidFill>
                      <a:prstDash val="solid"/>
                    </a:lnT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  <a:tr h="20574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个实例，每实例 4 DIE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每实例 DP1 / TP4 / EP4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个实例，每实例 8 DIE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每实例 DP2 / TP4 / EP8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20574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EP16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个实例，共 16 DIE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 / TP4 / EP16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19050" tIns="19050" rIns="19050" bIns="19050"/>
                    <a:lstStyle/>
                    <a:p>
                      <a:pPr algn="l"/>
                      <a:r>
                        <a:rPr sz="9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3E3E3"/>
                      </a:solidFill>
                      <a:prstDash val="solid"/>
                    </a:lnL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12A + 4F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lIns="19050" tIns="19050" rIns="19050" bIns="19050"/>
                    <a:lstStyle/>
                    <a:p>
                      <a:pPr algn="ctr"/>
                      <a:r>
                        <a:rPr sz="975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A：DP3 / TP4；F：DP4 / TP1 / EP4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3E3E3"/>
                      </a:solidFill>
                      <a:prstDash val="solid"/>
                    </a:lnR>
                    <a:lnB w="5715">
                      <a:solidFill>
                        <a:srgbClr val="E3E3E3"/>
                      </a:solidFill>
                      <a:prstDash val="soli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sp>
        <p:nvSpPr>
          <p:cNvPr id="22" name="测试设置：Agentic 会话历史回放，每轮输出 1 token">
            <a:extLst xmlns:a="http://schemas.openxmlformats.org/drawingml/2006/main">
              <a:ext uri="{FF2B5EF4-FFF2-40B4-BE49-F238E27FC236}">
                <a16:creationId xmlns:a16="http://schemas.microsoft.com/office/drawing/2014/main" id="{3192D7F9-46DC-4312-8B52-3C70B46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1114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78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测试设置：Agentic 会话历史回放，每轮输出 1 token；固定会话路由、异步调度；各组单次冷缓存运行。</a:t>
            </a:r>
          </a:p>
        </p:txBody>
      </p:sp>
      <p:sp>
        <p:nvSpPr>
          <p:cNvPr id="23" name="单步 token 上限：Non 8,192 / AFD 32,7">
            <a:extLst xmlns:a="http://schemas.openxmlformats.org/drawingml/2006/main">
              <a:ext uri="{FF2B5EF4-FFF2-40B4-BE49-F238E27FC236}">
                <a16:creationId xmlns:a16="http://schemas.microsoft.com/office/drawing/2014/main" id="{D988C5F4-7FD7-4FB1-A201-6446A5E3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86550"/>
            <a:ext cx="1114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78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78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单步 token 上限：Non 8,192 / AFD 32,768；AFD 使用 CAM 异步通信与两份 token 微批次。2026-10-14 实测。</a:t>
            </a:r>
          </a:p>
        </p:txBody>
      </p:sp>
    </p:spTree>
    <p:extLst>
      <p:ext uri="{BB962C8B-B14F-4D97-AF65-F5344CB8AC3E}">
        <p14:creationId xmlns:p14="http://schemas.microsoft.com/office/powerpoint/2010/main" val="199436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2026-10-15T11:20:39.6750000Z</dcterms:created>
  <dcterms:modified xsi:type="dcterms:W3CDTF">2026-10-15T11:20:39.6750000Z</dcterms:modified>
</coreProperties>
</file>